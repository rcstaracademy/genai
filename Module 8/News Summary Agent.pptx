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2" r:id="rId4"/>
    <p:sldId id="273" r:id="rId5"/>
    <p:sldId id="274" r:id="rId6"/>
    <p:sldId id="275" r:id="rId7"/>
    <p:sldId id="276" r:id="rId8"/>
    <p:sldId id="260" r:id="rId9"/>
    <p:sldId id="266" r:id="rId10"/>
    <p:sldId id="267" r:id="rId11"/>
    <p:sldId id="268" r:id="rId12"/>
    <p:sldId id="269" r:id="rId13"/>
    <p:sldId id="270" r:id="rId14"/>
    <p:sldId id="271" r:id="rId15"/>
    <p:sldId id="265" r:id="rId16"/>
    <p:sldId id="261" r:id="rId17"/>
    <p:sldId id="262" r:id="rId18"/>
    <p:sldId id="263" r:id="rId19"/>
    <p:sldId id="264" r:id="rId20"/>
    <p:sldId id="257" r:id="rId21"/>
    <p:sldId id="2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3CA7-DB84-8E41-F474-18065B3C4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FB230-6618-85FD-E54E-9EDCA24B7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5EEE3-2166-B298-E84C-3E5F6CF00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51F25-0EBA-3169-3DFC-A146BDCC1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8697C-F72A-4B5F-0CFB-DEA75386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65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B7E28-6E11-577A-D102-2314E096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3231-DC41-5F42-9F8B-65CCF9778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12CAD-CC4E-F11C-BF8B-FF8CF0D7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84B06-551E-8AAC-D0D6-5F097949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B677A-7851-1B8E-3F70-ADC3D10A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18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549F-5F03-11A7-3A49-23A8EE424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48B41-2395-0573-0478-523A30F68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42AFD-EFA1-1C2A-0589-A7D9CF7D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CE638-A764-221D-D07E-C4FB33CA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7641A-4550-03D8-BCB2-40207539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19D5C-30F1-F6B5-06DC-46FC488D3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6D827-90B9-EB46-F1C5-2954FCEC78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DF97C-A0A4-B8F8-2588-FF7EA6FE12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C3E65-FBFA-801C-3C4A-52052BDA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8FA30-A3EA-3AA5-C8D8-5EC228BB1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56CFA-1B15-AE67-BD6A-EB7A3F39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1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05A2D-207F-AD0F-98A3-7372F98D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40D52-19F4-6683-994E-3A293508E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F30C5-D02E-DFDC-B1BE-13247F2D7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FD4A2-FDB1-A2E9-8FAF-34F33D2C8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38DF3-E572-9FFE-D312-36387D413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22E13-D4C5-39BC-019F-09796A4B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BE35BD-52FE-4CE4-6BAA-AA73F0422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3D568-32DC-FB7E-D7D1-465C4167B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5348-C757-3EC2-2B05-AAA9F3C5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7341B-9464-556B-143C-05227471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7C1C13-BFC3-C7C6-62D0-59DBC46F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758B1-6332-09B8-AD16-097E14B5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1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C3A75-2216-E614-A5C4-FB7C7A08B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5221DD-8B62-7D48-71A3-28E11FDB6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A451E-8A6A-E632-9375-0DBB9B15F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9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4EB0-C26B-1DFC-2785-69E5BA13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B7E30-BCDC-1B1A-72DB-080DB3B60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80B1B-F237-9182-FA57-A5E4A8B9F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BEEF46-B7E9-398D-F1B2-46A27F2C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AD247-5505-AAC8-0563-0710AEAC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70D7C-4EA0-0A5A-DCAD-22F81112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6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AF6D-4E93-613A-38B4-39C838E7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39E58-A7D7-8A83-1759-005714CD8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C3016-ACCB-99DC-32DD-26F9D1E88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AD23D-B6DC-6EA8-4E07-90494F60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FECE1-1338-8AA0-2ECC-379D5162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ABA5F-5E38-11BE-2F10-A821215E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95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792B9-94FA-25A4-9723-24453EC9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CB1B3-8093-5091-287D-374D65CFD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4E25F-83CF-41F7-7309-C614AAC3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2D976-CF1E-0AC2-8028-B6FFAA35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98F4A-1136-46C4-120F-42520D51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F4A1E-3808-ED9F-31E2-E37CB411E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B6651-0718-2E16-E7F4-22E7E13F5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5B9BD-E95C-52D8-A159-EF6A75D70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F19E6-FF83-A215-1D10-C8BF6585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07F0D-461E-3468-5357-04957CAB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2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EB42E6-938D-8A15-056B-1C7B8285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80F57-B985-8A54-A63A-65842A8BB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9259B-1CBD-6D49-674E-AE4CDF54B2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21FF7-5D7F-4D4E-AFD4-45601BB92271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4382-2AA6-FE94-996F-85388FA65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08FC5-B00D-4BC9-EFF4-F4A4CDA5F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1748E-199A-4019-B356-89B84C813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github.com/MaartenGr/KeyBER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E0DC6F-DB0E-DBE1-8178-AE81BC6B9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C4F366A5-8391-8FCB-BCD5-153A6C3682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4D07BF5-D29E-918E-55FE-747AF2A0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66726" cy="685800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1B5C1-0E5D-2D07-3CA5-920DC31F1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035" y="1424475"/>
            <a:ext cx="3424383" cy="2543448"/>
          </a:xfrm>
        </p:spPr>
        <p:txBody>
          <a:bodyPr anchor="t">
            <a:normAutofit/>
          </a:bodyPr>
          <a:lstStyle/>
          <a:p>
            <a:pPr algn="l"/>
            <a:r>
              <a:rPr lang="en-US" sz="3200" b="1" i="0">
                <a:effectLst/>
                <a:latin typeface="Source Sans"/>
              </a:rPr>
              <a:t>News Summary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69545-5510-0DB7-80CB-136DAE516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35" y="4007796"/>
            <a:ext cx="3424382" cy="2000041"/>
          </a:xfrm>
        </p:spPr>
        <p:txBody>
          <a:bodyPr anchor="b">
            <a:normAutofit/>
          </a:bodyPr>
          <a:lstStyle/>
          <a:p>
            <a:pPr algn="l"/>
            <a:r>
              <a:rPr lang="en-US" dirty="0"/>
              <a:t>Rakhee Chhibber</a:t>
            </a:r>
          </a:p>
        </p:txBody>
      </p:sp>
    </p:spTree>
    <p:extLst>
      <p:ext uri="{BB962C8B-B14F-4D97-AF65-F5344CB8AC3E}">
        <p14:creationId xmlns:p14="http://schemas.microsoft.com/office/powerpoint/2010/main" val="1617237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8CCC-DC65-B2DC-FC6C-EA6CBC0DC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WorkFlow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C0B779-3626-3CC9-FDC3-5EA76D9733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874728"/>
            <a:ext cx="109347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article URL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article 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newspaper3k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article into smaller chunks (to respect transformer model token limits).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chunk using 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DistilBART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sshleifer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/distilbart-cnn-12-6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Returns a concise summary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article.</a:t>
            </a:r>
          </a:p>
        </p:txBody>
      </p:sp>
    </p:spTree>
    <p:extLst>
      <p:ext uri="{BB962C8B-B14F-4D97-AF65-F5344CB8AC3E}">
        <p14:creationId xmlns:p14="http://schemas.microsoft.com/office/powerpoint/2010/main" val="1504114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2A81-D31E-D916-93BD-DCBC58629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sshleifer</a:t>
            </a:r>
            <a:r>
              <a:rPr lang="en-US" dirty="0"/>
              <a:t>/distilbart-cnn-12-6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99CAB2-2D31-5263-EC31-0CC355C1DA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790" y="1931200"/>
            <a:ext cx="887128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sshleifer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/distilbart-cnn-12-6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distilled version of BART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fine-tuned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abstractive text summarization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particularly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CNN/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DailyMail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news articles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811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EF47-A317-9E4F-A50D-C6990F8D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📘 What is BART?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7EDA0-C92A-A328-22AB-95B4A904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BART (Bidirectional and Auto-Regressive Transformer)</a:t>
            </a:r>
            <a:r>
              <a:rPr lang="en-US" dirty="0"/>
              <a:t> is a </a:t>
            </a:r>
            <a:r>
              <a:rPr lang="en-US" b="1" dirty="0"/>
              <a:t>sequence-to-sequence model</a:t>
            </a:r>
            <a:r>
              <a:rPr lang="en-US" dirty="0"/>
              <a:t> developed by Facebook AI.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BERT-like encoder</a:t>
            </a:r>
            <a:r>
              <a:rPr lang="en-US" dirty="0"/>
              <a:t> (good at understanding context)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GPT-like decoder</a:t>
            </a:r>
            <a:r>
              <a:rPr lang="en-US" dirty="0"/>
              <a:t> (good at generating fluent text)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472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DE30-5FD8-C7DF-4630-20F9E1F4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2. What is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DistilBART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13CB64-B793-EFC5-8936-7C06F9A37C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590" y="1575432"/>
            <a:ext cx="977685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🔧 Distillation: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process of compressing a large model into a smaller, faster, and cheaper model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a significant drop in performance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sshleifer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/distilbart-cnn-12-6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distilled version of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facebook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-large-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cnn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created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 Shleifer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(GitHub: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sshleifer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54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D3A7-A648-665E-B9F2-7DA7B70B5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🔢 What does 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cnn-12-6</a:t>
            </a: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mean?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B85AE6-866E-3E8F-5EDF-571D8C151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2980" y="2151568"/>
            <a:ext cx="961263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cnn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model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 on CNN/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DailyMail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common summarization dataset).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12-6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bart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-large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 encoder and 12 decoder layers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Distilled version has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encoder and 6 decoder layers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hence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12-6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layers.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03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C5832-A9FC-B3D9-C0E1-DD804A449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🔹 3. Model Card Summary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BFA1C5-3FF0-5FBD-8557-098CBBCB2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278965"/>
              </p:ext>
            </p:extLst>
          </p:nvPr>
        </p:nvGraphicFramePr>
        <p:xfrm>
          <a:off x="1178414" y="1926266"/>
          <a:ext cx="9835172" cy="4357526"/>
        </p:xfrm>
        <a:graphic>
          <a:graphicData uri="http://schemas.openxmlformats.org/drawingml/2006/table">
            <a:tbl>
              <a:tblPr/>
              <a:tblGrid>
                <a:gridCol w="3276071">
                  <a:extLst>
                    <a:ext uri="{9D8B030D-6E8A-4147-A177-3AD203B41FA5}">
                      <a16:colId xmlns:a16="http://schemas.microsoft.com/office/drawing/2014/main" val="209531815"/>
                    </a:ext>
                  </a:extLst>
                </a:gridCol>
                <a:gridCol w="6559101">
                  <a:extLst>
                    <a:ext uri="{9D8B030D-6E8A-4147-A177-3AD203B41FA5}">
                      <a16:colId xmlns:a16="http://schemas.microsoft.com/office/drawing/2014/main" val="375665730"/>
                    </a:ext>
                  </a:extLst>
                </a:gridCol>
              </a:tblGrid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>
                          <a:effectLst/>
                          <a:latin typeface="Arial" panose="020B0604020202020204" pitchFamily="34" charset="0"/>
                        </a:rPr>
                        <a:t>Model</a:t>
                      </a:r>
                      <a:endParaRPr lang="en-US" sz="2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sshleifer/distilbart-cnn-12-6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547427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Distilled Sequence-to-Sequence Transformer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742336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Architecture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Encoder-decoder (Transformer-based)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377438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Trained on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CNN/DailyMail summarization dataset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504482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Size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~400MB (vs ~1.6GB for BART-Large)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880762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Task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Abstractive Summarization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903450"/>
                  </a:ext>
                </a:extLst>
              </a:tr>
              <a:tr h="8441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Performance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Slightly lower than bart-large-cnn, but faster and smaller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012360"/>
                  </a:ext>
                </a:extLst>
              </a:tr>
              <a:tr h="5019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>
                          <a:effectLst/>
                          <a:latin typeface="Arial" panose="020B0604020202020204" pitchFamily="34" charset="0"/>
                        </a:rPr>
                        <a:t>License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dirty="0">
                          <a:effectLst/>
                          <a:latin typeface="Arial" panose="020B0604020202020204" pitchFamily="34" charset="0"/>
                        </a:rPr>
                        <a:t>MIT</a:t>
                      </a:r>
                    </a:p>
                  </a:txBody>
                  <a:tcPr marL="114071" marR="114071" marT="57036" marB="570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5147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8F57A-105E-9DD9-A9B3-1295886A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B5DF61-CD9E-4FD1-C412-18F8202B0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1030" y="2304683"/>
            <a:ext cx="1121268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newspaper3k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for extracting text from news websites.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transformers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for using pretrained language models.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torch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backend deep learning framework.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for creating a web interface (optional, not used here directly).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083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6E3763-DD52-9892-84B3-52C40FC47767}"/>
              </a:ext>
            </a:extLst>
          </p:cNvPr>
          <p:cNvSpPr txBox="1"/>
          <p:nvPr/>
        </p:nvSpPr>
        <p:spPr>
          <a:xfrm>
            <a:off x="5171123" y="2371457"/>
            <a:ext cx="609790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transformers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text summarization (e.g., BART, T5)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2"/>
              </a:rPr>
              <a:t>KeyBERT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extracting top keywords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hlinkClick r:id="rId3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Web UI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sqlite3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local database storage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history table + export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datetime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 – Misc support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38D65-2FF6-F2DE-A8F9-658EBC3B5D12}"/>
              </a:ext>
            </a:extLst>
          </p:cNvPr>
          <p:cNvSpPr txBox="1"/>
          <p:nvPr/>
        </p:nvSpPr>
        <p:spPr>
          <a:xfrm>
            <a:off x="1540193" y="2755255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Likely Libraries Used</a:t>
            </a:r>
          </a:p>
        </p:txBody>
      </p:sp>
    </p:spTree>
    <p:extLst>
      <p:ext uri="{BB962C8B-B14F-4D97-AF65-F5344CB8AC3E}">
        <p14:creationId xmlns:p14="http://schemas.microsoft.com/office/powerpoint/2010/main" val="50098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8AF3F74-D83E-0110-2DD1-80D3006CCE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50853"/>
            <a:ext cx="843153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Summarization Model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7940A83-164E-ACA3-14C2-9BDCA62D85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7594" y="1417588"/>
            <a:ext cx="1009088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pretrained summarization model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DistilBART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 smaller and faster version of BART fine-tuned on the CNN/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DailyMail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Pros: Lightweight, fast, works well for extractive-style summarization.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⚠️ Limitation: Can handle up to ~1024 tokens at a time → hence, chunking is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82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A115-EAB8-DBC9-44A3-A3D10296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🔍 Model Used: </a:t>
            </a:r>
            <a:r>
              <a:rPr kumimoji="0" lang="en-US" altLang="en-US" sz="4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DistilBART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E3F98FE-DAD4-2F4D-D88F-D868556C89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709" y="2218423"/>
            <a:ext cx="1081311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DistilBART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and faster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 of Facebook’s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BART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It's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CNN/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DailyMail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contains news articles and human-written summaries.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the pipeline: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pipeline("summarization", model="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sshleifer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/distilbart-cnn-12-6")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09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FBB3-BD8F-32A7-3007-5FE770FD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tabLst/>
            </a:pPr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⚙️ Variants &amp; Famous Transformer Models: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05F9954-3D89-2CD2-DE67-168E41280A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5134300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48488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61379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459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BERT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Bidirectional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05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GPT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Decoder-only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Causal language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420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T5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Encoder-Decoder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Text-to-text 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4145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BART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Encoder-Decoder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Denoising autoencoder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4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Vision Transformer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Patches as tokens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29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Whisper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Audio →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OpenAI model for speech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13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1887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815188-89C6-68CB-7FC6-4644DD69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Where is the Transformer Used?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DA7B44-9B39-22C9-CA2A-972F008B08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0"/>
            <a:ext cx="908614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1. NLP Tasks: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Summarization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(e.g.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BART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PEGASUS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Translation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(e.g. Google Translate uses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Transformer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Answering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RoBERTa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Classification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DistilBERT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 &amp; Conversational AI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ChatGPT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Claude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LLaMA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2. Multimodal Tasks: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Captioning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(Vision + Language)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Understanding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Audio Transcription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(like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Whisper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939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35D6B-A2E3-206D-84DB-7E65EF68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4" y="305367"/>
            <a:ext cx="6430272" cy="5515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EEF1E0D-5D2A-3A7A-4DB0-A1EE2FF1C941}"/>
              </a:ext>
            </a:extLst>
          </p:cNvPr>
          <p:cNvSpPr txBox="1"/>
          <p:nvPr/>
        </p:nvSpPr>
        <p:spPr>
          <a:xfrm>
            <a:off x="7860983" y="3760470"/>
            <a:ext cx="39119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Legend: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SA: Self-Attention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FFN: Feed Forward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LN: Layer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Positional Encoding: Adds order info to tokens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Masked SA: Prevents looking ahead during training (used in decoder)</a:t>
            </a:r>
          </a:p>
        </p:txBody>
      </p:sp>
    </p:spTree>
    <p:extLst>
      <p:ext uri="{BB962C8B-B14F-4D97-AF65-F5344CB8AC3E}">
        <p14:creationId xmlns:p14="http://schemas.microsoft.com/office/powerpoint/2010/main" val="85316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Lightbox">
            <a:extLst>
              <a:ext uri="{FF2B5EF4-FFF2-40B4-BE49-F238E27FC236}">
                <a16:creationId xmlns:a16="http://schemas.microsoft.com/office/drawing/2014/main" id="{78C16952-9CC1-85B2-AAA1-99173DEE6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7760" y="225492"/>
            <a:ext cx="4271010" cy="586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0EE50F-6715-0296-4734-1631747F46D8}"/>
              </a:ext>
            </a:extLst>
          </p:cNvPr>
          <p:cNvSpPr txBox="1"/>
          <p:nvPr/>
        </p:nvSpPr>
        <p:spPr>
          <a:xfrm>
            <a:off x="507206" y="1815584"/>
            <a:ext cx="344328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1800"/>
              </a:spcBef>
              <a:spcAft>
                <a:spcPts val="1800"/>
              </a:spcAft>
            </a:pPr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Transformer-Based LLM Model Architectures</a:t>
            </a:r>
          </a:p>
        </p:txBody>
      </p:sp>
    </p:spTree>
    <p:extLst>
      <p:ext uri="{BB962C8B-B14F-4D97-AF65-F5344CB8AC3E}">
        <p14:creationId xmlns:p14="http://schemas.microsoft.com/office/powerpoint/2010/main" val="1832432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E7A042-E9F9-3985-7AF9-58D09D9DF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203" y="1054274"/>
            <a:ext cx="4036334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000" b="1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🧰 Tech Stack Overview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000" b="0" i="0" u="none" strike="noStrike" kern="1200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99F676-1F7D-7789-A641-4DB87F67B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445754"/>
              </p:ext>
            </p:extLst>
          </p:nvPr>
        </p:nvGraphicFramePr>
        <p:xfrm>
          <a:off x="5922492" y="1008140"/>
          <a:ext cx="5536002" cy="4782975"/>
        </p:xfrm>
        <a:graphic>
          <a:graphicData uri="http://schemas.openxmlformats.org/drawingml/2006/table">
            <a:tbl>
              <a:tblPr/>
              <a:tblGrid>
                <a:gridCol w="1809320">
                  <a:extLst>
                    <a:ext uri="{9D8B030D-6E8A-4147-A177-3AD203B41FA5}">
                      <a16:colId xmlns:a16="http://schemas.microsoft.com/office/drawing/2014/main" val="2458763621"/>
                    </a:ext>
                  </a:extLst>
                </a:gridCol>
                <a:gridCol w="1890824">
                  <a:extLst>
                    <a:ext uri="{9D8B030D-6E8A-4147-A177-3AD203B41FA5}">
                      <a16:colId xmlns:a16="http://schemas.microsoft.com/office/drawing/2014/main" val="4294908175"/>
                    </a:ext>
                  </a:extLst>
                </a:gridCol>
                <a:gridCol w="1835858">
                  <a:extLst>
                    <a:ext uri="{9D8B030D-6E8A-4147-A177-3AD203B41FA5}">
                      <a16:colId xmlns:a16="http://schemas.microsoft.com/office/drawing/2014/main" val="282274005"/>
                    </a:ext>
                  </a:extLst>
                </a:gridCol>
              </a:tblGrid>
              <a:tr h="2487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Layer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Tool / Library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697962"/>
                  </a:ext>
                </a:extLst>
              </a:tr>
              <a:tr h="4183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Language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Core programming language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943760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NLP Toolkit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nltk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Sentence tokenization (used internally by newspaper3k)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574186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Web Scraping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newspaper3k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Downloading and parsing news articles from a given URL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53358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Transformers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transformers (by Hugging Face)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For loading and using pretrained models (summarization pipeline)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6261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effectLst/>
                          <a:latin typeface="Arial" panose="020B0604020202020204" pitchFamily="34" charset="0"/>
                        </a:rPr>
                        <a:t>Deep Learning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torch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Backend engine for running transformer models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914898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Summarization Model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sshleifer/distilbart-cnn-12-6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Pretrained lightweight abstractive summarization model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802308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Chunking Logic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Custom Python function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To split long text into smaller chunks for transformer input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79406"/>
                  </a:ext>
                </a:extLst>
              </a:tr>
              <a:tr h="58797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effectLst/>
                          <a:latin typeface="Arial" panose="020B0604020202020204" pitchFamily="34" charset="0"/>
                        </a:rPr>
                        <a:t>Optional UI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streamlit </a:t>
                      </a:r>
                      <a:r>
                        <a:rPr lang="en-US" sz="1100" b="0" i="1" u="none" strike="noStrike">
                          <a:effectLst/>
                          <a:latin typeface="Arial" panose="020B0604020202020204" pitchFamily="34" charset="0"/>
                        </a:rPr>
                        <a:t>(commented out)</a:t>
                      </a:r>
                      <a:endParaRPr lang="en-US" sz="1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For building a user interface for the summarization tool</a:t>
                      </a:r>
                    </a:p>
                  </a:txBody>
                  <a:tcPr marL="56536" marR="56536" marT="28268" marB="282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4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932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E78E44-6757-8F92-69EE-3F94946BA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5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🧠 Model-Specific Details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5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DBA2BF7-9B89-07AF-1918-95A87CE97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760542"/>
              </p:ext>
            </p:extLst>
          </p:nvPr>
        </p:nvGraphicFramePr>
        <p:xfrm>
          <a:off x="5881665" y="484794"/>
          <a:ext cx="5536002" cy="5424516"/>
        </p:xfrm>
        <a:graphic>
          <a:graphicData uri="http://schemas.openxmlformats.org/drawingml/2006/table">
            <a:tbl>
              <a:tblPr/>
              <a:tblGrid>
                <a:gridCol w="1890477">
                  <a:extLst>
                    <a:ext uri="{9D8B030D-6E8A-4147-A177-3AD203B41FA5}">
                      <a16:colId xmlns:a16="http://schemas.microsoft.com/office/drawing/2014/main" val="1077598137"/>
                    </a:ext>
                  </a:extLst>
                </a:gridCol>
                <a:gridCol w="3645525">
                  <a:extLst>
                    <a:ext uri="{9D8B030D-6E8A-4147-A177-3AD203B41FA5}">
                      <a16:colId xmlns:a16="http://schemas.microsoft.com/office/drawing/2014/main" val="2295731620"/>
                    </a:ext>
                  </a:extLst>
                </a:gridCol>
              </a:tblGrid>
              <a:tr h="539997">
                <a:tc>
                  <a:txBody>
                    <a:bodyPr/>
                    <a:lstStyle/>
                    <a:p>
                      <a:r>
                        <a:rPr lang="en-US" sz="2000"/>
                        <a:t>Component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671674"/>
                  </a:ext>
                </a:extLst>
              </a:tr>
              <a:tr h="539997">
                <a:tc>
                  <a:txBody>
                    <a:bodyPr/>
                    <a:lstStyle/>
                    <a:p>
                      <a:r>
                        <a:rPr lang="en-US" sz="2000"/>
                        <a:t>Model Name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sshleifer/distilbart-cnn-12-6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537391"/>
                  </a:ext>
                </a:extLst>
              </a:tr>
              <a:tr h="539997">
                <a:tc>
                  <a:txBody>
                    <a:bodyPr/>
                    <a:lstStyle/>
                    <a:p>
                      <a:r>
                        <a:rPr lang="en-US" sz="2000" dirty="0"/>
                        <a:t>Model Type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Transformer encoder-decoder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439450"/>
                  </a:ext>
                </a:extLst>
              </a:tr>
              <a:tr h="539997">
                <a:tc>
                  <a:txBody>
                    <a:bodyPr/>
                    <a:lstStyle/>
                    <a:p>
                      <a:r>
                        <a:rPr lang="en-US" sz="2000"/>
                        <a:t>Based On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DistilBART (lightweight BART)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569224"/>
                  </a:ext>
                </a:extLst>
              </a:tr>
              <a:tr h="908177">
                <a:tc>
                  <a:txBody>
                    <a:bodyPr/>
                    <a:lstStyle/>
                    <a:p>
                      <a:r>
                        <a:rPr lang="en-US" sz="2000"/>
                        <a:t>Pretrained On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CNN/DailyMail news summary dataset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53732"/>
                  </a:ext>
                </a:extLst>
              </a:tr>
              <a:tr h="539997">
                <a:tc>
                  <a:txBody>
                    <a:bodyPr/>
                    <a:lstStyle/>
                    <a:p>
                      <a:r>
                        <a:rPr lang="en-US" sz="2000"/>
                        <a:t>Token Limit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~1024 tokens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833205"/>
                  </a:ext>
                </a:extLst>
              </a:tr>
              <a:tr h="908177">
                <a:tc>
                  <a:txBody>
                    <a:bodyPr/>
                    <a:lstStyle/>
                    <a:p>
                      <a:r>
                        <a:rPr lang="en-US" sz="2000"/>
                        <a:t>Pipeline Used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pipeline("summarization", model=...)</a:t>
                      </a:r>
                    </a:p>
                  </a:txBody>
                  <a:tcPr marL="99499" marR="99499" marT="49749" marB="497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947072"/>
                  </a:ext>
                </a:extLst>
              </a:tr>
              <a:tr h="908177">
                <a:tc>
                  <a:txBody>
                    <a:bodyPr/>
                    <a:lstStyle/>
                    <a:p>
                      <a:r>
                        <a:rPr lang="en-US" dirty="0"/>
                        <a:t>Model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(Encoder-Decoder)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989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9293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14AB1E3-8942-CFED-94EC-E55E6217A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810" y="2960716"/>
            <a:ext cx="4036334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🔄 Optional Add-Ons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30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You could extend this stack with the following: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30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81084C-545C-336C-19FD-33455A3E9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663331"/>
              </p:ext>
            </p:extLst>
          </p:nvPr>
        </p:nvGraphicFramePr>
        <p:xfrm>
          <a:off x="5922492" y="1696841"/>
          <a:ext cx="5536001" cy="3405565"/>
        </p:xfrm>
        <a:graphic>
          <a:graphicData uri="http://schemas.openxmlformats.org/drawingml/2006/table">
            <a:tbl>
              <a:tblPr/>
              <a:tblGrid>
                <a:gridCol w="2432146">
                  <a:extLst>
                    <a:ext uri="{9D8B030D-6E8A-4147-A177-3AD203B41FA5}">
                      <a16:colId xmlns:a16="http://schemas.microsoft.com/office/drawing/2014/main" val="352799901"/>
                    </a:ext>
                  </a:extLst>
                </a:gridCol>
                <a:gridCol w="3103855">
                  <a:extLst>
                    <a:ext uri="{9D8B030D-6E8A-4147-A177-3AD203B41FA5}">
                      <a16:colId xmlns:a16="http://schemas.microsoft.com/office/drawing/2014/main" val="900370149"/>
                    </a:ext>
                  </a:extLst>
                </a:gridCol>
              </a:tblGrid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Feature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Tool / Library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376731"/>
                  </a:ext>
                </a:extLst>
              </a:tr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Keyword Extraction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keybert, spaCy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571167"/>
                  </a:ext>
                </a:extLst>
              </a:tr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Topic Classification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facebook/bart-large-mnli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24804"/>
                  </a:ext>
                </a:extLst>
              </a:tr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Data Storage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SQLite, TinyDB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811086"/>
                  </a:ext>
                </a:extLst>
              </a:tr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Exporting Reports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pandas, xlsxwriter, fpdf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525621"/>
                  </a:ext>
                </a:extLst>
              </a:tr>
              <a:tr h="443328">
                <a:tc>
                  <a:txBody>
                    <a:bodyPr/>
                    <a:lstStyle/>
                    <a:p>
                      <a:r>
                        <a:rPr lang="en-US" sz="2000"/>
                        <a:t>Web App Interface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streamlit, Flask, Gradio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13408"/>
                  </a:ext>
                </a:extLst>
              </a:tr>
              <a:tr h="745597">
                <a:tc>
                  <a:txBody>
                    <a:bodyPr/>
                    <a:lstStyle/>
                    <a:p>
                      <a:r>
                        <a:rPr lang="en-US" sz="2000"/>
                        <a:t>Deployment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Streamlit Cloud, Render, Hugging Face Spaces</a:t>
                      </a:r>
                    </a:p>
                  </a:txBody>
                  <a:tcPr marL="100756" marR="100756" marT="50378" marB="503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325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530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10BD66-5B73-781E-43B8-7329C971C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Workflow Summary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F6ED43-B591-F8BB-7C1C-A14F39064E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94724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news URL or text) through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Article fetched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cleaned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Summarizer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a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Zero-shot classifier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tags relevant topics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KeyBERT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extracts keywords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shown on screen and stored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summaries.db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can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CSV/Excel 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past summaries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87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855AF-AAF0-703E-6E27-6379A9B824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70"/>
          <a:stretch/>
        </p:blipFill>
        <p:spPr>
          <a:xfrm>
            <a:off x="643467" y="1875027"/>
            <a:ext cx="10905066" cy="3107944"/>
          </a:xfrm>
          <a:prstGeom prst="rect">
            <a:avLst/>
          </a:prstGeom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6DD385C-FFBB-7C01-884B-F13094E4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project</a:t>
            </a:r>
          </a:p>
        </p:txBody>
      </p:sp>
    </p:spTree>
    <p:extLst>
      <p:ext uri="{BB962C8B-B14F-4D97-AF65-F5344CB8AC3E}">
        <p14:creationId xmlns:p14="http://schemas.microsoft.com/office/powerpoint/2010/main" val="726153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00AF-E9A6-5F66-E9F6-EC0CDF751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63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910</Words>
  <Application>Microsoft Office PowerPoint</Application>
  <PresentationFormat>Widescreen</PresentationFormat>
  <Paragraphs>174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Arial Unicode MS</vt:lpstr>
      <vt:lpstr>Calibri</vt:lpstr>
      <vt:lpstr>Nunito</vt:lpstr>
      <vt:lpstr>Source Sans</vt:lpstr>
      <vt:lpstr>Office Theme</vt:lpstr>
      <vt:lpstr>News Summary Agent</vt:lpstr>
      <vt:lpstr>WorkFlow</vt:lpstr>
      <vt:lpstr>sshleifer/distilbart-cnn-12-6</vt:lpstr>
      <vt:lpstr>📘 What is BART?</vt:lpstr>
      <vt:lpstr>🔹 2. What is DistilBART?</vt:lpstr>
      <vt:lpstr>🔢 What does cnn-12-6 mean?</vt:lpstr>
      <vt:lpstr>🔹 3. Model Card Summary </vt:lpstr>
      <vt:lpstr>PowerPoint Presentation</vt:lpstr>
      <vt:lpstr>PowerPoint Presentation</vt:lpstr>
      <vt:lpstr>Summarization Model </vt:lpstr>
      <vt:lpstr>🔍 Model Used: DistilBART</vt:lpstr>
      <vt:lpstr>⚙️ Variants &amp; Famous Transformer Models:</vt:lpstr>
      <vt:lpstr>🎯 Where is the Transformer Used?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🔹 Workflow Summary</vt:lpstr>
      <vt:lpstr>Structure of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rakhee chhibber</dc:creator>
  <cp:lastModifiedBy>rakhee chhibber</cp:lastModifiedBy>
  <cp:revision>2</cp:revision>
  <dcterms:created xsi:type="dcterms:W3CDTF">2025-07-03T09:40:45Z</dcterms:created>
  <dcterms:modified xsi:type="dcterms:W3CDTF">2025-07-03T10:59:38Z</dcterms:modified>
</cp:coreProperties>
</file>
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sldIdLst>
    <p:sldId id="256" r:id="rId2"/>
    <p:sldId id="257" r:id="rId3"/>
    <p:sldId id="297" r:id="rId4"/>
    <p:sldId id="298" r:id="rId5"/>
    <p:sldId id="299" r:id="rId6"/>
    <p:sldId id="300" r:id="rId7"/>
    <p:sldId id="304" r:id="rId8"/>
    <p:sldId id="305" r:id="rId9"/>
    <p:sldId id="306" r:id="rId10"/>
    <p:sldId id="307" r:id="rId11"/>
    <p:sldId id="308" r:id="rId12"/>
    <p:sldId id="301" r:id="rId13"/>
    <p:sldId id="302" r:id="rId14"/>
    <p:sldId id="258" r:id="rId15"/>
    <p:sldId id="290" r:id="rId16"/>
    <p:sldId id="259" r:id="rId17"/>
    <p:sldId id="293" r:id="rId18"/>
    <p:sldId id="292" r:id="rId19"/>
    <p:sldId id="294" r:id="rId20"/>
    <p:sldId id="296" r:id="rId21"/>
    <p:sldId id="295" r:id="rId22"/>
    <p:sldId id="303" r:id="rId23"/>
    <p:sldId id="260" r:id="rId24"/>
    <p:sldId id="261" r:id="rId25"/>
    <p:sldId id="277" r:id="rId26"/>
    <p:sldId id="278" r:id="rId27"/>
    <p:sldId id="262" r:id="rId28"/>
    <p:sldId id="263" r:id="rId29"/>
    <p:sldId id="264" r:id="rId30"/>
    <p:sldId id="265" r:id="rId31"/>
    <p:sldId id="266" r:id="rId32"/>
    <p:sldId id="276" r:id="rId33"/>
    <p:sldId id="279" r:id="rId34"/>
    <p:sldId id="268" r:id="rId35"/>
    <p:sldId id="269" r:id="rId36"/>
    <p:sldId id="271" r:id="rId37"/>
    <p:sldId id="272" r:id="rId38"/>
    <p:sldId id="283" r:id="rId39"/>
    <p:sldId id="284" r:id="rId40"/>
    <p:sldId id="274" r:id="rId41"/>
    <p:sldId id="270" r:id="rId42"/>
    <p:sldId id="275" r:id="rId43"/>
    <p:sldId id="267" r:id="rId44"/>
    <p:sldId id="280" r:id="rId45"/>
    <p:sldId id="281" r:id="rId46"/>
    <p:sldId id="282" r:id="rId47"/>
    <p:sldId id="285" r:id="rId48"/>
    <p:sldId id="286" r:id="rId49"/>
    <p:sldId id="287" r:id="rId50"/>
    <p:sldId id="288" r:id="rId51"/>
    <p:sldId id="289"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6-23T16:50:49.891"/>
    </inkml:context>
    <inkml:brush xml:id="br0">
      <inkml:brushProperty name="width" value="0.1" units="cm"/>
      <inkml:brushProperty name="height" value="0.1" units="cm"/>
      <inkml:brushProperty name="color" value="#FFFFFF"/>
    </inkml:brush>
  </inkml:definitions>
  <inkml:trace contextRef="#ctx0" brushRef="#br0">1 0 128,'0'6'0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3/4/2026</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777331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3/4/2026</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9897803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3/4/2026</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761691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3/4/2026</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031643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3/4/2026</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sX0" fmla="*/ 0 w 10515600"/>
              <a:gd name="csY0" fmla="*/ 0 h 27432"/>
              <a:gd name="csX1" fmla="*/ 446913 w 10515600"/>
              <a:gd name="csY1" fmla="*/ 0 h 27432"/>
              <a:gd name="csX2" fmla="*/ 1104138 w 10515600"/>
              <a:gd name="csY2" fmla="*/ 0 h 27432"/>
              <a:gd name="csX3" fmla="*/ 1866519 w 10515600"/>
              <a:gd name="csY3" fmla="*/ 0 h 27432"/>
              <a:gd name="csX4" fmla="*/ 2208276 w 10515600"/>
              <a:gd name="csY4" fmla="*/ 0 h 27432"/>
              <a:gd name="csX5" fmla="*/ 2550033 w 10515600"/>
              <a:gd name="csY5" fmla="*/ 0 h 27432"/>
              <a:gd name="csX6" fmla="*/ 3417570 w 10515600"/>
              <a:gd name="csY6" fmla="*/ 0 h 27432"/>
              <a:gd name="csX7" fmla="*/ 4074795 w 10515600"/>
              <a:gd name="csY7" fmla="*/ 0 h 27432"/>
              <a:gd name="csX8" fmla="*/ 4416552 w 10515600"/>
              <a:gd name="csY8" fmla="*/ 0 h 27432"/>
              <a:gd name="csX9" fmla="*/ 5073777 w 10515600"/>
              <a:gd name="csY9" fmla="*/ 0 h 27432"/>
              <a:gd name="csX10" fmla="*/ 5941314 w 10515600"/>
              <a:gd name="csY10" fmla="*/ 0 h 27432"/>
              <a:gd name="csX11" fmla="*/ 6493383 w 10515600"/>
              <a:gd name="csY11" fmla="*/ 0 h 27432"/>
              <a:gd name="csX12" fmla="*/ 7045452 w 10515600"/>
              <a:gd name="csY12" fmla="*/ 0 h 27432"/>
              <a:gd name="csX13" fmla="*/ 7702677 w 10515600"/>
              <a:gd name="csY13" fmla="*/ 0 h 27432"/>
              <a:gd name="csX14" fmla="*/ 8465058 w 10515600"/>
              <a:gd name="csY14" fmla="*/ 0 h 27432"/>
              <a:gd name="csX15" fmla="*/ 9227439 w 10515600"/>
              <a:gd name="csY15" fmla="*/ 0 h 27432"/>
              <a:gd name="csX16" fmla="*/ 10515600 w 10515600"/>
              <a:gd name="csY16" fmla="*/ 0 h 27432"/>
              <a:gd name="csX17" fmla="*/ 10515600 w 10515600"/>
              <a:gd name="csY17" fmla="*/ 27432 h 27432"/>
              <a:gd name="csX18" fmla="*/ 10068687 w 10515600"/>
              <a:gd name="csY18" fmla="*/ 27432 h 27432"/>
              <a:gd name="csX19" fmla="*/ 9201150 w 10515600"/>
              <a:gd name="csY19" fmla="*/ 27432 h 27432"/>
              <a:gd name="csX20" fmla="*/ 8543925 w 10515600"/>
              <a:gd name="csY20" fmla="*/ 27432 h 27432"/>
              <a:gd name="csX21" fmla="*/ 8202168 w 10515600"/>
              <a:gd name="csY21" fmla="*/ 27432 h 27432"/>
              <a:gd name="csX22" fmla="*/ 7544943 w 10515600"/>
              <a:gd name="csY22" fmla="*/ 27432 h 27432"/>
              <a:gd name="csX23" fmla="*/ 6992874 w 10515600"/>
              <a:gd name="csY23" fmla="*/ 27432 h 27432"/>
              <a:gd name="csX24" fmla="*/ 6440805 w 10515600"/>
              <a:gd name="csY24" fmla="*/ 27432 h 27432"/>
              <a:gd name="csX25" fmla="*/ 5888736 w 10515600"/>
              <a:gd name="csY25" fmla="*/ 27432 h 27432"/>
              <a:gd name="csX26" fmla="*/ 5336667 w 10515600"/>
              <a:gd name="csY26" fmla="*/ 27432 h 27432"/>
              <a:gd name="csX27" fmla="*/ 4574286 w 10515600"/>
              <a:gd name="csY27" fmla="*/ 27432 h 27432"/>
              <a:gd name="csX28" fmla="*/ 3917061 w 10515600"/>
              <a:gd name="csY28" fmla="*/ 27432 h 27432"/>
              <a:gd name="csX29" fmla="*/ 3575304 w 10515600"/>
              <a:gd name="csY29" fmla="*/ 27432 h 27432"/>
              <a:gd name="csX30" fmla="*/ 3023235 w 10515600"/>
              <a:gd name="csY30" fmla="*/ 27432 h 27432"/>
              <a:gd name="csX31" fmla="*/ 2260854 w 10515600"/>
              <a:gd name="csY31" fmla="*/ 27432 h 27432"/>
              <a:gd name="csX32" fmla="*/ 1813941 w 10515600"/>
              <a:gd name="csY32" fmla="*/ 27432 h 27432"/>
              <a:gd name="csX33" fmla="*/ 946404 w 10515600"/>
              <a:gd name="csY33" fmla="*/ 27432 h 27432"/>
              <a:gd name="csX34" fmla="*/ 0 w 10515600"/>
              <a:gd name="csY34" fmla="*/ 27432 h 27432"/>
              <a:gd name="csX35" fmla="*/ 0 w 10515600"/>
              <a:gd name="csY35"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68889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3/4/2026</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149130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3/4/2026</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033893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3/4/2026</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093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3/4/2026</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sX0" fmla="*/ 0 w 4480560"/>
              <a:gd name="csY0" fmla="*/ 0 h 27432"/>
              <a:gd name="csX1" fmla="*/ 595274 w 4480560"/>
              <a:gd name="csY1" fmla="*/ 0 h 27432"/>
              <a:gd name="csX2" fmla="*/ 1100938 w 4480560"/>
              <a:gd name="csY2" fmla="*/ 0 h 27432"/>
              <a:gd name="csX3" fmla="*/ 1651406 w 4480560"/>
              <a:gd name="csY3" fmla="*/ 0 h 27432"/>
              <a:gd name="csX4" fmla="*/ 2336292 w 4480560"/>
              <a:gd name="csY4" fmla="*/ 0 h 27432"/>
              <a:gd name="csX5" fmla="*/ 2931566 w 4480560"/>
              <a:gd name="csY5" fmla="*/ 0 h 27432"/>
              <a:gd name="csX6" fmla="*/ 3482035 w 4480560"/>
              <a:gd name="csY6" fmla="*/ 0 h 27432"/>
              <a:gd name="csX7" fmla="*/ 4480560 w 4480560"/>
              <a:gd name="csY7" fmla="*/ 0 h 27432"/>
              <a:gd name="csX8" fmla="*/ 4480560 w 4480560"/>
              <a:gd name="csY8" fmla="*/ 27432 h 27432"/>
              <a:gd name="csX9" fmla="*/ 3840480 w 4480560"/>
              <a:gd name="csY9" fmla="*/ 27432 h 27432"/>
              <a:gd name="csX10" fmla="*/ 3290011 w 4480560"/>
              <a:gd name="csY10" fmla="*/ 27432 h 27432"/>
              <a:gd name="csX11" fmla="*/ 2560320 w 4480560"/>
              <a:gd name="csY11" fmla="*/ 27432 h 27432"/>
              <a:gd name="csX12" fmla="*/ 1965046 w 4480560"/>
              <a:gd name="csY12" fmla="*/ 27432 h 27432"/>
              <a:gd name="csX13" fmla="*/ 1459382 w 4480560"/>
              <a:gd name="csY13" fmla="*/ 27432 h 27432"/>
              <a:gd name="csX14" fmla="*/ 774497 w 4480560"/>
              <a:gd name="csY14" fmla="*/ 27432 h 27432"/>
              <a:gd name="csX15" fmla="*/ 0 w 4480560"/>
              <a:gd name="csY15" fmla="*/ 27432 h 27432"/>
              <a:gd name="csX16" fmla="*/ 0 w 4480560"/>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82913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3/4/2026</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39966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3/4/2026</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125584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3/4/2026</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331004714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28" r:id="rId6"/>
    <p:sldLayoutId id="2147483724" r:id="rId7"/>
    <p:sldLayoutId id="2147483725" r:id="rId8"/>
    <p:sldLayoutId id="2147483726" r:id="rId9"/>
    <p:sldLayoutId id="2147483727" r:id="rId10"/>
    <p:sldLayoutId id="2147483729" r:id="rId11"/>
  </p:sldLayoutIdLst>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www.datacamp.com/blog/the-top-5-vector-databases"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python.langchain.com/docs/concepts/text_splitters/" TargetMode="External"/><Relationship Id="rId2" Type="http://schemas.openxmlformats.org/officeDocument/2006/relationships/hyperlink" Target="https://python.langchain.com/docs/concepts/document_loaders/" TargetMode="External"/><Relationship Id="rId1" Type="http://schemas.openxmlformats.org/officeDocument/2006/relationships/slideLayout" Target="../slideLayouts/slideLayout2.xml"/><Relationship Id="rId5" Type="http://schemas.openxmlformats.org/officeDocument/2006/relationships/hyperlink" Target="https://python.langchain.com/docs/concepts/embedding_models/" TargetMode="External"/><Relationship Id="rId4" Type="http://schemas.openxmlformats.org/officeDocument/2006/relationships/hyperlink" Target="https://python.langchain.com/docs/concepts/vectorstores/"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python.langchain.com/docs/concepts/chat_models/" TargetMode="External"/><Relationship Id="rId2" Type="http://schemas.openxmlformats.org/officeDocument/2006/relationships/hyperlink" Target="https://python.langchain.com/docs/concepts/retrievers/" TargetMode="External"/><Relationship Id="rId1" Type="http://schemas.openxmlformats.org/officeDocument/2006/relationships/slideLayout" Target="../slideLayouts/slideLayout2.xml"/><Relationship Id="rId4" Type="http://schemas.openxmlformats.org/officeDocument/2006/relationships/hyperlink" Target="https://python.langchain.com/docs/concepts/text_llms/"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D35AE2F-5E3A-49D9-8DE1-8A333BA408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7A4FEFA2-4F52-3289-2F23-A78F0329AD22}"/>
              </a:ext>
            </a:extLst>
          </p:cNvPr>
          <p:cNvPicPr>
            <a:picLocks noChangeAspect="1"/>
          </p:cNvPicPr>
          <p:nvPr/>
        </p:nvPicPr>
        <p:blipFill>
          <a:blip r:embed="rId2">
            <a:alphaModFix amt="50000"/>
          </a:blip>
          <a:srcRect t="16741" r="-1" b="19683"/>
          <a:stretch>
            <a:fillRect/>
          </a:stretch>
        </p:blipFill>
        <p:spPr>
          <a:xfrm>
            <a:off x="20" y="10"/>
            <a:ext cx="12188930" cy="6857990"/>
          </a:xfrm>
          <a:prstGeom prst="rect">
            <a:avLst/>
          </a:prstGeom>
        </p:spPr>
      </p:pic>
      <p:sp>
        <p:nvSpPr>
          <p:cNvPr id="2" name="Title 1">
            <a:extLst>
              <a:ext uri="{FF2B5EF4-FFF2-40B4-BE49-F238E27FC236}">
                <a16:creationId xmlns:a16="http://schemas.microsoft.com/office/drawing/2014/main" id="{16B4313F-C0B7-8E23-A28A-00AD70ABD1E8}"/>
              </a:ext>
            </a:extLst>
          </p:cNvPr>
          <p:cNvSpPr>
            <a:spLocks noGrp="1"/>
          </p:cNvSpPr>
          <p:nvPr>
            <p:ph type="ctrTitle"/>
          </p:nvPr>
        </p:nvSpPr>
        <p:spPr>
          <a:xfrm>
            <a:off x="1524000" y="1122363"/>
            <a:ext cx="9144000" cy="3063240"/>
          </a:xfrm>
        </p:spPr>
        <p:txBody>
          <a:bodyPr>
            <a:normAutofit/>
          </a:bodyPr>
          <a:lstStyle/>
          <a:p>
            <a:pPr algn="ctr">
              <a:lnSpc>
                <a:spcPct val="90000"/>
              </a:lnSpc>
            </a:pPr>
            <a:r>
              <a:rPr lang="en-US" sz="6700"/>
              <a:t>Retreival Augumented Generation(RAG)</a:t>
            </a:r>
          </a:p>
        </p:txBody>
      </p:sp>
      <p:sp>
        <p:nvSpPr>
          <p:cNvPr id="3" name="Subtitle 2">
            <a:extLst>
              <a:ext uri="{FF2B5EF4-FFF2-40B4-BE49-F238E27FC236}">
                <a16:creationId xmlns:a16="http://schemas.microsoft.com/office/drawing/2014/main" id="{9C857A79-9DBD-0364-835F-13C57308550F}"/>
              </a:ext>
            </a:extLst>
          </p:cNvPr>
          <p:cNvSpPr>
            <a:spLocks noGrp="1"/>
          </p:cNvSpPr>
          <p:nvPr>
            <p:ph type="subTitle" idx="1"/>
          </p:nvPr>
        </p:nvSpPr>
        <p:spPr>
          <a:xfrm>
            <a:off x="1524000" y="4599432"/>
            <a:ext cx="9144000" cy="1225296"/>
          </a:xfrm>
        </p:spPr>
        <p:txBody>
          <a:bodyPr>
            <a:normAutofit/>
          </a:bodyPr>
          <a:lstStyle/>
          <a:p>
            <a:pPr algn="ctr"/>
            <a:r>
              <a:rPr lang="en-US" sz="3200"/>
              <a:t>Dr. Rakhee Chhibber</a:t>
            </a:r>
          </a:p>
        </p:txBody>
      </p:sp>
      <p:sp>
        <p:nvSpPr>
          <p:cNvPr id="22" name="Rectangle 6">
            <a:extLst>
              <a:ext uri="{FF2B5EF4-FFF2-40B4-BE49-F238E27FC236}">
                <a16:creationId xmlns:a16="http://schemas.microsoft.com/office/drawing/2014/main" id="{04D8AD8F-EF7F-481F-B99A-B851389705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6">
            <a:extLst>
              <a:ext uri="{FF2B5EF4-FFF2-40B4-BE49-F238E27FC236}">
                <a16:creationId xmlns:a16="http://schemas.microsoft.com/office/drawing/2014/main" id="{79EB4626-023C-436D-9F57-9EB4608090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38200" y="720953"/>
            <a:ext cx="10515600" cy="5416094"/>
          </a:xfrm>
          <a:custGeom>
            <a:avLst/>
            <a:gdLst>
              <a:gd name="csX0" fmla="*/ 0 w 10515600"/>
              <a:gd name="csY0" fmla="*/ 902700 h 5416094"/>
              <a:gd name="csX1" fmla="*/ 902700 w 10515600"/>
              <a:gd name="csY1" fmla="*/ 0 h 5416094"/>
              <a:gd name="csX2" fmla="*/ 1746919 w 10515600"/>
              <a:gd name="csY2" fmla="*/ 0 h 5416094"/>
              <a:gd name="csX3" fmla="*/ 2329833 w 10515600"/>
              <a:gd name="csY3" fmla="*/ 0 h 5416094"/>
              <a:gd name="csX4" fmla="*/ 2825644 w 10515600"/>
              <a:gd name="csY4" fmla="*/ 0 h 5416094"/>
              <a:gd name="csX5" fmla="*/ 3582762 w 10515600"/>
              <a:gd name="csY5" fmla="*/ 0 h 5416094"/>
              <a:gd name="csX6" fmla="*/ 4165675 w 10515600"/>
              <a:gd name="csY6" fmla="*/ 0 h 5416094"/>
              <a:gd name="csX7" fmla="*/ 5009894 w 10515600"/>
              <a:gd name="csY7" fmla="*/ 0 h 5416094"/>
              <a:gd name="csX8" fmla="*/ 5505706 w 10515600"/>
              <a:gd name="csY8" fmla="*/ 0 h 5416094"/>
              <a:gd name="csX9" fmla="*/ 6349925 w 10515600"/>
              <a:gd name="csY9" fmla="*/ 0 h 5416094"/>
              <a:gd name="csX10" fmla="*/ 6758634 w 10515600"/>
              <a:gd name="csY10" fmla="*/ 0 h 5416094"/>
              <a:gd name="csX11" fmla="*/ 7428650 w 10515600"/>
              <a:gd name="csY11" fmla="*/ 0 h 5416094"/>
              <a:gd name="csX12" fmla="*/ 8098665 w 10515600"/>
              <a:gd name="csY12" fmla="*/ 0 h 5416094"/>
              <a:gd name="csX13" fmla="*/ 8681579 w 10515600"/>
              <a:gd name="csY13" fmla="*/ 0 h 5416094"/>
              <a:gd name="csX14" fmla="*/ 9612900 w 10515600"/>
              <a:gd name="csY14" fmla="*/ 0 h 5416094"/>
              <a:gd name="csX15" fmla="*/ 10515600 w 10515600"/>
              <a:gd name="csY15" fmla="*/ 902700 h 5416094"/>
              <a:gd name="csX16" fmla="*/ 10515600 w 10515600"/>
              <a:gd name="csY16" fmla="*/ 1504482 h 5416094"/>
              <a:gd name="csX17" fmla="*/ 10515600 w 10515600"/>
              <a:gd name="csY17" fmla="*/ 2178479 h 5416094"/>
              <a:gd name="csX18" fmla="*/ 10515600 w 10515600"/>
              <a:gd name="csY18" fmla="*/ 2780261 h 5416094"/>
              <a:gd name="csX19" fmla="*/ 10515600 w 10515600"/>
              <a:gd name="csY19" fmla="*/ 3273722 h 5416094"/>
              <a:gd name="csX20" fmla="*/ 10515600 w 10515600"/>
              <a:gd name="csY20" fmla="*/ 3803291 h 5416094"/>
              <a:gd name="csX21" fmla="*/ 10515600 w 10515600"/>
              <a:gd name="csY21" fmla="*/ 4513394 h 5416094"/>
              <a:gd name="csX22" fmla="*/ 9612900 w 10515600"/>
              <a:gd name="csY22" fmla="*/ 5416094 h 5416094"/>
              <a:gd name="csX23" fmla="*/ 9117089 w 10515600"/>
              <a:gd name="csY23" fmla="*/ 5416094 h 5416094"/>
              <a:gd name="csX24" fmla="*/ 8708379 w 10515600"/>
              <a:gd name="csY24" fmla="*/ 5416094 h 5416094"/>
              <a:gd name="csX25" fmla="*/ 8299670 w 10515600"/>
              <a:gd name="csY25" fmla="*/ 5416094 h 5416094"/>
              <a:gd name="csX26" fmla="*/ 7629654 w 10515600"/>
              <a:gd name="csY26" fmla="*/ 5416094 h 5416094"/>
              <a:gd name="csX27" fmla="*/ 7133843 w 10515600"/>
              <a:gd name="csY27" fmla="*/ 5416094 h 5416094"/>
              <a:gd name="csX28" fmla="*/ 6376726 w 10515600"/>
              <a:gd name="csY28" fmla="*/ 5416094 h 5416094"/>
              <a:gd name="csX29" fmla="*/ 5880914 w 10515600"/>
              <a:gd name="csY29" fmla="*/ 5416094 h 5416094"/>
              <a:gd name="csX30" fmla="*/ 5123797 w 10515600"/>
              <a:gd name="csY30" fmla="*/ 5416094 h 5416094"/>
              <a:gd name="csX31" fmla="*/ 4715088 w 10515600"/>
              <a:gd name="csY31" fmla="*/ 5416094 h 5416094"/>
              <a:gd name="csX32" fmla="*/ 3957970 w 10515600"/>
              <a:gd name="csY32" fmla="*/ 5416094 h 5416094"/>
              <a:gd name="csX33" fmla="*/ 3462159 w 10515600"/>
              <a:gd name="csY33" fmla="*/ 5416094 h 5416094"/>
              <a:gd name="csX34" fmla="*/ 3053449 w 10515600"/>
              <a:gd name="csY34" fmla="*/ 5416094 h 5416094"/>
              <a:gd name="csX35" fmla="*/ 2557638 w 10515600"/>
              <a:gd name="csY35" fmla="*/ 5416094 h 5416094"/>
              <a:gd name="csX36" fmla="*/ 1800521 w 10515600"/>
              <a:gd name="csY36" fmla="*/ 5416094 h 5416094"/>
              <a:gd name="csX37" fmla="*/ 902700 w 10515600"/>
              <a:gd name="csY37" fmla="*/ 5416094 h 5416094"/>
              <a:gd name="csX38" fmla="*/ 0 w 10515600"/>
              <a:gd name="csY38" fmla="*/ 4513394 h 5416094"/>
              <a:gd name="csX39" fmla="*/ 0 w 10515600"/>
              <a:gd name="csY39" fmla="*/ 3911612 h 5416094"/>
              <a:gd name="csX40" fmla="*/ 0 w 10515600"/>
              <a:gd name="csY40" fmla="*/ 3309829 h 5416094"/>
              <a:gd name="csX41" fmla="*/ 0 w 10515600"/>
              <a:gd name="csY41" fmla="*/ 2780261 h 5416094"/>
              <a:gd name="csX42" fmla="*/ 0 w 10515600"/>
              <a:gd name="csY42" fmla="*/ 2106265 h 5416094"/>
              <a:gd name="csX43" fmla="*/ 0 w 10515600"/>
              <a:gd name="csY43" fmla="*/ 1504482 h 5416094"/>
              <a:gd name="csX44" fmla="*/ 0 w 10515600"/>
              <a:gd name="csY44" fmla="*/ 902700 h 5416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0515600" h="5416094" extrusionOk="0">
                <a:moveTo>
                  <a:pt x="0" y="902700"/>
                </a:moveTo>
                <a:cubicBezTo>
                  <a:pt x="-57306" y="368805"/>
                  <a:pt x="305054" y="37193"/>
                  <a:pt x="902700" y="0"/>
                </a:cubicBezTo>
                <a:cubicBezTo>
                  <a:pt x="1280419" y="-35006"/>
                  <a:pt x="1407743" y="-35339"/>
                  <a:pt x="1746919" y="0"/>
                </a:cubicBezTo>
                <a:cubicBezTo>
                  <a:pt x="2086095" y="35339"/>
                  <a:pt x="2146539" y="-12333"/>
                  <a:pt x="2329833" y="0"/>
                </a:cubicBezTo>
                <a:cubicBezTo>
                  <a:pt x="2513127" y="12333"/>
                  <a:pt x="2706706" y="12952"/>
                  <a:pt x="2825644" y="0"/>
                </a:cubicBezTo>
                <a:cubicBezTo>
                  <a:pt x="2944582" y="-12952"/>
                  <a:pt x="3420817" y="-27100"/>
                  <a:pt x="3582762" y="0"/>
                </a:cubicBezTo>
                <a:cubicBezTo>
                  <a:pt x="3744707" y="27100"/>
                  <a:pt x="4023584" y="-9167"/>
                  <a:pt x="4165675" y="0"/>
                </a:cubicBezTo>
                <a:cubicBezTo>
                  <a:pt x="4307766" y="9167"/>
                  <a:pt x="4770188" y="27031"/>
                  <a:pt x="5009894" y="0"/>
                </a:cubicBezTo>
                <a:cubicBezTo>
                  <a:pt x="5249600" y="-27031"/>
                  <a:pt x="5349881" y="-194"/>
                  <a:pt x="5505706" y="0"/>
                </a:cubicBezTo>
                <a:cubicBezTo>
                  <a:pt x="5661531" y="194"/>
                  <a:pt x="6129254" y="-29363"/>
                  <a:pt x="6349925" y="0"/>
                </a:cubicBezTo>
                <a:cubicBezTo>
                  <a:pt x="6570596" y="29363"/>
                  <a:pt x="6581199" y="-14617"/>
                  <a:pt x="6758634" y="0"/>
                </a:cubicBezTo>
                <a:cubicBezTo>
                  <a:pt x="6936069" y="14617"/>
                  <a:pt x="7246491" y="25675"/>
                  <a:pt x="7428650" y="0"/>
                </a:cubicBezTo>
                <a:cubicBezTo>
                  <a:pt x="7610809" y="-25675"/>
                  <a:pt x="7825190" y="-17078"/>
                  <a:pt x="8098665" y="0"/>
                </a:cubicBezTo>
                <a:cubicBezTo>
                  <a:pt x="8372141" y="17078"/>
                  <a:pt x="8559625" y="-21568"/>
                  <a:pt x="8681579" y="0"/>
                </a:cubicBezTo>
                <a:cubicBezTo>
                  <a:pt x="8803533" y="21568"/>
                  <a:pt x="9307226" y="-46066"/>
                  <a:pt x="9612900" y="0"/>
                </a:cubicBezTo>
                <a:cubicBezTo>
                  <a:pt x="10119954" y="-10560"/>
                  <a:pt x="10418674" y="366684"/>
                  <a:pt x="10515600" y="902700"/>
                </a:cubicBezTo>
                <a:cubicBezTo>
                  <a:pt x="10494548" y="1140809"/>
                  <a:pt x="10524881" y="1252168"/>
                  <a:pt x="10515600" y="1504482"/>
                </a:cubicBezTo>
                <a:cubicBezTo>
                  <a:pt x="10506319" y="1756796"/>
                  <a:pt x="10494309" y="1995078"/>
                  <a:pt x="10515600" y="2178479"/>
                </a:cubicBezTo>
                <a:cubicBezTo>
                  <a:pt x="10536891" y="2361880"/>
                  <a:pt x="10522845" y="2487483"/>
                  <a:pt x="10515600" y="2780261"/>
                </a:cubicBezTo>
                <a:cubicBezTo>
                  <a:pt x="10508355" y="3073039"/>
                  <a:pt x="10533694" y="3138252"/>
                  <a:pt x="10515600" y="3273722"/>
                </a:cubicBezTo>
                <a:cubicBezTo>
                  <a:pt x="10497506" y="3409192"/>
                  <a:pt x="10514952" y="3569910"/>
                  <a:pt x="10515600" y="3803291"/>
                </a:cubicBezTo>
                <a:cubicBezTo>
                  <a:pt x="10516248" y="4036672"/>
                  <a:pt x="10499126" y="4317688"/>
                  <a:pt x="10515600" y="4513394"/>
                </a:cubicBezTo>
                <a:cubicBezTo>
                  <a:pt x="10585499" y="4997151"/>
                  <a:pt x="10115437" y="5453981"/>
                  <a:pt x="9612900" y="5416094"/>
                </a:cubicBezTo>
                <a:cubicBezTo>
                  <a:pt x="9473271" y="5418358"/>
                  <a:pt x="9316384" y="5423764"/>
                  <a:pt x="9117089" y="5416094"/>
                </a:cubicBezTo>
                <a:cubicBezTo>
                  <a:pt x="8917794" y="5408424"/>
                  <a:pt x="8902141" y="5433256"/>
                  <a:pt x="8708379" y="5416094"/>
                </a:cubicBezTo>
                <a:cubicBezTo>
                  <a:pt x="8514617" y="5398933"/>
                  <a:pt x="8454700" y="5422387"/>
                  <a:pt x="8299670" y="5416094"/>
                </a:cubicBezTo>
                <a:cubicBezTo>
                  <a:pt x="8144640" y="5409801"/>
                  <a:pt x="7907022" y="5398388"/>
                  <a:pt x="7629654" y="5416094"/>
                </a:cubicBezTo>
                <a:cubicBezTo>
                  <a:pt x="7352286" y="5433800"/>
                  <a:pt x="7244777" y="5409877"/>
                  <a:pt x="7133843" y="5416094"/>
                </a:cubicBezTo>
                <a:cubicBezTo>
                  <a:pt x="7022909" y="5422311"/>
                  <a:pt x="6748865" y="5379753"/>
                  <a:pt x="6376726" y="5416094"/>
                </a:cubicBezTo>
                <a:cubicBezTo>
                  <a:pt x="6004587" y="5452435"/>
                  <a:pt x="5991442" y="5438860"/>
                  <a:pt x="5880914" y="5416094"/>
                </a:cubicBezTo>
                <a:cubicBezTo>
                  <a:pt x="5770386" y="5393328"/>
                  <a:pt x="5294303" y="5440618"/>
                  <a:pt x="5123797" y="5416094"/>
                </a:cubicBezTo>
                <a:cubicBezTo>
                  <a:pt x="4953291" y="5391570"/>
                  <a:pt x="4828705" y="5430421"/>
                  <a:pt x="4715088" y="5416094"/>
                </a:cubicBezTo>
                <a:cubicBezTo>
                  <a:pt x="4601471" y="5401767"/>
                  <a:pt x="4227806" y="5381491"/>
                  <a:pt x="3957970" y="5416094"/>
                </a:cubicBezTo>
                <a:cubicBezTo>
                  <a:pt x="3688134" y="5450697"/>
                  <a:pt x="3670638" y="5425309"/>
                  <a:pt x="3462159" y="5416094"/>
                </a:cubicBezTo>
                <a:cubicBezTo>
                  <a:pt x="3253680" y="5406879"/>
                  <a:pt x="3167443" y="5432031"/>
                  <a:pt x="3053449" y="5416094"/>
                </a:cubicBezTo>
                <a:cubicBezTo>
                  <a:pt x="2939455" y="5400158"/>
                  <a:pt x="2701485" y="5433995"/>
                  <a:pt x="2557638" y="5416094"/>
                </a:cubicBezTo>
                <a:cubicBezTo>
                  <a:pt x="2413791" y="5398193"/>
                  <a:pt x="2168647" y="5424510"/>
                  <a:pt x="1800521" y="5416094"/>
                </a:cubicBezTo>
                <a:cubicBezTo>
                  <a:pt x="1432395" y="5407678"/>
                  <a:pt x="1261364" y="5454497"/>
                  <a:pt x="902700" y="5416094"/>
                </a:cubicBezTo>
                <a:cubicBezTo>
                  <a:pt x="519468" y="5419760"/>
                  <a:pt x="63003" y="5077223"/>
                  <a:pt x="0" y="4513394"/>
                </a:cubicBezTo>
                <a:cubicBezTo>
                  <a:pt x="-20265" y="4243495"/>
                  <a:pt x="27650" y="4053844"/>
                  <a:pt x="0" y="3911612"/>
                </a:cubicBezTo>
                <a:cubicBezTo>
                  <a:pt x="-27650" y="3769380"/>
                  <a:pt x="24988" y="3469350"/>
                  <a:pt x="0" y="3309829"/>
                </a:cubicBezTo>
                <a:cubicBezTo>
                  <a:pt x="-24988" y="3150308"/>
                  <a:pt x="-16973" y="2933511"/>
                  <a:pt x="0" y="2780261"/>
                </a:cubicBezTo>
                <a:cubicBezTo>
                  <a:pt x="16973" y="2627011"/>
                  <a:pt x="-11552" y="2315258"/>
                  <a:pt x="0" y="2106265"/>
                </a:cubicBezTo>
                <a:cubicBezTo>
                  <a:pt x="11552" y="1897272"/>
                  <a:pt x="-9167" y="1726905"/>
                  <a:pt x="0" y="1504482"/>
                </a:cubicBezTo>
                <a:cubicBezTo>
                  <a:pt x="9167" y="1282059"/>
                  <a:pt x="10972" y="1160784"/>
                  <a:pt x="0" y="902700"/>
                </a:cubicBezTo>
                <a:close/>
              </a:path>
            </a:pathLst>
          </a:custGeom>
          <a:noFill/>
          <a:ln w="60325" cap="rnd">
            <a:solidFill>
              <a:schemeClr val="tx1"/>
            </a:solidFill>
            <a:round/>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40975801"/>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DD2D1-3DF7-D1E3-ACC3-64582F679566}"/>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5A8E7295-7F26-7102-F760-1EC294697A77}"/>
              </a:ext>
            </a:extLst>
          </p:cNvPr>
          <p:cNvSpPr>
            <a:spLocks noGrp="1"/>
          </p:cNvSpPr>
          <p:nvPr>
            <p:ph idx="1"/>
          </p:nvPr>
        </p:nvSpPr>
        <p:spPr>
          <a:xfrm>
            <a:off x="838200" y="1929384"/>
            <a:ext cx="10515600" cy="4459986"/>
          </a:xfrm>
        </p:spPr>
        <p:txBody>
          <a:bodyPr>
            <a:normAutofit fontScale="92500" lnSpcReduction="20000"/>
          </a:bodyPr>
          <a:lstStyle/>
          <a:p>
            <a:pPr marL="0" indent="0" algn="just">
              <a:buNone/>
            </a:pPr>
            <a:r>
              <a:rPr lang="en-US" b="0" i="0" dirty="0">
                <a:solidFill>
                  <a:srgbClr val="242424"/>
                </a:solidFill>
                <a:effectLst/>
                <a:latin typeface="source-serif-pro"/>
              </a:rPr>
              <a:t>Retrieval-Augmented Generation (RAG) has become a essential approach for enhancing the capabilities of Large Language Models (LLMs), enabling them to leverage external knowledge sources for more accurate and contextually relevant responses. To streamline the development of RAG systems, several powerful frameworks have emerged, each offering unique features and capabilities. </a:t>
            </a:r>
          </a:p>
          <a:p>
            <a:pPr marL="0" indent="0" algn="just">
              <a:buNone/>
            </a:pPr>
            <a:r>
              <a:rPr lang="en-US" b="0" i="0" dirty="0">
                <a:solidFill>
                  <a:srgbClr val="242424"/>
                </a:solidFill>
                <a:effectLst/>
                <a:latin typeface="source-serif-pro"/>
              </a:rPr>
              <a:t>RAG frameworks –</a:t>
            </a:r>
          </a:p>
          <a:p>
            <a:pPr marL="0" indent="0" algn="just">
              <a:buNone/>
            </a:pPr>
            <a:r>
              <a:rPr lang="en-US" b="0" i="0" dirty="0" err="1">
                <a:solidFill>
                  <a:srgbClr val="242424"/>
                </a:solidFill>
                <a:effectLst/>
                <a:latin typeface="source-serif-pro"/>
              </a:rPr>
              <a:t>LangChain</a:t>
            </a:r>
            <a:r>
              <a:rPr lang="en-US" b="0" i="0" dirty="0">
                <a:solidFill>
                  <a:srgbClr val="242424"/>
                </a:solidFill>
                <a:effectLst/>
                <a:latin typeface="source-serif-pro"/>
              </a:rPr>
              <a:t>, </a:t>
            </a:r>
          </a:p>
          <a:p>
            <a:pPr marL="0" indent="0" algn="just">
              <a:buNone/>
            </a:pPr>
            <a:r>
              <a:rPr lang="en-US" b="0" i="0" dirty="0" err="1">
                <a:solidFill>
                  <a:srgbClr val="242424"/>
                </a:solidFill>
                <a:effectLst/>
                <a:latin typeface="source-serif-pro"/>
              </a:rPr>
              <a:t>LlamaIndex</a:t>
            </a:r>
            <a:r>
              <a:rPr lang="en-US" b="0" i="0" dirty="0">
                <a:solidFill>
                  <a:srgbClr val="242424"/>
                </a:solidFill>
                <a:effectLst/>
                <a:latin typeface="source-serif-pro"/>
              </a:rPr>
              <a:t>, </a:t>
            </a:r>
          </a:p>
          <a:p>
            <a:pPr marL="0" indent="0" algn="just">
              <a:buNone/>
            </a:pPr>
            <a:r>
              <a:rPr lang="en-US" b="0" i="0" dirty="0">
                <a:solidFill>
                  <a:srgbClr val="242424"/>
                </a:solidFill>
                <a:effectLst/>
                <a:latin typeface="source-serif-pro"/>
              </a:rPr>
              <a:t>Haystack</a:t>
            </a:r>
          </a:p>
        </p:txBody>
      </p:sp>
    </p:spTree>
    <p:extLst>
      <p:ext uri="{BB962C8B-B14F-4D97-AF65-F5344CB8AC3E}">
        <p14:creationId xmlns:p14="http://schemas.microsoft.com/office/powerpoint/2010/main" val="1131642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1B14AD-B883-F5F9-6F64-B0B1537A79F6}"/>
              </a:ext>
            </a:extLst>
          </p:cNvPr>
          <p:cNvPicPr>
            <a:picLocks noChangeAspect="1"/>
          </p:cNvPicPr>
          <p:nvPr/>
        </p:nvPicPr>
        <p:blipFill>
          <a:blip r:embed="rId2"/>
          <a:stretch>
            <a:fillRect/>
          </a:stretch>
        </p:blipFill>
        <p:spPr>
          <a:xfrm>
            <a:off x="1155905" y="645543"/>
            <a:ext cx="9508285" cy="5563672"/>
          </a:xfrm>
          <a:prstGeom prst="rect">
            <a:avLst/>
          </a:prstGeom>
        </p:spPr>
      </p:pic>
    </p:spTree>
    <p:extLst>
      <p:ext uri="{BB962C8B-B14F-4D97-AF65-F5344CB8AC3E}">
        <p14:creationId xmlns:p14="http://schemas.microsoft.com/office/powerpoint/2010/main" val="466560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92904-2C16-FD37-BD87-9D46355B0772}"/>
              </a:ext>
            </a:extLst>
          </p:cNvPr>
          <p:cNvSpPr>
            <a:spLocks noGrp="1"/>
          </p:cNvSpPr>
          <p:nvPr>
            <p:ph type="title"/>
          </p:nvPr>
        </p:nvSpPr>
        <p:spPr/>
        <p:txBody>
          <a:bodyPr>
            <a:normAutofit/>
          </a:bodyPr>
          <a:lstStyle/>
          <a:p>
            <a:r>
              <a:rPr lang="en-US" b="1" dirty="0">
                <a:latin typeface="Source Sans Pro" panose="020B0503030403020204" pitchFamily="34" charset="0"/>
                <a:ea typeface="Source Sans Pro" panose="020B0503030403020204" pitchFamily="34" charset="0"/>
              </a:rPr>
              <a:t>Importance of RAG</a:t>
            </a:r>
            <a:endParaRPr lang="en-US"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A7ACB800-8BC4-7463-22F4-D9D0A2DE9D19}"/>
              </a:ext>
            </a:extLst>
          </p:cNvPr>
          <p:cNvSpPr>
            <a:spLocks noGrp="1"/>
          </p:cNvSpPr>
          <p:nvPr>
            <p:ph idx="1"/>
          </p:nvPr>
        </p:nvSpPr>
        <p:spPr/>
        <p:txBody>
          <a:bodyPr>
            <a:normAutofit fontScale="85000" lnSpcReduction="20000"/>
          </a:bodyPr>
          <a:lstStyle/>
          <a:p>
            <a:pPr fontAlgn="base"/>
            <a:r>
              <a:rPr lang="en-US" b="1" dirty="0">
                <a:latin typeface="Source Sans Pro" panose="020B0503030403020204" pitchFamily="34" charset="0"/>
                <a:ea typeface="Source Sans Pro" panose="020B0503030403020204" pitchFamily="34" charset="0"/>
              </a:rPr>
              <a:t>Access to Updated Knowledge: </a:t>
            </a:r>
            <a:r>
              <a:rPr lang="en-US" dirty="0">
                <a:latin typeface="Source Sans Pro" panose="020B0503030403020204" pitchFamily="34" charset="0"/>
                <a:ea typeface="Source Sans Pro" panose="020B0503030403020204" pitchFamily="34" charset="0"/>
              </a:rPr>
              <a:t>LLMs are trained on fixed datasets but RAG allows them to fetch fresh and real time information from external sources.</a:t>
            </a:r>
          </a:p>
          <a:p>
            <a:pPr fontAlgn="base"/>
            <a:r>
              <a:rPr lang="en-US" b="1" dirty="0">
                <a:latin typeface="Source Sans Pro" panose="020B0503030403020204" pitchFamily="34" charset="0"/>
                <a:ea typeface="Source Sans Pro" panose="020B0503030403020204" pitchFamily="34" charset="0"/>
              </a:rPr>
              <a:t>Improved Accuracy:</a:t>
            </a:r>
            <a:r>
              <a:rPr lang="en-US" dirty="0">
                <a:latin typeface="Source Sans Pro" panose="020B0503030403020204" pitchFamily="34" charset="0"/>
                <a:ea typeface="Source Sans Pro" panose="020B0503030403020204" pitchFamily="34" charset="0"/>
              </a:rPr>
              <a:t> It reduces hallucinations in LLMs and makes answers more factually correct.</a:t>
            </a:r>
          </a:p>
          <a:p>
            <a:pPr fontAlgn="base"/>
            <a:r>
              <a:rPr lang="en-US" b="1" dirty="0">
                <a:latin typeface="Source Sans Pro" panose="020B0503030403020204" pitchFamily="34" charset="0"/>
                <a:ea typeface="Source Sans Pro" panose="020B0503030403020204" pitchFamily="34" charset="0"/>
              </a:rPr>
              <a:t>Domain Specific Expertise: It l</a:t>
            </a:r>
            <a:r>
              <a:rPr lang="en-US" dirty="0">
                <a:latin typeface="Source Sans Pro" panose="020B0503030403020204" pitchFamily="34" charset="0"/>
                <a:ea typeface="Source Sans Pro" panose="020B0503030403020204" pitchFamily="34" charset="0"/>
              </a:rPr>
              <a:t>ets us use specialized datasets like medical records and legal documents to get expert-level responses without retraining the model.</a:t>
            </a:r>
          </a:p>
          <a:p>
            <a:pPr fontAlgn="base"/>
            <a:r>
              <a:rPr lang="en-US" b="1" dirty="0">
                <a:latin typeface="Source Sans Pro" panose="020B0503030403020204" pitchFamily="34" charset="0"/>
                <a:ea typeface="Source Sans Pro" panose="020B0503030403020204" pitchFamily="34" charset="0"/>
              </a:rPr>
              <a:t>Cost Efficiency:</a:t>
            </a:r>
            <a:r>
              <a:rPr lang="en-US" dirty="0">
                <a:latin typeface="Source Sans Pro" panose="020B0503030403020204" pitchFamily="34" charset="0"/>
                <a:ea typeface="Source Sans Pro" panose="020B0503030403020204" pitchFamily="34" charset="0"/>
              </a:rPr>
              <a:t> Instead of retraining massive LLMs with new data, we simply update the external knowledge base hence saving time and resources.</a:t>
            </a:r>
          </a:p>
          <a:p>
            <a:pPr fontAlgn="base"/>
            <a:r>
              <a:rPr lang="en-US" b="1" dirty="0">
                <a:latin typeface="Source Sans Pro" panose="020B0503030403020204" pitchFamily="34" charset="0"/>
                <a:ea typeface="Source Sans Pro" panose="020B0503030403020204" pitchFamily="34" charset="0"/>
              </a:rPr>
              <a:t>Personalization:</a:t>
            </a:r>
            <a:r>
              <a:rPr lang="en-US" dirty="0">
                <a:latin typeface="Source Sans Pro" panose="020B0503030403020204" pitchFamily="34" charset="0"/>
                <a:ea typeface="Source Sans Pro" panose="020B0503030403020204" pitchFamily="34" charset="0"/>
              </a:rPr>
              <a:t> RAG can retrieve user specific information like past interactions or personal data to provide more tailored and relevant responses.</a:t>
            </a:r>
          </a:p>
          <a:p>
            <a:endParaRPr lang="en-US"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912404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5784B-CEFC-6FA1-A042-7A890C2AE53C}"/>
              </a:ext>
            </a:extLst>
          </p:cNvPr>
          <p:cNvSpPr>
            <a:spLocks noGrp="1"/>
          </p:cNvSpPr>
          <p:nvPr>
            <p:ph type="title"/>
          </p:nvPr>
        </p:nvSpPr>
        <p:spPr/>
        <p:txBody>
          <a:bodyPr>
            <a:normAutofit/>
          </a:bodyPr>
          <a:lstStyle/>
          <a:p>
            <a:r>
              <a:rPr lang="en-US" b="1" dirty="0">
                <a:latin typeface="Source Sans Pro" panose="020B0503030403020204" pitchFamily="34" charset="0"/>
                <a:ea typeface="Source Sans Pro" panose="020B0503030403020204" pitchFamily="34" charset="0"/>
              </a:rPr>
              <a:t>Components of RAG</a:t>
            </a:r>
            <a:endParaRPr lang="en-US"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AF2B0C44-112B-210E-3271-64F10B09B04A}"/>
              </a:ext>
            </a:extLst>
          </p:cNvPr>
          <p:cNvSpPr>
            <a:spLocks noGrp="1"/>
          </p:cNvSpPr>
          <p:nvPr>
            <p:ph idx="1"/>
          </p:nvPr>
        </p:nvSpPr>
        <p:spPr/>
        <p:txBody>
          <a:bodyPr>
            <a:normAutofit fontScale="62500" lnSpcReduction="20000"/>
          </a:bodyPr>
          <a:lstStyle/>
          <a:p>
            <a:pPr marL="514350" indent="-514350" fontAlgn="base">
              <a:buFont typeface="+mj-lt"/>
              <a:buAutoNum type="arabicPeriod"/>
            </a:pPr>
            <a:r>
              <a:rPr lang="en-US" b="1" dirty="0">
                <a:latin typeface="Source Sans Pro" panose="020B0503030403020204" pitchFamily="34" charset="0"/>
                <a:ea typeface="Source Sans Pro" panose="020B0503030403020204" pitchFamily="34" charset="0"/>
              </a:rPr>
              <a:t>External Knowledge Source: </a:t>
            </a:r>
            <a:r>
              <a:rPr lang="en-US" dirty="0">
                <a:latin typeface="Source Sans Pro" panose="020B0503030403020204" pitchFamily="34" charset="0"/>
                <a:ea typeface="Source Sans Pro" panose="020B0503030403020204" pitchFamily="34" charset="0"/>
              </a:rPr>
              <a:t>Stores domain specific or general information like documents, APIs or databases.</a:t>
            </a:r>
          </a:p>
          <a:p>
            <a:pPr marL="514350" indent="-514350" fontAlgn="base">
              <a:buFont typeface="+mj-lt"/>
              <a:buAutoNum type="arabicPeriod"/>
            </a:pPr>
            <a:r>
              <a:rPr lang="en-US" b="1" dirty="0">
                <a:latin typeface="Source Sans Pro" panose="020B0503030403020204" pitchFamily="34" charset="0"/>
                <a:ea typeface="Source Sans Pro" panose="020B0503030403020204" pitchFamily="34" charset="0"/>
              </a:rPr>
              <a:t>Text Chunking and Preprocessing: </a:t>
            </a:r>
            <a:r>
              <a:rPr lang="en-US" dirty="0">
                <a:latin typeface="Source Sans Pro" panose="020B0503030403020204" pitchFamily="34" charset="0"/>
                <a:ea typeface="Source Sans Pro" panose="020B0503030403020204" pitchFamily="34" charset="0"/>
              </a:rPr>
              <a:t>Breaks large text into smaller, manageable chunks and cleans it for consistency.</a:t>
            </a:r>
          </a:p>
          <a:p>
            <a:pPr marL="514350" indent="-514350" fontAlgn="base">
              <a:buFont typeface="+mj-lt"/>
              <a:buAutoNum type="arabicPeriod"/>
            </a:pPr>
            <a:r>
              <a:rPr lang="en-US" b="1" dirty="0">
                <a:latin typeface="Source Sans Pro" panose="020B0503030403020204" pitchFamily="34" charset="0"/>
                <a:ea typeface="Source Sans Pro" panose="020B0503030403020204" pitchFamily="34" charset="0"/>
              </a:rPr>
              <a:t>Embedding Model:</a:t>
            </a:r>
            <a:r>
              <a:rPr lang="en-US" dirty="0">
                <a:latin typeface="Source Sans Pro" panose="020B0503030403020204" pitchFamily="34" charset="0"/>
                <a:ea typeface="Source Sans Pro" panose="020B0503030403020204" pitchFamily="34" charset="0"/>
              </a:rPr>
              <a:t> Converts text into numerical vectors that capture semantic meaning.</a:t>
            </a:r>
          </a:p>
          <a:p>
            <a:pPr marL="514350" indent="-514350" fontAlgn="base">
              <a:buFont typeface="+mj-lt"/>
              <a:buAutoNum type="arabicPeriod"/>
            </a:pPr>
            <a:r>
              <a:rPr lang="en-US" b="1" dirty="0">
                <a:latin typeface="Source Sans Pro" panose="020B0503030403020204" pitchFamily="34" charset="0"/>
                <a:ea typeface="Source Sans Pro" panose="020B0503030403020204" pitchFamily="34" charset="0"/>
              </a:rPr>
              <a:t>Vector Database: </a:t>
            </a:r>
            <a:r>
              <a:rPr lang="en-US" dirty="0">
                <a:latin typeface="Source Sans Pro" panose="020B0503030403020204" pitchFamily="34" charset="0"/>
                <a:ea typeface="Source Sans Pro" panose="020B0503030403020204" pitchFamily="34" charset="0"/>
              </a:rPr>
              <a:t>Stores embeddings and enables similarity search for fast information retrieval.</a:t>
            </a:r>
          </a:p>
          <a:p>
            <a:pPr marL="514350" indent="-514350" fontAlgn="base">
              <a:buFont typeface="+mj-lt"/>
              <a:buAutoNum type="arabicPeriod"/>
            </a:pPr>
            <a:r>
              <a:rPr lang="en-US" b="1" dirty="0">
                <a:latin typeface="Source Sans Pro" panose="020B0503030403020204" pitchFamily="34" charset="0"/>
                <a:ea typeface="Source Sans Pro" panose="020B0503030403020204" pitchFamily="34" charset="0"/>
              </a:rPr>
              <a:t>Query Encoder:</a:t>
            </a:r>
            <a:r>
              <a:rPr lang="en-US" dirty="0">
                <a:latin typeface="Source Sans Pro" panose="020B0503030403020204" pitchFamily="34" charset="0"/>
                <a:ea typeface="Source Sans Pro" panose="020B0503030403020204" pitchFamily="34" charset="0"/>
              </a:rPr>
              <a:t> Transforms the user’s query into a vector for comparison with stored embeddings.</a:t>
            </a:r>
          </a:p>
          <a:p>
            <a:pPr marL="514350" indent="-514350" fontAlgn="base">
              <a:buFont typeface="+mj-lt"/>
              <a:buAutoNum type="arabicPeriod"/>
            </a:pPr>
            <a:r>
              <a:rPr lang="en-US" b="1" dirty="0">
                <a:latin typeface="Source Sans Pro" panose="020B0503030403020204" pitchFamily="34" charset="0"/>
                <a:ea typeface="Source Sans Pro" panose="020B0503030403020204" pitchFamily="34" charset="0"/>
              </a:rPr>
              <a:t>Retriever: </a:t>
            </a:r>
            <a:r>
              <a:rPr lang="en-US" dirty="0">
                <a:latin typeface="Source Sans Pro" panose="020B0503030403020204" pitchFamily="34" charset="0"/>
                <a:ea typeface="Source Sans Pro" panose="020B0503030403020204" pitchFamily="34" charset="0"/>
              </a:rPr>
              <a:t>Finds and returns the most relevant chunks from the database based on query similarity.</a:t>
            </a:r>
          </a:p>
          <a:p>
            <a:pPr marL="514350" indent="-514350" fontAlgn="base">
              <a:buFont typeface="+mj-lt"/>
              <a:buAutoNum type="arabicPeriod"/>
            </a:pPr>
            <a:r>
              <a:rPr lang="en-US" b="1" dirty="0">
                <a:latin typeface="Source Sans Pro" panose="020B0503030403020204" pitchFamily="34" charset="0"/>
                <a:ea typeface="Source Sans Pro" panose="020B0503030403020204" pitchFamily="34" charset="0"/>
              </a:rPr>
              <a:t>Prompt Augmentation Layer: </a:t>
            </a:r>
            <a:r>
              <a:rPr lang="en-US" dirty="0">
                <a:latin typeface="Source Sans Pro" panose="020B0503030403020204" pitchFamily="34" charset="0"/>
                <a:ea typeface="Source Sans Pro" panose="020B0503030403020204" pitchFamily="34" charset="0"/>
              </a:rPr>
              <a:t>Combines retrieved chunks with the user’s query to provide context to the LLM.</a:t>
            </a:r>
          </a:p>
          <a:p>
            <a:pPr marL="514350" indent="-514350" fontAlgn="base">
              <a:buFont typeface="+mj-lt"/>
              <a:buAutoNum type="arabicPeriod"/>
            </a:pPr>
            <a:r>
              <a:rPr lang="en-US" b="1" dirty="0">
                <a:latin typeface="Source Sans Pro" panose="020B0503030403020204" pitchFamily="34" charset="0"/>
                <a:ea typeface="Source Sans Pro" panose="020B0503030403020204" pitchFamily="34" charset="0"/>
              </a:rPr>
              <a:t>LLM (Generator): </a:t>
            </a:r>
            <a:r>
              <a:rPr lang="en-US" dirty="0">
                <a:latin typeface="Source Sans Pro" panose="020B0503030403020204" pitchFamily="34" charset="0"/>
                <a:ea typeface="Source Sans Pro" panose="020B0503030403020204" pitchFamily="34" charset="0"/>
              </a:rPr>
              <a:t>Generates a grounded response using both the query and retrieved knowledge.</a:t>
            </a:r>
          </a:p>
          <a:p>
            <a:pPr marL="514350" indent="-514350" fontAlgn="base">
              <a:buFont typeface="+mj-lt"/>
              <a:buAutoNum type="arabicPeriod"/>
            </a:pPr>
            <a:r>
              <a:rPr lang="en-US" b="1" dirty="0">
                <a:latin typeface="Source Sans Pro" panose="020B0503030403020204" pitchFamily="34" charset="0"/>
                <a:ea typeface="Source Sans Pro" panose="020B0503030403020204" pitchFamily="34" charset="0"/>
              </a:rPr>
              <a:t>Updater (Optional): </a:t>
            </a:r>
            <a:r>
              <a:rPr lang="en-US" dirty="0">
                <a:latin typeface="Source Sans Pro" panose="020B0503030403020204" pitchFamily="34" charset="0"/>
                <a:ea typeface="Source Sans Pro" panose="020B0503030403020204" pitchFamily="34" charset="0"/>
              </a:rPr>
              <a:t>Regularly refreshes and re-embeds data to keep the knowledge base up to date.</a:t>
            </a:r>
          </a:p>
          <a:p>
            <a:pPr marL="514350" indent="-514350">
              <a:buFont typeface="+mj-lt"/>
              <a:buAutoNum type="arabicPeriod"/>
            </a:pPr>
            <a:endParaRPr lang="en-US"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979373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9D63C-049B-913A-B3F5-4524871750C1}"/>
              </a:ext>
            </a:extLst>
          </p:cNvPr>
          <p:cNvSpPr>
            <a:spLocks noGrp="1"/>
          </p:cNvSpPr>
          <p:nvPr>
            <p:ph type="title"/>
          </p:nvPr>
        </p:nvSpPr>
        <p:spPr/>
        <p:txBody>
          <a:bodyPr>
            <a:normAutofit/>
          </a:bodyPr>
          <a:lstStyle/>
          <a:p>
            <a:r>
              <a:rPr lang="en-US" b="1" dirty="0">
                <a:latin typeface="Source Sans Pro" panose="020B0503030403020204" pitchFamily="34" charset="0"/>
                <a:ea typeface="Source Sans Pro" panose="020B0503030403020204" pitchFamily="34" charset="0"/>
              </a:rPr>
              <a:t>Working of RAG</a:t>
            </a:r>
            <a:endParaRPr lang="en-US" dirty="0">
              <a:latin typeface="Source Sans Pro" panose="020B0503030403020204" pitchFamily="34" charset="0"/>
              <a:ea typeface="Source Sans Pro" panose="020B0503030403020204" pitchFamily="34" charset="0"/>
            </a:endParaRPr>
          </a:p>
        </p:txBody>
      </p:sp>
      <p:sp>
        <p:nvSpPr>
          <p:cNvPr id="4" name="AutoShape 2" descr="How-Rag-works">
            <a:extLst>
              <a:ext uri="{FF2B5EF4-FFF2-40B4-BE49-F238E27FC236}">
                <a16:creationId xmlns:a16="http://schemas.microsoft.com/office/drawing/2014/main" id="{1F687A5A-5CC1-4D61-38C7-15739138F3F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a:extLst>
              <a:ext uri="{FF2B5EF4-FFF2-40B4-BE49-F238E27FC236}">
                <a16:creationId xmlns:a16="http://schemas.microsoft.com/office/drawing/2014/main" id="{4CC73254-E996-4871-E52A-BC21068AEC32}"/>
              </a:ext>
            </a:extLst>
          </p:cNvPr>
          <p:cNvPicPr>
            <a:picLocks noChangeAspect="1"/>
          </p:cNvPicPr>
          <p:nvPr/>
        </p:nvPicPr>
        <p:blipFill>
          <a:blip r:embed="rId2"/>
          <a:stretch>
            <a:fillRect/>
          </a:stretch>
        </p:blipFill>
        <p:spPr>
          <a:xfrm>
            <a:off x="936752" y="1907858"/>
            <a:ext cx="10515600" cy="4651168"/>
          </a:xfrm>
          <a:prstGeom prst="rect">
            <a:avLst/>
          </a:prstGeom>
        </p:spPr>
      </p:pic>
    </p:spTree>
    <p:extLst>
      <p:ext uri="{BB962C8B-B14F-4D97-AF65-F5344CB8AC3E}">
        <p14:creationId xmlns:p14="http://schemas.microsoft.com/office/powerpoint/2010/main" val="30094983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B8B23-A8C0-FA04-3E68-4A6AD60A5C25}"/>
              </a:ext>
            </a:extLst>
          </p:cNvPr>
          <p:cNvSpPr>
            <a:spLocks noGrp="1"/>
          </p:cNvSpPr>
          <p:nvPr>
            <p:ph type="title"/>
          </p:nvPr>
        </p:nvSpPr>
        <p:spPr/>
        <p:txBody>
          <a:bodyPr/>
          <a:lstStyle/>
          <a:p>
            <a:r>
              <a:rPr lang="en-US" dirty="0">
                <a:latin typeface="Source Sans Pro" panose="020B0503030403020204" pitchFamily="34" charset="0"/>
                <a:ea typeface="Source Sans Pro" panose="020B0503030403020204" pitchFamily="34" charset="0"/>
              </a:rPr>
              <a:t>Vector Databases</a:t>
            </a:r>
          </a:p>
        </p:txBody>
      </p:sp>
      <p:sp>
        <p:nvSpPr>
          <p:cNvPr id="3" name="Content Placeholder 2">
            <a:extLst>
              <a:ext uri="{FF2B5EF4-FFF2-40B4-BE49-F238E27FC236}">
                <a16:creationId xmlns:a16="http://schemas.microsoft.com/office/drawing/2014/main" id="{2300077F-75E6-F38D-82AF-058684A592CF}"/>
              </a:ext>
            </a:extLst>
          </p:cNvPr>
          <p:cNvSpPr>
            <a:spLocks noGrp="1"/>
          </p:cNvSpPr>
          <p:nvPr>
            <p:ph idx="1"/>
          </p:nvPr>
        </p:nvSpPr>
        <p:spPr/>
        <p:txBody>
          <a:bodyPr/>
          <a:lstStyle/>
          <a:p>
            <a:r>
              <a:rPr lang="en-US" dirty="0">
                <a:latin typeface="Source Sans Pro" panose="020B0503030403020204" pitchFamily="34" charset="0"/>
                <a:ea typeface="Source Sans Pro" panose="020B0503030403020204" pitchFamily="34" charset="0"/>
              </a:rPr>
              <a:t>A vector database is a specialized type of database designed to store, index and search high dimensional vector representations of data known as embeddings. Unlike traditional databases that rely on exact matches vector databases use similarity search techniques such as cosine similarity or Euclidean distance to find items that are semantically or visually similar.</a:t>
            </a:r>
          </a:p>
        </p:txBody>
      </p:sp>
    </p:spTree>
    <p:extLst>
      <p:ext uri="{BB962C8B-B14F-4D97-AF65-F5344CB8AC3E}">
        <p14:creationId xmlns:p14="http://schemas.microsoft.com/office/powerpoint/2010/main" val="2498921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97128C-29AA-3310-BD5E-4E17B0FD8E45}"/>
              </a:ext>
            </a:extLst>
          </p:cNvPr>
          <p:cNvPicPr>
            <a:picLocks noChangeAspect="1"/>
          </p:cNvPicPr>
          <p:nvPr/>
        </p:nvPicPr>
        <p:blipFill>
          <a:blip r:embed="rId2"/>
          <a:stretch>
            <a:fillRect/>
          </a:stretch>
        </p:blipFill>
        <p:spPr>
          <a:xfrm>
            <a:off x="331893" y="469322"/>
            <a:ext cx="11641845" cy="5725738"/>
          </a:xfrm>
          <a:prstGeom prst="rect">
            <a:avLst/>
          </a:prstGeom>
        </p:spPr>
      </p:pic>
    </p:spTree>
    <p:extLst>
      <p:ext uri="{BB962C8B-B14F-4D97-AF65-F5344CB8AC3E}">
        <p14:creationId xmlns:p14="http://schemas.microsoft.com/office/powerpoint/2010/main" val="333782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88B82-3ACE-354A-ED3B-2D3006F4AF8E}"/>
              </a:ext>
            </a:extLst>
          </p:cNvPr>
          <p:cNvSpPr>
            <a:spLocks noGrp="1"/>
          </p:cNvSpPr>
          <p:nvPr>
            <p:ph type="title"/>
          </p:nvPr>
        </p:nvSpPr>
        <p:spPr/>
        <p:txBody>
          <a:bodyPr>
            <a:normAutofit/>
          </a:bodyPr>
          <a:lstStyle/>
          <a:p>
            <a:r>
              <a:rPr lang="en-US" b="1" dirty="0">
                <a:latin typeface="Source Sans Pro" panose="020B0503030403020204" pitchFamily="34" charset="0"/>
                <a:ea typeface="Source Sans Pro" panose="020B0503030403020204" pitchFamily="34" charset="0"/>
              </a:rPr>
              <a:t>Popular Vector Databases</a:t>
            </a:r>
            <a:endParaRPr lang="en-US"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726FC4C6-CE77-7E89-2ABC-9CA8CD7E47BE}"/>
              </a:ext>
            </a:extLst>
          </p:cNvPr>
          <p:cNvSpPr>
            <a:spLocks noGrp="1"/>
          </p:cNvSpPr>
          <p:nvPr>
            <p:ph idx="1"/>
          </p:nvPr>
        </p:nvSpPr>
        <p:spPr>
          <a:xfrm>
            <a:off x="838200" y="1929384"/>
            <a:ext cx="10515600" cy="4745736"/>
          </a:xfrm>
        </p:spPr>
        <p:txBody>
          <a:bodyPr>
            <a:normAutofit fontScale="77500" lnSpcReduction="20000"/>
          </a:bodyPr>
          <a:lstStyle/>
          <a:p>
            <a:pPr fontAlgn="base"/>
            <a:r>
              <a:rPr lang="en-US" b="1" dirty="0">
                <a:latin typeface="Source Sans Pro" panose="020B0503030403020204" pitchFamily="34" charset="0"/>
                <a:ea typeface="Source Sans Pro" panose="020B0503030403020204" pitchFamily="34" charset="0"/>
              </a:rPr>
              <a:t>Pinecone: </a:t>
            </a:r>
            <a:r>
              <a:rPr lang="en-US" dirty="0">
                <a:latin typeface="Source Sans Pro" panose="020B0503030403020204" pitchFamily="34" charset="0"/>
                <a:ea typeface="Source Sans Pro" panose="020B0503030403020204" pitchFamily="34" charset="0"/>
              </a:rPr>
              <a:t>Fully managed, cloud native vector database with high scalability and low latency search.</a:t>
            </a:r>
          </a:p>
          <a:p>
            <a:pPr fontAlgn="base"/>
            <a:r>
              <a:rPr lang="en-US" b="1" dirty="0" err="1">
                <a:latin typeface="Source Sans Pro" panose="020B0503030403020204" pitchFamily="34" charset="0"/>
                <a:ea typeface="Source Sans Pro" panose="020B0503030403020204" pitchFamily="34" charset="0"/>
              </a:rPr>
              <a:t>Weaviate</a:t>
            </a:r>
            <a:r>
              <a:rPr lang="en-US" b="1" dirty="0">
                <a:latin typeface="Source Sans Pro" panose="020B0503030403020204" pitchFamily="34" charset="0"/>
                <a:ea typeface="Source Sans Pro" panose="020B0503030403020204" pitchFamily="34" charset="0"/>
              </a:rPr>
              <a:t>:</a:t>
            </a:r>
            <a:r>
              <a:rPr lang="en-US" dirty="0">
                <a:latin typeface="Source Sans Pro" panose="020B0503030403020204" pitchFamily="34" charset="0"/>
                <a:ea typeface="Source Sans Pro" panose="020B0503030403020204" pitchFamily="34" charset="0"/>
              </a:rPr>
              <a:t> Open source, supports hybrid (keyword + vector) search and offers built in machine learning modules.</a:t>
            </a:r>
          </a:p>
          <a:p>
            <a:pPr fontAlgn="base"/>
            <a:r>
              <a:rPr lang="en-US" b="1" dirty="0">
                <a:latin typeface="Source Sans Pro" panose="020B0503030403020204" pitchFamily="34" charset="0"/>
                <a:ea typeface="Source Sans Pro" panose="020B0503030403020204" pitchFamily="34" charset="0"/>
              </a:rPr>
              <a:t>Milvus:</a:t>
            </a:r>
            <a:r>
              <a:rPr lang="en-US" dirty="0">
                <a:latin typeface="Source Sans Pro" panose="020B0503030403020204" pitchFamily="34" charset="0"/>
                <a:ea typeface="Source Sans Pro" panose="020B0503030403020204" pitchFamily="34" charset="0"/>
              </a:rPr>
              <a:t> Highly scalable, open source database optimized for large scale similarity search.</a:t>
            </a:r>
          </a:p>
          <a:p>
            <a:pPr fontAlgn="base"/>
            <a:r>
              <a:rPr lang="en-US" b="1" dirty="0" err="1">
                <a:latin typeface="Source Sans Pro" panose="020B0503030403020204" pitchFamily="34" charset="0"/>
                <a:ea typeface="Source Sans Pro" panose="020B0503030403020204" pitchFamily="34" charset="0"/>
              </a:rPr>
              <a:t>Qdrant</a:t>
            </a:r>
            <a:r>
              <a:rPr lang="en-US" b="1" dirty="0">
                <a:latin typeface="Source Sans Pro" panose="020B0503030403020204" pitchFamily="34" charset="0"/>
                <a:ea typeface="Source Sans Pro" panose="020B0503030403020204" pitchFamily="34" charset="0"/>
              </a:rPr>
              <a:t>:</a:t>
            </a:r>
            <a:r>
              <a:rPr lang="en-US" dirty="0">
                <a:latin typeface="Source Sans Pro" panose="020B0503030403020204" pitchFamily="34" charset="0"/>
                <a:ea typeface="Source Sans Pro" panose="020B0503030403020204" pitchFamily="34" charset="0"/>
              </a:rPr>
              <a:t> Open source, focuses on high recall, performance and ease of integration with AI applications.</a:t>
            </a:r>
          </a:p>
          <a:p>
            <a:pPr fontAlgn="base"/>
            <a:r>
              <a:rPr lang="en-US" b="1" dirty="0" err="1">
                <a:latin typeface="Source Sans Pro" panose="020B0503030403020204" pitchFamily="34" charset="0"/>
                <a:ea typeface="Source Sans Pro" panose="020B0503030403020204" pitchFamily="34" charset="0"/>
              </a:rPr>
              <a:t>Chromadb</a:t>
            </a:r>
            <a:r>
              <a:rPr lang="en-US" b="1" dirty="0">
                <a:latin typeface="Source Sans Pro" panose="020B0503030403020204" pitchFamily="34" charset="0"/>
                <a:ea typeface="Source Sans Pro" panose="020B0503030403020204" pitchFamily="34" charset="0"/>
              </a:rPr>
              <a:t>: </a:t>
            </a:r>
            <a:r>
              <a:rPr lang="en-US" dirty="0">
                <a:latin typeface="Source Sans Pro" panose="020B0503030403020204" pitchFamily="34" charset="0"/>
                <a:ea typeface="Source Sans Pro" panose="020B0503030403020204" pitchFamily="34" charset="0"/>
              </a:rPr>
              <a:t>Lightweight, developer friendly vector database often used in LLM powered applications.</a:t>
            </a:r>
          </a:p>
          <a:p>
            <a:pPr fontAlgn="base"/>
            <a:r>
              <a:rPr lang="en-US" sz="2900" b="1" dirty="0" err="1">
                <a:latin typeface="Source Sans Pro" panose="020B0503030403020204" pitchFamily="34" charset="0"/>
                <a:ea typeface="Source Sans Pro" panose="020B0503030403020204" pitchFamily="34" charset="0"/>
              </a:rPr>
              <a:t>Faiss</a:t>
            </a:r>
            <a:r>
              <a:rPr lang="en-US" sz="2900" b="1" dirty="0">
                <a:latin typeface="Source Sans Pro" panose="020B0503030403020204" pitchFamily="34" charset="0"/>
                <a:ea typeface="Source Sans Pro" panose="020B0503030403020204" pitchFamily="34" charset="0"/>
              </a:rPr>
              <a:t>: </a:t>
            </a:r>
            <a:r>
              <a:rPr lang="en-US" sz="2900" dirty="0">
                <a:latin typeface="Source Sans Pro" panose="020B0503030403020204" pitchFamily="34" charset="0"/>
                <a:ea typeface="Source Sans Pro" panose="020B0503030403020204" pitchFamily="34" charset="0"/>
              </a:rPr>
              <a:t>- is an open-source library for vector search created by Facebook</a:t>
            </a:r>
          </a:p>
          <a:p>
            <a:pPr marL="0" indent="0" fontAlgn="base">
              <a:buNone/>
            </a:pPr>
            <a:r>
              <a:rPr lang="en-US" dirty="0">
                <a:latin typeface="Source Sans Pro" panose="020B0503030403020204" pitchFamily="34" charset="0"/>
                <a:ea typeface="Source Sans Pro" panose="020B0503030403020204" pitchFamily="34" charset="0"/>
                <a:hlinkClick r:id="rId2"/>
              </a:rPr>
              <a:t>https://www.datacamp.com/blog/the-top-5-vector-databases</a:t>
            </a:r>
            <a:endParaRPr lang="en-US" dirty="0">
              <a:latin typeface="Source Sans Pro" panose="020B0503030403020204" pitchFamily="34" charset="0"/>
              <a:ea typeface="Source Sans Pro" panose="020B0503030403020204" pitchFamily="34" charset="0"/>
            </a:endParaRPr>
          </a:p>
          <a:p>
            <a:pPr fontAlgn="base"/>
            <a:endParaRPr lang="en-US" dirty="0">
              <a:latin typeface="Source Sans Pro" panose="020B0503030403020204" pitchFamily="34" charset="0"/>
              <a:ea typeface="Source Sans Pro" panose="020B0503030403020204" pitchFamily="34" charset="0"/>
            </a:endParaRPr>
          </a:p>
          <a:p>
            <a:endParaRPr lang="en-US"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975592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9F5495-EC6E-EC18-A986-FE7D56BA1F2C}"/>
              </a:ext>
            </a:extLst>
          </p:cNvPr>
          <p:cNvSpPr txBox="1"/>
          <p:nvPr/>
        </p:nvSpPr>
        <p:spPr>
          <a:xfrm>
            <a:off x="692468" y="6154175"/>
            <a:ext cx="7605712" cy="461665"/>
          </a:xfrm>
          <a:prstGeom prst="rect">
            <a:avLst/>
          </a:prstGeom>
          <a:noFill/>
        </p:spPr>
        <p:txBody>
          <a:bodyPr wrap="square">
            <a:spAutoFit/>
          </a:bodyPr>
          <a:lstStyle/>
          <a:p>
            <a:r>
              <a:rPr lang="en-US" sz="2400" dirty="0">
                <a:latin typeface="Source Sans Pro" panose="020B0503030403020204" pitchFamily="34" charset="0"/>
                <a:ea typeface="Source Sans Pro" panose="020B0503030403020204" pitchFamily="34" charset="0"/>
              </a:rPr>
              <a:t>FAISS stands for </a:t>
            </a:r>
            <a:r>
              <a:rPr lang="en-US" sz="2400" b="1" dirty="0">
                <a:latin typeface="Source Sans Pro" panose="020B0503030403020204" pitchFamily="34" charset="0"/>
                <a:ea typeface="Source Sans Pro" panose="020B0503030403020204" pitchFamily="34" charset="0"/>
              </a:rPr>
              <a:t>Facebook AI Similarity Search</a:t>
            </a:r>
            <a:r>
              <a:rPr lang="en-US" sz="2400" dirty="0">
                <a:latin typeface="Source Sans Pro" panose="020B0503030403020204" pitchFamily="34" charset="0"/>
                <a:ea typeface="Source Sans Pro" panose="020B0503030403020204" pitchFamily="34" charset="0"/>
              </a:rPr>
              <a:t>.</a:t>
            </a:r>
          </a:p>
        </p:txBody>
      </p:sp>
      <p:sp>
        <p:nvSpPr>
          <p:cNvPr id="5" name="TextBox 4">
            <a:extLst>
              <a:ext uri="{FF2B5EF4-FFF2-40B4-BE49-F238E27FC236}">
                <a16:creationId xmlns:a16="http://schemas.microsoft.com/office/drawing/2014/main" id="{F8A8C8EC-D27C-C8A1-6F85-FFA0B73BEB2C}"/>
              </a:ext>
            </a:extLst>
          </p:cNvPr>
          <p:cNvSpPr txBox="1"/>
          <p:nvPr/>
        </p:nvSpPr>
        <p:spPr>
          <a:xfrm>
            <a:off x="557212" y="472992"/>
            <a:ext cx="10529888" cy="5262979"/>
          </a:xfrm>
          <a:prstGeom prst="rect">
            <a:avLst/>
          </a:prstGeom>
          <a:noFill/>
        </p:spPr>
        <p:txBody>
          <a:bodyPr wrap="square">
            <a:spAutoFit/>
          </a:bodyPr>
          <a:lstStyle/>
          <a:p>
            <a:pPr>
              <a:buNone/>
            </a:pPr>
            <a:r>
              <a:rPr lang="en-US" sz="2400" b="0" dirty="0">
                <a:solidFill>
                  <a:srgbClr val="9723B4"/>
                </a:solidFill>
                <a:effectLst/>
                <a:latin typeface="Source Sans Pro" panose="020B0503030403020204" pitchFamily="34" charset="0"/>
                <a:ea typeface="Source Sans Pro" panose="020B0503030403020204" pitchFamily="34" charset="0"/>
              </a:rPr>
              <a:t>import</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err="1">
                <a:solidFill>
                  <a:srgbClr val="000000"/>
                </a:solidFill>
                <a:effectLst/>
                <a:latin typeface="Source Sans Pro" panose="020B0503030403020204" pitchFamily="34" charset="0"/>
                <a:ea typeface="Source Sans Pro" panose="020B0503030403020204" pitchFamily="34" charset="0"/>
              </a:rPr>
              <a:t>faiss</a:t>
            </a:r>
            <a:endParaRPr lang="en-US" sz="2400" b="0" dirty="0">
              <a:solidFill>
                <a:srgbClr val="000000"/>
              </a:solidFill>
              <a:effectLst/>
              <a:latin typeface="Source Sans Pro" panose="020B0503030403020204" pitchFamily="34" charset="0"/>
              <a:ea typeface="Source Sans Pro" panose="020B0503030403020204" pitchFamily="34" charset="0"/>
            </a:endParaRPr>
          </a:p>
          <a:p>
            <a:pPr>
              <a:buNone/>
            </a:pPr>
            <a:r>
              <a:rPr lang="en-US" sz="2400" b="0" dirty="0">
                <a:solidFill>
                  <a:srgbClr val="9723B4"/>
                </a:solidFill>
                <a:effectLst/>
                <a:latin typeface="Source Sans Pro" panose="020B0503030403020204" pitchFamily="34" charset="0"/>
                <a:ea typeface="Source Sans Pro" panose="020B0503030403020204" pitchFamily="34" charset="0"/>
              </a:rPr>
              <a:t>import</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err="1">
                <a:solidFill>
                  <a:srgbClr val="000000"/>
                </a:solidFill>
                <a:effectLst/>
                <a:latin typeface="Source Sans Pro" panose="020B0503030403020204" pitchFamily="34" charset="0"/>
                <a:ea typeface="Source Sans Pro" panose="020B0503030403020204" pitchFamily="34" charset="0"/>
              </a:rPr>
              <a:t>numpy</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9723B4"/>
                </a:solidFill>
                <a:effectLst/>
                <a:latin typeface="Source Sans Pro" panose="020B0503030403020204" pitchFamily="34" charset="0"/>
                <a:ea typeface="Source Sans Pro" panose="020B0503030403020204" pitchFamily="34" charset="0"/>
              </a:rPr>
              <a:t>as</a:t>
            </a:r>
            <a:r>
              <a:rPr lang="en-US" sz="2400" b="0" dirty="0">
                <a:solidFill>
                  <a:srgbClr val="000000"/>
                </a:solidFill>
                <a:effectLst/>
                <a:latin typeface="Source Sans Pro" panose="020B0503030403020204" pitchFamily="34" charset="0"/>
                <a:ea typeface="Source Sans Pro" panose="020B0503030403020204" pitchFamily="34" charset="0"/>
              </a:rPr>
              <a:t> np</a:t>
            </a:r>
          </a:p>
          <a:p>
            <a:pPr>
              <a:buNone/>
            </a:pPr>
            <a:r>
              <a:rPr lang="en-US" sz="2400" b="0" dirty="0" err="1">
                <a:solidFill>
                  <a:srgbClr val="000000"/>
                </a:solidFill>
                <a:effectLst/>
                <a:latin typeface="Source Sans Pro" panose="020B0503030403020204" pitchFamily="34" charset="0"/>
                <a:ea typeface="Source Sans Pro" panose="020B0503030403020204" pitchFamily="34" charset="0"/>
              </a:rPr>
              <a:t>data_vectors</a:t>
            </a:r>
            <a:r>
              <a:rPr lang="en-US" sz="2400" b="0" dirty="0">
                <a:solidFill>
                  <a:srgbClr val="000000"/>
                </a:solidFill>
                <a:effectLst/>
                <a:latin typeface="Source Sans Pro" panose="020B0503030403020204" pitchFamily="34" charset="0"/>
                <a:ea typeface="Source Sans Pro" panose="020B0503030403020204" pitchFamily="34" charset="0"/>
              </a:rPr>
              <a:t> = </a:t>
            </a:r>
            <a:r>
              <a:rPr lang="en-US" sz="2400" b="0" dirty="0" err="1">
                <a:solidFill>
                  <a:srgbClr val="000000"/>
                </a:solidFill>
                <a:effectLst/>
                <a:latin typeface="Source Sans Pro" panose="020B0503030403020204" pitchFamily="34" charset="0"/>
                <a:ea typeface="Source Sans Pro" panose="020B0503030403020204" pitchFamily="34" charset="0"/>
              </a:rPr>
              <a:t>np.array</a:t>
            </a:r>
            <a:r>
              <a:rPr lang="en-US" sz="2400" b="0" dirty="0">
                <a:solidFill>
                  <a:srgbClr val="000000"/>
                </a:solidFill>
                <a:effectLst/>
                <a:latin typeface="Source Sans Pro" panose="020B0503030403020204" pitchFamily="34" charset="0"/>
                <a:ea typeface="Source Sans Pro" panose="020B0503030403020204" pitchFamily="34" charset="0"/>
              </a:rPr>
              <a:t>([</a:t>
            </a:r>
          </a:p>
          <a:p>
            <a:pPr>
              <a:buNone/>
            </a:pP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0.1</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0.2</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0.3</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0.4</a:t>
            </a:r>
            <a:r>
              <a:rPr lang="en-US" sz="2400" b="0" dirty="0">
                <a:solidFill>
                  <a:srgbClr val="000000"/>
                </a:solidFill>
                <a:effectLst/>
                <a:latin typeface="Source Sans Pro" panose="020B0503030403020204" pitchFamily="34" charset="0"/>
                <a:ea typeface="Source Sans Pro" panose="020B0503030403020204" pitchFamily="34" charset="0"/>
              </a:rPr>
              <a:t>],</a:t>
            </a:r>
          </a:p>
          <a:p>
            <a:pPr>
              <a:buNone/>
            </a:pP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0.2</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0.1</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0.4</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0.3</a:t>
            </a:r>
            <a:r>
              <a:rPr lang="en-US" sz="2400" b="0" dirty="0">
                <a:solidFill>
                  <a:srgbClr val="000000"/>
                </a:solidFill>
                <a:effectLst/>
                <a:latin typeface="Source Sans Pro" panose="020B0503030403020204" pitchFamily="34" charset="0"/>
                <a:ea typeface="Source Sans Pro" panose="020B0503030403020204" pitchFamily="34" charset="0"/>
              </a:rPr>
              <a:t>],</a:t>
            </a:r>
          </a:p>
          <a:p>
            <a:pPr>
              <a:buNone/>
            </a:pP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0.9</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0.8</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0.7</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0.6</a:t>
            </a:r>
            <a:r>
              <a:rPr lang="en-US" sz="2400" b="0" dirty="0">
                <a:solidFill>
                  <a:srgbClr val="000000"/>
                </a:solidFill>
                <a:effectLst/>
                <a:latin typeface="Source Sans Pro" panose="020B0503030403020204" pitchFamily="34" charset="0"/>
                <a:ea typeface="Source Sans Pro" panose="020B0503030403020204" pitchFamily="34" charset="0"/>
              </a:rPr>
              <a:t>],</a:t>
            </a:r>
          </a:p>
          <a:p>
            <a:pPr>
              <a:buNone/>
            </a:pP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err="1">
                <a:solidFill>
                  <a:srgbClr val="000000"/>
                </a:solidFill>
                <a:effectLst/>
                <a:latin typeface="Source Sans Pro" panose="020B0503030403020204" pitchFamily="34" charset="0"/>
                <a:ea typeface="Source Sans Pro" panose="020B0503030403020204" pitchFamily="34" charset="0"/>
              </a:rPr>
              <a:t>dtype</a:t>
            </a:r>
            <a:r>
              <a:rPr lang="en-US" sz="2400" b="0" dirty="0">
                <a:solidFill>
                  <a:srgbClr val="000000"/>
                </a:solidFill>
                <a:effectLst/>
                <a:latin typeface="Source Sans Pro" panose="020B0503030403020204" pitchFamily="34" charset="0"/>
                <a:ea typeface="Source Sans Pro" panose="020B0503030403020204" pitchFamily="34" charset="0"/>
              </a:rPr>
              <a:t>=</a:t>
            </a:r>
            <a:r>
              <a:rPr lang="en-US" sz="2400" b="0" dirty="0">
                <a:solidFill>
                  <a:srgbClr val="A31515"/>
                </a:solidFill>
                <a:effectLst/>
                <a:latin typeface="Source Sans Pro" panose="020B0503030403020204" pitchFamily="34" charset="0"/>
                <a:ea typeface="Source Sans Pro" panose="020B0503030403020204" pitchFamily="34" charset="0"/>
              </a:rPr>
              <a:t>'float32'</a:t>
            </a:r>
            <a:r>
              <a:rPr lang="en-US" sz="2400" b="0" dirty="0">
                <a:solidFill>
                  <a:srgbClr val="000000"/>
                </a:solidFill>
                <a:effectLst/>
                <a:latin typeface="Source Sans Pro" panose="020B0503030403020204" pitchFamily="34" charset="0"/>
                <a:ea typeface="Source Sans Pro" panose="020B0503030403020204" pitchFamily="34" charset="0"/>
              </a:rPr>
              <a:t>)</a:t>
            </a:r>
          </a:p>
          <a:p>
            <a:pPr>
              <a:buNone/>
            </a:pPr>
            <a:r>
              <a:rPr lang="en-US" sz="2400" b="0" dirty="0">
                <a:solidFill>
                  <a:srgbClr val="000000"/>
                </a:solidFill>
                <a:effectLst/>
                <a:latin typeface="Source Sans Pro" panose="020B0503030403020204" pitchFamily="34" charset="0"/>
                <a:ea typeface="Source Sans Pro" panose="020B0503030403020204" pitchFamily="34" charset="0"/>
              </a:rPr>
              <a:t>dimension = </a:t>
            </a:r>
            <a:r>
              <a:rPr lang="en-US" sz="2400" b="0" dirty="0" err="1">
                <a:solidFill>
                  <a:srgbClr val="000000"/>
                </a:solidFill>
                <a:effectLst/>
                <a:latin typeface="Source Sans Pro" panose="020B0503030403020204" pitchFamily="34" charset="0"/>
                <a:ea typeface="Source Sans Pro" panose="020B0503030403020204" pitchFamily="34" charset="0"/>
              </a:rPr>
              <a:t>data_vectors.shape</a:t>
            </a:r>
            <a:r>
              <a:rPr lang="en-US" sz="2400" b="0" dirty="0">
                <a:solidFill>
                  <a:srgbClr val="000000"/>
                </a:solidFill>
                <a:effectLst/>
                <a:latin typeface="Source Sans Pro" panose="020B0503030403020204" pitchFamily="34" charset="0"/>
                <a:ea typeface="Source Sans Pro" panose="020B0503030403020204" pitchFamily="34" charset="0"/>
              </a:rPr>
              <a:t>[</a:t>
            </a:r>
            <a:r>
              <a:rPr lang="en-US" sz="2400" b="0" dirty="0">
                <a:solidFill>
                  <a:srgbClr val="116644"/>
                </a:solidFill>
                <a:effectLst/>
                <a:latin typeface="Source Sans Pro" panose="020B0503030403020204" pitchFamily="34" charset="0"/>
                <a:ea typeface="Source Sans Pro" panose="020B0503030403020204" pitchFamily="34" charset="0"/>
              </a:rPr>
              <a:t>1</a:t>
            </a:r>
            <a:r>
              <a:rPr lang="en-US" sz="2400" b="0" dirty="0">
                <a:solidFill>
                  <a:srgbClr val="000000"/>
                </a:solidFill>
                <a:effectLst/>
                <a:latin typeface="Source Sans Pro" panose="020B0503030403020204" pitchFamily="34" charset="0"/>
                <a:ea typeface="Source Sans Pro" panose="020B0503030403020204" pitchFamily="34" charset="0"/>
              </a:rPr>
              <a:t>]</a:t>
            </a:r>
          </a:p>
          <a:p>
            <a:pPr>
              <a:buNone/>
            </a:pPr>
            <a:r>
              <a:rPr lang="en-US" sz="2400" b="0" dirty="0">
                <a:solidFill>
                  <a:srgbClr val="000000"/>
                </a:solidFill>
                <a:effectLst/>
                <a:latin typeface="Source Sans Pro" panose="020B0503030403020204" pitchFamily="34" charset="0"/>
                <a:ea typeface="Source Sans Pro" panose="020B0503030403020204" pitchFamily="34" charset="0"/>
              </a:rPr>
              <a:t>index = faiss.IndexFlatL2(dimension)</a:t>
            </a:r>
          </a:p>
          <a:p>
            <a:pPr>
              <a:buNone/>
            </a:pPr>
            <a:r>
              <a:rPr lang="en-US" sz="2400" b="0" dirty="0" err="1">
                <a:solidFill>
                  <a:srgbClr val="000000"/>
                </a:solidFill>
                <a:effectLst/>
                <a:latin typeface="Source Sans Pro" panose="020B0503030403020204" pitchFamily="34" charset="0"/>
                <a:ea typeface="Source Sans Pro" panose="020B0503030403020204" pitchFamily="34" charset="0"/>
              </a:rPr>
              <a:t>index.add</a:t>
            </a:r>
            <a:r>
              <a:rPr lang="en-US" sz="2400" b="0" dirty="0">
                <a:solidFill>
                  <a:srgbClr val="000000"/>
                </a:solidFill>
                <a:effectLst/>
                <a:latin typeface="Source Sans Pro" panose="020B0503030403020204" pitchFamily="34" charset="0"/>
                <a:ea typeface="Source Sans Pro" panose="020B0503030403020204" pitchFamily="34" charset="0"/>
              </a:rPr>
              <a:t>(</a:t>
            </a:r>
            <a:r>
              <a:rPr lang="en-US" sz="2400" b="0" dirty="0" err="1">
                <a:solidFill>
                  <a:srgbClr val="000000"/>
                </a:solidFill>
                <a:effectLst/>
                <a:latin typeface="Source Sans Pro" panose="020B0503030403020204" pitchFamily="34" charset="0"/>
                <a:ea typeface="Source Sans Pro" panose="020B0503030403020204" pitchFamily="34" charset="0"/>
              </a:rPr>
              <a:t>data_vectors</a:t>
            </a:r>
            <a:r>
              <a:rPr lang="en-US" sz="2400" b="0" dirty="0">
                <a:solidFill>
                  <a:srgbClr val="000000"/>
                </a:solidFill>
                <a:effectLst/>
                <a:latin typeface="Source Sans Pro" panose="020B0503030403020204" pitchFamily="34" charset="0"/>
                <a:ea typeface="Source Sans Pro" panose="020B0503030403020204" pitchFamily="34" charset="0"/>
              </a:rPr>
              <a:t>)</a:t>
            </a:r>
          </a:p>
          <a:p>
            <a:pPr>
              <a:buNone/>
            </a:pPr>
            <a:r>
              <a:rPr lang="en-US" sz="2400" b="0" dirty="0" err="1">
                <a:solidFill>
                  <a:srgbClr val="000000"/>
                </a:solidFill>
                <a:effectLst/>
                <a:latin typeface="Source Sans Pro" panose="020B0503030403020204" pitchFamily="34" charset="0"/>
                <a:ea typeface="Source Sans Pro" panose="020B0503030403020204" pitchFamily="34" charset="0"/>
              </a:rPr>
              <a:t>query_vector</a:t>
            </a:r>
            <a:r>
              <a:rPr lang="en-US" sz="2400" b="0" dirty="0">
                <a:solidFill>
                  <a:srgbClr val="000000"/>
                </a:solidFill>
                <a:effectLst/>
                <a:latin typeface="Source Sans Pro" panose="020B0503030403020204" pitchFamily="34" charset="0"/>
                <a:ea typeface="Source Sans Pro" panose="020B0503030403020204" pitchFamily="34" charset="0"/>
              </a:rPr>
              <a:t> = </a:t>
            </a:r>
            <a:r>
              <a:rPr lang="en-US" sz="2400" b="0" dirty="0" err="1">
                <a:solidFill>
                  <a:srgbClr val="000000"/>
                </a:solidFill>
                <a:effectLst/>
                <a:latin typeface="Source Sans Pro" panose="020B0503030403020204" pitchFamily="34" charset="0"/>
                <a:ea typeface="Source Sans Pro" panose="020B0503030403020204" pitchFamily="34" charset="0"/>
              </a:rPr>
              <a:t>np.array</a:t>
            </a:r>
            <a:r>
              <a:rPr lang="en-US" sz="2400" b="0" dirty="0">
                <a:solidFill>
                  <a:srgbClr val="000000"/>
                </a:solidFill>
                <a:effectLst/>
                <a:latin typeface="Source Sans Pro" panose="020B0503030403020204" pitchFamily="34" charset="0"/>
                <a:ea typeface="Source Sans Pro" panose="020B0503030403020204" pitchFamily="34" charset="0"/>
              </a:rPr>
              <a:t>([[</a:t>
            </a:r>
            <a:r>
              <a:rPr lang="en-US" sz="2400" b="0" dirty="0">
                <a:solidFill>
                  <a:srgbClr val="116644"/>
                </a:solidFill>
                <a:effectLst/>
                <a:latin typeface="Source Sans Pro" panose="020B0503030403020204" pitchFamily="34" charset="0"/>
                <a:ea typeface="Source Sans Pro" panose="020B0503030403020204" pitchFamily="34" charset="0"/>
              </a:rPr>
              <a:t>0.1</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0.2</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0.3</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a:solidFill>
                  <a:srgbClr val="116644"/>
                </a:solidFill>
                <a:effectLst/>
                <a:latin typeface="Source Sans Pro" panose="020B0503030403020204" pitchFamily="34" charset="0"/>
                <a:ea typeface="Source Sans Pro" panose="020B0503030403020204" pitchFamily="34" charset="0"/>
              </a:rPr>
              <a:t>0.35</a:t>
            </a:r>
            <a:r>
              <a:rPr lang="en-US" sz="2400" b="0" dirty="0">
                <a:solidFill>
                  <a:srgbClr val="000000"/>
                </a:solidFill>
                <a:effectLst/>
                <a:latin typeface="Source Sans Pro" panose="020B0503030403020204" pitchFamily="34" charset="0"/>
                <a:ea typeface="Source Sans Pro" panose="020B0503030403020204" pitchFamily="34" charset="0"/>
              </a:rPr>
              <a:t>]], </a:t>
            </a:r>
            <a:r>
              <a:rPr lang="en-US" sz="2400" b="0" dirty="0" err="1">
                <a:solidFill>
                  <a:srgbClr val="000000"/>
                </a:solidFill>
                <a:effectLst/>
                <a:latin typeface="Source Sans Pro" panose="020B0503030403020204" pitchFamily="34" charset="0"/>
                <a:ea typeface="Source Sans Pro" panose="020B0503030403020204" pitchFamily="34" charset="0"/>
              </a:rPr>
              <a:t>dtype</a:t>
            </a:r>
            <a:r>
              <a:rPr lang="en-US" sz="2400" b="0" dirty="0">
                <a:solidFill>
                  <a:srgbClr val="000000"/>
                </a:solidFill>
                <a:effectLst/>
                <a:latin typeface="Source Sans Pro" panose="020B0503030403020204" pitchFamily="34" charset="0"/>
                <a:ea typeface="Source Sans Pro" panose="020B0503030403020204" pitchFamily="34" charset="0"/>
              </a:rPr>
              <a:t>=</a:t>
            </a:r>
            <a:r>
              <a:rPr lang="en-US" sz="2400" b="0" dirty="0">
                <a:solidFill>
                  <a:srgbClr val="A31515"/>
                </a:solidFill>
                <a:effectLst/>
                <a:latin typeface="Source Sans Pro" panose="020B0503030403020204" pitchFamily="34" charset="0"/>
                <a:ea typeface="Source Sans Pro" panose="020B0503030403020204" pitchFamily="34" charset="0"/>
              </a:rPr>
              <a:t>'float32'</a:t>
            </a:r>
            <a:r>
              <a:rPr lang="en-US" sz="2400" b="0" dirty="0">
                <a:solidFill>
                  <a:srgbClr val="000000"/>
                </a:solidFill>
                <a:effectLst/>
                <a:latin typeface="Source Sans Pro" panose="020B0503030403020204" pitchFamily="34" charset="0"/>
                <a:ea typeface="Source Sans Pro" panose="020B0503030403020204" pitchFamily="34" charset="0"/>
              </a:rPr>
              <a:t>)</a:t>
            </a:r>
          </a:p>
          <a:p>
            <a:pPr>
              <a:buNone/>
            </a:pPr>
            <a:r>
              <a:rPr lang="en-US" sz="2400" b="0" dirty="0">
                <a:solidFill>
                  <a:srgbClr val="000000"/>
                </a:solidFill>
                <a:effectLst/>
                <a:latin typeface="Source Sans Pro" panose="020B0503030403020204" pitchFamily="34" charset="0"/>
                <a:ea typeface="Source Sans Pro" panose="020B0503030403020204" pitchFamily="34" charset="0"/>
              </a:rPr>
              <a:t>distances, indices = </a:t>
            </a:r>
            <a:r>
              <a:rPr lang="en-US" sz="2400" b="0" dirty="0" err="1">
                <a:solidFill>
                  <a:srgbClr val="000000"/>
                </a:solidFill>
                <a:effectLst/>
                <a:latin typeface="Source Sans Pro" panose="020B0503030403020204" pitchFamily="34" charset="0"/>
                <a:ea typeface="Source Sans Pro" panose="020B0503030403020204" pitchFamily="34" charset="0"/>
              </a:rPr>
              <a:t>index.search</a:t>
            </a:r>
            <a:r>
              <a:rPr lang="en-US" sz="2400" b="0" dirty="0">
                <a:solidFill>
                  <a:srgbClr val="000000"/>
                </a:solidFill>
                <a:effectLst/>
                <a:latin typeface="Source Sans Pro" panose="020B0503030403020204" pitchFamily="34" charset="0"/>
                <a:ea typeface="Source Sans Pro" panose="020B0503030403020204" pitchFamily="34" charset="0"/>
              </a:rPr>
              <a:t>(</a:t>
            </a:r>
            <a:r>
              <a:rPr lang="en-US" sz="2400" b="0" dirty="0" err="1">
                <a:solidFill>
                  <a:srgbClr val="000000"/>
                </a:solidFill>
                <a:effectLst/>
                <a:latin typeface="Source Sans Pro" panose="020B0503030403020204" pitchFamily="34" charset="0"/>
                <a:ea typeface="Source Sans Pro" panose="020B0503030403020204" pitchFamily="34" charset="0"/>
              </a:rPr>
              <a:t>query_vector</a:t>
            </a:r>
            <a:r>
              <a:rPr lang="en-US" sz="2400" b="0" dirty="0">
                <a:solidFill>
                  <a:srgbClr val="000000"/>
                </a:solidFill>
                <a:effectLst/>
                <a:latin typeface="Source Sans Pro" panose="020B0503030403020204" pitchFamily="34" charset="0"/>
                <a:ea typeface="Source Sans Pro" panose="020B0503030403020204" pitchFamily="34" charset="0"/>
              </a:rPr>
              <a:t>, k=</a:t>
            </a:r>
            <a:r>
              <a:rPr lang="en-US" sz="2400" b="0" dirty="0">
                <a:solidFill>
                  <a:srgbClr val="116644"/>
                </a:solidFill>
                <a:effectLst/>
                <a:latin typeface="Source Sans Pro" panose="020B0503030403020204" pitchFamily="34" charset="0"/>
                <a:ea typeface="Source Sans Pro" panose="020B0503030403020204" pitchFamily="34" charset="0"/>
              </a:rPr>
              <a:t>2</a:t>
            </a:r>
            <a:r>
              <a:rPr lang="en-US" sz="2400" b="0" dirty="0">
                <a:solidFill>
                  <a:srgbClr val="000000"/>
                </a:solidFill>
                <a:effectLst/>
                <a:latin typeface="Source Sans Pro" panose="020B0503030403020204" pitchFamily="34" charset="0"/>
                <a:ea typeface="Source Sans Pro" panose="020B0503030403020204" pitchFamily="34" charset="0"/>
              </a:rPr>
              <a:t>)</a:t>
            </a:r>
          </a:p>
          <a:p>
            <a:pPr>
              <a:buNone/>
            </a:pPr>
            <a:r>
              <a:rPr lang="en-US" sz="2400" b="0" dirty="0">
                <a:solidFill>
                  <a:srgbClr val="6A5221"/>
                </a:solidFill>
                <a:effectLst/>
                <a:latin typeface="Source Sans Pro" panose="020B0503030403020204" pitchFamily="34" charset="0"/>
                <a:ea typeface="Source Sans Pro" panose="020B0503030403020204" pitchFamily="34" charset="0"/>
              </a:rPr>
              <a:t>print</a:t>
            </a:r>
            <a:r>
              <a:rPr lang="en-US" sz="2400" b="0" dirty="0">
                <a:solidFill>
                  <a:srgbClr val="000000"/>
                </a:solidFill>
                <a:effectLst/>
                <a:latin typeface="Source Sans Pro" panose="020B0503030403020204" pitchFamily="34" charset="0"/>
                <a:ea typeface="Source Sans Pro" panose="020B0503030403020204" pitchFamily="34" charset="0"/>
              </a:rPr>
              <a:t>(</a:t>
            </a:r>
            <a:r>
              <a:rPr lang="en-US" sz="2400" b="0" dirty="0">
                <a:solidFill>
                  <a:srgbClr val="A31515"/>
                </a:solidFill>
                <a:effectLst/>
                <a:latin typeface="Source Sans Pro" panose="020B0503030403020204" pitchFamily="34" charset="0"/>
                <a:ea typeface="Source Sans Pro" panose="020B0503030403020204" pitchFamily="34" charset="0"/>
              </a:rPr>
              <a:t>"Indices of closest vectors:"</a:t>
            </a:r>
            <a:r>
              <a:rPr lang="en-US" sz="2400" b="0" dirty="0">
                <a:solidFill>
                  <a:srgbClr val="000000"/>
                </a:solidFill>
                <a:effectLst/>
                <a:latin typeface="Source Sans Pro" panose="020B0503030403020204" pitchFamily="34" charset="0"/>
                <a:ea typeface="Source Sans Pro" panose="020B0503030403020204" pitchFamily="34" charset="0"/>
              </a:rPr>
              <a:t>, indices)</a:t>
            </a:r>
          </a:p>
          <a:p>
            <a:pPr>
              <a:buNone/>
            </a:pPr>
            <a:r>
              <a:rPr lang="en-US" sz="2400" b="0" dirty="0">
                <a:solidFill>
                  <a:srgbClr val="6A5221"/>
                </a:solidFill>
                <a:effectLst/>
                <a:latin typeface="Source Sans Pro" panose="020B0503030403020204" pitchFamily="34" charset="0"/>
                <a:ea typeface="Source Sans Pro" panose="020B0503030403020204" pitchFamily="34" charset="0"/>
              </a:rPr>
              <a:t>print</a:t>
            </a:r>
            <a:r>
              <a:rPr lang="en-US" sz="2400" b="0" dirty="0">
                <a:solidFill>
                  <a:srgbClr val="000000"/>
                </a:solidFill>
                <a:effectLst/>
                <a:latin typeface="Source Sans Pro" panose="020B0503030403020204" pitchFamily="34" charset="0"/>
                <a:ea typeface="Source Sans Pro" panose="020B0503030403020204" pitchFamily="34" charset="0"/>
              </a:rPr>
              <a:t>(</a:t>
            </a:r>
            <a:r>
              <a:rPr lang="en-US" sz="2400" b="0" dirty="0">
                <a:solidFill>
                  <a:srgbClr val="A31515"/>
                </a:solidFill>
                <a:effectLst/>
                <a:latin typeface="Source Sans Pro" panose="020B0503030403020204" pitchFamily="34" charset="0"/>
                <a:ea typeface="Source Sans Pro" panose="020B0503030403020204" pitchFamily="34" charset="0"/>
              </a:rPr>
              <a:t>"Distances from query:"</a:t>
            </a:r>
            <a:r>
              <a:rPr lang="en-US" sz="2400" b="0" dirty="0">
                <a:solidFill>
                  <a:srgbClr val="000000"/>
                </a:solidFill>
                <a:effectLst/>
                <a:latin typeface="Source Sans Pro" panose="020B0503030403020204" pitchFamily="34" charset="0"/>
                <a:ea typeface="Source Sans Pro" panose="020B0503030403020204" pitchFamily="34" charset="0"/>
              </a:rPr>
              <a:t>, distances)</a:t>
            </a:r>
          </a:p>
        </p:txBody>
      </p:sp>
    </p:spTree>
    <p:extLst>
      <p:ext uri="{BB962C8B-B14F-4D97-AF65-F5344CB8AC3E}">
        <p14:creationId xmlns:p14="http://schemas.microsoft.com/office/powerpoint/2010/main" val="1404760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A78EB5-5128-EDAC-A313-B34528B1A20B}"/>
              </a:ext>
            </a:extLst>
          </p:cNvPr>
          <p:cNvSpPr txBox="1"/>
          <p:nvPr/>
        </p:nvSpPr>
        <p:spPr>
          <a:xfrm>
            <a:off x="1025842" y="684729"/>
            <a:ext cx="9135427" cy="3416320"/>
          </a:xfrm>
          <a:prstGeom prst="rect">
            <a:avLst/>
          </a:prstGeom>
          <a:noFill/>
        </p:spPr>
        <p:txBody>
          <a:bodyPr wrap="square">
            <a:spAutoFit/>
          </a:bodyPr>
          <a:lstStyle/>
          <a:p>
            <a:pPr>
              <a:buNone/>
            </a:pPr>
            <a:r>
              <a:rPr lang="en-US" sz="2400" b="1" dirty="0">
                <a:latin typeface="Source Sans Pro" panose="020B0503030403020204" pitchFamily="34" charset="0"/>
                <a:ea typeface="Source Sans Pro" panose="020B0503030403020204" pitchFamily="34" charset="0"/>
              </a:rPr>
              <a:t>⚙️ What FAISS actually does</a:t>
            </a:r>
          </a:p>
          <a:p>
            <a:pPr>
              <a:buNone/>
            </a:pPr>
            <a:r>
              <a:rPr lang="en-US" sz="2400" dirty="0">
                <a:latin typeface="Source Sans Pro" panose="020B0503030403020204" pitchFamily="34" charset="0"/>
                <a:ea typeface="Source Sans Pro" panose="020B0503030403020204" pitchFamily="34" charset="0"/>
              </a:rPr>
              <a:t>FAISS:</a:t>
            </a:r>
          </a:p>
          <a:p>
            <a:pPr>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Stores </a:t>
            </a:r>
            <a:r>
              <a:rPr lang="en-US" sz="2400" b="1" dirty="0">
                <a:latin typeface="Source Sans Pro" panose="020B0503030403020204" pitchFamily="34" charset="0"/>
                <a:ea typeface="Source Sans Pro" panose="020B0503030403020204" pitchFamily="34" charset="0"/>
              </a:rPr>
              <a:t>vectors</a:t>
            </a:r>
            <a:r>
              <a:rPr lang="en-US" sz="2400" dirty="0">
                <a:latin typeface="Source Sans Pro" panose="020B0503030403020204" pitchFamily="34" charset="0"/>
                <a:ea typeface="Source Sans Pro" panose="020B0503030403020204" pitchFamily="34" charset="0"/>
              </a:rPr>
              <a:t> (arrays of numbers, usually embeddings)</a:t>
            </a:r>
          </a:p>
          <a:p>
            <a:pPr>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Quickly finds </a:t>
            </a:r>
            <a:r>
              <a:rPr lang="en-US" sz="2400" b="1" dirty="0">
                <a:latin typeface="Source Sans Pro" panose="020B0503030403020204" pitchFamily="34" charset="0"/>
                <a:ea typeface="Source Sans Pro" panose="020B0503030403020204" pitchFamily="34" charset="0"/>
              </a:rPr>
              <a:t>nearest neighbors</a:t>
            </a:r>
            <a:endParaRPr lang="en-US" sz="2400" dirty="0">
              <a:latin typeface="Source Sans Pro" panose="020B0503030403020204" pitchFamily="34" charset="0"/>
              <a:ea typeface="Source Sans Pro" panose="020B0503030403020204" pitchFamily="34" charset="0"/>
            </a:endParaRPr>
          </a:p>
          <a:p>
            <a:pPr>
              <a:buFont typeface="Arial" panose="020B0604020202020204" pitchFamily="34" charset="0"/>
              <a:buChar char="•"/>
            </a:pPr>
            <a:r>
              <a:rPr lang="en-US" sz="2400" dirty="0">
                <a:latin typeface="Source Sans Pro" panose="020B0503030403020204" pitchFamily="34" charset="0"/>
                <a:ea typeface="Source Sans Pro" panose="020B0503030403020204" pitchFamily="34" charset="0"/>
              </a:rPr>
              <a:t>Uses smart math + indexing to avoid brute-force search</a:t>
            </a:r>
          </a:p>
          <a:p>
            <a:pPr>
              <a:buNone/>
            </a:pPr>
            <a:r>
              <a:rPr lang="en-US" sz="2400" dirty="0">
                <a:latin typeface="Source Sans Pro" panose="020B0503030403020204" pitchFamily="34" charset="0"/>
                <a:ea typeface="Source Sans Pro" panose="020B0503030403020204" pitchFamily="34" charset="0"/>
              </a:rPr>
              <a:t>It supports:</a:t>
            </a:r>
          </a:p>
          <a:p>
            <a:pPr>
              <a:buFont typeface="Arial" panose="020B0604020202020204" pitchFamily="34" charset="0"/>
              <a:buChar char="•"/>
            </a:pPr>
            <a:r>
              <a:rPr lang="en-US" sz="2400" b="1" dirty="0">
                <a:latin typeface="Source Sans Pro" panose="020B0503030403020204" pitchFamily="34" charset="0"/>
                <a:ea typeface="Source Sans Pro" panose="020B0503030403020204" pitchFamily="34" charset="0"/>
              </a:rPr>
              <a:t>Exact search</a:t>
            </a:r>
            <a:r>
              <a:rPr lang="en-US" sz="2400" dirty="0">
                <a:latin typeface="Source Sans Pro" panose="020B0503030403020204" pitchFamily="34" charset="0"/>
                <a:ea typeface="Source Sans Pro" panose="020B0503030403020204" pitchFamily="34" charset="0"/>
              </a:rPr>
              <a:t> (perfect but slower)</a:t>
            </a:r>
          </a:p>
          <a:p>
            <a:pPr>
              <a:buFont typeface="Arial" panose="020B0604020202020204" pitchFamily="34" charset="0"/>
              <a:buChar char="•"/>
            </a:pPr>
            <a:r>
              <a:rPr lang="en-US" sz="2400" b="1" dirty="0">
                <a:latin typeface="Source Sans Pro" panose="020B0503030403020204" pitchFamily="34" charset="0"/>
                <a:ea typeface="Source Sans Pro" panose="020B0503030403020204" pitchFamily="34" charset="0"/>
              </a:rPr>
              <a:t>Approximate search</a:t>
            </a:r>
            <a:r>
              <a:rPr lang="en-US" sz="2400" dirty="0">
                <a:latin typeface="Source Sans Pro" panose="020B0503030403020204" pitchFamily="34" charset="0"/>
                <a:ea typeface="Source Sans Pro" panose="020B0503030403020204" pitchFamily="34" charset="0"/>
              </a:rPr>
              <a:t> (slightly less perfect, much faster)</a:t>
            </a:r>
          </a:p>
          <a:p>
            <a:pPr>
              <a:buFont typeface="Arial" panose="020B0604020202020204" pitchFamily="34" charset="0"/>
              <a:buChar char="•"/>
            </a:pPr>
            <a:r>
              <a:rPr lang="en-US" sz="2400" b="1" dirty="0">
                <a:latin typeface="Source Sans Pro" panose="020B0503030403020204" pitchFamily="34" charset="0"/>
                <a:ea typeface="Source Sans Pro" panose="020B0503030403020204" pitchFamily="34" charset="0"/>
              </a:rPr>
              <a:t>CPU and GPU acceleration</a:t>
            </a:r>
            <a:endParaRPr lang="en-US" sz="2400"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2717986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7D52E-7A2B-37B4-7CA0-6279CDAF3EF1}"/>
              </a:ext>
            </a:extLst>
          </p:cNvPr>
          <p:cNvSpPr>
            <a:spLocks noGrp="1"/>
          </p:cNvSpPr>
          <p:nvPr>
            <p:ph type="title"/>
          </p:nvPr>
        </p:nvSpPr>
        <p:spPr/>
        <p:txBody>
          <a:bodyPr>
            <a:normAutofit/>
          </a:bodyPr>
          <a:lstStyle/>
          <a:p>
            <a:r>
              <a:rPr lang="en-US" b="1" dirty="0">
                <a:latin typeface="Source Sans Pro" panose="020B0503030403020204" pitchFamily="34" charset="0"/>
                <a:ea typeface="Source Sans Pro" panose="020B0503030403020204" pitchFamily="34" charset="0"/>
              </a:rPr>
              <a:t>What Problems does RAG solve?</a:t>
            </a:r>
            <a:endParaRPr lang="en-US"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641E4044-EB4D-9D03-AA91-176E5CA6189F}"/>
              </a:ext>
            </a:extLst>
          </p:cNvPr>
          <p:cNvSpPr>
            <a:spLocks noGrp="1"/>
          </p:cNvSpPr>
          <p:nvPr>
            <p:ph idx="1"/>
          </p:nvPr>
        </p:nvSpPr>
        <p:spPr>
          <a:xfrm>
            <a:off x="838200" y="1929384"/>
            <a:ext cx="10515600" cy="4928616"/>
          </a:xfrm>
        </p:spPr>
        <p:txBody>
          <a:bodyPr>
            <a:normAutofit fontScale="70000" lnSpcReduction="20000"/>
          </a:bodyPr>
          <a:lstStyle/>
          <a:p>
            <a:pPr fontAlgn="base"/>
            <a:r>
              <a:rPr lang="en-US" b="1" dirty="0">
                <a:latin typeface="Source Sans Pro" panose="020B0503030403020204" pitchFamily="34" charset="0"/>
                <a:ea typeface="Source Sans Pro" panose="020B0503030403020204" pitchFamily="34" charset="0"/>
              </a:rPr>
              <a:t>Hallucinations</a:t>
            </a:r>
            <a:r>
              <a:rPr lang="en-US" dirty="0">
                <a:latin typeface="Source Sans Pro" panose="020B0503030403020204" pitchFamily="34" charset="0"/>
                <a:ea typeface="Source Sans Pro" panose="020B0503030403020204" pitchFamily="34" charset="0"/>
              </a:rPr>
              <a:t>: Traditional generative models can produce incorrect information. RAG reduces this risk by retrieving verified, external data to ground responses in factual knowledge.</a:t>
            </a:r>
          </a:p>
          <a:p>
            <a:pPr fontAlgn="base"/>
            <a:r>
              <a:rPr lang="en-US" b="1" dirty="0">
                <a:latin typeface="Source Sans Pro" panose="020B0503030403020204" pitchFamily="34" charset="0"/>
                <a:ea typeface="Source Sans Pro" panose="020B0503030403020204" pitchFamily="34" charset="0"/>
              </a:rPr>
              <a:t>Outdated Information</a:t>
            </a:r>
            <a:r>
              <a:rPr lang="en-US" dirty="0">
                <a:latin typeface="Source Sans Pro" panose="020B0503030403020204" pitchFamily="34" charset="0"/>
                <a:ea typeface="Source Sans Pro" panose="020B0503030403020204" pitchFamily="34" charset="0"/>
              </a:rPr>
              <a:t>: Static models rely on training data that may become outdated. It dynamically retrieves latest information ensuring relevance and accuracy in real time</a:t>
            </a:r>
            <a:r>
              <a:rPr lang="en-US" b="1" dirty="0">
                <a:latin typeface="Source Sans Pro" panose="020B0503030403020204" pitchFamily="34" charset="0"/>
                <a:ea typeface="Source Sans Pro" panose="020B0503030403020204" pitchFamily="34" charset="0"/>
              </a:rPr>
              <a:t>.</a:t>
            </a:r>
            <a:endParaRPr lang="en-US" dirty="0">
              <a:latin typeface="Source Sans Pro" panose="020B0503030403020204" pitchFamily="34" charset="0"/>
              <a:ea typeface="Source Sans Pro" panose="020B0503030403020204" pitchFamily="34" charset="0"/>
            </a:endParaRPr>
          </a:p>
          <a:p>
            <a:pPr fontAlgn="base"/>
            <a:r>
              <a:rPr lang="en-US" b="1" dirty="0">
                <a:latin typeface="Source Sans Pro" panose="020B0503030403020204" pitchFamily="34" charset="0"/>
                <a:ea typeface="Source Sans Pro" panose="020B0503030403020204" pitchFamily="34" charset="0"/>
              </a:rPr>
              <a:t>Contextual Relevance</a:t>
            </a:r>
            <a:r>
              <a:rPr lang="en-US" dirty="0">
                <a:latin typeface="Source Sans Pro" panose="020B0503030403020204" pitchFamily="34" charset="0"/>
                <a:ea typeface="Source Sans Pro" panose="020B0503030403020204" pitchFamily="34" charset="0"/>
              </a:rPr>
              <a:t>: Generative models often struggle with maintaining context in complex or multi turn conversations. RAG retrieves relevant documents to enrich the context improving coherence and relevance.</a:t>
            </a:r>
          </a:p>
          <a:p>
            <a:pPr fontAlgn="base"/>
            <a:r>
              <a:rPr lang="en-US" b="1" dirty="0">
                <a:latin typeface="Source Sans Pro" panose="020B0503030403020204" pitchFamily="34" charset="0"/>
                <a:ea typeface="Source Sans Pro" panose="020B0503030403020204" pitchFamily="34" charset="0"/>
              </a:rPr>
              <a:t>Domain Specific Knowledge</a:t>
            </a:r>
            <a:r>
              <a:rPr lang="en-US" dirty="0">
                <a:latin typeface="Source Sans Pro" panose="020B0503030403020204" pitchFamily="34" charset="0"/>
                <a:ea typeface="Source Sans Pro" panose="020B0503030403020204" pitchFamily="34" charset="0"/>
              </a:rPr>
              <a:t>: Generic models may lack expertise in specialized fields. It integrates domain specific external knowledge for tailored and precise responses.</a:t>
            </a:r>
          </a:p>
          <a:p>
            <a:pPr fontAlgn="base"/>
            <a:r>
              <a:rPr lang="en-US" b="1" dirty="0">
                <a:latin typeface="Source Sans Pro" panose="020B0503030403020204" pitchFamily="34" charset="0"/>
                <a:ea typeface="Source Sans Pro" panose="020B0503030403020204" pitchFamily="34" charset="0"/>
              </a:rPr>
              <a:t>Cost and Efficiency</a:t>
            </a:r>
            <a:r>
              <a:rPr lang="en-US" dirty="0">
                <a:latin typeface="Source Sans Pro" panose="020B0503030403020204" pitchFamily="34" charset="0"/>
                <a:ea typeface="Source Sans Pro" panose="020B0503030403020204" pitchFamily="34" charset="0"/>
              </a:rPr>
              <a:t>: Fine tuning large models for specific tasks is expensive. It eliminates the need for retraining by dynamically retrieving relevant data reducing costs and computational load.</a:t>
            </a:r>
          </a:p>
          <a:p>
            <a:pPr fontAlgn="base"/>
            <a:r>
              <a:rPr lang="en-US" b="1" dirty="0">
                <a:latin typeface="Source Sans Pro" panose="020B0503030403020204" pitchFamily="34" charset="0"/>
                <a:ea typeface="Source Sans Pro" panose="020B0503030403020204" pitchFamily="34" charset="0"/>
              </a:rPr>
              <a:t>Scalability Across Domains</a:t>
            </a:r>
            <a:r>
              <a:rPr lang="en-US" dirty="0">
                <a:latin typeface="Source Sans Pro" panose="020B0503030403020204" pitchFamily="34" charset="0"/>
                <a:ea typeface="Source Sans Pro" panose="020B0503030403020204" pitchFamily="34" charset="0"/>
              </a:rPr>
              <a:t>: It is adaptable to diverse industries from healthcare to finance without extensive retraining making it highly scalable</a:t>
            </a:r>
          </a:p>
        </p:txBody>
      </p:sp>
    </p:spTree>
    <p:extLst>
      <p:ext uri="{BB962C8B-B14F-4D97-AF65-F5344CB8AC3E}">
        <p14:creationId xmlns:p14="http://schemas.microsoft.com/office/powerpoint/2010/main" val="1533706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080C4-0CC7-704B-43CE-ABAFE4C0BEFC}"/>
              </a:ext>
            </a:extLst>
          </p:cNvPr>
          <p:cNvSpPr>
            <a:spLocks noGrp="1"/>
          </p:cNvSpPr>
          <p:nvPr>
            <p:ph type="title"/>
          </p:nvPr>
        </p:nvSpPr>
        <p:spPr/>
        <p:txBody>
          <a:bodyPr/>
          <a:lstStyle/>
          <a:p>
            <a:r>
              <a:rPr lang="en-US" dirty="0">
                <a:latin typeface="Source Sans Pro" panose="020B0503030403020204" pitchFamily="34" charset="0"/>
                <a:ea typeface="Source Sans Pro" panose="020B0503030403020204" pitchFamily="34" charset="0"/>
              </a:rPr>
              <a:t>Rag Applications</a:t>
            </a:r>
          </a:p>
        </p:txBody>
      </p:sp>
      <p:sp>
        <p:nvSpPr>
          <p:cNvPr id="3" name="Content Placeholder 2">
            <a:extLst>
              <a:ext uri="{FF2B5EF4-FFF2-40B4-BE49-F238E27FC236}">
                <a16:creationId xmlns:a16="http://schemas.microsoft.com/office/drawing/2014/main" id="{4B41C9B2-696F-DD5D-EE4A-B78097D28602}"/>
              </a:ext>
            </a:extLst>
          </p:cNvPr>
          <p:cNvSpPr>
            <a:spLocks noGrp="1"/>
          </p:cNvSpPr>
          <p:nvPr>
            <p:ph idx="1"/>
          </p:nvPr>
        </p:nvSpPr>
        <p:spPr>
          <a:xfrm>
            <a:off x="838200" y="1963673"/>
            <a:ext cx="10515600" cy="4563491"/>
          </a:xfrm>
        </p:spPr>
        <p:txBody>
          <a:bodyPr>
            <a:normAutofit fontScale="85000" lnSpcReduction="20000"/>
          </a:bodyPr>
          <a:lstStyle/>
          <a:p>
            <a:pPr fontAlgn="base"/>
            <a:r>
              <a:rPr lang="en-US" b="1" dirty="0">
                <a:latin typeface="Source Sans Pro" panose="020B0503030403020204" pitchFamily="34" charset="0"/>
                <a:ea typeface="Source Sans Pro" panose="020B0503030403020204" pitchFamily="34" charset="0"/>
              </a:rPr>
              <a:t>Question-Answering Systems</a:t>
            </a:r>
            <a:r>
              <a:rPr lang="en-US" dirty="0">
                <a:latin typeface="Source Sans Pro" panose="020B0503030403020204" pitchFamily="34" charset="0"/>
                <a:ea typeface="Source Sans Pro" panose="020B0503030403020204" pitchFamily="34" charset="0"/>
              </a:rPr>
              <a:t>: It enables chatbots or virtual assistants to pull information from a knowledge base or documents and generate accurate, context aware answers.</a:t>
            </a:r>
          </a:p>
          <a:p>
            <a:pPr fontAlgn="base"/>
            <a:r>
              <a:rPr lang="en-US" b="1" dirty="0">
                <a:latin typeface="Source Sans Pro" panose="020B0503030403020204" pitchFamily="34" charset="0"/>
                <a:ea typeface="Source Sans Pro" panose="020B0503030403020204" pitchFamily="34" charset="0"/>
              </a:rPr>
              <a:t>Content Creation and Summarization:</a:t>
            </a:r>
            <a:r>
              <a:rPr lang="en-US" dirty="0">
                <a:latin typeface="Source Sans Pro" panose="020B0503030403020204" pitchFamily="34" charset="0"/>
                <a:ea typeface="Source Sans Pro" panose="020B0503030403020204" pitchFamily="34" charset="0"/>
              </a:rPr>
              <a:t> It can gather information from multiple sources and generate concise, simplified summaries or articles.</a:t>
            </a:r>
          </a:p>
          <a:p>
            <a:pPr fontAlgn="base"/>
            <a:r>
              <a:rPr lang="en-US" b="1" dirty="0">
                <a:latin typeface="Source Sans Pro" panose="020B0503030403020204" pitchFamily="34" charset="0"/>
                <a:ea typeface="Source Sans Pro" panose="020B0503030403020204" pitchFamily="34" charset="0"/>
              </a:rPr>
              <a:t>Conversational Agents and Chatbots:</a:t>
            </a:r>
            <a:r>
              <a:rPr lang="en-US" dirty="0">
                <a:latin typeface="Source Sans Pro" panose="020B0503030403020204" pitchFamily="34" charset="0"/>
                <a:ea typeface="Source Sans Pro" panose="020B0503030403020204" pitchFamily="34" charset="0"/>
              </a:rPr>
              <a:t> It enhances chatbots by grounding their responses in reliable data making interactions more informative and personalized.</a:t>
            </a:r>
          </a:p>
          <a:p>
            <a:pPr fontAlgn="base"/>
            <a:r>
              <a:rPr lang="en-US" b="1" dirty="0">
                <a:latin typeface="Source Sans Pro" panose="020B0503030403020204" pitchFamily="34" charset="0"/>
                <a:ea typeface="Source Sans Pro" panose="020B0503030403020204" pitchFamily="34" charset="0"/>
              </a:rPr>
              <a:t>Information Retrieval: </a:t>
            </a:r>
            <a:r>
              <a:rPr lang="en-US" dirty="0">
                <a:latin typeface="Source Sans Pro" panose="020B0503030403020204" pitchFamily="34" charset="0"/>
                <a:ea typeface="Source Sans Pro" panose="020B0503030403020204" pitchFamily="34" charset="0"/>
              </a:rPr>
              <a:t>Goes beyond traditional search by retrieving documents and generating meaningful summaries of their content.</a:t>
            </a:r>
          </a:p>
          <a:p>
            <a:pPr fontAlgn="base"/>
            <a:r>
              <a:rPr lang="en-US" b="1" dirty="0">
                <a:latin typeface="Source Sans Pro" panose="020B0503030403020204" pitchFamily="34" charset="0"/>
                <a:ea typeface="Source Sans Pro" panose="020B0503030403020204" pitchFamily="34" charset="0"/>
              </a:rPr>
              <a:t>Educational Tools and Resources: </a:t>
            </a:r>
            <a:r>
              <a:rPr lang="en-US" dirty="0">
                <a:latin typeface="Source Sans Pro" panose="020B0503030403020204" pitchFamily="34" charset="0"/>
                <a:ea typeface="Source Sans Pro" panose="020B0503030403020204" pitchFamily="34" charset="0"/>
              </a:rPr>
              <a:t>Provides students with explanations, diagrams or multimedia references tailored to their queries.</a:t>
            </a:r>
          </a:p>
          <a:p>
            <a:endParaRPr lang="en-US"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2048420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8AE083B-6B32-2964-F594-4D4CD6FF75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740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35FB6-2D81-745A-1C50-AB3CDE767731}"/>
              </a:ext>
            </a:extLst>
          </p:cNvPr>
          <p:cNvSpPr>
            <a:spLocks noGrp="1"/>
          </p:cNvSpPr>
          <p:nvPr>
            <p:ph type="title"/>
          </p:nvPr>
        </p:nvSpPr>
        <p:spPr/>
        <p:txBody>
          <a:bodyPr/>
          <a:lstStyle/>
          <a:p>
            <a:r>
              <a:rPr lang="en-US" dirty="0"/>
              <a:t>RAG Components</a:t>
            </a:r>
          </a:p>
        </p:txBody>
      </p:sp>
      <p:sp>
        <p:nvSpPr>
          <p:cNvPr id="3" name="Content Placeholder 2">
            <a:extLst>
              <a:ext uri="{FF2B5EF4-FFF2-40B4-BE49-F238E27FC236}">
                <a16:creationId xmlns:a16="http://schemas.microsoft.com/office/drawing/2014/main" id="{0AD4A234-56C2-54A3-85A6-D303655437A5}"/>
              </a:ext>
            </a:extLst>
          </p:cNvPr>
          <p:cNvSpPr>
            <a:spLocks noGrp="1"/>
          </p:cNvSpPr>
          <p:nvPr>
            <p:ph idx="1"/>
          </p:nvPr>
        </p:nvSpPr>
        <p:spPr/>
        <p:txBody>
          <a:bodyPr/>
          <a:lstStyle/>
          <a:p>
            <a:pPr>
              <a:spcAft>
                <a:spcPts val="1500"/>
              </a:spcAft>
            </a:pPr>
            <a:r>
              <a:rPr lang="en-US" b="1" i="0" dirty="0">
                <a:solidFill>
                  <a:srgbClr val="1C1E21"/>
                </a:solidFill>
                <a:effectLst/>
                <a:latin typeface="Public Sans"/>
              </a:rPr>
              <a:t>Indexing</a:t>
            </a:r>
            <a:r>
              <a:rPr lang="en-US" b="0" i="0" dirty="0">
                <a:solidFill>
                  <a:srgbClr val="1C1E21"/>
                </a:solidFill>
                <a:effectLst/>
                <a:latin typeface="Public Sans"/>
              </a:rPr>
              <a:t>: a pipeline for ingesting data from a source and indexing it. </a:t>
            </a:r>
            <a:r>
              <a:rPr lang="en-US" b="0" i="1" dirty="0">
                <a:solidFill>
                  <a:srgbClr val="1C1E21"/>
                </a:solidFill>
                <a:effectLst/>
                <a:latin typeface="Public Sans"/>
              </a:rPr>
              <a:t>This usually happens offline.</a:t>
            </a:r>
            <a:endParaRPr lang="en-US" b="0" i="0" dirty="0">
              <a:solidFill>
                <a:srgbClr val="1C1E21"/>
              </a:solidFill>
              <a:effectLst/>
              <a:latin typeface="Public Sans"/>
            </a:endParaRPr>
          </a:p>
          <a:p>
            <a:pPr algn="l">
              <a:spcAft>
                <a:spcPts val="1500"/>
              </a:spcAft>
            </a:pPr>
            <a:r>
              <a:rPr lang="en-US" b="1" i="0" dirty="0">
                <a:solidFill>
                  <a:srgbClr val="1C1E21"/>
                </a:solidFill>
                <a:effectLst/>
                <a:latin typeface="Public Sans"/>
              </a:rPr>
              <a:t>Retrieval and generation</a:t>
            </a:r>
            <a:r>
              <a:rPr lang="en-US" b="0" i="0" dirty="0">
                <a:solidFill>
                  <a:srgbClr val="1C1E21"/>
                </a:solidFill>
                <a:effectLst/>
                <a:latin typeface="Public Sans"/>
              </a:rPr>
              <a:t>: the actual RAG chain, which takes the user query at run time and retrieves the relevant data from the index, then passes that to the model.</a:t>
            </a:r>
          </a:p>
          <a:p>
            <a:endParaRPr lang="en-US" dirty="0"/>
          </a:p>
        </p:txBody>
      </p:sp>
    </p:spTree>
    <p:extLst>
      <p:ext uri="{BB962C8B-B14F-4D97-AF65-F5344CB8AC3E}">
        <p14:creationId xmlns:p14="http://schemas.microsoft.com/office/powerpoint/2010/main" val="174220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9543C-FD92-87D5-C362-52180EC74F0E}"/>
              </a:ext>
            </a:extLst>
          </p:cNvPr>
          <p:cNvSpPr>
            <a:spLocks noGrp="1"/>
          </p:cNvSpPr>
          <p:nvPr>
            <p:ph type="title"/>
          </p:nvPr>
        </p:nvSpPr>
        <p:spPr/>
        <p:txBody>
          <a:bodyPr>
            <a:normAutofit/>
          </a:bodyPr>
          <a:lstStyle/>
          <a:p>
            <a:r>
              <a:rPr lang="en-US" b="1" i="0" dirty="0">
                <a:solidFill>
                  <a:srgbClr val="242424"/>
                </a:solidFill>
                <a:effectLst/>
                <a:latin typeface="sohne"/>
              </a:rPr>
              <a:t>RAG Lifecycle - </a:t>
            </a:r>
            <a:r>
              <a:rPr lang="en-US" b="1" i="0" dirty="0">
                <a:solidFill>
                  <a:srgbClr val="242424"/>
                </a:solidFill>
                <a:effectLst/>
                <a:latin typeface="source-serif-pro"/>
              </a:rPr>
              <a:t>Indexing </a:t>
            </a:r>
            <a:endParaRPr lang="en-US" dirty="0"/>
          </a:p>
        </p:txBody>
      </p:sp>
      <p:sp>
        <p:nvSpPr>
          <p:cNvPr id="3" name="Content Placeholder 2">
            <a:extLst>
              <a:ext uri="{FF2B5EF4-FFF2-40B4-BE49-F238E27FC236}">
                <a16:creationId xmlns:a16="http://schemas.microsoft.com/office/drawing/2014/main" id="{A255920C-360C-9A00-E517-AE2010983CC9}"/>
              </a:ext>
            </a:extLst>
          </p:cNvPr>
          <p:cNvSpPr>
            <a:spLocks noGrp="1"/>
          </p:cNvSpPr>
          <p:nvPr>
            <p:ph idx="1"/>
          </p:nvPr>
        </p:nvSpPr>
        <p:spPr>
          <a:xfrm>
            <a:off x="405765" y="1850708"/>
            <a:ext cx="11380470" cy="1578292"/>
          </a:xfrm>
        </p:spPr>
        <p:txBody>
          <a:bodyPr>
            <a:normAutofit fontScale="62500" lnSpcReduction="20000"/>
          </a:bodyPr>
          <a:lstStyle/>
          <a:p>
            <a:pPr algn="just">
              <a:lnSpc>
                <a:spcPts val="2400"/>
              </a:lnSpc>
              <a:buFont typeface="+mj-lt"/>
              <a:buAutoNum type="arabicPeriod"/>
            </a:pPr>
            <a:r>
              <a:rPr lang="en-US" sz="4000" b="1" dirty="0">
                <a:solidFill>
                  <a:srgbClr val="1C1E21"/>
                </a:solidFill>
                <a:latin typeface="Public Sans"/>
              </a:rPr>
              <a:t>Data Ingestion: </a:t>
            </a:r>
            <a:r>
              <a:rPr lang="en-US" sz="4000" dirty="0">
                <a:solidFill>
                  <a:srgbClr val="1C1E21"/>
                </a:solidFill>
                <a:latin typeface="Public Sans"/>
              </a:rPr>
              <a:t>Loading data from various sources, including files, databases, and APIs. </a:t>
            </a:r>
            <a:r>
              <a:rPr lang="en-US" sz="4000" b="1" i="0" dirty="0">
                <a:solidFill>
                  <a:srgbClr val="1C1E21"/>
                </a:solidFill>
                <a:effectLst/>
                <a:latin typeface="Public Sans"/>
              </a:rPr>
              <a:t>Load</a:t>
            </a:r>
            <a:r>
              <a:rPr lang="en-US" sz="4000" b="0" i="0" dirty="0">
                <a:solidFill>
                  <a:srgbClr val="1C1E21"/>
                </a:solidFill>
                <a:effectLst/>
                <a:latin typeface="Public Sans"/>
              </a:rPr>
              <a:t>: First we need to load our data. This is done with </a:t>
            </a:r>
            <a:r>
              <a:rPr lang="en-US" sz="4000" b="0" i="0" dirty="0">
                <a:solidFill>
                  <a:srgbClr val="2E8555"/>
                </a:solidFill>
                <a:effectLst/>
                <a:latin typeface="Public Sans"/>
                <a:hlinkClick r:id="rId2"/>
              </a:rPr>
              <a:t>Document Loaders</a:t>
            </a:r>
            <a:r>
              <a:rPr lang="en-US" sz="4000" b="0" i="0" dirty="0">
                <a:solidFill>
                  <a:srgbClr val="1C1E21"/>
                </a:solidFill>
                <a:effectLst/>
                <a:latin typeface="Public Sans"/>
              </a:rPr>
              <a:t>.</a:t>
            </a:r>
          </a:p>
          <a:p>
            <a:pPr algn="just">
              <a:lnSpc>
                <a:spcPts val="2400"/>
              </a:lnSpc>
              <a:buFont typeface="+mj-lt"/>
              <a:buAutoNum type="arabicPeriod"/>
            </a:pPr>
            <a:endParaRPr lang="en-US" sz="3800" b="0" i="0" dirty="0">
              <a:solidFill>
                <a:srgbClr val="242424"/>
              </a:solidFill>
              <a:effectLst/>
              <a:latin typeface="Public Sans"/>
            </a:endParaRPr>
          </a:p>
          <a:p>
            <a:pPr algn="just">
              <a:lnSpc>
                <a:spcPts val="2400"/>
              </a:lnSpc>
              <a:buFont typeface="+mj-lt"/>
              <a:buAutoNum type="arabicPeriod"/>
            </a:pPr>
            <a:r>
              <a:rPr lang="en-US" sz="3800" b="1" i="0" dirty="0">
                <a:solidFill>
                  <a:srgbClr val="242424"/>
                </a:solidFill>
                <a:effectLst/>
                <a:latin typeface="Public Sans"/>
              </a:rPr>
              <a:t>Data Preprocessing:</a:t>
            </a:r>
            <a:r>
              <a:rPr lang="en-US" sz="3800" b="0" i="0" dirty="0">
                <a:solidFill>
                  <a:srgbClr val="242424"/>
                </a:solidFill>
                <a:effectLst/>
                <a:latin typeface="Public Sans"/>
              </a:rPr>
              <a:t> Cleaning, chunking, and embedding text data into a vector format.</a:t>
            </a:r>
          </a:p>
          <a:p>
            <a:pPr algn="just">
              <a:lnSpc>
                <a:spcPts val="2400"/>
              </a:lnSpc>
              <a:buFont typeface="+mj-lt"/>
              <a:buAutoNum type="arabicPeriod"/>
            </a:pPr>
            <a:endParaRPr lang="en-US" sz="3800" b="0" i="0" dirty="0">
              <a:solidFill>
                <a:srgbClr val="242424"/>
              </a:solidFill>
              <a:effectLst/>
              <a:latin typeface="Public Sans"/>
            </a:endParaRPr>
          </a:p>
          <a:p>
            <a:pPr algn="just">
              <a:lnSpc>
                <a:spcPts val="2400"/>
              </a:lnSpc>
              <a:buFont typeface="+mj-lt"/>
              <a:buAutoNum type="arabicPeriod"/>
            </a:pPr>
            <a:endParaRPr lang="en-US" sz="3800" b="0" i="0" dirty="0">
              <a:solidFill>
                <a:srgbClr val="242424"/>
              </a:solidFill>
              <a:effectLst/>
              <a:latin typeface="Public Sans"/>
            </a:endParaRPr>
          </a:p>
          <a:p>
            <a:pPr marL="0" indent="0" algn="just">
              <a:lnSpc>
                <a:spcPts val="2400"/>
              </a:lnSpc>
              <a:buNone/>
            </a:pPr>
            <a:endParaRPr lang="en-US" sz="3200" b="0" i="0" dirty="0">
              <a:solidFill>
                <a:srgbClr val="242424"/>
              </a:solidFill>
              <a:effectLst/>
              <a:latin typeface="source-serif-pro"/>
            </a:endParaRPr>
          </a:p>
          <a:p>
            <a:pPr algn="just">
              <a:lnSpc>
                <a:spcPts val="2400"/>
              </a:lnSpc>
              <a:buFont typeface="+mj-lt"/>
              <a:buAutoNum type="arabicPeriod"/>
            </a:pPr>
            <a:endParaRPr lang="en-US" sz="3200" dirty="0">
              <a:solidFill>
                <a:srgbClr val="242424"/>
              </a:solidFill>
              <a:latin typeface="source-serif-pro"/>
            </a:endParaRPr>
          </a:p>
          <a:p>
            <a:pPr algn="just">
              <a:lnSpc>
                <a:spcPts val="2400"/>
              </a:lnSpc>
              <a:buFont typeface="+mj-lt"/>
              <a:buAutoNum type="arabicPeriod"/>
            </a:pPr>
            <a:endParaRPr lang="en-US" sz="3200" b="0" i="0" dirty="0">
              <a:solidFill>
                <a:srgbClr val="242424"/>
              </a:solidFill>
              <a:effectLst/>
              <a:latin typeface="source-serif-pro"/>
            </a:endParaRPr>
          </a:p>
        </p:txBody>
      </p:sp>
      <p:sp>
        <p:nvSpPr>
          <p:cNvPr id="6" name="Rectangle 2">
            <a:extLst>
              <a:ext uri="{FF2B5EF4-FFF2-40B4-BE49-F238E27FC236}">
                <a16:creationId xmlns:a16="http://schemas.microsoft.com/office/drawing/2014/main" id="{BA09168B-E5C0-DAE2-35B7-D95DCD1F8DA3}"/>
              </a:ext>
            </a:extLst>
          </p:cNvPr>
          <p:cNvSpPr>
            <a:spLocks noChangeArrowheads="1"/>
          </p:cNvSpPr>
          <p:nvPr/>
        </p:nvSpPr>
        <p:spPr bwMode="auto">
          <a:xfrm>
            <a:off x="0" y="-189779"/>
            <a:ext cx="65" cy="379559"/>
          </a:xfrm>
          <a:prstGeom prst="rect">
            <a:avLst/>
          </a:prstGeom>
          <a:solidFill>
            <a:srgbClr val="F6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01568"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0760AA5D-67F1-DEDF-1289-09CF2C811952}"/>
              </a:ext>
            </a:extLst>
          </p:cNvPr>
          <p:cNvSpPr txBox="1"/>
          <p:nvPr/>
        </p:nvSpPr>
        <p:spPr>
          <a:xfrm>
            <a:off x="838200" y="3326130"/>
            <a:ext cx="10747057" cy="3385542"/>
          </a:xfrm>
          <a:prstGeom prst="rect">
            <a:avLst/>
          </a:prstGeom>
          <a:noFill/>
        </p:spPr>
        <p:txBody>
          <a:bodyPr wrap="square">
            <a:spAutoFit/>
          </a:bodyPr>
          <a:lstStyle/>
          <a:p>
            <a:pPr marL="457200" marR="0" lvl="0" indent="-457200" algn="l" defTabSz="914400" rtl="0" eaLnBrk="0" fontAlgn="base" latinLnBrk="0" hangingPunct="0">
              <a:lnSpc>
                <a:spcPct val="100000"/>
              </a:lnSpc>
              <a:spcBef>
                <a:spcPct val="0"/>
              </a:spcBef>
              <a:spcAft>
                <a:spcPct val="0"/>
              </a:spcAft>
              <a:buClrTx/>
              <a:buSzTx/>
              <a:buFont typeface="+mj-lt"/>
              <a:buAutoNum type="alphaLcParenR"/>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0" indent="-457200" algn="l" defTabSz="914400" rtl="0" eaLnBrk="0" fontAlgn="ctr" latinLnBrk="0" hangingPunct="0">
              <a:lnSpc>
                <a:spcPct val="100000"/>
              </a:lnSpc>
              <a:spcBef>
                <a:spcPct val="0"/>
              </a:spcBef>
              <a:spcAft>
                <a:spcPct val="0"/>
              </a:spcAft>
              <a:buClrTx/>
              <a:buSzTx/>
              <a:buFont typeface="+mj-lt"/>
              <a:buAutoNum type="alphaLcParenR"/>
              <a:tabLst/>
            </a:pPr>
            <a:r>
              <a:rPr kumimoji="0" lang="en-US" altLang="en-US" sz="2400" b="1" i="0" u="none" strike="noStrike" cap="none" normalizeH="0" baseline="0" dirty="0">
                <a:ln>
                  <a:noFill/>
                </a:ln>
                <a:solidFill>
                  <a:srgbClr val="1C1E21"/>
                </a:solidFill>
                <a:effectLst/>
                <a:latin typeface="Public Sans"/>
              </a:rPr>
              <a:t>Split</a:t>
            </a:r>
            <a:r>
              <a:rPr kumimoji="0" lang="en-US" altLang="en-US" sz="2400" b="0" i="0" u="none" strike="noStrike" cap="none" normalizeH="0" baseline="0" dirty="0">
                <a:ln>
                  <a:noFill/>
                </a:ln>
                <a:solidFill>
                  <a:srgbClr val="1C1E21"/>
                </a:solidFill>
                <a:effectLst/>
                <a:latin typeface="Public Sans"/>
              </a:rPr>
              <a:t>: </a:t>
            </a:r>
            <a:r>
              <a:rPr kumimoji="0" lang="en-US" altLang="en-US" sz="2400" b="0" i="0" u="none" strike="noStrike" cap="none" normalizeH="0" baseline="0" dirty="0">
                <a:ln>
                  <a:noFill/>
                </a:ln>
                <a:solidFill>
                  <a:srgbClr val="2E8555"/>
                </a:solidFill>
                <a:effectLst/>
                <a:latin typeface="Public Sans"/>
                <a:hlinkClick r:id="rId3"/>
              </a:rPr>
              <a:t>Text splitters</a:t>
            </a:r>
            <a:r>
              <a:rPr kumimoji="0" lang="en-US" altLang="en-US" sz="2400" b="0" i="0" u="none" strike="noStrike" cap="none" normalizeH="0" baseline="0" dirty="0">
                <a:ln>
                  <a:noFill/>
                </a:ln>
                <a:solidFill>
                  <a:srgbClr val="1C1E21"/>
                </a:solidFill>
                <a:effectLst/>
                <a:latin typeface="Public Sans"/>
              </a:rPr>
              <a:t> break large </a:t>
            </a:r>
            <a:r>
              <a:rPr kumimoji="0" lang="en-US" altLang="en-US" sz="2400" b="0" i="0" u="none" strike="noStrike" cap="none" normalizeH="0" baseline="0" dirty="0">
                <a:ln>
                  <a:noFill/>
                </a:ln>
                <a:solidFill>
                  <a:srgbClr val="1C1E21"/>
                </a:solidFill>
                <a:effectLst/>
                <a:latin typeface="SFMono-Regular"/>
              </a:rPr>
              <a:t>Documents</a:t>
            </a:r>
            <a:r>
              <a:rPr kumimoji="0" lang="en-US" altLang="en-US" sz="2400" b="0" i="0" u="none" strike="noStrike" cap="none" normalizeH="0" baseline="0" dirty="0">
                <a:ln>
                  <a:noFill/>
                </a:ln>
                <a:solidFill>
                  <a:srgbClr val="1C1E21"/>
                </a:solidFill>
                <a:effectLst/>
                <a:latin typeface="Public Sans"/>
              </a:rPr>
              <a:t> into smaller chunks. This is useful both for indexing data and passing it into a model, as large chunks are harder to search over and won't fit in a model's finite context window.</a:t>
            </a:r>
          </a:p>
          <a:p>
            <a:pPr marL="457200" indent="-457200" eaLnBrk="0" fontAlgn="ctr" hangingPunct="0">
              <a:spcBef>
                <a:spcPct val="0"/>
              </a:spcBef>
              <a:spcAft>
                <a:spcPct val="0"/>
              </a:spcAft>
              <a:buFont typeface="+mj-lt"/>
              <a:buAutoNum type="alphaLcParenR"/>
            </a:pPr>
            <a:r>
              <a:rPr lang="en-US" sz="2400" b="1" i="0" dirty="0">
                <a:solidFill>
                  <a:srgbClr val="1C1E21"/>
                </a:solidFill>
                <a:effectLst/>
                <a:latin typeface="Public Sans"/>
              </a:rPr>
              <a:t>Store</a:t>
            </a:r>
            <a:r>
              <a:rPr lang="en-US" sz="2400" b="0" i="0" dirty="0">
                <a:solidFill>
                  <a:srgbClr val="1C1E21"/>
                </a:solidFill>
                <a:effectLst/>
                <a:latin typeface="Public Sans"/>
              </a:rPr>
              <a:t>: We need somewhere to store and index our splits, so that they can be searched over later. This is often done using a </a:t>
            </a:r>
            <a:r>
              <a:rPr lang="en-US" sz="2400" b="0" i="0" dirty="0" err="1">
                <a:solidFill>
                  <a:srgbClr val="2E8555"/>
                </a:solidFill>
                <a:effectLst/>
                <a:latin typeface="Public Sans"/>
                <a:hlinkClick r:id="rId4"/>
              </a:rPr>
              <a:t>VectorStore</a:t>
            </a:r>
            <a:r>
              <a:rPr lang="en-US" sz="2400" b="0" i="0" dirty="0">
                <a:solidFill>
                  <a:srgbClr val="1C1E21"/>
                </a:solidFill>
                <a:effectLst/>
                <a:latin typeface="Public Sans"/>
              </a:rPr>
              <a:t> and </a:t>
            </a:r>
            <a:r>
              <a:rPr lang="en-US" sz="2400" b="0" i="0" dirty="0">
                <a:solidFill>
                  <a:srgbClr val="2E8555"/>
                </a:solidFill>
                <a:effectLst/>
                <a:latin typeface="Public Sans"/>
                <a:hlinkClick r:id="rId5"/>
              </a:rPr>
              <a:t>Embeddings</a:t>
            </a:r>
            <a:r>
              <a:rPr lang="en-US" sz="2400" b="0" i="0" dirty="0">
                <a:solidFill>
                  <a:srgbClr val="1C1E21"/>
                </a:solidFill>
                <a:effectLst/>
                <a:latin typeface="Public Sans"/>
              </a:rPr>
              <a:t> model.</a:t>
            </a:r>
          </a:p>
          <a:p>
            <a:pPr marL="0" marR="0" lvl="0" indent="0" algn="l" defTabSz="914400" rtl="0" eaLnBrk="0" fontAlgn="ctr"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rgbClr val="1C1E21"/>
              </a:solidFill>
              <a:effectLst/>
              <a:latin typeface="Public Sans"/>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97076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ndex_diagram">
            <a:extLst>
              <a:ext uri="{FF2B5EF4-FFF2-40B4-BE49-F238E27FC236}">
                <a16:creationId xmlns:a16="http://schemas.microsoft.com/office/drawing/2014/main" id="{750BBEF2-81EC-759E-7A1C-4B17454287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 y="1077764"/>
            <a:ext cx="11487150" cy="4408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49636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90EA63-6E06-B25A-C79A-E1A3317298C8}"/>
              </a:ext>
            </a:extLst>
          </p:cNvPr>
          <p:cNvSpPr>
            <a:spLocks noGrp="1"/>
          </p:cNvSpPr>
          <p:nvPr>
            <p:ph type="title"/>
          </p:nvPr>
        </p:nvSpPr>
        <p:spPr/>
        <p:txBody>
          <a:bodyPr>
            <a:normAutofit fontScale="90000"/>
          </a:bodyPr>
          <a:lstStyle/>
          <a:p>
            <a:r>
              <a:rPr lang="en-US" b="1" dirty="0">
                <a:solidFill>
                  <a:srgbClr val="242424"/>
                </a:solidFill>
                <a:latin typeface="source-serif-pro"/>
              </a:rPr>
              <a:t>Retrieval and Generation</a:t>
            </a:r>
            <a:br>
              <a:rPr lang="en-US" b="1" dirty="0">
                <a:solidFill>
                  <a:srgbClr val="242424"/>
                </a:solidFill>
                <a:latin typeface="source-serif-pro"/>
              </a:rPr>
            </a:br>
            <a:endParaRPr lang="en-US" dirty="0"/>
          </a:p>
        </p:txBody>
      </p:sp>
      <p:sp>
        <p:nvSpPr>
          <p:cNvPr id="3" name="Content Placeholder 2">
            <a:extLst>
              <a:ext uri="{FF2B5EF4-FFF2-40B4-BE49-F238E27FC236}">
                <a16:creationId xmlns:a16="http://schemas.microsoft.com/office/drawing/2014/main" id="{629088BC-914F-77CD-31F3-FBB044F1ACEE}"/>
              </a:ext>
            </a:extLst>
          </p:cNvPr>
          <p:cNvSpPr>
            <a:spLocks noGrp="1"/>
          </p:cNvSpPr>
          <p:nvPr>
            <p:ph idx="1"/>
          </p:nvPr>
        </p:nvSpPr>
        <p:spPr/>
        <p:txBody>
          <a:bodyPr>
            <a:normAutofit/>
          </a:bodyPr>
          <a:lstStyle/>
          <a:p>
            <a:pPr algn="just">
              <a:lnSpc>
                <a:spcPts val="2400"/>
              </a:lnSpc>
              <a:buFont typeface="+mj-lt"/>
              <a:buAutoNum type="arabicPeriod"/>
            </a:pPr>
            <a:r>
              <a:rPr lang="en-US" b="1" i="0" dirty="0">
                <a:solidFill>
                  <a:srgbClr val="242424"/>
                </a:solidFill>
                <a:effectLst/>
                <a:latin typeface="Public Sans"/>
              </a:rPr>
              <a:t>Retrieval:</a:t>
            </a:r>
            <a:r>
              <a:rPr lang="en-US" b="0" i="0" dirty="0">
                <a:solidFill>
                  <a:srgbClr val="242424"/>
                </a:solidFill>
                <a:effectLst/>
                <a:latin typeface="Public Sans"/>
              </a:rPr>
              <a:t> Searching for relevant context based on the user query. </a:t>
            </a:r>
            <a:r>
              <a:rPr lang="en-US" b="0" i="0" dirty="0">
                <a:solidFill>
                  <a:srgbClr val="1C1E21"/>
                </a:solidFill>
                <a:effectLst/>
                <a:latin typeface="Public Sans"/>
              </a:rPr>
              <a:t>Given a user input, relevant splits are retrieved from storage using a </a:t>
            </a:r>
            <a:r>
              <a:rPr lang="en-US" b="0" i="0" dirty="0">
                <a:solidFill>
                  <a:srgbClr val="2E8555"/>
                </a:solidFill>
                <a:effectLst/>
                <a:latin typeface="Public Sans"/>
                <a:hlinkClick r:id="rId2"/>
              </a:rPr>
              <a:t>Retriever</a:t>
            </a:r>
            <a:r>
              <a:rPr lang="en-US" b="0" i="0" dirty="0">
                <a:solidFill>
                  <a:srgbClr val="1C1E21"/>
                </a:solidFill>
                <a:effectLst/>
                <a:latin typeface="Public Sans"/>
              </a:rPr>
              <a:t>.</a:t>
            </a:r>
            <a:endParaRPr lang="en-US" b="0" i="0" dirty="0">
              <a:solidFill>
                <a:srgbClr val="242424"/>
              </a:solidFill>
              <a:effectLst/>
              <a:latin typeface="Public Sans"/>
            </a:endParaRPr>
          </a:p>
          <a:p>
            <a:pPr algn="just">
              <a:lnSpc>
                <a:spcPts val="2400"/>
              </a:lnSpc>
              <a:buFont typeface="+mj-lt"/>
              <a:buAutoNum type="arabicPeriod"/>
            </a:pPr>
            <a:r>
              <a:rPr lang="en-US" b="1" i="0" dirty="0">
                <a:solidFill>
                  <a:srgbClr val="242424"/>
                </a:solidFill>
                <a:effectLst/>
                <a:latin typeface="Public Sans"/>
              </a:rPr>
              <a:t>Context Augmentation:</a:t>
            </a:r>
            <a:r>
              <a:rPr lang="en-US" b="0" i="0" dirty="0">
                <a:solidFill>
                  <a:srgbClr val="242424"/>
                </a:solidFill>
                <a:effectLst/>
                <a:latin typeface="Public Sans"/>
              </a:rPr>
              <a:t> Combining retrieved context with the user query.</a:t>
            </a:r>
          </a:p>
          <a:p>
            <a:pPr algn="just">
              <a:lnSpc>
                <a:spcPts val="2400"/>
              </a:lnSpc>
              <a:buFont typeface="+mj-lt"/>
              <a:buAutoNum type="arabicPeriod"/>
            </a:pPr>
            <a:r>
              <a:rPr lang="en-US" b="1" i="0" dirty="0">
                <a:solidFill>
                  <a:srgbClr val="242424"/>
                </a:solidFill>
                <a:effectLst/>
                <a:latin typeface="Public Sans"/>
              </a:rPr>
              <a:t>Response Generation:</a:t>
            </a:r>
            <a:r>
              <a:rPr lang="en-US" b="0" i="0" dirty="0">
                <a:solidFill>
                  <a:srgbClr val="242424"/>
                </a:solidFill>
                <a:effectLst/>
                <a:latin typeface="Public Sans"/>
              </a:rPr>
              <a:t> Using an LLM to generate a coherent and contextually rich response.</a:t>
            </a:r>
            <a:r>
              <a:rPr lang="en-US" b="0" i="0" dirty="0">
                <a:solidFill>
                  <a:srgbClr val="1C1E21"/>
                </a:solidFill>
                <a:effectLst/>
                <a:latin typeface="Public Sans"/>
              </a:rPr>
              <a:t> A </a:t>
            </a:r>
            <a:r>
              <a:rPr lang="en-US" b="0" i="0" dirty="0" err="1">
                <a:solidFill>
                  <a:srgbClr val="2E8555"/>
                </a:solidFill>
                <a:effectLst/>
                <a:latin typeface="Public Sans"/>
                <a:hlinkClick r:id="rId3"/>
              </a:rPr>
              <a:t>ChatModel</a:t>
            </a:r>
            <a:r>
              <a:rPr lang="en-US" b="0" i="0" dirty="0">
                <a:solidFill>
                  <a:srgbClr val="1C1E21"/>
                </a:solidFill>
                <a:effectLst/>
                <a:latin typeface="Public Sans"/>
              </a:rPr>
              <a:t> / </a:t>
            </a:r>
            <a:r>
              <a:rPr lang="en-US" b="0" i="0" dirty="0">
                <a:solidFill>
                  <a:srgbClr val="2E8555"/>
                </a:solidFill>
                <a:effectLst/>
                <a:latin typeface="Public Sans"/>
                <a:hlinkClick r:id="rId4"/>
              </a:rPr>
              <a:t>LLM</a:t>
            </a:r>
            <a:r>
              <a:rPr lang="en-US" b="0" i="0" dirty="0">
                <a:solidFill>
                  <a:srgbClr val="1C1E21"/>
                </a:solidFill>
                <a:effectLst/>
                <a:latin typeface="Public Sans"/>
              </a:rPr>
              <a:t> produces an answer using a prompt that includes both the question with the retrieved data</a:t>
            </a:r>
            <a:endParaRPr lang="en-US" b="0" i="0" dirty="0">
              <a:solidFill>
                <a:srgbClr val="242424"/>
              </a:solidFill>
              <a:effectLst/>
              <a:latin typeface="Public Sans"/>
            </a:endParaRPr>
          </a:p>
          <a:p>
            <a:pPr algn="just">
              <a:lnSpc>
                <a:spcPts val="2400"/>
              </a:lnSpc>
              <a:buFont typeface="+mj-lt"/>
              <a:buAutoNum type="arabicPeriod"/>
            </a:pPr>
            <a:r>
              <a:rPr lang="en-US" b="1" i="0" dirty="0">
                <a:solidFill>
                  <a:srgbClr val="242424"/>
                </a:solidFill>
                <a:effectLst/>
                <a:latin typeface="Public Sans"/>
              </a:rPr>
              <a:t>Evaluation and Iteration:</a:t>
            </a:r>
            <a:r>
              <a:rPr lang="en-US" b="0" i="0" dirty="0">
                <a:solidFill>
                  <a:srgbClr val="242424"/>
                </a:solidFill>
                <a:effectLst/>
                <a:latin typeface="Public Sans"/>
              </a:rPr>
              <a:t> Measuring the quality of responses and making improvements as needed.</a:t>
            </a:r>
            <a:endParaRPr lang="en-US" dirty="0">
              <a:latin typeface="Public Sans"/>
            </a:endParaRPr>
          </a:p>
          <a:p>
            <a:endParaRPr lang="en-US" dirty="0">
              <a:latin typeface="Public Sans"/>
            </a:endParaRPr>
          </a:p>
        </p:txBody>
      </p:sp>
    </p:spTree>
    <p:extLst>
      <p:ext uri="{BB962C8B-B14F-4D97-AF65-F5344CB8AC3E}">
        <p14:creationId xmlns:p14="http://schemas.microsoft.com/office/powerpoint/2010/main" val="6930135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retrieval_diagram">
            <a:extLst>
              <a:ext uri="{FF2B5EF4-FFF2-40B4-BE49-F238E27FC236}">
                <a16:creationId xmlns:a16="http://schemas.microsoft.com/office/drawing/2014/main" id="{E736EE7D-FA58-4067-3573-9E72A7263F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1625"/>
            <a:ext cx="12192000" cy="6254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8227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60B6F-3ACB-4014-6D7E-D4DC5F450DCF}"/>
              </a:ext>
            </a:extLst>
          </p:cNvPr>
          <p:cNvSpPr>
            <a:spLocks noGrp="1"/>
          </p:cNvSpPr>
          <p:nvPr>
            <p:ph type="title"/>
          </p:nvPr>
        </p:nvSpPr>
        <p:spPr/>
        <p:txBody>
          <a:bodyPr/>
          <a:lstStyle/>
          <a:p>
            <a:r>
              <a:rPr lang="en-US" dirty="0"/>
              <a:t>Complete RAG pipeline</a:t>
            </a:r>
          </a:p>
        </p:txBody>
      </p:sp>
      <p:pic>
        <p:nvPicPr>
          <p:cNvPr id="5" name="Picture 4">
            <a:extLst>
              <a:ext uri="{FF2B5EF4-FFF2-40B4-BE49-F238E27FC236}">
                <a16:creationId xmlns:a16="http://schemas.microsoft.com/office/drawing/2014/main" id="{DC582D05-9E32-81C9-B41A-0ADB32B4BA2A}"/>
              </a:ext>
            </a:extLst>
          </p:cNvPr>
          <p:cNvPicPr>
            <a:picLocks noChangeAspect="1"/>
          </p:cNvPicPr>
          <p:nvPr/>
        </p:nvPicPr>
        <p:blipFill>
          <a:blip r:embed="rId2"/>
          <a:srcRect r="13154"/>
          <a:stretch>
            <a:fillRect/>
          </a:stretch>
        </p:blipFill>
        <p:spPr>
          <a:xfrm>
            <a:off x="1005840" y="1908810"/>
            <a:ext cx="9681210" cy="4706730"/>
          </a:xfrm>
          <a:prstGeom prst="rect">
            <a:avLst/>
          </a:prstGeom>
        </p:spPr>
      </p:pic>
      <p:sp>
        <p:nvSpPr>
          <p:cNvPr id="6" name="Rectangle 5">
            <a:extLst>
              <a:ext uri="{FF2B5EF4-FFF2-40B4-BE49-F238E27FC236}">
                <a16:creationId xmlns:a16="http://schemas.microsoft.com/office/drawing/2014/main" id="{5B5D3519-D3C7-3AC8-3604-E3E0340BB5CB}"/>
              </a:ext>
            </a:extLst>
          </p:cNvPr>
          <p:cNvSpPr/>
          <p:nvPr/>
        </p:nvSpPr>
        <p:spPr>
          <a:xfrm>
            <a:off x="9692640" y="5669280"/>
            <a:ext cx="1017270" cy="9144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Arial" panose="020B0604020202020204" pitchFamily="34" charset="0"/>
                <a:cs typeface="Arial" panose="020B0604020202020204" pitchFamily="34" charset="0"/>
              </a:rPr>
              <a:t>RAG</a:t>
            </a:r>
          </a:p>
        </p:txBody>
      </p:sp>
    </p:spTree>
    <p:extLst>
      <p:ext uri="{BB962C8B-B14F-4D97-AF65-F5344CB8AC3E}">
        <p14:creationId xmlns:p14="http://schemas.microsoft.com/office/powerpoint/2010/main" val="4029503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064F1-0EFA-3EC4-287F-2BAC5B1EEA1D}"/>
              </a:ext>
            </a:extLst>
          </p:cNvPr>
          <p:cNvSpPr>
            <a:spLocks noGrp="1"/>
          </p:cNvSpPr>
          <p:nvPr>
            <p:ph type="title"/>
          </p:nvPr>
        </p:nvSpPr>
        <p:spPr/>
        <p:txBody>
          <a:bodyPr/>
          <a:lstStyle/>
          <a:p>
            <a:r>
              <a:rPr lang="en-US" b="1" dirty="0">
                <a:latin typeface="Source Sans Pro" panose="020B0503030403020204" pitchFamily="34" charset="0"/>
                <a:ea typeface="Source Sans Pro" panose="020B0503030403020204" pitchFamily="34" charset="0"/>
              </a:rPr>
              <a:t>Types of RAG</a:t>
            </a:r>
            <a:endParaRPr lang="en-US" dirty="0">
              <a:latin typeface="Source Sans Pro" panose="020B0503030403020204" pitchFamily="34" charset="0"/>
              <a:ea typeface="Source Sans Pro" panose="020B0503030403020204" pitchFamily="34" charset="0"/>
            </a:endParaRPr>
          </a:p>
        </p:txBody>
      </p:sp>
      <p:sp>
        <p:nvSpPr>
          <p:cNvPr id="3" name="Content Placeholder 2">
            <a:extLst>
              <a:ext uri="{FF2B5EF4-FFF2-40B4-BE49-F238E27FC236}">
                <a16:creationId xmlns:a16="http://schemas.microsoft.com/office/drawing/2014/main" id="{DCAC340B-A04A-E8E9-13A6-126720833A70}"/>
              </a:ext>
            </a:extLst>
          </p:cNvPr>
          <p:cNvSpPr>
            <a:spLocks noGrp="1"/>
          </p:cNvSpPr>
          <p:nvPr>
            <p:ph idx="1"/>
          </p:nvPr>
        </p:nvSpPr>
        <p:spPr>
          <a:xfrm>
            <a:off x="838200" y="1929384"/>
            <a:ext cx="10515600" cy="4700016"/>
          </a:xfrm>
        </p:spPr>
        <p:txBody>
          <a:bodyPr>
            <a:normAutofit fontScale="92500" lnSpcReduction="20000"/>
          </a:bodyPr>
          <a:lstStyle/>
          <a:p>
            <a:r>
              <a:rPr lang="en-US" b="1" dirty="0">
                <a:latin typeface="Source Sans Pro" panose="020B0503030403020204" pitchFamily="34" charset="0"/>
                <a:ea typeface="Source Sans Pro" panose="020B0503030403020204" pitchFamily="34" charset="0"/>
              </a:rPr>
              <a:t>Graph RAG</a:t>
            </a:r>
            <a:r>
              <a:rPr lang="en-US" dirty="0">
                <a:latin typeface="Source Sans Pro" panose="020B0503030403020204" pitchFamily="34" charset="0"/>
                <a:ea typeface="Source Sans Pro" panose="020B0503030403020204" pitchFamily="34" charset="0"/>
              </a:rPr>
              <a:t>: In this type of RAG, the knowledge source is represented as a graph, where nodes are entities and edges are relationships between entities. The language model can traverse the graph to retrieve relevant information. </a:t>
            </a:r>
          </a:p>
          <a:p>
            <a:r>
              <a:rPr lang="en-US" b="1" dirty="0">
                <a:latin typeface="Source Sans Pro" panose="020B0503030403020204" pitchFamily="34" charset="0"/>
                <a:ea typeface="Source Sans Pro" panose="020B0503030403020204" pitchFamily="34" charset="0"/>
              </a:rPr>
              <a:t>Hybrid RAG</a:t>
            </a:r>
            <a:r>
              <a:rPr lang="en-US" dirty="0">
                <a:latin typeface="Source Sans Pro" panose="020B0503030403020204" pitchFamily="34" charset="0"/>
                <a:ea typeface="Source Sans Pro" panose="020B0503030403020204" pitchFamily="34" charset="0"/>
              </a:rPr>
              <a:t>: a type of RAG that combines Knowledge Graphs (KGs) and vector database techniques to improve question-answering systems. </a:t>
            </a:r>
          </a:p>
          <a:p>
            <a:r>
              <a:rPr lang="en-US" b="1" dirty="0">
                <a:latin typeface="Source Sans Pro" panose="020B0503030403020204" pitchFamily="34" charset="0"/>
                <a:ea typeface="Source Sans Pro" panose="020B0503030403020204" pitchFamily="34" charset="0"/>
              </a:rPr>
              <a:t>Modular RAG</a:t>
            </a:r>
            <a:r>
              <a:rPr lang="en-US" dirty="0">
                <a:latin typeface="Source Sans Pro" panose="020B0503030403020204" pitchFamily="34" charset="0"/>
                <a:ea typeface="Source Sans Pro" panose="020B0503030403020204" pitchFamily="34" charset="0"/>
              </a:rPr>
              <a:t>: a type of RAG that goes beyond the basic "retrieve-then-generate" process, employing routing, scheduling, and fusion mechanisms to create a flexible and reconfigurable framework. This modular design allows for various RAG patterns (linear, conditional, branching, and looping), enabling more sophisticated and adaptable knowledge-intensive applications</a:t>
            </a:r>
            <a:endParaRPr lang="en-US" dirty="0"/>
          </a:p>
        </p:txBody>
      </p:sp>
    </p:spTree>
    <p:extLst>
      <p:ext uri="{BB962C8B-B14F-4D97-AF65-F5344CB8AC3E}">
        <p14:creationId xmlns:p14="http://schemas.microsoft.com/office/powerpoint/2010/main" val="1046066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0AE2A-794D-E23A-7308-2290E1473E71}"/>
              </a:ext>
            </a:extLst>
          </p:cNvPr>
          <p:cNvSpPr>
            <a:spLocks noGrp="1"/>
          </p:cNvSpPr>
          <p:nvPr>
            <p:ph type="title"/>
          </p:nvPr>
        </p:nvSpPr>
        <p:spPr/>
        <p:txBody>
          <a:bodyPr>
            <a:normAutofit/>
          </a:bodyPr>
          <a:lstStyle/>
          <a:p>
            <a:r>
              <a:rPr lang="en-US" b="1" dirty="0"/>
              <a:t>RAG Alternatives</a:t>
            </a:r>
            <a:endParaRPr lang="en-US" dirty="0"/>
          </a:p>
        </p:txBody>
      </p:sp>
      <p:graphicFrame>
        <p:nvGraphicFramePr>
          <p:cNvPr id="4" name="Table 3">
            <a:extLst>
              <a:ext uri="{FF2B5EF4-FFF2-40B4-BE49-F238E27FC236}">
                <a16:creationId xmlns:a16="http://schemas.microsoft.com/office/drawing/2014/main" id="{75C325F4-6E84-0EE5-D8EF-9308A95C9778}"/>
              </a:ext>
            </a:extLst>
          </p:cNvPr>
          <p:cNvGraphicFramePr>
            <a:graphicFrameLocks noGrp="1"/>
          </p:cNvGraphicFramePr>
          <p:nvPr>
            <p:extLst>
              <p:ext uri="{D42A27DB-BD31-4B8C-83A1-F6EECF244321}">
                <p14:modId xmlns:p14="http://schemas.microsoft.com/office/powerpoint/2010/main" val="1169981476"/>
              </p:ext>
            </p:extLst>
          </p:nvPr>
        </p:nvGraphicFramePr>
        <p:xfrm>
          <a:off x="251460" y="1690688"/>
          <a:ext cx="11647171" cy="4800600"/>
        </p:xfrm>
        <a:graphic>
          <a:graphicData uri="http://schemas.openxmlformats.org/drawingml/2006/table">
            <a:tbl>
              <a:tblPr/>
              <a:tblGrid>
                <a:gridCol w="2911793">
                  <a:extLst>
                    <a:ext uri="{9D8B030D-6E8A-4147-A177-3AD203B41FA5}">
                      <a16:colId xmlns:a16="http://schemas.microsoft.com/office/drawing/2014/main" val="138040027"/>
                    </a:ext>
                  </a:extLst>
                </a:gridCol>
                <a:gridCol w="4367689">
                  <a:extLst>
                    <a:ext uri="{9D8B030D-6E8A-4147-A177-3AD203B41FA5}">
                      <a16:colId xmlns:a16="http://schemas.microsoft.com/office/drawing/2014/main" val="2225342221"/>
                    </a:ext>
                  </a:extLst>
                </a:gridCol>
                <a:gridCol w="4367689">
                  <a:extLst>
                    <a:ext uri="{9D8B030D-6E8A-4147-A177-3AD203B41FA5}">
                      <a16:colId xmlns:a16="http://schemas.microsoft.com/office/drawing/2014/main" val="1208601066"/>
                    </a:ext>
                  </a:extLst>
                </a:gridCol>
              </a:tblGrid>
              <a:tr h="0">
                <a:tc>
                  <a:txBody>
                    <a:bodyPr/>
                    <a:lstStyle/>
                    <a:p>
                      <a:pPr algn="ctr" fontAlgn="base">
                        <a:buNone/>
                      </a:pPr>
                      <a:r>
                        <a:rPr lang="en-US" sz="2000" b="1">
                          <a:effectLst/>
                          <a:latin typeface="Nunito" pitchFamily="2" charset="0"/>
                        </a:rPr>
                        <a:t>Method</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2000" b="1">
                          <a:effectLst/>
                          <a:latin typeface="Nunito" pitchFamily="2" charset="0"/>
                        </a:rPr>
                        <a:t>Description</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2000" b="1">
                          <a:effectLst/>
                          <a:latin typeface="Nunito" pitchFamily="2" charset="0"/>
                        </a:rPr>
                        <a:t>When to Use</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380363035"/>
                  </a:ext>
                </a:extLst>
              </a:tr>
              <a:tr h="0">
                <a:tc>
                  <a:txBody>
                    <a:bodyPr/>
                    <a:lstStyle/>
                    <a:p>
                      <a:pPr algn="ctr" fontAlgn="base">
                        <a:buNone/>
                      </a:pPr>
                      <a:r>
                        <a:rPr lang="en-US" sz="2000" b="1" dirty="0">
                          <a:effectLst/>
                          <a:latin typeface="Nunito" pitchFamily="2" charset="0"/>
                        </a:rPr>
                        <a:t>Prompt Engineering</a:t>
                      </a:r>
                    </a:p>
                  </a:txBody>
                  <a:tcPr marL="38100" marR="38100" marT="62109" marB="62109"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l" fontAlgn="ctr">
                        <a:buNone/>
                      </a:pPr>
                      <a:r>
                        <a:rPr lang="en-US" sz="2000" b="0" dirty="0">
                          <a:effectLst/>
                          <a:latin typeface="Nunito" pitchFamily="2" charset="0"/>
                        </a:rPr>
                        <a:t>Adjusts the input prompt to guide model behavior without changing its training.</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2000" b="0">
                          <a:effectLst/>
                          <a:latin typeface="Nunito" pitchFamily="2" charset="0"/>
                        </a:rPr>
                        <a:t>When you need a quick and simple solution for specific tasks or queries.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478686757"/>
                  </a:ext>
                </a:extLst>
              </a:tr>
              <a:tr h="0">
                <a:tc>
                  <a:txBody>
                    <a:bodyPr/>
                    <a:lstStyle/>
                    <a:p>
                      <a:pPr algn="ctr" fontAlgn="base">
                        <a:buNone/>
                      </a:pPr>
                      <a:r>
                        <a:rPr lang="en-US" sz="2000" b="1">
                          <a:effectLst/>
                          <a:latin typeface="Nunito" pitchFamily="2" charset="0"/>
                        </a:rPr>
                        <a:t>Retrieval-Augmented Generation (RAG)</a:t>
                      </a:r>
                    </a:p>
                  </a:txBody>
                  <a:tcPr marL="38100" marR="38100" marT="62109" marB="62109"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l" fontAlgn="ctr">
                        <a:buNone/>
                      </a:pPr>
                      <a:r>
                        <a:rPr lang="en-US" sz="2000" b="0" dirty="0">
                          <a:effectLst/>
                          <a:latin typeface="Nunito" pitchFamily="2" charset="0"/>
                        </a:rPr>
                        <a:t>Combines retrieval and generation to use external data for more factual and context-aware responses.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2000" b="0" dirty="0">
                          <a:effectLst/>
                          <a:latin typeface="Nunito" pitchFamily="2" charset="0"/>
                        </a:rPr>
                        <a:t>When you want the model’s responses to include real-time, relevant information from external sources.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85286495"/>
                  </a:ext>
                </a:extLst>
              </a:tr>
              <a:tr h="0">
                <a:tc>
                  <a:txBody>
                    <a:bodyPr/>
                    <a:lstStyle/>
                    <a:p>
                      <a:pPr algn="ctr" fontAlgn="base">
                        <a:buNone/>
                      </a:pPr>
                      <a:r>
                        <a:rPr lang="en-US" sz="2000" b="1">
                          <a:effectLst/>
                          <a:latin typeface="Nunito" pitchFamily="2" charset="0"/>
                        </a:rPr>
                        <a:t>Fine-Tuning</a:t>
                      </a:r>
                    </a:p>
                  </a:txBody>
                  <a:tcPr marL="38100" marR="38100" marT="62109" marB="62109"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l" fontAlgn="ctr">
                        <a:buNone/>
                      </a:pPr>
                      <a:r>
                        <a:rPr lang="en-US" sz="2000" b="0">
                          <a:effectLst/>
                          <a:latin typeface="Nunito" pitchFamily="2" charset="0"/>
                        </a:rPr>
                        <a:t>Retrains the model on a smaller, domain-specific dataset.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2000" b="0" dirty="0">
                          <a:effectLst/>
                          <a:latin typeface="Nunito" pitchFamily="2" charset="0"/>
                        </a:rPr>
                        <a:t>When you need better performance on a particular topic or industry data.</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341618443"/>
                  </a:ext>
                </a:extLst>
              </a:tr>
              <a:tr h="0">
                <a:tc>
                  <a:txBody>
                    <a:bodyPr/>
                    <a:lstStyle/>
                    <a:p>
                      <a:pPr algn="ctr" fontAlgn="base">
                        <a:buNone/>
                      </a:pPr>
                      <a:r>
                        <a:rPr lang="en-US" sz="2000" b="1">
                          <a:effectLst/>
                          <a:latin typeface="Nunito" pitchFamily="2" charset="0"/>
                        </a:rPr>
                        <a:t>Pre-Training</a:t>
                      </a:r>
                    </a:p>
                  </a:txBody>
                  <a:tcPr marL="38100" marR="38100" marT="62109" marB="62109"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l" fontAlgn="ctr">
                        <a:buNone/>
                      </a:pPr>
                      <a:r>
                        <a:rPr lang="en-US" sz="2000" b="0">
                          <a:effectLst/>
                          <a:latin typeface="Nunito" pitchFamily="2" charset="0"/>
                        </a:rPr>
                        <a:t>Trains the model from scratch using a large and diverse dataset.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l" fontAlgn="ctr">
                        <a:buNone/>
                      </a:pPr>
                      <a:r>
                        <a:rPr lang="en-US" sz="2000" b="0" dirty="0">
                          <a:effectLst/>
                          <a:latin typeface="Nunito" pitchFamily="2" charset="0"/>
                        </a:rPr>
                        <a:t>When you want to build a strong foundation for later customization and adaptation.</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02289436"/>
                  </a:ext>
                </a:extLst>
              </a:tr>
            </a:tbl>
          </a:graphicData>
        </a:graphic>
      </p:graphicFrame>
    </p:spTree>
    <p:extLst>
      <p:ext uri="{BB962C8B-B14F-4D97-AF65-F5344CB8AC3E}">
        <p14:creationId xmlns:p14="http://schemas.microsoft.com/office/powerpoint/2010/main" val="3255374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CD215-24D2-3856-7D32-7F40AAC6CE75}"/>
              </a:ext>
            </a:extLst>
          </p:cNvPr>
          <p:cNvSpPr>
            <a:spLocks noGrp="1"/>
          </p:cNvSpPr>
          <p:nvPr>
            <p:ph type="title"/>
          </p:nvPr>
        </p:nvSpPr>
        <p:spPr/>
        <p:txBody>
          <a:bodyPr>
            <a:normAutofit fontScale="90000"/>
          </a:bodyPr>
          <a:lstStyle/>
          <a:p>
            <a:r>
              <a:rPr lang="en-US" b="1" i="0" dirty="0">
                <a:solidFill>
                  <a:srgbClr val="242424"/>
                </a:solidFill>
                <a:effectLst/>
                <a:latin typeface="sohne"/>
              </a:rPr>
              <a:t>RAG Frameworks and Their Features</a:t>
            </a:r>
            <a:br>
              <a:rPr lang="en-US" b="1" i="0" dirty="0">
                <a:solidFill>
                  <a:srgbClr val="242424"/>
                </a:solidFill>
                <a:effectLst/>
                <a:latin typeface="sohne"/>
              </a:rPr>
            </a:br>
            <a:endParaRPr lang="en-US" dirty="0"/>
          </a:p>
        </p:txBody>
      </p:sp>
      <p:sp>
        <p:nvSpPr>
          <p:cNvPr id="3" name="Content Placeholder 2">
            <a:extLst>
              <a:ext uri="{FF2B5EF4-FFF2-40B4-BE49-F238E27FC236}">
                <a16:creationId xmlns:a16="http://schemas.microsoft.com/office/drawing/2014/main" id="{50ED4A81-1602-DE0D-392C-8C3B48DA06B9}"/>
              </a:ext>
            </a:extLst>
          </p:cNvPr>
          <p:cNvSpPr>
            <a:spLocks noGrp="1"/>
          </p:cNvSpPr>
          <p:nvPr>
            <p:ph idx="1"/>
          </p:nvPr>
        </p:nvSpPr>
        <p:spPr/>
        <p:txBody>
          <a:bodyPr/>
          <a:lstStyle/>
          <a:p>
            <a:r>
              <a:rPr lang="en-US" b="1" i="0" dirty="0" err="1">
                <a:solidFill>
                  <a:srgbClr val="242424"/>
                </a:solidFill>
                <a:effectLst/>
                <a:latin typeface="sohne"/>
              </a:rPr>
              <a:t>LangChain</a:t>
            </a:r>
            <a:endParaRPr lang="en-US" b="1" i="0" dirty="0">
              <a:solidFill>
                <a:srgbClr val="242424"/>
              </a:solidFill>
              <a:effectLst/>
              <a:latin typeface="sohne"/>
            </a:endParaRPr>
          </a:p>
          <a:p>
            <a:r>
              <a:rPr lang="en-US" b="1" i="0" dirty="0" err="1">
                <a:solidFill>
                  <a:srgbClr val="242424"/>
                </a:solidFill>
                <a:effectLst/>
                <a:latin typeface="sohne"/>
              </a:rPr>
              <a:t>LlamaIndex</a:t>
            </a:r>
            <a:r>
              <a:rPr lang="en-US" b="1" i="0" dirty="0">
                <a:solidFill>
                  <a:srgbClr val="242424"/>
                </a:solidFill>
                <a:effectLst/>
                <a:latin typeface="sohne"/>
              </a:rPr>
              <a:t> (GPT Index)</a:t>
            </a:r>
          </a:p>
          <a:p>
            <a:r>
              <a:rPr lang="en-US" b="1" i="0" dirty="0">
                <a:solidFill>
                  <a:srgbClr val="242424"/>
                </a:solidFill>
                <a:effectLst/>
                <a:latin typeface="sohne"/>
              </a:rPr>
              <a:t>Haystack</a:t>
            </a:r>
          </a:p>
          <a:p>
            <a:r>
              <a:rPr lang="en-US" b="1" dirty="0" err="1">
                <a:solidFill>
                  <a:srgbClr val="242424"/>
                </a:solidFill>
                <a:latin typeface="sohne"/>
              </a:rPr>
              <a:t>LangGraph</a:t>
            </a:r>
            <a:endParaRPr lang="en-US" b="1" i="0" dirty="0">
              <a:solidFill>
                <a:srgbClr val="242424"/>
              </a:solidFill>
              <a:effectLst/>
              <a:latin typeface="sohne"/>
            </a:endParaRPr>
          </a:p>
          <a:p>
            <a:r>
              <a:rPr lang="en-US" b="1" i="0" dirty="0" err="1">
                <a:solidFill>
                  <a:srgbClr val="242424"/>
                </a:solidFill>
                <a:effectLst/>
                <a:latin typeface="source-serif-pro"/>
              </a:rPr>
              <a:t>RagBuilder</a:t>
            </a:r>
            <a:endParaRPr lang="en-US" b="1" i="0" dirty="0">
              <a:solidFill>
                <a:srgbClr val="242424"/>
              </a:solidFill>
              <a:effectLst/>
              <a:latin typeface="source-serif-pro"/>
            </a:endParaRPr>
          </a:p>
          <a:p>
            <a:r>
              <a:rPr lang="en-US" b="1" i="0" dirty="0" err="1">
                <a:solidFill>
                  <a:srgbClr val="242424"/>
                </a:solidFill>
                <a:effectLst/>
                <a:latin typeface="source-serif-pro"/>
              </a:rPr>
              <a:t>RAGFlow</a:t>
            </a:r>
            <a:endParaRPr lang="en-US" dirty="0"/>
          </a:p>
        </p:txBody>
      </p:sp>
    </p:spTree>
    <p:extLst>
      <p:ext uri="{BB962C8B-B14F-4D97-AF65-F5344CB8AC3E}">
        <p14:creationId xmlns:p14="http://schemas.microsoft.com/office/powerpoint/2010/main" val="12534348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83183-4DB9-A18B-0320-116B80BCB857}"/>
              </a:ext>
            </a:extLst>
          </p:cNvPr>
          <p:cNvSpPr>
            <a:spLocks noGrp="1"/>
          </p:cNvSpPr>
          <p:nvPr>
            <p:ph type="title"/>
          </p:nvPr>
        </p:nvSpPr>
        <p:spPr/>
        <p:txBody>
          <a:bodyPr>
            <a:normAutofit fontScale="90000"/>
          </a:bodyPr>
          <a:lstStyle/>
          <a:p>
            <a:r>
              <a:rPr lang="en-US" b="1" i="0" dirty="0" err="1">
                <a:solidFill>
                  <a:srgbClr val="242424"/>
                </a:solidFill>
                <a:effectLst/>
                <a:latin typeface="sohne"/>
              </a:rPr>
              <a:t>LangChain</a:t>
            </a:r>
            <a:br>
              <a:rPr lang="en-US" b="1" i="0" dirty="0">
                <a:solidFill>
                  <a:srgbClr val="242424"/>
                </a:solidFill>
                <a:effectLst/>
                <a:latin typeface="sohne"/>
              </a:rPr>
            </a:br>
            <a:endParaRPr lang="en-US" dirty="0"/>
          </a:p>
        </p:txBody>
      </p:sp>
      <p:sp>
        <p:nvSpPr>
          <p:cNvPr id="3" name="Content Placeholder 2">
            <a:extLst>
              <a:ext uri="{FF2B5EF4-FFF2-40B4-BE49-F238E27FC236}">
                <a16:creationId xmlns:a16="http://schemas.microsoft.com/office/drawing/2014/main" id="{9456808A-5AC5-8172-D664-01CF797B127D}"/>
              </a:ext>
            </a:extLst>
          </p:cNvPr>
          <p:cNvSpPr>
            <a:spLocks noGrp="1"/>
          </p:cNvSpPr>
          <p:nvPr>
            <p:ph idx="1"/>
          </p:nvPr>
        </p:nvSpPr>
        <p:spPr>
          <a:xfrm>
            <a:off x="838200" y="1837943"/>
            <a:ext cx="10515600" cy="4654931"/>
          </a:xfrm>
        </p:spPr>
        <p:txBody>
          <a:bodyPr>
            <a:noAutofit/>
          </a:bodyPr>
          <a:lstStyle/>
          <a:p>
            <a:pPr algn="just">
              <a:lnSpc>
                <a:spcPts val="2400"/>
              </a:lnSpc>
              <a:buFont typeface="Arial" panose="020B0604020202020204" pitchFamily="34" charset="0"/>
              <a:buChar char="•"/>
            </a:pPr>
            <a:r>
              <a:rPr lang="en-US" b="1" i="0" dirty="0">
                <a:solidFill>
                  <a:srgbClr val="242424"/>
                </a:solidFill>
                <a:effectLst/>
                <a:latin typeface="source-serif-pro"/>
              </a:rPr>
              <a:t>Description:</a:t>
            </a:r>
            <a:r>
              <a:rPr lang="en-US" b="0" i="0" dirty="0">
                <a:solidFill>
                  <a:srgbClr val="242424"/>
                </a:solidFill>
                <a:effectLst/>
                <a:latin typeface="source-serif-pro"/>
              </a:rPr>
              <a:t> </a:t>
            </a:r>
            <a:r>
              <a:rPr lang="en-US" b="0" i="0" dirty="0" err="1">
                <a:solidFill>
                  <a:srgbClr val="242424"/>
                </a:solidFill>
                <a:effectLst/>
                <a:latin typeface="source-serif-pro"/>
              </a:rPr>
              <a:t>LangChain</a:t>
            </a:r>
            <a:r>
              <a:rPr lang="en-US" b="0" i="0" dirty="0">
                <a:solidFill>
                  <a:srgbClr val="242424"/>
                </a:solidFill>
                <a:effectLst/>
                <a:latin typeface="source-serif-pro"/>
              </a:rPr>
              <a:t> is a comprehensive framework for building LLM applications. It provides modules for various tasks, including prompt management, model integration, data retrieval, and agent creation.</a:t>
            </a:r>
          </a:p>
          <a:p>
            <a:pPr algn="just">
              <a:lnSpc>
                <a:spcPts val="2400"/>
              </a:lnSpc>
              <a:buFont typeface="Arial" panose="020B0604020202020204" pitchFamily="34" charset="0"/>
              <a:buChar char="•"/>
            </a:pPr>
            <a:r>
              <a:rPr lang="en-US" b="1" i="0" dirty="0">
                <a:solidFill>
                  <a:srgbClr val="242424"/>
                </a:solidFill>
                <a:effectLst/>
                <a:latin typeface="source-serif-pro"/>
              </a:rPr>
              <a:t>Lifecycle:</a:t>
            </a:r>
            <a:r>
              <a:rPr lang="en-US" b="0" i="0" dirty="0">
                <a:solidFill>
                  <a:srgbClr val="242424"/>
                </a:solidFill>
                <a:effectLst/>
                <a:latin typeface="source-serif-pro"/>
              </a:rPr>
              <a:t> </a:t>
            </a:r>
            <a:r>
              <a:rPr lang="en-US" b="0" i="0" dirty="0" err="1">
                <a:solidFill>
                  <a:srgbClr val="242424"/>
                </a:solidFill>
                <a:effectLst/>
                <a:latin typeface="source-serif-pro"/>
              </a:rPr>
              <a:t>LangChain</a:t>
            </a:r>
            <a:r>
              <a:rPr lang="en-US" b="0" i="0" dirty="0">
                <a:solidFill>
                  <a:srgbClr val="242424"/>
                </a:solidFill>
                <a:effectLst/>
                <a:latin typeface="source-serif-pro"/>
              </a:rPr>
              <a:t> offers components for the entire RAG lifecycle and an orchestration framework to combine them in any desired order.</a:t>
            </a:r>
          </a:p>
          <a:p>
            <a:pPr algn="just">
              <a:lnSpc>
                <a:spcPts val="2400"/>
              </a:lnSpc>
              <a:buFont typeface="Arial" panose="020B0604020202020204" pitchFamily="34" charset="0"/>
              <a:buChar char="•"/>
            </a:pPr>
            <a:r>
              <a:rPr lang="en-US" b="1" i="0" dirty="0">
                <a:solidFill>
                  <a:srgbClr val="242424"/>
                </a:solidFill>
                <a:effectLst/>
                <a:latin typeface="source-serif-pro"/>
              </a:rPr>
              <a:t>Ingestion:</a:t>
            </a:r>
            <a:r>
              <a:rPr lang="en-US" b="0" i="0" dirty="0">
                <a:solidFill>
                  <a:srgbClr val="242424"/>
                </a:solidFill>
                <a:effectLst/>
                <a:latin typeface="source-serif-pro"/>
              </a:rPr>
              <a:t> Supports diverse data sources (files, websites, databases).</a:t>
            </a:r>
          </a:p>
          <a:p>
            <a:pPr algn="just">
              <a:lnSpc>
                <a:spcPts val="2400"/>
              </a:lnSpc>
              <a:buFont typeface="Arial" panose="020B0604020202020204" pitchFamily="34" charset="0"/>
              <a:buChar char="•"/>
            </a:pPr>
            <a:r>
              <a:rPr lang="en-US" b="1" i="0" dirty="0">
                <a:solidFill>
                  <a:srgbClr val="242424"/>
                </a:solidFill>
                <a:effectLst/>
                <a:latin typeface="source-serif-pro"/>
              </a:rPr>
              <a:t>Preprocessing:</a:t>
            </a:r>
            <a:r>
              <a:rPr lang="en-US" b="0" i="0" dirty="0">
                <a:solidFill>
                  <a:srgbClr val="242424"/>
                </a:solidFill>
                <a:effectLst/>
                <a:latin typeface="source-serif-pro"/>
              </a:rPr>
              <a:t> Provides tools for text splitting, chunking, and embeddings.</a:t>
            </a:r>
          </a:p>
          <a:p>
            <a:pPr algn="just">
              <a:lnSpc>
                <a:spcPts val="2400"/>
              </a:lnSpc>
              <a:buFont typeface="Arial" panose="020B0604020202020204" pitchFamily="34" charset="0"/>
              <a:buChar char="•"/>
            </a:pPr>
            <a:r>
              <a:rPr lang="en-US" b="1" i="0" dirty="0">
                <a:solidFill>
                  <a:srgbClr val="242424"/>
                </a:solidFill>
                <a:effectLst/>
                <a:latin typeface="source-serif-pro"/>
              </a:rPr>
              <a:t>Retrieval:</a:t>
            </a:r>
            <a:r>
              <a:rPr lang="en-US" b="0" i="0" dirty="0">
                <a:solidFill>
                  <a:srgbClr val="242424"/>
                </a:solidFill>
                <a:effectLst/>
                <a:latin typeface="source-serif-pro"/>
              </a:rPr>
              <a:t> Integrates with vector databases and search tools.</a:t>
            </a:r>
          </a:p>
          <a:p>
            <a:pPr algn="just">
              <a:lnSpc>
                <a:spcPts val="2400"/>
              </a:lnSpc>
              <a:buFont typeface="Arial" panose="020B0604020202020204" pitchFamily="34" charset="0"/>
              <a:buChar char="•"/>
            </a:pPr>
            <a:r>
              <a:rPr lang="en-US" b="1" i="0" dirty="0">
                <a:solidFill>
                  <a:srgbClr val="242424"/>
                </a:solidFill>
                <a:effectLst/>
                <a:latin typeface="source-serif-pro"/>
              </a:rPr>
              <a:t>Augmentation:</a:t>
            </a:r>
            <a:r>
              <a:rPr lang="en-US" b="0" i="0" dirty="0">
                <a:solidFill>
                  <a:srgbClr val="242424"/>
                </a:solidFill>
                <a:effectLst/>
                <a:latin typeface="source-serif-pro"/>
              </a:rPr>
              <a:t> Handles context injection in prompts.</a:t>
            </a:r>
          </a:p>
          <a:p>
            <a:pPr algn="just">
              <a:lnSpc>
                <a:spcPts val="2400"/>
              </a:lnSpc>
              <a:buFont typeface="Arial" panose="020B0604020202020204" pitchFamily="34" charset="0"/>
              <a:buChar char="•"/>
            </a:pPr>
            <a:r>
              <a:rPr lang="en-US" b="1" i="0" dirty="0">
                <a:solidFill>
                  <a:srgbClr val="242424"/>
                </a:solidFill>
                <a:effectLst/>
                <a:latin typeface="source-serif-pro"/>
              </a:rPr>
              <a:t>Generation:</a:t>
            </a:r>
            <a:r>
              <a:rPr lang="en-US" b="0" i="0" dirty="0">
                <a:solidFill>
                  <a:srgbClr val="242424"/>
                </a:solidFill>
                <a:effectLst/>
                <a:latin typeface="source-serif-pro"/>
              </a:rPr>
              <a:t> Allows seamless integration with various LLMs.</a:t>
            </a:r>
          </a:p>
          <a:p>
            <a:pPr algn="just"/>
            <a:endParaRPr lang="en-US" dirty="0"/>
          </a:p>
        </p:txBody>
      </p:sp>
    </p:spTree>
    <p:extLst>
      <p:ext uri="{BB962C8B-B14F-4D97-AF65-F5344CB8AC3E}">
        <p14:creationId xmlns:p14="http://schemas.microsoft.com/office/powerpoint/2010/main" val="3610422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49D35-E4E8-62F0-C639-B33E86B3DA4D}"/>
              </a:ext>
            </a:extLst>
          </p:cNvPr>
          <p:cNvSpPr>
            <a:spLocks noGrp="1"/>
          </p:cNvSpPr>
          <p:nvPr>
            <p:ph type="title"/>
          </p:nvPr>
        </p:nvSpPr>
        <p:spPr/>
        <p:txBody>
          <a:bodyPr/>
          <a:lstStyle/>
          <a:p>
            <a:r>
              <a:rPr lang="en-US" dirty="0"/>
              <a:t>Applications of </a:t>
            </a:r>
            <a:r>
              <a:rPr lang="en-US" dirty="0" err="1"/>
              <a:t>LangChains</a:t>
            </a:r>
            <a:endParaRPr lang="en-US" dirty="0"/>
          </a:p>
        </p:txBody>
      </p:sp>
      <p:pic>
        <p:nvPicPr>
          <p:cNvPr id="1026" name="Picture 2">
            <a:extLst>
              <a:ext uri="{FF2B5EF4-FFF2-40B4-BE49-F238E27FC236}">
                <a16:creationId xmlns:a16="http://schemas.microsoft.com/office/drawing/2014/main" id="{4B7C988F-2DA4-A69D-37FD-E08B19FBCA8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2161"/>
          <a:stretch/>
        </p:blipFill>
        <p:spPr bwMode="auto">
          <a:xfrm>
            <a:off x="2330953" y="2240281"/>
            <a:ext cx="7530094" cy="3941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96136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1FB30-3437-F474-B592-68733776A26B}"/>
              </a:ext>
            </a:extLst>
          </p:cNvPr>
          <p:cNvSpPr>
            <a:spLocks noGrp="1"/>
          </p:cNvSpPr>
          <p:nvPr>
            <p:ph type="title"/>
          </p:nvPr>
        </p:nvSpPr>
        <p:spPr/>
        <p:txBody>
          <a:bodyPr/>
          <a:lstStyle/>
          <a:p>
            <a:r>
              <a:rPr lang="en-US" dirty="0"/>
              <a:t>Applications</a:t>
            </a:r>
          </a:p>
        </p:txBody>
      </p:sp>
      <p:sp>
        <p:nvSpPr>
          <p:cNvPr id="3" name="Content Placeholder 2">
            <a:extLst>
              <a:ext uri="{FF2B5EF4-FFF2-40B4-BE49-F238E27FC236}">
                <a16:creationId xmlns:a16="http://schemas.microsoft.com/office/drawing/2014/main" id="{E330A35A-39BC-2AAD-A506-7FDD92C51521}"/>
              </a:ext>
            </a:extLst>
          </p:cNvPr>
          <p:cNvSpPr>
            <a:spLocks noGrp="1"/>
          </p:cNvSpPr>
          <p:nvPr>
            <p:ph idx="1"/>
          </p:nvPr>
        </p:nvSpPr>
        <p:spPr/>
        <p:txBody>
          <a:bodyPr/>
          <a:lstStyle/>
          <a:p>
            <a:pPr algn="l">
              <a:lnSpc>
                <a:spcPts val="2400"/>
              </a:lnSpc>
              <a:buFont typeface="Arial" panose="020B0604020202020204" pitchFamily="34" charset="0"/>
              <a:buChar char="•"/>
            </a:pPr>
            <a:r>
              <a:rPr lang="en-US" b="1" i="0" dirty="0">
                <a:solidFill>
                  <a:srgbClr val="242424"/>
                </a:solidFill>
                <a:effectLst/>
                <a:latin typeface="source-serif-pro"/>
              </a:rPr>
              <a:t>Modular design:</a:t>
            </a:r>
            <a:r>
              <a:rPr lang="en-US" b="0" i="0" dirty="0">
                <a:solidFill>
                  <a:srgbClr val="242424"/>
                </a:solidFill>
                <a:effectLst/>
                <a:latin typeface="source-serif-pro"/>
              </a:rPr>
              <a:t> </a:t>
            </a:r>
            <a:r>
              <a:rPr lang="en-US" b="0" i="0" dirty="0" err="1">
                <a:solidFill>
                  <a:srgbClr val="242424"/>
                </a:solidFill>
                <a:effectLst/>
                <a:latin typeface="source-serif-pro"/>
              </a:rPr>
              <a:t>LangChain</a:t>
            </a:r>
            <a:r>
              <a:rPr lang="en-US" b="0" i="0" dirty="0">
                <a:solidFill>
                  <a:srgbClr val="242424"/>
                </a:solidFill>
                <a:effectLst/>
                <a:latin typeface="source-serif-pro"/>
              </a:rPr>
              <a:t> is built on a plug-and-play architecture, so you can easily mix and match components such as retrievers, LLMs, and post-processors.</a:t>
            </a:r>
          </a:p>
          <a:p>
            <a:pPr algn="l">
              <a:lnSpc>
                <a:spcPts val="2400"/>
              </a:lnSpc>
              <a:buFont typeface="Arial" panose="020B0604020202020204" pitchFamily="34" charset="0"/>
              <a:buChar char="•"/>
            </a:pPr>
            <a:r>
              <a:rPr lang="en-US" b="1" i="0" dirty="0">
                <a:solidFill>
                  <a:srgbClr val="242424"/>
                </a:solidFill>
                <a:effectLst/>
                <a:latin typeface="source-serif-pro"/>
              </a:rPr>
              <a:t>Seamless integration with LLMs:</a:t>
            </a:r>
            <a:r>
              <a:rPr lang="en-US" b="0" i="0" dirty="0">
                <a:solidFill>
                  <a:srgbClr val="242424"/>
                </a:solidFill>
                <a:effectLst/>
                <a:latin typeface="source-serif-pro"/>
              </a:rPr>
              <a:t> Whether you’re using OpenAI’s GPT models, Hugging Face transformers, or other generative systems, </a:t>
            </a:r>
            <a:r>
              <a:rPr lang="en-US" b="0" i="0" dirty="0" err="1">
                <a:solidFill>
                  <a:srgbClr val="242424"/>
                </a:solidFill>
                <a:effectLst/>
                <a:latin typeface="source-serif-pro"/>
              </a:rPr>
              <a:t>LangChain</a:t>
            </a:r>
            <a:r>
              <a:rPr lang="en-US" b="0" i="0" dirty="0">
                <a:solidFill>
                  <a:srgbClr val="242424"/>
                </a:solidFill>
                <a:effectLst/>
                <a:latin typeface="source-serif-pro"/>
              </a:rPr>
              <a:t> provides native support for a wide range of models.</a:t>
            </a:r>
          </a:p>
          <a:p>
            <a:pPr algn="l">
              <a:lnSpc>
                <a:spcPts val="2400"/>
              </a:lnSpc>
              <a:buFont typeface="Arial" panose="020B0604020202020204" pitchFamily="34" charset="0"/>
              <a:buChar char="•"/>
            </a:pPr>
            <a:r>
              <a:rPr lang="en-US" b="1" i="0" dirty="0">
                <a:solidFill>
                  <a:srgbClr val="242424"/>
                </a:solidFill>
                <a:effectLst/>
                <a:latin typeface="source-serif-pro"/>
              </a:rPr>
              <a:t>Document processing tools:</a:t>
            </a:r>
            <a:r>
              <a:rPr lang="en-US" b="0" i="0" dirty="0">
                <a:solidFill>
                  <a:srgbClr val="242424"/>
                </a:solidFill>
                <a:effectLst/>
                <a:latin typeface="source-serif-pro"/>
              </a:rPr>
              <a:t> The framework includes features to handle unstructured data, such as splitting long documents, extracting metadata, and pre-processing text for optimal retrieval.</a:t>
            </a:r>
          </a:p>
          <a:p>
            <a:pPr algn="l">
              <a:lnSpc>
                <a:spcPts val="2400"/>
              </a:lnSpc>
              <a:buFont typeface="Arial" panose="020B0604020202020204" pitchFamily="34" charset="0"/>
              <a:buChar char="•"/>
            </a:pPr>
            <a:r>
              <a:rPr lang="en-US" b="1" i="0" dirty="0">
                <a:solidFill>
                  <a:srgbClr val="242424"/>
                </a:solidFill>
                <a:effectLst/>
                <a:latin typeface="source-serif-pro"/>
              </a:rPr>
              <a:t>Versatility in applications:</a:t>
            </a:r>
            <a:r>
              <a:rPr lang="en-US" b="0" i="0" dirty="0">
                <a:solidFill>
                  <a:srgbClr val="242424"/>
                </a:solidFill>
                <a:effectLst/>
                <a:latin typeface="source-serif-pro"/>
              </a:rPr>
              <a:t> From simple Q&amp;A systems to complex multi-turn dialogues and intelligent copilots, </a:t>
            </a:r>
            <a:r>
              <a:rPr lang="en-US" b="0" i="0" dirty="0" err="1">
                <a:solidFill>
                  <a:srgbClr val="242424"/>
                </a:solidFill>
                <a:effectLst/>
                <a:latin typeface="source-serif-pro"/>
              </a:rPr>
              <a:t>LangChain</a:t>
            </a:r>
            <a:r>
              <a:rPr lang="en-US" b="0" i="0" dirty="0">
                <a:solidFill>
                  <a:srgbClr val="242424"/>
                </a:solidFill>
                <a:effectLst/>
                <a:latin typeface="source-serif-pro"/>
              </a:rPr>
              <a:t> is well-suited for a variety of use cases.</a:t>
            </a:r>
          </a:p>
          <a:p>
            <a:endParaRPr lang="en-US" dirty="0"/>
          </a:p>
        </p:txBody>
      </p:sp>
    </p:spTree>
    <p:extLst>
      <p:ext uri="{BB962C8B-B14F-4D97-AF65-F5344CB8AC3E}">
        <p14:creationId xmlns:p14="http://schemas.microsoft.com/office/powerpoint/2010/main" val="40873600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EEC4FF-3E9A-7118-971D-0E55D59D734F}"/>
              </a:ext>
            </a:extLst>
          </p:cNvPr>
          <p:cNvSpPr>
            <a:spLocks noGrp="1"/>
          </p:cNvSpPr>
          <p:nvPr>
            <p:ph type="title"/>
          </p:nvPr>
        </p:nvSpPr>
        <p:spPr>
          <a:xfrm>
            <a:off x="630936" y="639520"/>
            <a:ext cx="3429000" cy="1719072"/>
          </a:xfrm>
        </p:spPr>
        <p:txBody>
          <a:bodyPr anchor="b">
            <a:normAutofit/>
          </a:bodyPr>
          <a:lstStyle/>
          <a:p>
            <a:r>
              <a:rPr lang="en-US" b="1" i="0">
                <a:effectLst/>
                <a:latin typeface="source-serif-pro"/>
              </a:rPr>
              <a:t>Example:</a:t>
            </a:r>
            <a:r>
              <a:rPr lang="en-US" b="0" i="0">
                <a:effectLst/>
                <a:latin typeface="source-serif-pro"/>
              </a:rPr>
              <a:t> </a:t>
            </a:r>
            <a:endParaRPr lang="en-US" dirty="0"/>
          </a:p>
        </p:txBody>
      </p:sp>
      <p:sp>
        <p:nvSpPr>
          <p:cNvPr id="1037"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9084" y="2532888"/>
            <a:ext cx="3291840" cy="18288"/>
          </a:xfrm>
          <a:custGeom>
            <a:avLst/>
            <a:gdLst>
              <a:gd name="csX0" fmla="*/ 0 w 3291840"/>
              <a:gd name="csY0" fmla="*/ 0 h 18288"/>
              <a:gd name="csX1" fmla="*/ 625450 w 3291840"/>
              <a:gd name="csY1" fmla="*/ 0 h 18288"/>
              <a:gd name="csX2" fmla="*/ 1283818 w 3291840"/>
              <a:gd name="csY2" fmla="*/ 0 h 18288"/>
              <a:gd name="csX3" fmla="*/ 1975104 w 3291840"/>
              <a:gd name="csY3" fmla="*/ 0 h 18288"/>
              <a:gd name="csX4" fmla="*/ 2666390 w 3291840"/>
              <a:gd name="csY4" fmla="*/ 0 h 18288"/>
              <a:gd name="csX5" fmla="*/ 3291840 w 3291840"/>
              <a:gd name="csY5" fmla="*/ 0 h 18288"/>
              <a:gd name="csX6" fmla="*/ 3291840 w 3291840"/>
              <a:gd name="csY6" fmla="*/ 18288 h 18288"/>
              <a:gd name="csX7" fmla="*/ 2567635 w 3291840"/>
              <a:gd name="csY7" fmla="*/ 18288 h 18288"/>
              <a:gd name="csX8" fmla="*/ 1843430 w 3291840"/>
              <a:gd name="csY8" fmla="*/ 18288 h 18288"/>
              <a:gd name="csX9" fmla="*/ 1185062 w 3291840"/>
              <a:gd name="csY9" fmla="*/ 18288 h 18288"/>
              <a:gd name="csX10" fmla="*/ 0 w 3291840"/>
              <a:gd name="csY10" fmla="*/ 18288 h 18288"/>
              <a:gd name="csX11" fmla="*/ 0 w 3291840"/>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91840" h="18288" fill="none" extrusionOk="0">
                <a:moveTo>
                  <a:pt x="0" y="0"/>
                </a:moveTo>
                <a:cubicBezTo>
                  <a:pt x="173613" y="5552"/>
                  <a:pt x="489242" y="1770"/>
                  <a:pt x="625450" y="0"/>
                </a:cubicBezTo>
                <a:cubicBezTo>
                  <a:pt x="761658" y="-1770"/>
                  <a:pt x="1015131" y="32079"/>
                  <a:pt x="1283818" y="0"/>
                </a:cubicBezTo>
                <a:cubicBezTo>
                  <a:pt x="1552505" y="-32079"/>
                  <a:pt x="1752773" y="10771"/>
                  <a:pt x="1975104" y="0"/>
                </a:cubicBezTo>
                <a:cubicBezTo>
                  <a:pt x="2197435" y="-10771"/>
                  <a:pt x="2433070" y="21341"/>
                  <a:pt x="2666390" y="0"/>
                </a:cubicBezTo>
                <a:cubicBezTo>
                  <a:pt x="2899710" y="-21341"/>
                  <a:pt x="3028437" y="16612"/>
                  <a:pt x="3291840" y="0"/>
                </a:cubicBezTo>
                <a:cubicBezTo>
                  <a:pt x="3291131" y="8157"/>
                  <a:pt x="3291427" y="12125"/>
                  <a:pt x="3291840" y="18288"/>
                </a:cubicBezTo>
                <a:cubicBezTo>
                  <a:pt x="3043276" y="37868"/>
                  <a:pt x="2921041" y="-12908"/>
                  <a:pt x="2567635" y="18288"/>
                </a:cubicBezTo>
                <a:cubicBezTo>
                  <a:pt x="2214230" y="49484"/>
                  <a:pt x="2189623" y="-13019"/>
                  <a:pt x="1843430" y="18288"/>
                </a:cubicBezTo>
                <a:cubicBezTo>
                  <a:pt x="1497237" y="49595"/>
                  <a:pt x="1492584" y="29180"/>
                  <a:pt x="1185062" y="18288"/>
                </a:cubicBezTo>
                <a:cubicBezTo>
                  <a:pt x="877540" y="7396"/>
                  <a:pt x="313238" y="46443"/>
                  <a:pt x="0" y="18288"/>
                </a:cubicBezTo>
                <a:cubicBezTo>
                  <a:pt x="-46" y="12483"/>
                  <a:pt x="-203" y="6491"/>
                  <a:pt x="0" y="0"/>
                </a:cubicBezTo>
                <a:close/>
              </a:path>
              <a:path w="3291840" h="18288" stroke="0" extrusionOk="0">
                <a:moveTo>
                  <a:pt x="0" y="0"/>
                </a:moveTo>
                <a:cubicBezTo>
                  <a:pt x="281971" y="23935"/>
                  <a:pt x="485873" y="-14021"/>
                  <a:pt x="625450" y="0"/>
                </a:cubicBezTo>
                <a:cubicBezTo>
                  <a:pt x="765027" y="14021"/>
                  <a:pt x="1048900" y="27914"/>
                  <a:pt x="1185062" y="0"/>
                </a:cubicBezTo>
                <a:cubicBezTo>
                  <a:pt x="1321224" y="-27914"/>
                  <a:pt x="1648252" y="-3988"/>
                  <a:pt x="1909267" y="0"/>
                </a:cubicBezTo>
                <a:cubicBezTo>
                  <a:pt x="2170282" y="3988"/>
                  <a:pt x="2301957" y="25891"/>
                  <a:pt x="2534717" y="0"/>
                </a:cubicBezTo>
                <a:cubicBezTo>
                  <a:pt x="2767477" y="-25891"/>
                  <a:pt x="3078800" y="21500"/>
                  <a:pt x="3291840" y="0"/>
                </a:cubicBezTo>
                <a:cubicBezTo>
                  <a:pt x="3291576" y="4493"/>
                  <a:pt x="3292224" y="9472"/>
                  <a:pt x="3291840" y="18288"/>
                </a:cubicBezTo>
                <a:cubicBezTo>
                  <a:pt x="3120474" y="15714"/>
                  <a:pt x="2816568" y="4633"/>
                  <a:pt x="2633472" y="18288"/>
                </a:cubicBezTo>
                <a:cubicBezTo>
                  <a:pt x="2450376" y="31943"/>
                  <a:pt x="2160769" y="37350"/>
                  <a:pt x="1909267" y="18288"/>
                </a:cubicBezTo>
                <a:cubicBezTo>
                  <a:pt x="1657765" y="-774"/>
                  <a:pt x="1623992" y="9648"/>
                  <a:pt x="1349654" y="18288"/>
                </a:cubicBezTo>
                <a:cubicBezTo>
                  <a:pt x="1075316" y="26928"/>
                  <a:pt x="833426" y="34181"/>
                  <a:pt x="691286" y="18288"/>
                </a:cubicBezTo>
                <a:cubicBezTo>
                  <a:pt x="549146" y="2395"/>
                  <a:pt x="342011" y="24201"/>
                  <a:pt x="0" y="18288"/>
                </a:cubicBezTo>
                <a:cubicBezTo>
                  <a:pt x="843" y="9577"/>
                  <a:pt x="371" y="6900"/>
                  <a:pt x="0" y="0"/>
                </a:cubicBezTo>
                <a:close/>
              </a:path>
            </a:pathLst>
          </a:custGeom>
          <a:solidFill>
            <a:srgbClr val="69CBF1"/>
          </a:solidFill>
          <a:ln w="38100" cap="rnd">
            <a:solidFill>
              <a:srgbClr val="69CBF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C3EDB28-0C12-A1CD-7F84-9BDCD6B594CD}"/>
              </a:ext>
            </a:extLst>
          </p:cNvPr>
          <p:cNvSpPr>
            <a:spLocks noGrp="1"/>
          </p:cNvSpPr>
          <p:nvPr>
            <p:ph idx="1"/>
          </p:nvPr>
        </p:nvSpPr>
        <p:spPr>
          <a:xfrm>
            <a:off x="630936" y="2807208"/>
            <a:ext cx="10558674" cy="3410712"/>
          </a:xfrm>
        </p:spPr>
        <p:txBody>
          <a:bodyPr anchor="t">
            <a:normAutofit/>
          </a:bodyPr>
          <a:lstStyle/>
          <a:p>
            <a:pPr marL="0" indent="0">
              <a:buNone/>
            </a:pPr>
            <a:r>
              <a:rPr lang="en-US" sz="2400" b="0" i="0" dirty="0">
                <a:effectLst/>
                <a:latin typeface="source-serif-pro"/>
              </a:rPr>
              <a:t>Building a document QA system that retrieves information from multiple PDF files and uses the retrieved content to answer user queries.</a:t>
            </a:r>
            <a:endParaRPr lang="en-US" sz="2400" dirty="0"/>
          </a:p>
        </p:txBody>
      </p:sp>
      <mc:AlternateContent xmlns:mc="http://schemas.openxmlformats.org/markup-compatibility/2006" xmlns:p14="http://schemas.microsoft.com/office/powerpoint/2010/main">
        <mc:Choice Requires="p14">
          <p:contentPart p14:bwMode="auto" r:id="rId2">
            <p14:nvContentPartPr>
              <p14: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5755403" y="1971579"/>
              <a:ext cx="360" cy="2160"/>
            </p14:xfrm>
          </p:contentPart>
        </mc:Choice>
        <mc:Fallback xmlns="">
          <p:pic>
            <p:nvPicPr>
              <p:cNvPr id="1035" name="Ink 1034">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3"/>
              <a:stretch>
                <a:fillRect/>
              </a:stretch>
            </p:blipFill>
            <p:spPr>
              <a:xfrm>
                <a:off x="5737403" y="1956150"/>
                <a:ext cx="36000" cy="32709"/>
              </a:xfrm>
              <a:prstGeom prst="rect">
                <a:avLst/>
              </a:prstGeom>
            </p:spPr>
          </p:pic>
        </mc:Fallback>
      </mc:AlternateContent>
    </p:spTree>
    <p:extLst>
      <p:ext uri="{BB962C8B-B14F-4D97-AF65-F5344CB8AC3E}">
        <p14:creationId xmlns:p14="http://schemas.microsoft.com/office/powerpoint/2010/main" val="38171085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48042E-A969-958C-2F06-410FEAB686E9}"/>
              </a:ext>
            </a:extLst>
          </p:cNvPr>
          <p:cNvSpPr txBox="1"/>
          <p:nvPr/>
        </p:nvSpPr>
        <p:spPr>
          <a:xfrm>
            <a:off x="740092" y="243512"/>
            <a:ext cx="10929938" cy="6370975"/>
          </a:xfrm>
          <a:prstGeom prst="rect">
            <a:avLst/>
          </a:prstGeom>
          <a:noFill/>
        </p:spPr>
        <p:txBody>
          <a:bodyPr wrap="square">
            <a:spAutoFit/>
          </a:bodyPr>
          <a:lstStyle/>
          <a:p>
            <a:r>
              <a:rPr lang="en-US" sz="2400" b="0" i="0" dirty="0">
                <a:solidFill>
                  <a:srgbClr val="AA0D91"/>
                </a:solidFill>
                <a:effectLst/>
                <a:latin typeface="source-code-pro"/>
              </a:rPr>
              <a:t>from</a:t>
            </a:r>
            <a:r>
              <a:rPr lang="en-US" sz="2400" b="0" i="0" dirty="0">
                <a:solidFill>
                  <a:srgbClr val="242424"/>
                </a:solidFill>
                <a:effectLst/>
                <a:latin typeface="source-code-pro"/>
              </a:rPr>
              <a:t> </a:t>
            </a:r>
            <a:r>
              <a:rPr lang="en-US" sz="2400" b="0" i="0" dirty="0" err="1">
                <a:solidFill>
                  <a:srgbClr val="242424"/>
                </a:solidFill>
                <a:effectLst/>
                <a:latin typeface="source-code-pro"/>
              </a:rPr>
              <a:t>langchain.document_loaders</a:t>
            </a:r>
            <a:r>
              <a:rPr lang="en-US" sz="2400" b="0" i="0" dirty="0">
                <a:solidFill>
                  <a:srgbClr val="242424"/>
                </a:solidFill>
                <a:effectLst/>
                <a:latin typeface="source-code-pro"/>
              </a:rPr>
              <a:t> </a:t>
            </a:r>
            <a:r>
              <a:rPr lang="en-US" sz="2400" b="0" i="0" dirty="0">
                <a:solidFill>
                  <a:srgbClr val="AA0D91"/>
                </a:solidFill>
                <a:effectLst/>
                <a:latin typeface="source-code-pro"/>
              </a:rPr>
              <a:t>import</a:t>
            </a:r>
            <a:r>
              <a:rPr lang="en-US" sz="2400" b="0" i="0" dirty="0">
                <a:solidFill>
                  <a:srgbClr val="242424"/>
                </a:solidFill>
                <a:effectLst/>
                <a:latin typeface="source-code-pro"/>
              </a:rPr>
              <a:t> </a:t>
            </a:r>
            <a:r>
              <a:rPr lang="en-US" sz="2400" b="0" i="0" dirty="0" err="1">
                <a:solidFill>
                  <a:srgbClr val="242424"/>
                </a:solidFill>
                <a:effectLst/>
                <a:latin typeface="source-code-pro"/>
              </a:rPr>
              <a:t>PyPDFLoader</a:t>
            </a:r>
            <a:br>
              <a:rPr lang="en-US" sz="2400" dirty="0"/>
            </a:br>
            <a:r>
              <a:rPr lang="en-US" sz="2400" b="0" i="0" dirty="0">
                <a:solidFill>
                  <a:srgbClr val="AA0D91"/>
                </a:solidFill>
                <a:effectLst/>
                <a:latin typeface="source-code-pro"/>
              </a:rPr>
              <a:t>from</a:t>
            </a:r>
            <a:r>
              <a:rPr lang="en-US" sz="2400" b="0" i="0" dirty="0">
                <a:solidFill>
                  <a:srgbClr val="242424"/>
                </a:solidFill>
                <a:effectLst/>
                <a:latin typeface="source-code-pro"/>
              </a:rPr>
              <a:t> </a:t>
            </a:r>
            <a:r>
              <a:rPr lang="en-US" sz="2400" b="0" i="0" dirty="0" err="1">
                <a:solidFill>
                  <a:srgbClr val="242424"/>
                </a:solidFill>
                <a:effectLst/>
                <a:latin typeface="source-code-pro"/>
              </a:rPr>
              <a:t>langchain.text_splitter</a:t>
            </a:r>
            <a:r>
              <a:rPr lang="en-US" sz="2400" b="0" i="0" dirty="0">
                <a:solidFill>
                  <a:srgbClr val="242424"/>
                </a:solidFill>
                <a:effectLst/>
                <a:latin typeface="source-code-pro"/>
              </a:rPr>
              <a:t> </a:t>
            </a:r>
            <a:r>
              <a:rPr lang="en-US" sz="2400" b="0" i="0" dirty="0">
                <a:solidFill>
                  <a:srgbClr val="AA0D91"/>
                </a:solidFill>
                <a:effectLst/>
                <a:latin typeface="source-code-pro"/>
              </a:rPr>
              <a:t>import</a:t>
            </a:r>
            <a:r>
              <a:rPr lang="en-US" sz="2400" b="0" i="0" dirty="0">
                <a:solidFill>
                  <a:srgbClr val="242424"/>
                </a:solidFill>
                <a:effectLst/>
                <a:latin typeface="source-code-pro"/>
              </a:rPr>
              <a:t> </a:t>
            </a:r>
            <a:r>
              <a:rPr lang="en-US" sz="2400" b="0" i="0" dirty="0" err="1">
                <a:solidFill>
                  <a:srgbClr val="242424"/>
                </a:solidFill>
                <a:effectLst/>
                <a:latin typeface="source-code-pro"/>
              </a:rPr>
              <a:t>RecursiveCharacterTextSplitter</a:t>
            </a:r>
            <a:br>
              <a:rPr lang="en-US" sz="2400" dirty="0"/>
            </a:br>
            <a:r>
              <a:rPr lang="en-US" sz="2400" b="0" i="0" dirty="0">
                <a:solidFill>
                  <a:srgbClr val="AA0D91"/>
                </a:solidFill>
                <a:effectLst/>
                <a:latin typeface="source-code-pro"/>
              </a:rPr>
              <a:t>from</a:t>
            </a:r>
            <a:r>
              <a:rPr lang="en-US" sz="2400" b="0" i="0" dirty="0">
                <a:solidFill>
                  <a:srgbClr val="242424"/>
                </a:solidFill>
                <a:effectLst/>
                <a:latin typeface="source-code-pro"/>
              </a:rPr>
              <a:t> </a:t>
            </a:r>
            <a:r>
              <a:rPr lang="en-US" sz="2400" b="0" i="0" dirty="0" err="1">
                <a:solidFill>
                  <a:srgbClr val="242424"/>
                </a:solidFill>
                <a:effectLst/>
                <a:latin typeface="source-code-pro"/>
              </a:rPr>
              <a:t>langchain.embeddings</a:t>
            </a:r>
            <a:r>
              <a:rPr lang="en-US" sz="2400" b="0" i="0" dirty="0">
                <a:solidFill>
                  <a:srgbClr val="242424"/>
                </a:solidFill>
                <a:effectLst/>
                <a:latin typeface="source-code-pro"/>
              </a:rPr>
              <a:t> </a:t>
            </a:r>
            <a:r>
              <a:rPr lang="en-US" sz="2400" b="0" i="0" dirty="0">
                <a:solidFill>
                  <a:srgbClr val="AA0D91"/>
                </a:solidFill>
                <a:effectLst/>
                <a:latin typeface="source-code-pro"/>
              </a:rPr>
              <a:t>import</a:t>
            </a:r>
            <a:r>
              <a:rPr lang="en-US" sz="2400" b="0" i="0" dirty="0">
                <a:solidFill>
                  <a:srgbClr val="242424"/>
                </a:solidFill>
                <a:effectLst/>
                <a:latin typeface="source-code-pro"/>
              </a:rPr>
              <a:t> </a:t>
            </a:r>
            <a:r>
              <a:rPr lang="en-US" sz="2400" b="0" i="0" dirty="0" err="1">
                <a:solidFill>
                  <a:srgbClr val="242424"/>
                </a:solidFill>
                <a:effectLst/>
                <a:latin typeface="source-code-pro"/>
              </a:rPr>
              <a:t>OpenAIEmbeddings</a:t>
            </a:r>
            <a:br>
              <a:rPr lang="en-US" sz="2400" dirty="0"/>
            </a:br>
            <a:r>
              <a:rPr lang="en-US" sz="2400" b="0" i="0" dirty="0">
                <a:solidFill>
                  <a:srgbClr val="AA0D91"/>
                </a:solidFill>
                <a:effectLst/>
                <a:latin typeface="source-code-pro"/>
              </a:rPr>
              <a:t>from</a:t>
            </a:r>
            <a:r>
              <a:rPr lang="en-US" sz="2400" b="0" i="0" dirty="0">
                <a:solidFill>
                  <a:srgbClr val="242424"/>
                </a:solidFill>
                <a:effectLst/>
                <a:latin typeface="source-code-pro"/>
              </a:rPr>
              <a:t> </a:t>
            </a:r>
            <a:r>
              <a:rPr lang="en-US" sz="2400" b="0" i="0" dirty="0" err="1">
                <a:solidFill>
                  <a:srgbClr val="242424"/>
                </a:solidFill>
                <a:effectLst/>
                <a:latin typeface="source-code-pro"/>
              </a:rPr>
              <a:t>langchain.vectorstores</a:t>
            </a:r>
            <a:r>
              <a:rPr lang="en-US" sz="2400" b="0" i="0" dirty="0">
                <a:solidFill>
                  <a:srgbClr val="242424"/>
                </a:solidFill>
                <a:effectLst/>
                <a:latin typeface="source-code-pro"/>
              </a:rPr>
              <a:t> </a:t>
            </a:r>
            <a:r>
              <a:rPr lang="en-US" sz="2400" b="0" i="0" dirty="0">
                <a:solidFill>
                  <a:srgbClr val="AA0D91"/>
                </a:solidFill>
                <a:effectLst/>
                <a:latin typeface="source-code-pro"/>
              </a:rPr>
              <a:t>import</a:t>
            </a:r>
            <a:r>
              <a:rPr lang="en-US" sz="2400" b="0" i="0" dirty="0">
                <a:solidFill>
                  <a:srgbClr val="242424"/>
                </a:solidFill>
                <a:effectLst/>
                <a:latin typeface="source-code-pro"/>
              </a:rPr>
              <a:t> FAISS</a:t>
            </a:r>
            <a:br>
              <a:rPr lang="en-US" sz="2400" dirty="0"/>
            </a:br>
            <a:r>
              <a:rPr lang="en-US" sz="2400" b="0" i="0" dirty="0">
                <a:solidFill>
                  <a:srgbClr val="AA0D91"/>
                </a:solidFill>
                <a:effectLst/>
                <a:latin typeface="source-code-pro"/>
              </a:rPr>
              <a:t>from</a:t>
            </a:r>
            <a:r>
              <a:rPr lang="en-US" sz="2400" b="0" i="0" dirty="0">
                <a:solidFill>
                  <a:srgbClr val="242424"/>
                </a:solidFill>
                <a:effectLst/>
                <a:latin typeface="source-code-pro"/>
              </a:rPr>
              <a:t> </a:t>
            </a:r>
            <a:r>
              <a:rPr lang="en-US" sz="2400" b="0" i="0" dirty="0" err="1">
                <a:solidFill>
                  <a:srgbClr val="242424"/>
                </a:solidFill>
                <a:effectLst/>
                <a:latin typeface="source-code-pro"/>
              </a:rPr>
              <a:t>langchain.chains</a:t>
            </a:r>
            <a:r>
              <a:rPr lang="en-US" sz="2400" b="0" i="0" dirty="0">
                <a:solidFill>
                  <a:srgbClr val="242424"/>
                </a:solidFill>
                <a:effectLst/>
                <a:latin typeface="source-code-pro"/>
              </a:rPr>
              <a:t> </a:t>
            </a:r>
            <a:r>
              <a:rPr lang="en-US" sz="2400" b="0" i="0" dirty="0">
                <a:solidFill>
                  <a:srgbClr val="AA0D91"/>
                </a:solidFill>
                <a:effectLst/>
                <a:latin typeface="source-code-pro"/>
              </a:rPr>
              <a:t>import</a:t>
            </a:r>
            <a:r>
              <a:rPr lang="en-US" sz="2400" b="0" i="0" dirty="0">
                <a:solidFill>
                  <a:srgbClr val="242424"/>
                </a:solidFill>
                <a:effectLst/>
                <a:latin typeface="source-code-pro"/>
              </a:rPr>
              <a:t> </a:t>
            </a:r>
            <a:r>
              <a:rPr lang="en-US" sz="2400" b="0" i="0" dirty="0" err="1">
                <a:solidFill>
                  <a:srgbClr val="242424"/>
                </a:solidFill>
                <a:effectLst/>
                <a:latin typeface="source-code-pro"/>
              </a:rPr>
              <a:t>RetrievalQA</a:t>
            </a:r>
            <a:br>
              <a:rPr lang="en-US" sz="2400" dirty="0"/>
            </a:br>
            <a:r>
              <a:rPr lang="en-US" sz="2400" b="0" i="0" dirty="0">
                <a:solidFill>
                  <a:srgbClr val="AA0D91"/>
                </a:solidFill>
                <a:effectLst/>
                <a:latin typeface="source-code-pro"/>
              </a:rPr>
              <a:t>from</a:t>
            </a:r>
            <a:r>
              <a:rPr lang="en-US" sz="2400" b="0" i="0" dirty="0">
                <a:solidFill>
                  <a:srgbClr val="242424"/>
                </a:solidFill>
                <a:effectLst/>
                <a:latin typeface="source-code-pro"/>
              </a:rPr>
              <a:t> </a:t>
            </a:r>
            <a:r>
              <a:rPr lang="en-US" sz="2400" b="0" i="0" dirty="0" err="1">
                <a:solidFill>
                  <a:srgbClr val="242424"/>
                </a:solidFill>
                <a:effectLst/>
                <a:latin typeface="source-code-pro"/>
              </a:rPr>
              <a:t>langchain.llms</a:t>
            </a:r>
            <a:r>
              <a:rPr lang="en-US" sz="2400" b="0" i="0" dirty="0">
                <a:solidFill>
                  <a:srgbClr val="242424"/>
                </a:solidFill>
                <a:effectLst/>
                <a:latin typeface="source-code-pro"/>
              </a:rPr>
              <a:t> </a:t>
            </a:r>
            <a:r>
              <a:rPr lang="en-US" sz="2400" b="0" i="0" dirty="0">
                <a:solidFill>
                  <a:srgbClr val="AA0D91"/>
                </a:solidFill>
                <a:effectLst/>
                <a:latin typeface="source-code-pro"/>
              </a:rPr>
              <a:t>import</a:t>
            </a:r>
            <a:r>
              <a:rPr lang="en-US" sz="2400" b="0" i="0" dirty="0">
                <a:solidFill>
                  <a:srgbClr val="242424"/>
                </a:solidFill>
                <a:effectLst/>
                <a:latin typeface="source-code-pro"/>
              </a:rPr>
              <a:t> OpenAI</a:t>
            </a:r>
            <a:br>
              <a:rPr lang="en-US" sz="2400" dirty="0"/>
            </a:br>
            <a:br>
              <a:rPr lang="en-US" sz="2400" dirty="0"/>
            </a:br>
            <a:r>
              <a:rPr lang="en-US" sz="2400" b="0" i="0" dirty="0">
                <a:solidFill>
                  <a:srgbClr val="007400"/>
                </a:solidFill>
                <a:effectLst/>
                <a:latin typeface="source-code-pro"/>
              </a:rPr>
              <a:t># 1. Data Ingestion</a:t>
            </a:r>
            <a:br>
              <a:rPr lang="en-US" sz="2400" dirty="0"/>
            </a:br>
            <a:r>
              <a:rPr lang="en-US" sz="2400" b="0" i="0" dirty="0">
                <a:solidFill>
                  <a:srgbClr val="242424"/>
                </a:solidFill>
                <a:effectLst/>
                <a:latin typeface="source-code-pro"/>
              </a:rPr>
              <a:t>loader = </a:t>
            </a:r>
            <a:r>
              <a:rPr lang="en-US" sz="2400" b="0" i="0" dirty="0" err="1">
                <a:solidFill>
                  <a:srgbClr val="242424"/>
                </a:solidFill>
                <a:effectLst/>
                <a:latin typeface="source-code-pro"/>
              </a:rPr>
              <a:t>PyPDFLoader</a:t>
            </a:r>
            <a:r>
              <a:rPr lang="en-US" sz="2400" b="0" i="0" dirty="0">
                <a:solidFill>
                  <a:srgbClr val="242424"/>
                </a:solidFill>
                <a:effectLst/>
                <a:latin typeface="source-code-pro"/>
              </a:rPr>
              <a:t>(</a:t>
            </a:r>
            <a:r>
              <a:rPr lang="en-US" sz="2400" b="0" i="0" dirty="0">
                <a:solidFill>
                  <a:srgbClr val="C41A16"/>
                </a:solidFill>
                <a:effectLst/>
                <a:latin typeface="source-code-pro"/>
              </a:rPr>
              <a:t>"example.pdf"</a:t>
            </a:r>
            <a:r>
              <a:rPr lang="en-US" sz="2400" b="0" i="0" dirty="0">
                <a:solidFill>
                  <a:srgbClr val="242424"/>
                </a:solidFill>
                <a:effectLst/>
                <a:latin typeface="source-code-pro"/>
              </a:rPr>
              <a:t>)</a:t>
            </a:r>
            <a:br>
              <a:rPr lang="en-US" sz="2400" dirty="0"/>
            </a:br>
            <a:r>
              <a:rPr lang="en-US" sz="2400" b="0" i="0" dirty="0">
                <a:solidFill>
                  <a:srgbClr val="242424"/>
                </a:solidFill>
                <a:effectLst/>
                <a:latin typeface="source-code-pro"/>
              </a:rPr>
              <a:t>documents = </a:t>
            </a:r>
            <a:r>
              <a:rPr lang="en-US" sz="2400" b="0" i="0" dirty="0" err="1">
                <a:solidFill>
                  <a:srgbClr val="242424"/>
                </a:solidFill>
                <a:effectLst/>
                <a:latin typeface="source-code-pro"/>
              </a:rPr>
              <a:t>loader.load</a:t>
            </a:r>
            <a:r>
              <a:rPr lang="en-US" sz="2400" b="0" i="0" dirty="0">
                <a:solidFill>
                  <a:srgbClr val="242424"/>
                </a:solidFill>
                <a:effectLst/>
                <a:latin typeface="source-code-pro"/>
              </a:rPr>
              <a:t>()</a:t>
            </a:r>
            <a:br>
              <a:rPr lang="en-US" sz="2400" dirty="0"/>
            </a:br>
            <a:br>
              <a:rPr lang="en-US" sz="2400" dirty="0"/>
            </a:br>
            <a:r>
              <a:rPr lang="en-US" sz="2400" b="0" i="0" dirty="0">
                <a:solidFill>
                  <a:srgbClr val="007400"/>
                </a:solidFill>
                <a:effectLst/>
                <a:latin typeface="source-code-pro"/>
              </a:rPr>
              <a:t># 2. Data Preprocessing</a:t>
            </a:r>
            <a:br>
              <a:rPr lang="en-US" sz="2400" dirty="0"/>
            </a:br>
            <a:r>
              <a:rPr lang="en-US" sz="2400" b="0" i="0" dirty="0" err="1">
                <a:solidFill>
                  <a:srgbClr val="242424"/>
                </a:solidFill>
                <a:effectLst/>
                <a:latin typeface="source-code-pro"/>
              </a:rPr>
              <a:t>text_splitter</a:t>
            </a:r>
            <a:r>
              <a:rPr lang="en-US" sz="2400" b="0" i="0" dirty="0">
                <a:solidFill>
                  <a:srgbClr val="242424"/>
                </a:solidFill>
                <a:effectLst/>
                <a:latin typeface="source-code-pro"/>
              </a:rPr>
              <a:t> = </a:t>
            </a:r>
            <a:r>
              <a:rPr lang="en-US" sz="2400" b="0" i="0" dirty="0" err="1">
                <a:solidFill>
                  <a:srgbClr val="242424"/>
                </a:solidFill>
                <a:effectLst/>
                <a:latin typeface="source-code-pro"/>
              </a:rPr>
              <a:t>RecursiveCharacterTextSplitter</a:t>
            </a:r>
            <a:r>
              <a:rPr lang="en-US" sz="2400" b="0" i="0" dirty="0">
                <a:solidFill>
                  <a:srgbClr val="242424"/>
                </a:solidFill>
                <a:effectLst/>
                <a:latin typeface="source-code-pro"/>
              </a:rPr>
              <a:t>(</a:t>
            </a:r>
            <a:r>
              <a:rPr lang="en-US" sz="2400" b="0" i="0" dirty="0" err="1">
                <a:solidFill>
                  <a:srgbClr val="242424"/>
                </a:solidFill>
                <a:effectLst/>
                <a:latin typeface="source-code-pro"/>
              </a:rPr>
              <a:t>chunk_size</a:t>
            </a:r>
            <a:r>
              <a:rPr lang="en-US" sz="2400" b="0" i="0" dirty="0">
                <a:solidFill>
                  <a:srgbClr val="242424"/>
                </a:solidFill>
                <a:effectLst/>
                <a:latin typeface="source-code-pro"/>
              </a:rPr>
              <a:t>=</a:t>
            </a:r>
            <a:r>
              <a:rPr lang="en-US" sz="2400" b="0" i="0" dirty="0">
                <a:solidFill>
                  <a:srgbClr val="1C00CF"/>
                </a:solidFill>
                <a:effectLst/>
                <a:latin typeface="source-code-pro"/>
              </a:rPr>
              <a:t>1000</a:t>
            </a:r>
            <a:r>
              <a:rPr lang="en-US" sz="2400" b="0" i="0" dirty="0">
                <a:solidFill>
                  <a:srgbClr val="242424"/>
                </a:solidFill>
                <a:effectLst/>
                <a:latin typeface="source-code-pro"/>
              </a:rPr>
              <a:t>, </a:t>
            </a:r>
            <a:r>
              <a:rPr lang="en-US" sz="2400" b="0" i="0" dirty="0" err="1">
                <a:solidFill>
                  <a:srgbClr val="242424"/>
                </a:solidFill>
                <a:effectLst/>
                <a:latin typeface="source-code-pro"/>
              </a:rPr>
              <a:t>chunk_overlap</a:t>
            </a:r>
            <a:r>
              <a:rPr lang="en-US" sz="2400" b="0" i="0" dirty="0">
                <a:solidFill>
                  <a:srgbClr val="242424"/>
                </a:solidFill>
                <a:effectLst/>
                <a:latin typeface="source-code-pro"/>
              </a:rPr>
              <a:t>=</a:t>
            </a:r>
            <a:r>
              <a:rPr lang="en-US" sz="2400" b="0" i="0" dirty="0">
                <a:solidFill>
                  <a:srgbClr val="1C00CF"/>
                </a:solidFill>
                <a:effectLst/>
                <a:latin typeface="source-code-pro"/>
              </a:rPr>
              <a:t>200</a:t>
            </a:r>
            <a:r>
              <a:rPr lang="en-US" sz="2400" b="0" i="0" dirty="0">
                <a:solidFill>
                  <a:srgbClr val="242424"/>
                </a:solidFill>
                <a:effectLst/>
                <a:latin typeface="source-code-pro"/>
              </a:rPr>
              <a:t>)</a:t>
            </a:r>
            <a:br>
              <a:rPr lang="en-US" sz="2400" dirty="0"/>
            </a:br>
            <a:r>
              <a:rPr lang="en-US" sz="2400" b="0" i="0" dirty="0">
                <a:solidFill>
                  <a:srgbClr val="242424"/>
                </a:solidFill>
                <a:effectLst/>
                <a:latin typeface="source-code-pro"/>
              </a:rPr>
              <a:t>chunks = </a:t>
            </a:r>
            <a:r>
              <a:rPr lang="en-US" sz="2400" b="0" i="0" dirty="0" err="1">
                <a:solidFill>
                  <a:srgbClr val="242424"/>
                </a:solidFill>
                <a:effectLst/>
                <a:latin typeface="source-code-pro"/>
              </a:rPr>
              <a:t>text_splitter.split_documents</a:t>
            </a:r>
            <a:r>
              <a:rPr lang="en-US" sz="2400" b="0" i="0" dirty="0">
                <a:solidFill>
                  <a:srgbClr val="242424"/>
                </a:solidFill>
                <a:effectLst/>
                <a:latin typeface="source-code-pro"/>
              </a:rPr>
              <a:t>(documents)</a:t>
            </a:r>
            <a:br>
              <a:rPr lang="en-US" sz="2400" dirty="0"/>
            </a:br>
            <a:br>
              <a:rPr lang="en-US" sz="2400" dirty="0"/>
            </a:br>
            <a:r>
              <a:rPr lang="en-US" sz="2400" b="0" i="0" dirty="0">
                <a:solidFill>
                  <a:srgbClr val="242424"/>
                </a:solidFill>
                <a:effectLst/>
                <a:latin typeface="source-code-pro"/>
              </a:rPr>
              <a:t>embeddings = </a:t>
            </a:r>
            <a:r>
              <a:rPr lang="en-US" sz="2400" b="0" i="0" dirty="0" err="1">
                <a:solidFill>
                  <a:srgbClr val="242424"/>
                </a:solidFill>
                <a:effectLst/>
                <a:latin typeface="source-code-pro"/>
              </a:rPr>
              <a:t>OpenAIEmbeddings</a:t>
            </a:r>
            <a:r>
              <a:rPr lang="en-US" sz="2400" b="0" i="0" dirty="0">
                <a:solidFill>
                  <a:srgbClr val="242424"/>
                </a:solidFill>
                <a:effectLst/>
                <a:latin typeface="source-code-pro"/>
              </a:rPr>
              <a:t>()</a:t>
            </a:r>
            <a:br>
              <a:rPr lang="en-US" sz="2400" dirty="0"/>
            </a:br>
            <a:r>
              <a:rPr lang="en-US" sz="2400" b="0" i="0" dirty="0" err="1">
                <a:solidFill>
                  <a:srgbClr val="242424"/>
                </a:solidFill>
                <a:effectLst/>
                <a:latin typeface="source-code-pro"/>
              </a:rPr>
              <a:t>vector_store</a:t>
            </a:r>
            <a:r>
              <a:rPr lang="en-US" sz="2400" b="0" i="0" dirty="0">
                <a:solidFill>
                  <a:srgbClr val="242424"/>
                </a:solidFill>
                <a:effectLst/>
                <a:latin typeface="source-code-pro"/>
              </a:rPr>
              <a:t> = </a:t>
            </a:r>
            <a:r>
              <a:rPr lang="en-US" sz="2400" b="0" i="0" dirty="0" err="1">
                <a:solidFill>
                  <a:srgbClr val="242424"/>
                </a:solidFill>
                <a:effectLst/>
                <a:latin typeface="source-code-pro"/>
              </a:rPr>
              <a:t>FAISS.from_documents</a:t>
            </a:r>
            <a:r>
              <a:rPr lang="en-US" sz="2400" b="0" i="0" dirty="0">
                <a:solidFill>
                  <a:srgbClr val="242424"/>
                </a:solidFill>
                <a:effectLst/>
                <a:latin typeface="source-code-pro"/>
              </a:rPr>
              <a:t>(chunks, embeddings)</a:t>
            </a:r>
            <a:endParaRPr lang="en-US" sz="2400" dirty="0"/>
          </a:p>
        </p:txBody>
      </p:sp>
    </p:spTree>
    <p:extLst>
      <p:ext uri="{BB962C8B-B14F-4D97-AF65-F5344CB8AC3E}">
        <p14:creationId xmlns:p14="http://schemas.microsoft.com/office/powerpoint/2010/main" val="42491732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0E706C-1D8E-8004-FAC1-CAEABC74BFD1}"/>
              </a:ext>
            </a:extLst>
          </p:cNvPr>
          <p:cNvSpPr txBox="1"/>
          <p:nvPr/>
        </p:nvSpPr>
        <p:spPr>
          <a:xfrm>
            <a:off x="1288732" y="866268"/>
            <a:ext cx="9764077" cy="3416320"/>
          </a:xfrm>
          <a:prstGeom prst="rect">
            <a:avLst/>
          </a:prstGeom>
          <a:noFill/>
        </p:spPr>
        <p:txBody>
          <a:bodyPr wrap="square">
            <a:spAutoFit/>
          </a:bodyPr>
          <a:lstStyle/>
          <a:p>
            <a:r>
              <a:rPr lang="en-US" sz="2400" b="0" i="0" dirty="0">
                <a:solidFill>
                  <a:srgbClr val="007400"/>
                </a:solidFill>
                <a:effectLst/>
                <a:latin typeface="source-code-pro"/>
              </a:rPr>
              <a:t># 3. Retrieval &amp; Augmentation</a:t>
            </a:r>
            <a:br>
              <a:rPr lang="en-US" sz="2400" dirty="0"/>
            </a:br>
            <a:r>
              <a:rPr lang="en-US" sz="2400" b="0" i="0" dirty="0">
                <a:solidFill>
                  <a:srgbClr val="242424"/>
                </a:solidFill>
                <a:effectLst/>
                <a:latin typeface="source-code-pro"/>
              </a:rPr>
              <a:t>retriever = </a:t>
            </a:r>
            <a:r>
              <a:rPr lang="en-US" sz="2400" b="0" i="0" dirty="0" err="1">
                <a:solidFill>
                  <a:srgbClr val="242424"/>
                </a:solidFill>
                <a:effectLst/>
                <a:latin typeface="source-code-pro"/>
              </a:rPr>
              <a:t>vector_store.as_retriever</a:t>
            </a:r>
            <a:r>
              <a:rPr lang="en-US" sz="2400" b="0" i="0" dirty="0">
                <a:solidFill>
                  <a:srgbClr val="242424"/>
                </a:solidFill>
                <a:effectLst/>
                <a:latin typeface="source-code-pro"/>
              </a:rPr>
              <a:t>()</a:t>
            </a:r>
            <a:br>
              <a:rPr lang="en-US" sz="2400" dirty="0"/>
            </a:br>
            <a:br>
              <a:rPr lang="en-US" sz="2400" dirty="0"/>
            </a:br>
            <a:r>
              <a:rPr lang="en-US" sz="2400" b="0" i="0" dirty="0">
                <a:solidFill>
                  <a:srgbClr val="007400"/>
                </a:solidFill>
                <a:effectLst/>
                <a:latin typeface="source-code-pro"/>
              </a:rPr>
              <a:t># 4. Response Generation</a:t>
            </a:r>
            <a:br>
              <a:rPr lang="en-US" sz="2400" dirty="0"/>
            </a:br>
            <a:r>
              <a:rPr lang="en-US" sz="2400" b="0" i="0" dirty="0" err="1">
                <a:solidFill>
                  <a:srgbClr val="242424"/>
                </a:solidFill>
                <a:effectLst/>
                <a:latin typeface="source-code-pro"/>
              </a:rPr>
              <a:t>llm</a:t>
            </a:r>
            <a:r>
              <a:rPr lang="en-US" sz="2400" b="0" i="0" dirty="0">
                <a:solidFill>
                  <a:srgbClr val="242424"/>
                </a:solidFill>
                <a:effectLst/>
                <a:latin typeface="source-code-pro"/>
              </a:rPr>
              <a:t> = OpenAI()</a:t>
            </a:r>
            <a:br>
              <a:rPr lang="en-US" sz="2400" dirty="0"/>
            </a:br>
            <a:r>
              <a:rPr lang="en-US" sz="2400" b="0" i="0" dirty="0" err="1">
                <a:solidFill>
                  <a:srgbClr val="242424"/>
                </a:solidFill>
                <a:effectLst/>
                <a:latin typeface="source-code-pro"/>
              </a:rPr>
              <a:t>qa_chain</a:t>
            </a:r>
            <a:r>
              <a:rPr lang="en-US" sz="2400" b="0" i="0" dirty="0">
                <a:solidFill>
                  <a:srgbClr val="242424"/>
                </a:solidFill>
                <a:effectLst/>
                <a:latin typeface="source-code-pro"/>
              </a:rPr>
              <a:t> = </a:t>
            </a:r>
            <a:r>
              <a:rPr lang="en-US" sz="2400" b="0" i="0" dirty="0" err="1">
                <a:solidFill>
                  <a:srgbClr val="242424"/>
                </a:solidFill>
                <a:effectLst/>
                <a:latin typeface="source-code-pro"/>
              </a:rPr>
              <a:t>RetrievalQA.from_chain_type</a:t>
            </a:r>
            <a:r>
              <a:rPr lang="en-US" sz="2400" b="0" i="0" dirty="0">
                <a:solidFill>
                  <a:srgbClr val="242424"/>
                </a:solidFill>
                <a:effectLst/>
                <a:latin typeface="source-code-pro"/>
              </a:rPr>
              <a:t>(</a:t>
            </a:r>
            <a:r>
              <a:rPr lang="en-US" sz="2400" b="0" i="0" dirty="0" err="1">
                <a:solidFill>
                  <a:srgbClr val="242424"/>
                </a:solidFill>
                <a:effectLst/>
                <a:latin typeface="source-code-pro"/>
              </a:rPr>
              <a:t>llm</a:t>
            </a:r>
            <a:r>
              <a:rPr lang="en-US" sz="2400" b="0" i="0" dirty="0">
                <a:solidFill>
                  <a:srgbClr val="242424"/>
                </a:solidFill>
                <a:effectLst/>
                <a:latin typeface="source-code-pro"/>
              </a:rPr>
              <a:t>=</a:t>
            </a:r>
            <a:r>
              <a:rPr lang="en-US" sz="2400" b="0" i="0" dirty="0" err="1">
                <a:solidFill>
                  <a:srgbClr val="242424"/>
                </a:solidFill>
                <a:effectLst/>
                <a:latin typeface="source-code-pro"/>
              </a:rPr>
              <a:t>llm</a:t>
            </a:r>
            <a:r>
              <a:rPr lang="en-US" sz="2400" b="0" i="0" dirty="0">
                <a:solidFill>
                  <a:srgbClr val="242424"/>
                </a:solidFill>
                <a:effectLst/>
                <a:latin typeface="source-code-pro"/>
              </a:rPr>
              <a:t>, retriever=retriever)</a:t>
            </a:r>
            <a:br>
              <a:rPr lang="en-US" sz="2400" dirty="0"/>
            </a:br>
            <a:r>
              <a:rPr lang="en-US" sz="2400" b="0" i="0" dirty="0">
                <a:solidFill>
                  <a:srgbClr val="242424"/>
                </a:solidFill>
                <a:effectLst/>
                <a:latin typeface="source-code-pro"/>
              </a:rPr>
              <a:t>query = </a:t>
            </a:r>
            <a:r>
              <a:rPr lang="en-US" sz="2400" b="0" i="0" dirty="0">
                <a:solidFill>
                  <a:srgbClr val="C41A16"/>
                </a:solidFill>
                <a:effectLst/>
                <a:latin typeface="source-code-pro"/>
              </a:rPr>
              <a:t>"What are the key findings?"</a:t>
            </a:r>
            <a:br>
              <a:rPr lang="en-US" sz="2400" dirty="0"/>
            </a:br>
            <a:r>
              <a:rPr lang="en-US" sz="2400" b="0" i="0" dirty="0">
                <a:solidFill>
                  <a:srgbClr val="242424"/>
                </a:solidFill>
                <a:effectLst/>
                <a:latin typeface="source-code-pro"/>
              </a:rPr>
              <a:t>response = </a:t>
            </a:r>
            <a:r>
              <a:rPr lang="en-US" sz="2400" b="0" i="0" dirty="0" err="1">
                <a:solidFill>
                  <a:srgbClr val="242424"/>
                </a:solidFill>
                <a:effectLst/>
                <a:latin typeface="source-code-pro"/>
              </a:rPr>
              <a:t>qa_chain.run</a:t>
            </a:r>
            <a:r>
              <a:rPr lang="en-US" sz="2400" b="0" i="0" dirty="0">
                <a:solidFill>
                  <a:srgbClr val="242424"/>
                </a:solidFill>
                <a:effectLst/>
                <a:latin typeface="source-code-pro"/>
              </a:rPr>
              <a:t>(query)</a:t>
            </a:r>
            <a:br>
              <a:rPr lang="en-US" sz="2400" dirty="0"/>
            </a:br>
            <a:r>
              <a:rPr lang="en-US" sz="2400" b="0" i="0" dirty="0">
                <a:solidFill>
                  <a:srgbClr val="5C2699"/>
                </a:solidFill>
                <a:effectLst/>
                <a:latin typeface="source-code-pro"/>
              </a:rPr>
              <a:t>print</a:t>
            </a:r>
            <a:r>
              <a:rPr lang="en-US" sz="2400" b="0" i="0" dirty="0">
                <a:solidFill>
                  <a:srgbClr val="242424"/>
                </a:solidFill>
                <a:effectLst/>
                <a:latin typeface="source-code-pro"/>
              </a:rPr>
              <a:t>(response)</a:t>
            </a:r>
            <a:endParaRPr lang="en-US" sz="2400" dirty="0"/>
          </a:p>
        </p:txBody>
      </p:sp>
    </p:spTree>
    <p:extLst>
      <p:ext uri="{BB962C8B-B14F-4D97-AF65-F5344CB8AC3E}">
        <p14:creationId xmlns:p14="http://schemas.microsoft.com/office/powerpoint/2010/main" val="2221696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EBDC3-7224-909F-F30A-D09396358E7A}"/>
              </a:ext>
            </a:extLst>
          </p:cNvPr>
          <p:cNvSpPr>
            <a:spLocks noGrp="1"/>
          </p:cNvSpPr>
          <p:nvPr>
            <p:ph type="title"/>
          </p:nvPr>
        </p:nvSpPr>
        <p:spPr/>
        <p:txBody>
          <a:bodyPr/>
          <a:lstStyle/>
          <a:p>
            <a:r>
              <a:rPr lang="en-US" b="1" i="0" dirty="0">
                <a:solidFill>
                  <a:srgbClr val="242424"/>
                </a:solidFill>
                <a:effectLst/>
                <a:latin typeface="source-serif-pro"/>
              </a:rPr>
              <a:t>Pros &amp; Cons</a:t>
            </a:r>
            <a:endParaRPr lang="en-US" dirty="0"/>
          </a:p>
        </p:txBody>
      </p:sp>
      <p:sp>
        <p:nvSpPr>
          <p:cNvPr id="3" name="Content Placeholder 2">
            <a:extLst>
              <a:ext uri="{FF2B5EF4-FFF2-40B4-BE49-F238E27FC236}">
                <a16:creationId xmlns:a16="http://schemas.microsoft.com/office/drawing/2014/main" id="{6DFBA152-970B-0A51-5F23-58B636384381}"/>
              </a:ext>
            </a:extLst>
          </p:cNvPr>
          <p:cNvSpPr>
            <a:spLocks noGrp="1"/>
          </p:cNvSpPr>
          <p:nvPr>
            <p:ph idx="1"/>
          </p:nvPr>
        </p:nvSpPr>
        <p:spPr>
          <a:xfrm>
            <a:off x="838200" y="1929383"/>
            <a:ext cx="10515600" cy="4654297"/>
          </a:xfrm>
        </p:spPr>
        <p:txBody>
          <a:bodyPr/>
          <a:lstStyle/>
          <a:p>
            <a:pPr algn="l">
              <a:lnSpc>
                <a:spcPts val="2400"/>
              </a:lnSpc>
              <a:buNone/>
            </a:pPr>
            <a:r>
              <a:rPr lang="en-US" b="1" i="0" dirty="0">
                <a:solidFill>
                  <a:srgbClr val="242424"/>
                </a:solidFill>
                <a:effectLst/>
                <a:latin typeface="source-serif-pro"/>
              </a:rPr>
              <a:t>Pros:</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Highly flexible and customizable.</a:t>
            </a:r>
          </a:p>
          <a:p>
            <a:pPr algn="l">
              <a:lnSpc>
                <a:spcPts val="2400"/>
              </a:lnSpc>
              <a:buFont typeface="Arial" panose="020B0604020202020204" pitchFamily="34" charset="0"/>
              <a:buChar char="•"/>
            </a:pPr>
            <a:r>
              <a:rPr lang="en-US" b="0" i="0" dirty="0">
                <a:solidFill>
                  <a:srgbClr val="242424"/>
                </a:solidFill>
                <a:effectLst/>
                <a:latin typeface="source-serif-pro"/>
              </a:rPr>
              <a:t>Extensive library of components.</a:t>
            </a:r>
          </a:p>
          <a:p>
            <a:pPr algn="l">
              <a:lnSpc>
                <a:spcPts val="2400"/>
              </a:lnSpc>
              <a:buFont typeface="Arial" panose="020B0604020202020204" pitchFamily="34" charset="0"/>
              <a:buChar char="•"/>
            </a:pPr>
            <a:r>
              <a:rPr lang="en-US" b="0" i="0" dirty="0">
                <a:solidFill>
                  <a:srgbClr val="242424"/>
                </a:solidFill>
                <a:effectLst/>
                <a:latin typeface="source-serif-pro"/>
              </a:rPr>
              <a:t>Large community and strong support.</a:t>
            </a:r>
          </a:p>
          <a:p>
            <a:pPr algn="l">
              <a:lnSpc>
                <a:spcPts val="2400"/>
              </a:lnSpc>
              <a:buFont typeface="Arial" panose="020B0604020202020204" pitchFamily="34" charset="0"/>
              <a:buChar char="•"/>
            </a:pPr>
            <a:r>
              <a:rPr lang="en-US" b="0" i="0" dirty="0">
                <a:solidFill>
                  <a:srgbClr val="242424"/>
                </a:solidFill>
                <a:effectLst/>
                <a:latin typeface="source-serif-pro"/>
              </a:rPr>
              <a:t>Supports diverse data sources and models.</a:t>
            </a:r>
          </a:p>
          <a:p>
            <a:pPr algn="l">
              <a:lnSpc>
                <a:spcPts val="2400"/>
              </a:lnSpc>
              <a:buNone/>
            </a:pPr>
            <a:r>
              <a:rPr lang="en-US" b="1" i="0" dirty="0">
                <a:solidFill>
                  <a:srgbClr val="242424"/>
                </a:solidFill>
                <a:effectLst/>
                <a:latin typeface="source-serif-pro"/>
              </a:rPr>
              <a:t>Cons:</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Can have a steep learning curve.</a:t>
            </a:r>
          </a:p>
          <a:p>
            <a:pPr algn="l">
              <a:lnSpc>
                <a:spcPts val="2400"/>
              </a:lnSpc>
              <a:buFont typeface="Arial" panose="020B0604020202020204" pitchFamily="34" charset="0"/>
              <a:buChar char="•"/>
            </a:pPr>
            <a:r>
              <a:rPr lang="en-US" b="0" i="0" dirty="0">
                <a:solidFill>
                  <a:srgbClr val="242424"/>
                </a:solidFill>
                <a:effectLst/>
                <a:latin typeface="source-serif-pro"/>
              </a:rPr>
              <a:t>Can be verbose for simple RAG implementations.</a:t>
            </a:r>
          </a:p>
          <a:p>
            <a:pPr algn="l">
              <a:lnSpc>
                <a:spcPts val="2400"/>
              </a:lnSpc>
              <a:buFont typeface="Arial" panose="020B0604020202020204" pitchFamily="34" charset="0"/>
              <a:buChar char="•"/>
            </a:pPr>
            <a:r>
              <a:rPr lang="en-US" b="0" i="0" dirty="0">
                <a:solidFill>
                  <a:srgbClr val="242424"/>
                </a:solidFill>
                <a:effectLst/>
                <a:latin typeface="source-serif-pro"/>
              </a:rPr>
              <a:t>Needs manual configuration and management.</a:t>
            </a:r>
          </a:p>
        </p:txBody>
      </p:sp>
    </p:spTree>
    <p:extLst>
      <p:ext uri="{BB962C8B-B14F-4D97-AF65-F5344CB8AC3E}">
        <p14:creationId xmlns:p14="http://schemas.microsoft.com/office/powerpoint/2010/main" val="7595681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6BE7A-E094-A821-904F-FBC4E8446CC8}"/>
              </a:ext>
            </a:extLst>
          </p:cNvPr>
          <p:cNvSpPr>
            <a:spLocks noGrp="1"/>
          </p:cNvSpPr>
          <p:nvPr>
            <p:ph type="title"/>
          </p:nvPr>
        </p:nvSpPr>
        <p:spPr/>
        <p:txBody>
          <a:bodyPr>
            <a:normAutofit fontScale="90000"/>
          </a:bodyPr>
          <a:lstStyle/>
          <a:p>
            <a:r>
              <a:rPr lang="en-US" b="1" i="0" dirty="0" err="1">
                <a:solidFill>
                  <a:srgbClr val="242424"/>
                </a:solidFill>
                <a:effectLst/>
                <a:latin typeface="sohne"/>
              </a:rPr>
              <a:t>LlamaIndex</a:t>
            </a:r>
            <a:r>
              <a:rPr lang="en-US" b="1" i="0" dirty="0">
                <a:solidFill>
                  <a:srgbClr val="242424"/>
                </a:solidFill>
                <a:effectLst/>
                <a:latin typeface="sohne"/>
              </a:rPr>
              <a:t> (GPT Index)</a:t>
            </a:r>
            <a:br>
              <a:rPr lang="en-US" b="1" i="0" dirty="0">
                <a:solidFill>
                  <a:srgbClr val="242424"/>
                </a:solidFill>
                <a:effectLst/>
                <a:latin typeface="sohne"/>
              </a:rPr>
            </a:br>
            <a:endParaRPr lang="en-US" dirty="0"/>
          </a:p>
        </p:txBody>
      </p:sp>
      <p:sp>
        <p:nvSpPr>
          <p:cNvPr id="3" name="Content Placeholder 2">
            <a:extLst>
              <a:ext uri="{FF2B5EF4-FFF2-40B4-BE49-F238E27FC236}">
                <a16:creationId xmlns:a16="http://schemas.microsoft.com/office/drawing/2014/main" id="{AA3DF87F-E353-01AC-041A-71F01E60DE0F}"/>
              </a:ext>
            </a:extLst>
          </p:cNvPr>
          <p:cNvSpPr>
            <a:spLocks noGrp="1"/>
          </p:cNvSpPr>
          <p:nvPr>
            <p:ph idx="1"/>
          </p:nvPr>
        </p:nvSpPr>
        <p:spPr>
          <a:xfrm>
            <a:off x="838200" y="1929384"/>
            <a:ext cx="10515600" cy="4459986"/>
          </a:xfrm>
        </p:spPr>
        <p:txBody>
          <a:bodyPr>
            <a:normAutofit fontScale="85000" lnSpcReduction="10000"/>
          </a:bodyPr>
          <a:lstStyle/>
          <a:p>
            <a:pPr algn="l">
              <a:lnSpc>
                <a:spcPts val="2400"/>
              </a:lnSpc>
              <a:buFont typeface="Arial" panose="020B0604020202020204" pitchFamily="34" charset="0"/>
              <a:buChar char="•"/>
            </a:pPr>
            <a:r>
              <a:rPr lang="en-US" b="1" i="0" dirty="0">
                <a:solidFill>
                  <a:srgbClr val="242424"/>
                </a:solidFill>
                <a:effectLst/>
                <a:latin typeface="source-serif-pro"/>
              </a:rPr>
              <a:t>Description:</a:t>
            </a:r>
            <a:r>
              <a:rPr lang="en-US" b="0" i="0" dirty="0">
                <a:solidFill>
                  <a:srgbClr val="242424"/>
                </a:solidFill>
                <a:effectLst/>
                <a:latin typeface="source-serif-pro"/>
              </a:rPr>
              <a:t> </a:t>
            </a:r>
            <a:r>
              <a:rPr lang="en-US" b="0" i="0" dirty="0" err="1">
                <a:solidFill>
                  <a:srgbClr val="242424"/>
                </a:solidFill>
                <a:effectLst/>
                <a:latin typeface="source-serif-pro"/>
              </a:rPr>
              <a:t>LlamaIndex</a:t>
            </a:r>
            <a:r>
              <a:rPr lang="en-US" b="0" i="0" dirty="0">
                <a:solidFill>
                  <a:srgbClr val="242424"/>
                </a:solidFill>
                <a:effectLst/>
                <a:latin typeface="source-serif-pro"/>
              </a:rPr>
              <a:t> focuses specifically on data indexing and retrieval for LLM applications. It provides data connectors, index structures, and query interfaces designed for RAG.</a:t>
            </a:r>
          </a:p>
          <a:p>
            <a:pPr algn="l">
              <a:lnSpc>
                <a:spcPts val="2400"/>
              </a:lnSpc>
              <a:buFont typeface="Arial" panose="020B0604020202020204" pitchFamily="34" charset="0"/>
              <a:buChar char="•"/>
            </a:pPr>
            <a:r>
              <a:rPr lang="en-US" b="1" i="0" dirty="0">
                <a:solidFill>
                  <a:srgbClr val="242424"/>
                </a:solidFill>
                <a:effectLst/>
                <a:latin typeface="source-serif-pro"/>
              </a:rPr>
              <a:t>Lifecycle:</a:t>
            </a:r>
            <a:r>
              <a:rPr lang="en-US" b="0" i="0" dirty="0">
                <a:solidFill>
                  <a:srgbClr val="242424"/>
                </a:solidFill>
                <a:effectLst/>
                <a:latin typeface="source-serif-pro"/>
              </a:rPr>
              <a:t> </a:t>
            </a:r>
            <a:r>
              <a:rPr lang="en-US" b="0" i="0" dirty="0" err="1">
                <a:solidFill>
                  <a:srgbClr val="242424"/>
                </a:solidFill>
                <a:effectLst/>
                <a:latin typeface="source-serif-pro"/>
              </a:rPr>
              <a:t>LlamaIndex</a:t>
            </a:r>
            <a:r>
              <a:rPr lang="en-US" b="0" i="0" dirty="0">
                <a:solidFill>
                  <a:srgbClr val="242424"/>
                </a:solidFill>
                <a:effectLst/>
                <a:latin typeface="source-serif-pro"/>
              </a:rPr>
              <a:t> offers tailored tools for indexing data and retrieving context for LLMs.</a:t>
            </a:r>
          </a:p>
          <a:p>
            <a:pPr algn="l">
              <a:lnSpc>
                <a:spcPts val="2400"/>
              </a:lnSpc>
              <a:buFont typeface="Arial" panose="020B0604020202020204" pitchFamily="34" charset="0"/>
              <a:buChar char="•"/>
            </a:pPr>
            <a:r>
              <a:rPr lang="en-US" b="1" i="0" dirty="0">
                <a:solidFill>
                  <a:srgbClr val="242424"/>
                </a:solidFill>
                <a:effectLst/>
                <a:latin typeface="source-serif-pro"/>
              </a:rPr>
              <a:t>Ingestion:</a:t>
            </a:r>
            <a:r>
              <a:rPr lang="en-US" b="0" i="0" dirty="0">
                <a:solidFill>
                  <a:srgbClr val="242424"/>
                </a:solidFill>
                <a:effectLst/>
                <a:latin typeface="source-serif-pro"/>
              </a:rPr>
              <a:t> Offers various data loaders and connectors (e.g., PDFs, websites, databases).</a:t>
            </a:r>
          </a:p>
          <a:p>
            <a:pPr algn="l">
              <a:lnSpc>
                <a:spcPts val="2400"/>
              </a:lnSpc>
              <a:buFont typeface="Arial" panose="020B0604020202020204" pitchFamily="34" charset="0"/>
              <a:buChar char="•"/>
            </a:pPr>
            <a:r>
              <a:rPr lang="en-US" b="1" i="0" dirty="0">
                <a:solidFill>
                  <a:srgbClr val="242424"/>
                </a:solidFill>
                <a:effectLst/>
                <a:latin typeface="source-serif-pro"/>
              </a:rPr>
              <a:t>Indexing:</a:t>
            </a:r>
            <a:r>
              <a:rPr lang="en-US" b="0" i="0" dirty="0">
                <a:solidFill>
                  <a:srgbClr val="242424"/>
                </a:solidFill>
                <a:effectLst/>
                <a:latin typeface="source-serif-pro"/>
              </a:rPr>
              <a:t> Supports different index types like vector indexes and keyword indexes.</a:t>
            </a:r>
          </a:p>
          <a:p>
            <a:pPr algn="l">
              <a:lnSpc>
                <a:spcPts val="2400"/>
              </a:lnSpc>
              <a:buFont typeface="Arial" panose="020B0604020202020204" pitchFamily="34" charset="0"/>
              <a:buChar char="•"/>
            </a:pPr>
            <a:r>
              <a:rPr lang="en-US" b="1" i="0" dirty="0">
                <a:solidFill>
                  <a:srgbClr val="242424"/>
                </a:solidFill>
                <a:effectLst/>
                <a:latin typeface="source-serif-pro"/>
              </a:rPr>
              <a:t>Retrieval:</a:t>
            </a:r>
            <a:r>
              <a:rPr lang="en-US" b="0" i="0" dirty="0">
                <a:solidFill>
                  <a:srgbClr val="242424"/>
                </a:solidFill>
                <a:effectLst/>
                <a:latin typeface="source-serif-pro"/>
              </a:rPr>
              <a:t> Offers query engines and retrievers for efficient context selection.</a:t>
            </a:r>
          </a:p>
          <a:p>
            <a:pPr algn="l">
              <a:lnSpc>
                <a:spcPts val="2400"/>
              </a:lnSpc>
              <a:buFont typeface="Arial" panose="020B0604020202020204" pitchFamily="34" charset="0"/>
              <a:buChar char="•"/>
            </a:pPr>
            <a:r>
              <a:rPr lang="en-US" b="1" i="0" dirty="0">
                <a:solidFill>
                  <a:srgbClr val="242424"/>
                </a:solidFill>
                <a:effectLst/>
                <a:latin typeface="source-serif-pro"/>
              </a:rPr>
              <a:t>Augmentation:</a:t>
            </a:r>
            <a:r>
              <a:rPr lang="en-US" b="0" i="0" dirty="0">
                <a:solidFill>
                  <a:srgbClr val="242424"/>
                </a:solidFill>
                <a:effectLst/>
                <a:latin typeface="source-serif-pro"/>
              </a:rPr>
              <a:t> Can combine retrieved context with prompts.</a:t>
            </a:r>
          </a:p>
          <a:p>
            <a:pPr algn="l">
              <a:lnSpc>
                <a:spcPts val="2400"/>
              </a:lnSpc>
              <a:buFont typeface="Arial" panose="020B0604020202020204" pitchFamily="34" charset="0"/>
              <a:buChar char="•"/>
            </a:pPr>
            <a:r>
              <a:rPr lang="en-US" b="1" i="0" dirty="0">
                <a:solidFill>
                  <a:srgbClr val="242424"/>
                </a:solidFill>
                <a:effectLst/>
                <a:latin typeface="source-serif-pro"/>
              </a:rPr>
              <a:t>Generation:</a:t>
            </a:r>
            <a:r>
              <a:rPr lang="en-US" b="0" i="0" dirty="0">
                <a:solidFill>
                  <a:srgbClr val="242424"/>
                </a:solidFill>
                <a:effectLst/>
                <a:latin typeface="source-serif-pro"/>
              </a:rPr>
              <a:t> Easy integration with any LLM.</a:t>
            </a:r>
          </a:p>
          <a:p>
            <a:endParaRPr lang="en-US" dirty="0"/>
          </a:p>
        </p:txBody>
      </p:sp>
    </p:spTree>
    <p:extLst>
      <p:ext uri="{BB962C8B-B14F-4D97-AF65-F5344CB8AC3E}">
        <p14:creationId xmlns:p14="http://schemas.microsoft.com/office/powerpoint/2010/main" val="13927496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5A056656-89A9-F228-56EE-39FD7653C2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3602" y="735122"/>
            <a:ext cx="5225415" cy="425684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3145B89-206A-75BC-44D3-CCE42A61B2EA}"/>
              </a:ext>
            </a:extLst>
          </p:cNvPr>
          <p:cNvSpPr txBox="1"/>
          <p:nvPr/>
        </p:nvSpPr>
        <p:spPr>
          <a:xfrm>
            <a:off x="614362" y="1123087"/>
            <a:ext cx="5043487" cy="3416320"/>
          </a:xfrm>
          <a:prstGeom prst="rect">
            <a:avLst/>
          </a:prstGeom>
          <a:noFill/>
        </p:spPr>
        <p:txBody>
          <a:bodyPr wrap="square">
            <a:spAutoFit/>
          </a:bodyPr>
          <a:lstStyle/>
          <a:p>
            <a:pPr marL="0" indent="0">
              <a:buNone/>
            </a:pPr>
            <a:r>
              <a:rPr lang="en-US" sz="2400" b="0" i="0" dirty="0" err="1">
                <a:solidFill>
                  <a:srgbClr val="242424"/>
                </a:solidFill>
                <a:effectLst/>
                <a:latin typeface="source-serif-pro"/>
              </a:rPr>
              <a:t>LlamaIndex</a:t>
            </a:r>
            <a:r>
              <a:rPr lang="en-US" sz="2400" b="0" i="0" dirty="0">
                <a:solidFill>
                  <a:srgbClr val="242424"/>
                </a:solidFill>
                <a:effectLst/>
                <a:latin typeface="source-serif-pro"/>
              </a:rPr>
              <a:t> is known for its exceptional ability to handle both structured and unstructured data, making it a go-to choice for enterprise-level implementations. Its core strength lies in the efficient creation of indices that allow rapid retrieval from a diverse range of data sources, such as PDFs, relational databases, APIs, and more.</a:t>
            </a:r>
            <a:endParaRPr lang="en-US" sz="2400" dirty="0"/>
          </a:p>
        </p:txBody>
      </p:sp>
    </p:spTree>
    <p:extLst>
      <p:ext uri="{BB962C8B-B14F-4D97-AF65-F5344CB8AC3E}">
        <p14:creationId xmlns:p14="http://schemas.microsoft.com/office/powerpoint/2010/main" val="14715224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AEE52-301C-D9F5-AC4C-89206A568C4A}"/>
              </a:ext>
            </a:extLst>
          </p:cNvPr>
          <p:cNvSpPr>
            <a:spLocks noGrp="1"/>
          </p:cNvSpPr>
          <p:nvPr>
            <p:ph type="title"/>
          </p:nvPr>
        </p:nvSpPr>
        <p:spPr/>
        <p:txBody>
          <a:bodyPr/>
          <a:lstStyle/>
          <a:p>
            <a:r>
              <a:rPr lang="en-US" dirty="0"/>
              <a:t>Applications</a:t>
            </a:r>
          </a:p>
        </p:txBody>
      </p:sp>
      <p:sp>
        <p:nvSpPr>
          <p:cNvPr id="3" name="Content Placeholder 2">
            <a:extLst>
              <a:ext uri="{FF2B5EF4-FFF2-40B4-BE49-F238E27FC236}">
                <a16:creationId xmlns:a16="http://schemas.microsoft.com/office/drawing/2014/main" id="{D80DE651-1774-1C72-5266-C39D5C48ABB3}"/>
              </a:ext>
            </a:extLst>
          </p:cNvPr>
          <p:cNvSpPr>
            <a:spLocks noGrp="1"/>
          </p:cNvSpPr>
          <p:nvPr>
            <p:ph idx="1"/>
          </p:nvPr>
        </p:nvSpPr>
        <p:spPr/>
        <p:txBody>
          <a:bodyPr/>
          <a:lstStyle/>
          <a:p>
            <a:pPr algn="l">
              <a:lnSpc>
                <a:spcPts val="2400"/>
              </a:lnSpc>
              <a:buFont typeface="Arial" panose="020B0604020202020204" pitchFamily="34" charset="0"/>
              <a:buChar char="•"/>
            </a:pPr>
            <a:r>
              <a:rPr lang="en-US" b="1" i="0" dirty="0">
                <a:solidFill>
                  <a:srgbClr val="242424"/>
                </a:solidFill>
                <a:effectLst/>
                <a:latin typeface="source-serif-pro"/>
              </a:rPr>
              <a:t>Flexible indexing capabilities:</a:t>
            </a:r>
            <a:r>
              <a:rPr lang="en-US" b="0" i="0" dirty="0">
                <a:solidFill>
                  <a:srgbClr val="242424"/>
                </a:solidFill>
                <a:effectLst/>
                <a:latin typeface="source-serif-pro"/>
              </a:rPr>
              <a:t> </a:t>
            </a:r>
            <a:r>
              <a:rPr lang="en-US" b="0" i="0" dirty="0" err="1">
                <a:solidFill>
                  <a:srgbClr val="242424"/>
                </a:solidFill>
                <a:effectLst/>
                <a:latin typeface="source-serif-pro"/>
              </a:rPr>
              <a:t>LlamaIndex</a:t>
            </a:r>
            <a:r>
              <a:rPr lang="en-US" b="0" i="0" dirty="0">
                <a:solidFill>
                  <a:srgbClr val="242424"/>
                </a:solidFill>
                <a:effectLst/>
                <a:latin typeface="source-serif-pro"/>
              </a:rPr>
              <a:t> can build high-performance indices that scale effortlessly, enabling swift retrieval even in large and complex data environments.</a:t>
            </a:r>
          </a:p>
          <a:p>
            <a:pPr algn="l">
              <a:lnSpc>
                <a:spcPts val="2400"/>
              </a:lnSpc>
              <a:buFont typeface="Arial" panose="020B0604020202020204" pitchFamily="34" charset="0"/>
              <a:buChar char="•"/>
            </a:pPr>
            <a:r>
              <a:rPr lang="en-US" b="1" i="0" dirty="0">
                <a:solidFill>
                  <a:srgbClr val="242424"/>
                </a:solidFill>
                <a:effectLst/>
                <a:latin typeface="source-serif-pro"/>
              </a:rPr>
              <a:t>Support for diverse data formats:</a:t>
            </a:r>
            <a:r>
              <a:rPr lang="en-US" b="0" i="0" dirty="0">
                <a:solidFill>
                  <a:srgbClr val="242424"/>
                </a:solidFill>
                <a:effectLst/>
                <a:latin typeface="source-serif-pro"/>
              </a:rPr>
              <a:t> The framework can process and index information from documents, tables, spreadsheets, APIs, and other sources without requiring extensive preprocessing.</a:t>
            </a:r>
          </a:p>
          <a:p>
            <a:pPr algn="l">
              <a:lnSpc>
                <a:spcPts val="2400"/>
              </a:lnSpc>
              <a:buFont typeface="Arial" panose="020B0604020202020204" pitchFamily="34" charset="0"/>
              <a:buChar char="•"/>
            </a:pPr>
            <a:r>
              <a:rPr lang="en-US" b="1" i="0" dirty="0">
                <a:solidFill>
                  <a:srgbClr val="242424"/>
                </a:solidFill>
                <a:effectLst/>
                <a:latin typeface="source-serif-pro"/>
              </a:rPr>
              <a:t>Integration with vector search engines:</a:t>
            </a:r>
            <a:r>
              <a:rPr lang="en-US" b="0" i="0" dirty="0">
                <a:solidFill>
                  <a:srgbClr val="242424"/>
                </a:solidFill>
                <a:effectLst/>
                <a:latin typeface="source-serif-pro"/>
              </a:rPr>
              <a:t> It works seamlessly with modern vector stores like Pinecone and FAISS, allowing for highly efficient similarity searches.</a:t>
            </a:r>
          </a:p>
          <a:p>
            <a:pPr algn="l">
              <a:lnSpc>
                <a:spcPts val="2400"/>
              </a:lnSpc>
              <a:buFont typeface="Arial" panose="020B0604020202020204" pitchFamily="34" charset="0"/>
              <a:buChar char="•"/>
            </a:pPr>
            <a:r>
              <a:rPr lang="en-US" b="1" i="0" dirty="0">
                <a:solidFill>
                  <a:srgbClr val="242424"/>
                </a:solidFill>
                <a:effectLst/>
                <a:latin typeface="source-serif-pro"/>
              </a:rPr>
              <a:t>Customizable workflows:</a:t>
            </a:r>
            <a:r>
              <a:rPr lang="en-US" b="0" i="0" dirty="0">
                <a:solidFill>
                  <a:srgbClr val="242424"/>
                </a:solidFill>
                <a:effectLst/>
                <a:latin typeface="source-serif-pro"/>
              </a:rPr>
              <a:t> Its modular components let developers tailor RAG pipelines to meet the exact needs of their projects.</a:t>
            </a:r>
          </a:p>
        </p:txBody>
      </p:sp>
    </p:spTree>
    <p:extLst>
      <p:ext uri="{BB962C8B-B14F-4D97-AF65-F5344CB8AC3E}">
        <p14:creationId xmlns:p14="http://schemas.microsoft.com/office/powerpoint/2010/main" val="2837931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B60DF-45B8-0348-9CEA-B31206224EF0}"/>
              </a:ext>
            </a:extLst>
          </p:cNvPr>
          <p:cNvSpPr>
            <a:spLocks noGrp="1"/>
          </p:cNvSpPr>
          <p:nvPr>
            <p:ph type="title"/>
          </p:nvPr>
        </p:nvSpPr>
        <p:spPr/>
        <p:txBody>
          <a:bodyPr/>
          <a:lstStyle/>
          <a:p>
            <a:r>
              <a:rPr lang="en-US" b="1" i="0" dirty="0">
                <a:solidFill>
                  <a:srgbClr val="242424"/>
                </a:solidFill>
                <a:effectLst/>
                <a:latin typeface="source-serif-pro"/>
              </a:rPr>
              <a:t>Example:</a:t>
            </a:r>
            <a:r>
              <a:rPr lang="en-US" b="0" i="0" dirty="0">
                <a:solidFill>
                  <a:srgbClr val="242424"/>
                </a:solidFill>
                <a:effectLst/>
                <a:latin typeface="source-serif-pro"/>
              </a:rPr>
              <a:t> </a:t>
            </a:r>
            <a:endParaRPr lang="en-US" dirty="0"/>
          </a:p>
        </p:txBody>
      </p:sp>
      <p:sp>
        <p:nvSpPr>
          <p:cNvPr id="3" name="Content Placeholder 2">
            <a:extLst>
              <a:ext uri="{FF2B5EF4-FFF2-40B4-BE49-F238E27FC236}">
                <a16:creationId xmlns:a16="http://schemas.microsoft.com/office/drawing/2014/main" id="{CCC14C93-4232-3E00-956C-E66405E97CE5}"/>
              </a:ext>
            </a:extLst>
          </p:cNvPr>
          <p:cNvSpPr>
            <a:spLocks noGrp="1"/>
          </p:cNvSpPr>
          <p:nvPr>
            <p:ph idx="1"/>
          </p:nvPr>
        </p:nvSpPr>
        <p:spPr/>
        <p:txBody>
          <a:bodyPr/>
          <a:lstStyle/>
          <a:p>
            <a:pPr marL="0" indent="0">
              <a:buNone/>
            </a:pPr>
            <a:r>
              <a:rPr lang="en-US" b="0" i="0" dirty="0">
                <a:solidFill>
                  <a:srgbClr val="242424"/>
                </a:solidFill>
                <a:effectLst/>
                <a:latin typeface="source-serif-pro"/>
              </a:rPr>
              <a:t>Creating a chatbot that answers questions based on the content of your website using a vector store based index.</a:t>
            </a:r>
          </a:p>
        </p:txBody>
      </p:sp>
    </p:spTree>
    <p:extLst>
      <p:ext uri="{BB962C8B-B14F-4D97-AF65-F5344CB8AC3E}">
        <p14:creationId xmlns:p14="http://schemas.microsoft.com/office/powerpoint/2010/main" val="8277051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8FB33C-1FA4-5112-4406-8D7F29C98CEC}"/>
              </a:ext>
            </a:extLst>
          </p:cNvPr>
          <p:cNvSpPr txBox="1"/>
          <p:nvPr/>
        </p:nvSpPr>
        <p:spPr>
          <a:xfrm>
            <a:off x="594360" y="243512"/>
            <a:ext cx="10664190" cy="6370975"/>
          </a:xfrm>
          <a:prstGeom prst="rect">
            <a:avLst/>
          </a:prstGeom>
          <a:noFill/>
        </p:spPr>
        <p:txBody>
          <a:bodyPr wrap="square">
            <a:spAutoFit/>
          </a:bodyPr>
          <a:lstStyle/>
          <a:p>
            <a:r>
              <a:rPr lang="en-US" sz="2400" b="0" i="0" dirty="0">
                <a:solidFill>
                  <a:srgbClr val="AA0D91"/>
                </a:solidFill>
                <a:effectLst/>
                <a:latin typeface="source-code-pro"/>
              </a:rPr>
              <a:t>from</a:t>
            </a:r>
            <a:r>
              <a:rPr lang="en-US" sz="2400" b="0" i="0" dirty="0">
                <a:solidFill>
                  <a:srgbClr val="242424"/>
                </a:solidFill>
                <a:effectLst/>
                <a:latin typeface="source-code-pro"/>
              </a:rPr>
              <a:t> </a:t>
            </a:r>
            <a:r>
              <a:rPr lang="en-US" sz="2400" b="0" i="0" dirty="0" err="1">
                <a:solidFill>
                  <a:srgbClr val="242424"/>
                </a:solidFill>
                <a:effectLst/>
                <a:latin typeface="source-code-pro"/>
              </a:rPr>
              <a:t>llama_index</a:t>
            </a:r>
            <a:r>
              <a:rPr lang="en-US" sz="2400" b="0" i="0" dirty="0">
                <a:solidFill>
                  <a:srgbClr val="242424"/>
                </a:solidFill>
                <a:effectLst/>
                <a:latin typeface="source-code-pro"/>
              </a:rPr>
              <a:t> </a:t>
            </a:r>
            <a:r>
              <a:rPr lang="en-US" sz="2400" b="0" i="0" dirty="0">
                <a:solidFill>
                  <a:srgbClr val="AA0D91"/>
                </a:solidFill>
                <a:effectLst/>
                <a:latin typeface="source-code-pro"/>
              </a:rPr>
              <a:t>import</a:t>
            </a:r>
            <a:r>
              <a:rPr lang="en-US" sz="2400" b="0" i="0" dirty="0">
                <a:solidFill>
                  <a:srgbClr val="242424"/>
                </a:solidFill>
                <a:effectLst/>
                <a:latin typeface="source-code-pro"/>
              </a:rPr>
              <a:t> </a:t>
            </a:r>
            <a:r>
              <a:rPr lang="en-US" sz="2400" b="0" i="0" dirty="0" err="1">
                <a:solidFill>
                  <a:srgbClr val="242424"/>
                </a:solidFill>
                <a:effectLst/>
                <a:latin typeface="source-code-pro"/>
              </a:rPr>
              <a:t>VectorStoreIndex</a:t>
            </a:r>
            <a:r>
              <a:rPr lang="en-US" sz="2400" b="0" i="0" dirty="0">
                <a:solidFill>
                  <a:srgbClr val="242424"/>
                </a:solidFill>
                <a:effectLst/>
                <a:latin typeface="source-code-pro"/>
              </a:rPr>
              <a:t>, </a:t>
            </a:r>
            <a:r>
              <a:rPr lang="en-US" sz="2400" b="0" i="0" dirty="0" err="1">
                <a:solidFill>
                  <a:srgbClr val="242424"/>
                </a:solidFill>
                <a:effectLst/>
                <a:latin typeface="source-code-pro"/>
              </a:rPr>
              <a:t>SimpleDirectoryReader</a:t>
            </a:r>
            <a:br>
              <a:rPr lang="en-US" sz="2400" dirty="0"/>
            </a:br>
            <a:r>
              <a:rPr lang="en-US" sz="2400" b="0" i="0" dirty="0">
                <a:solidFill>
                  <a:srgbClr val="AA0D91"/>
                </a:solidFill>
                <a:effectLst/>
                <a:latin typeface="source-code-pro"/>
              </a:rPr>
              <a:t>from</a:t>
            </a:r>
            <a:r>
              <a:rPr lang="en-US" sz="2400" b="0" i="0" dirty="0">
                <a:solidFill>
                  <a:srgbClr val="242424"/>
                </a:solidFill>
                <a:effectLst/>
                <a:latin typeface="source-code-pro"/>
              </a:rPr>
              <a:t> </a:t>
            </a:r>
            <a:r>
              <a:rPr lang="en-US" sz="2400" b="0" i="0" dirty="0" err="1">
                <a:solidFill>
                  <a:srgbClr val="242424"/>
                </a:solidFill>
                <a:effectLst/>
                <a:latin typeface="source-code-pro"/>
              </a:rPr>
              <a:t>llama_index</a:t>
            </a:r>
            <a:r>
              <a:rPr lang="en-US" sz="2400" b="0" i="0" dirty="0">
                <a:solidFill>
                  <a:srgbClr val="242424"/>
                </a:solidFill>
                <a:effectLst/>
                <a:latin typeface="source-code-pro"/>
              </a:rPr>
              <a:t> </a:t>
            </a:r>
            <a:r>
              <a:rPr lang="en-US" sz="2400" b="0" i="0" dirty="0">
                <a:solidFill>
                  <a:srgbClr val="AA0D91"/>
                </a:solidFill>
                <a:effectLst/>
                <a:latin typeface="source-code-pro"/>
              </a:rPr>
              <a:t>import</a:t>
            </a:r>
            <a:r>
              <a:rPr lang="en-US" sz="2400" b="0" i="0" dirty="0">
                <a:solidFill>
                  <a:srgbClr val="242424"/>
                </a:solidFill>
                <a:effectLst/>
                <a:latin typeface="source-code-pro"/>
              </a:rPr>
              <a:t> </a:t>
            </a:r>
            <a:r>
              <a:rPr lang="en-US" sz="2400" b="0" i="0" dirty="0" err="1">
                <a:solidFill>
                  <a:srgbClr val="242424"/>
                </a:solidFill>
                <a:effectLst/>
                <a:latin typeface="source-code-pro"/>
              </a:rPr>
              <a:t>StorageContext</a:t>
            </a:r>
            <a:r>
              <a:rPr lang="en-US" sz="2400" b="0" i="0" dirty="0">
                <a:solidFill>
                  <a:srgbClr val="242424"/>
                </a:solidFill>
                <a:effectLst/>
                <a:latin typeface="source-code-pro"/>
              </a:rPr>
              <a:t>, </a:t>
            </a:r>
            <a:r>
              <a:rPr lang="en-US" sz="2400" b="0" i="0" dirty="0" err="1">
                <a:solidFill>
                  <a:srgbClr val="242424"/>
                </a:solidFill>
                <a:effectLst/>
                <a:latin typeface="source-code-pro"/>
              </a:rPr>
              <a:t>load_index_from_storage</a:t>
            </a:r>
            <a:br>
              <a:rPr lang="en-US" sz="2400" dirty="0"/>
            </a:br>
            <a:r>
              <a:rPr lang="en-US" sz="2400" b="0" i="0" dirty="0">
                <a:solidFill>
                  <a:srgbClr val="AA0D91"/>
                </a:solidFill>
                <a:effectLst/>
                <a:latin typeface="source-code-pro"/>
              </a:rPr>
              <a:t>from</a:t>
            </a:r>
            <a:r>
              <a:rPr lang="en-US" sz="2400" b="0" i="0" dirty="0">
                <a:solidFill>
                  <a:srgbClr val="242424"/>
                </a:solidFill>
                <a:effectLst/>
                <a:latin typeface="source-code-pro"/>
              </a:rPr>
              <a:t> </a:t>
            </a:r>
            <a:r>
              <a:rPr lang="en-US" sz="2400" b="0" i="0" dirty="0" err="1">
                <a:solidFill>
                  <a:srgbClr val="242424"/>
                </a:solidFill>
                <a:effectLst/>
                <a:latin typeface="source-code-pro"/>
              </a:rPr>
              <a:t>llama_index</a:t>
            </a:r>
            <a:r>
              <a:rPr lang="en-US" sz="2400" b="0" i="0" dirty="0">
                <a:solidFill>
                  <a:srgbClr val="242424"/>
                </a:solidFill>
                <a:effectLst/>
                <a:latin typeface="source-code-pro"/>
              </a:rPr>
              <a:t> </a:t>
            </a:r>
            <a:r>
              <a:rPr lang="en-US" sz="2400" b="0" i="0" dirty="0">
                <a:solidFill>
                  <a:srgbClr val="AA0D91"/>
                </a:solidFill>
                <a:effectLst/>
                <a:latin typeface="source-code-pro"/>
              </a:rPr>
              <a:t>import</a:t>
            </a:r>
            <a:r>
              <a:rPr lang="en-US" sz="2400" b="0" i="0" dirty="0">
                <a:solidFill>
                  <a:srgbClr val="242424"/>
                </a:solidFill>
                <a:effectLst/>
                <a:latin typeface="source-code-pro"/>
              </a:rPr>
              <a:t> </a:t>
            </a:r>
            <a:r>
              <a:rPr lang="en-US" sz="2400" b="0" i="0" dirty="0" err="1">
                <a:solidFill>
                  <a:srgbClr val="242424"/>
                </a:solidFill>
                <a:effectLst/>
                <a:latin typeface="source-code-pro"/>
              </a:rPr>
              <a:t>VectorStoreIndex</a:t>
            </a:r>
            <a:br>
              <a:rPr lang="en-US" sz="2400" dirty="0"/>
            </a:br>
            <a:r>
              <a:rPr lang="en-US" sz="2400" b="0" i="0" dirty="0">
                <a:solidFill>
                  <a:srgbClr val="AA0D91"/>
                </a:solidFill>
                <a:effectLst/>
                <a:latin typeface="source-code-pro"/>
              </a:rPr>
              <a:t>from</a:t>
            </a:r>
            <a:r>
              <a:rPr lang="en-US" sz="2400" b="0" i="0" dirty="0">
                <a:solidFill>
                  <a:srgbClr val="242424"/>
                </a:solidFill>
                <a:effectLst/>
                <a:latin typeface="source-code-pro"/>
              </a:rPr>
              <a:t> </a:t>
            </a:r>
            <a:r>
              <a:rPr lang="en-US" sz="2400" b="0" i="0" dirty="0" err="1">
                <a:solidFill>
                  <a:srgbClr val="242424"/>
                </a:solidFill>
                <a:effectLst/>
                <a:latin typeface="source-code-pro"/>
              </a:rPr>
              <a:t>llama_index.llms</a:t>
            </a:r>
            <a:r>
              <a:rPr lang="en-US" sz="2400" b="0" i="0" dirty="0">
                <a:solidFill>
                  <a:srgbClr val="242424"/>
                </a:solidFill>
                <a:effectLst/>
                <a:latin typeface="source-code-pro"/>
              </a:rPr>
              <a:t> </a:t>
            </a:r>
            <a:r>
              <a:rPr lang="en-US" sz="2400" b="0" i="0" dirty="0">
                <a:solidFill>
                  <a:srgbClr val="AA0D91"/>
                </a:solidFill>
                <a:effectLst/>
                <a:latin typeface="source-code-pro"/>
              </a:rPr>
              <a:t>import</a:t>
            </a:r>
            <a:r>
              <a:rPr lang="en-US" sz="2400" b="0" i="0" dirty="0">
                <a:solidFill>
                  <a:srgbClr val="242424"/>
                </a:solidFill>
                <a:effectLst/>
                <a:latin typeface="source-code-pro"/>
              </a:rPr>
              <a:t> OpenAI</a:t>
            </a:r>
            <a:br>
              <a:rPr lang="en-US" sz="2400" dirty="0"/>
            </a:br>
            <a:r>
              <a:rPr lang="en-US" sz="2400" b="0" i="0" dirty="0">
                <a:solidFill>
                  <a:srgbClr val="AA0D91"/>
                </a:solidFill>
                <a:effectLst/>
                <a:latin typeface="source-code-pro"/>
              </a:rPr>
              <a:t>import</a:t>
            </a:r>
            <a:r>
              <a:rPr lang="en-US" sz="2400" b="0" i="0" dirty="0">
                <a:solidFill>
                  <a:srgbClr val="242424"/>
                </a:solidFill>
                <a:effectLst/>
                <a:latin typeface="source-code-pro"/>
              </a:rPr>
              <a:t> </a:t>
            </a:r>
            <a:r>
              <a:rPr lang="en-US" sz="2400" b="0" i="0" dirty="0" err="1">
                <a:solidFill>
                  <a:srgbClr val="242424"/>
                </a:solidFill>
                <a:effectLst/>
                <a:latin typeface="source-code-pro"/>
              </a:rPr>
              <a:t>os</a:t>
            </a:r>
            <a:br>
              <a:rPr lang="en-US" sz="2400" dirty="0"/>
            </a:br>
            <a:br>
              <a:rPr lang="en-US" sz="2400" dirty="0"/>
            </a:br>
            <a:r>
              <a:rPr lang="en-US" sz="2400" b="0" i="0" dirty="0">
                <a:solidFill>
                  <a:srgbClr val="007400"/>
                </a:solidFill>
                <a:effectLst/>
                <a:latin typeface="source-code-pro"/>
              </a:rPr>
              <a:t># 1. Data Ingestion</a:t>
            </a:r>
            <a:br>
              <a:rPr lang="en-US" sz="2400" dirty="0"/>
            </a:br>
            <a:r>
              <a:rPr lang="en-US" sz="2400" b="0" i="0" dirty="0">
                <a:solidFill>
                  <a:srgbClr val="242424"/>
                </a:solidFill>
                <a:effectLst/>
                <a:latin typeface="source-code-pro"/>
              </a:rPr>
              <a:t>documents = </a:t>
            </a:r>
            <a:r>
              <a:rPr lang="en-US" sz="2400" b="0" i="0" dirty="0" err="1">
                <a:solidFill>
                  <a:srgbClr val="242424"/>
                </a:solidFill>
                <a:effectLst/>
                <a:latin typeface="source-code-pro"/>
              </a:rPr>
              <a:t>SimpleDirectoryReader</a:t>
            </a:r>
            <a:r>
              <a:rPr lang="en-US" sz="2400" b="0" i="0" dirty="0">
                <a:solidFill>
                  <a:srgbClr val="242424"/>
                </a:solidFill>
                <a:effectLst/>
                <a:latin typeface="source-code-pro"/>
              </a:rPr>
              <a:t>(</a:t>
            </a:r>
            <a:r>
              <a:rPr lang="en-US" sz="2400" b="0" i="0" dirty="0">
                <a:solidFill>
                  <a:srgbClr val="C41A16"/>
                </a:solidFill>
                <a:effectLst/>
                <a:latin typeface="source-code-pro"/>
              </a:rPr>
              <a:t>"</a:t>
            </a:r>
            <a:r>
              <a:rPr lang="en-US" sz="2400" b="0" i="0" dirty="0" err="1">
                <a:solidFill>
                  <a:srgbClr val="C41A16"/>
                </a:solidFill>
                <a:effectLst/>
                <a:latin typeface="source-code-pro"/>
              </a:rPr>
              <a:t>website_data</a:t>
            </a:r>
            <a:r>
              <a:rPr lang="en-US" sz="2400" b="0" i="0" dirty="0">
                <a:solidFill>
                  <a:srgbClr val="C41A16"/>
                </a:solidFill>
                <a:effectLst/>
                <a:latin typeface="source-code-pro"/>
              </a:rPr>
              <a:t>"</a:t>
            </a:r>
            <a:r>
              <a:rPr lang="en-US" sz="2400" b="0" i="0" dirty="0">
                <a:solidFill>
                  <a:srgbClr val="242424"/>
                </a:solidFill>
                <a:effectLst/>
                <a:latin typeface="source-code-pro"/>
              </a:rPr>
              <a:t>).</a:t>
            </a:r>
            <a:r>
              <a:rPr lang="en-US" sz="2400" b="0" i="0" dirty="0" err="1">
                <a:solidFill>
                  <a:srgbClr val="242424"/>
                </a:solidFill>
                <a:effectLst/>
                <a:latin typeface="source-code-pro"/>
              </a:rPr>
              <a:t>load_data</a:t>
            </a:r>
            <a:r>
              <a:rPr lang="en-US" sz="2400" b="0" i="0" dirty="0">
                <a:solidFill>
                  <a:srgbClr val="242424"/>
                </a:solidFill>
                <a:effectLst/>
                <a:latin typeface="source-code-pro"/>
              </a:rPr>
              <a:t>()</a:t>
            </a:r>
            <a:br>
              <a:rPr lang="en-US" sz="2400" dirty="0"/>
            </a:br>
            <a:br>
              <a:rPr lang="en-US" sz="2400" dirty="0"/>
            </a:br>
            <a:r>
              <a:rPr lang="en-US" sz="2400" b="0" i="0" dirty="0">
                <a:solidFill>
                  <a:srgbClr val="007400"/>
                </a:solidFill>
                <a:effectLst/>
                <a:latin typeface="source-code-pro"/>
              </a:rPr>
              <a:t># 2. Data Indexing</a:t>
            </a:r>
            <a:br>
              <a:rPr lang="en-US" sz="2400" dirty="0"/>
            </a:br>
            <a:r>
              <a:rPr lang="en-US" sz="2400" b="0" i="0" dirty="0">
                <a:solidFill>
                  <a:srgbClr val="242424"/>
                </a:solidFill>
                <a:effectLst/>
                <a:latin typeface="source-code-pro"/>
              </a:rPr>
              <a:t>index = </a:t>
            </a:r>
            <a:r>
              <a:rPr lang="en-US" sz="2400" b="0" i="0" dirty="0" err="1">
                <a:solidFill>
                  <a:srgbClr val="242424"/>
                </a:solidFill>
                <a:effectLst/>
                <a:latin typeface="source-code-pro"/>
              </a:rPr>
              <a:t>VectorStoreIndex.from_documents</a:t>
            </a:r>
            <a:r>
              <a:rPr lang="en-US" sz="2400" b="0" i="0" dirty="0">
                <a:solidFill>
                  <a:srgbClr val="242424"/>
                </a:solidFill>
                <a:effectLst/>
                <a:latin typeface="source-code-pro"/>
              </a:rPr>
              <a:t>(documents)</a:t>
            </a:r>
            <a:br>
              <a:rPr lang="en-US" sz="2400" dirty="0"/>
            </a:br>
            <a:br>
              <a:rPr lang="en-US" sz="2400" dirty="0"/>
            </a:br>
            <a:r>
              <a:rPr lang="en-US" sz="2400" b="0" i="0" dirty="0">
                <a:solidFill>
                  <a:srgbClr val="007400"/>
                </a:solidFill>
                <a:effectLst/>
                <a:latin typeface="source-code-pro"/>
              </a:rPr>
              <a:t># 3. Retrieval &amp; Generation</a:t>
            </a:r>
            <a:br>
              <a:rPr lang="en-US" sz="2400" dirty="0"/>
            </a:br>
            <a:r>
              <a:rPr lang="en-US" sz="2400" b="0" i="0" dirty="0" err="1">
                <a:solidFill>
                  <a:srgbClr val="242424"/>
                </a:solidFill>
                <a:effectLst/>
                <a:latin typeface="source-code-pro"/>
              </a:rPr>
              <a:t>query_engine</a:t>
            </a:r>
            <a:r>
              <a:rPr lang="en-US" sz="2400" b="0" i="0" dirty="0">
                <a:solidFill>
                  <a:srgbClr val="242424"/>
                </a:solidFill>
                <a:effectLst/>
                <a:latin typeface="source-code-pro"/>
              </a:rPr>
              <a:t> = </a:t>
            </a:r>
            <a:r>
              <a:rPr lang="en-US" sz="2400" b="0" i="0" dirty="0" err="1">
                <a:solidFill>
                  <a:srgbClr val="242424"/>
                </a:solidFill>
                <a:effectLst/>
                <a:latin typeface="source-code-pro"/>
              </a:rPr>
              <a:t>index.as_query_engine</a:t>
            </a:r>
            <a:r>
              <a:rPr lang="en-US" sz="2400" b="0" i="0" dirty="0">
                <a:solidFill>
                  <a:srgbClr val="242424"/>
                </a:solidFill>
                <a:effectLst/>
                <a:latin typeface="source-code-pro"/>
              </a:rPr>
              <a:t>()</a:t>
            </a:r>
            <a:br>
              <a:rPr lang="en-US" sz="2400" dirty="0"/>
            </a:br>
            <a:r>
              <a:rPr lang="en-US" sz="2400" b="0" i="0" dirty="0">
                <a:solidFill>
                  <a:srgbClr val="242424"/>
                </a:solidFill>
                <a:effectLst/>
                <a:latin typeface="source-code-pro"/>
              </a:rPr>
              <a:t>query = </a:t>
            </a:r>
            <a:r>
              <a:rPr lang="en-US" sz="2400" b="0" i="0" dirty="0">
                <a:solidFill>
                  <a:srgbClr val="C41A16"/>
                </a:solidFill>
                <a:effectLst/>
                <a:latin typeface="source-code-pro"/>
              </a:rPr>
              <a:t>"What is your product about?"</a:t>
            </a:r>
            <a:br>
              <a:rPr lang="en-US" sz="2400" dirty="0"/>
            </a:br>
            <a:r>
              <a:rPr lang="en-US" sz="2400" b="0" i="0" dirty="0">
                <a:solidFill>
                  <a:srgbClr val="242424"/>
                </a:solidFill>
                <a:effectLst/>
                <a:latin typeface="source-code-pro"/>
              </a:rPr>
              <a:t>response = </a:t>
            </a:r>
            <a:r>
              <a:rPr lang="en-US" sz="2400" b="0" i="0" dirty="0" err="1">
                <a:solidFill>
                  <a:srgbClr val="242424"/>
                </a:solidFill>
                <a:effectLst/>
                <a:latin typeface="source-code-pro"/>
              </a:rPr>
              <a:t>query_engine.query</a:t>
            </a:r>
            <a:r>
              <a:rPr lang="en-US" sz="2400" b="0" i="0" dirty="0">
                <a:solidFill>
                  <a:srgbClr val="242424"/>
                </a:solidFill>
                <a:effectLst/>
                <a:latin typeface="source-code-pro"/>
              </a:rPr>
              <a:t>(query)</a:t>
            </a:r>
            <a:br>
              <a:rPr lang="en-US" sz="2400" dirty="0"/>
            </a:br>
            <a:r>
              <a:rPr lang="en-US" sz="2400" b="0" i="0" dirty="0">
                <a:solidFill>
                  <a:srgbClr val="5C2699"/>
                </a:solidFill>
                <a:effectLst/>
                <a:latin typeface="source-code-pro"/>
              </a:rPr>
              <a:t>print</a:t>
            </a:r>
            <a:r>
              <a:rPr lang="en-US" sz="2400" b="0" i="0" dirty="0">
                <a:solidFill>
                  <a:srgbClr val="242424"/>
                </a:solidFill>
                <a:effectLst/>
                <a:latin typeface="source-code-pro"/>
              </a:rPr>
              <a:t>(response)</a:t>
            </a:r>
            <a:endParaRPr lang="en-US" sz="2400" dirty="0"/>
          </a:p>
        </p:txBody>
      </p:sp>
    </p:spTree>
    <p:extLst>
      <p:ext uri="{BB962C8B-B14F-4D97-AF65-F5344CB8AC3E}">
        <p14:creationId xmlns:p14="http://schemas.microsoft.com/office/powerpoint/2010/main" val="20077729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6CCCC-24BE-C949-0844-83108E8C69E7}"/>
              </a:ext>
            </a:extLst>
          </p:cNvPr>
          <p:cNvSpPr>
            <a:spLocks noGrp="1"/>
          </p:cNvSpPr>
          <p:nvPr>
            <p:ph type="title"/>
          </p:nvPr>
        </p:nvSpPr>
        <p:spPr/>
        <p:txBody>
          <a:bodyPr>
            <a:normAutofit fontScale="90000"/>
          </a:bodyPr>
          <a:lstStyle/>
          <a:p>
            <a:r>
              <a:rPr lang="en-US" b="1" i="0" dirty="0">
                <a:solidFill>
                  <a:srgbClr val="242424"/>
                </a:solidFill>
                <a:effectLst/>
                <a:latin typeface="source-serif-pro"/>
              </a:rPr>
              <a:t>Pros &amp; Cons</a:t>
            </a:r>
            <a:br>
              <a:rPr lang="en-US" b="0" i="0" dirty="0">
                <a:solidFill>
                  <a:srgbClr val="242424"/>
                </a:solidFill>
                <a:effectLst/>
                <a:latin typeface="source-serif-pro"/>
              </a:rPr>
            </a:br>
            <a:endParaRPr lang="en-US" dirty="0"/>
          </a:p>
        </p:txBody>
      </p:sp>
      <p:sp>
        <p:nvSpPr>
          <p:cNvPr id="3" name="Content Placeholder 2">
            <a:extLst>
              <a:ext uri="{FF2B5EF4-FFF2-40B4-BE49-F238E27FC236}">
                <a16:creationId xmlns:a16="http://schemas.microsoft.com/office/drawing/2014/main" id="{C010D915-AEF3-BC26-F637-72A38154FF0C}"/>
              </a:ext>
            </a:extLst>
          </p:cNvPr>
          <p:cNvSpPr>
            <a:spLocks noGrp="1"/>
          </p:cNvSpPr>
          <p:nvPr>
            <p:ph idx="1"/>
          </p:nvPr>
        </p:nvSpPr>
        <p:spPr/>
        <p:txBody>
          <a:bodyPr/>
          <a:lstStyle/>
          <a:p>
            <a:pPr algn="l">
              <a:lnSpc>
                <a:spcPts val="2400"/>
              </a:lnSpc>
              <a:buNone/>
            </a:pPr>
            <a:r>
              <a:rPr lang="en-US" b="1" i="0" dirty="0">
                <a:solidFill>
                  <a:srgbClr val="242424"/>
                </a:solidFill>
                <a:effectLst/>
                <a:latin typeface="source-serif-pro"/>
              </a:rPr>
              <a:t>Pros:</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Simplified data indexing and querying.</a:t>
            </a:r>
          </a:p>
          <a:p>
            <a:pPr algn="l">
              <a:lnSpc>
                <a:spcPts val="2400"/>
              </a:lnSpc>
              <a:buFont typeface="Arial" panose="020B0604020202020204" pitchFamily="34" charset="0"/>
              <a:buChar char="•"/>
            </a:pPr>
            <a:r>
              <a:rPr lang="en-US" b="0" i="0" dirty="0">
                <a:solidFill>
                  <a:srgbClr val="242424"/>
                </a:solidFill>
                <a:effectLst/>
                <a:latin typeface="source-serif-pro"/>
              </a:rPr>
              <a:t>Designed specifically for RAG with focus on context.</a:t>
            </a:r>
          </a:p>
          <a:p>
            <a:pPr algn="l">
              <a:lnSpc>
                <a:spcPts val="2400"/>
              </a:lnSpc>
              <a:buFont typeface="Arial" panose="020B0604020202020204" pitchFamily="34" charset="0"/>
              <a:buChar char="•"/>
            </a:pPr>
            <a:r>
              <a:rPr lang="en-US" b="0" i="0" dirty="0">
                <a:solidFill>
                  <a:srgbClr val="242424"/>
                </a:solidFill>
                <a:effectLst/>
                <a:latin typeface="source-serif-pro"/>
              </a:rPr>
              <a:t>User-friendly API for common tasks.</a:t>
            </a:r>
          </a:p>
          <a:p>
            <a:pPr algn="l">
              <a:lnSpc>
                <a:spcPts val="2400"/>
              </a:lnSpc>
              <a:buFont typeface="Arial" panose="020B0604020202020204" pitchFamily="34" charset="0"/>
              <a:buChar char="•"/>
            </a:pPr>
            <a:r>
              <a:rPr lang="en-US" b="0" i="0" dirty="0">
                <a:solidFill>
                  <a:srgbClr val="242424"/>
                </a:solidFill>
                <a:effectLst/>
                <a:latin typeface="source-serif-pro"/>
              </a:rPr>
              <a:t>Good for integrating with data sources and vector databases.</a:t>
            </a:r>
          </a:p>
          <a:p>
            <a:pPr algn="l">
              <a:lnSpc>
                <a:spcPts val="2400"/>
              </a:lnSpc>
              <a:buNone/>
            </a:pPr>
            <a:r>
              <a:rPr lang="en-US" b="1" i="0" dirty="0">
                <a:solidFill>
                  <a:srgbClr val="242424"/>
                </a:solidFill>
                <a:effectLst/>
                <a:latin typeface="source-serif-pro"/>
              </a:rPr>
              <a:t>Cons:</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Less flexibility compared to </a:t>
            </a:r>
            <a:r>
              <a:rPr lang="en-US" b="0" i="0" dirty="0" err="1">
                <a:solidFill>
                  <a:srgbClr val="242424"/>
                </a:solidFill>
                <a:effectLst/>
                <a:latin typeface="source-serif-pro"/>
              </a:rPr>
              <a:t>LangChain</a:t>
            </a:r>
            <a:r>
              <a:rPr lang="en-US" b="0" i="0" dirty="0">
                <a:solidFill>
                  <a:srgbClr val="242424"/>
                </a:solidFill>
                <a:effectLst/>
                <a:latin typeface="source-serif-pro"/>
              </a:rPr>
              <a:t> for end to end workflow.</a:t>
            </a:r>
          </a:p>
          <a:p>
            <a:pPr algn="l">
              <a:lnSpc>
                <a:spcPts val="2400"/>
              </a:lnSpc>
              <a:buFont typeface="Arial" panose="020B0604020202020204" pitchFamily="34" charset="0"/>
              <a:buChar char="•"/>
            </a:pPr>
            <a:r>
              <a:rPr lang="en-US" b="0" i="0" dirty="0">
                <a:solidFill>
                  <a:srgbClr val="242424"/>
                </a:solidFill>
                <a:effectLst/>
                <a:latin typeface="source-serif-pro"/>
              </a:rPr>
              <a:t>Can be more limited when incorporating agents.</a:t>
            </a:r>
          </a:p>
          <a:p>
            <a:pPr algn="l">
              <a:lnSpc>
                <a:spcPts val="2400"/>
              </a:lnSpc>
              <a:buFont typeface="Arial" panose="020B0604020202020204" pitchFamily="34" charset="0"/>
              <a:buChar char="•"/>
            </a:pPr>
            <a:r>
              <a:rPr lang="en-US" b="0" i="0" dirty="0">
                <a:solidFill>
                  <a:srgbClr val="242424"/>
                </a:solidFill>
                <a:effectLst/>
                <a:latin typeface="source-serif-pro"/>
              </a:rPr>
              <a:t>Focus is primarily indexing and retrieval; not the complete pipeline.</a:t>
            </a:r>
          </a:p>
          <a:p>
            <a:endParaRPr lang="en-US" dirty="0"/>
          </a:p>
        </p:txBody>
      </p:sp>
    </p:spTree>
    <p:extLst>
      <p:ext uri="{BB962C8B-B14F-4D97-AF65-F5344CB8AC3E}">
        <p14:creationId xmlns:p14="http://schemas.microsoft.com/office/powerpoint/2010/main" val="16217047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CD4C4-97DB-5F16-C507-535F3BA22405}"/>
              </a:ext>
            </a:extLst>
          </p:cNvPr>
          <p:cNvSpPr>
            <a:spLocks noGrp="1"/>
          </p:cNvSpPr>
          <p:nvPr>
            <p:ph type="title"/>
          </p:nvPr>
        </p:nvSpPr>
        <p:spPr/>
        <p:txBody>
          <a:bodyPr>
            <a:normAutofit fontScale="90000"/>
          </a:bodyPr>
          <a:lstStyle/>
          <a:p>
            <a:r>
              <a:rPr lang="en-US" b="1" i="0" dirty="0">
                <a:solidFill>
                  <a:srgbClr val="242424"/>
                </a:solidFill>
                <a:effectLst/>
                <a:latin typeface="sohne"/>
              </a:rPr>
              <a:t>Haystack</a:t>
            </a:r>
            <a:br>
              <a:rPr lang="en-US" b="1" i="0" dirty="0">
                <a:solidFill>
                  <a:srgbClr val="242424"/>
                </a:solidFill>
                <a:effectLst/>
                <a:latin typeface="sohne"/>
              </a:rPr>
            </a:br>
            <a:endParaRPr lang="en-US" dirty="0"/>
          </a:p>
        </p:txBody>
      </p:sp>
      <p:sp>
        <p:nvSpPr>
          <p:cNvPr id="3" name="Content Placeholder 2">
            <a:extLst>
              <a:ext uri="{FF2B5EF4-FFF2-40B4-BE49-F238E27FC236}">
                <a16:creationId xmlns:a16="http://schemas.microsoft.com/office/drawing/2014/main" id="{1FA6973A-7F63-C201-DC6E-6D757F5332C8}"/>
              </a:ext>
            </a:extLst>
          </p:cNvPr>
          <p:cNvSpPr>
            <a:spLocks noGrp="1"/>
          </p:cNvSpPr>
          <p:nvPr>
            <p:ph idx="1"/>
          </p:nvPr>
        </p:nvSpPr>
        <p:spPr>
          <a:xfrm>
            <a:off x="838200" y="1929384"/>
            <a:ext cx="10515600" cy="4688586"/>
          </a:xfrm>
        </p:spPr>
        <p:txBody>
          <a:bodyPr>
            <a:normAutofit fontScale="70000" lnSpcReduction="20000"/>
          </a:bodyPr>
          <a:lstStyle/>
          <a:p>
            <a:pPr algn="l">
              <a:lnSpc>
                <a:spcPts val="2400"/>
              </a:lnSpc>
              <a:buFont typeface="Arial" panose="020B0604020202020204" pitchFamily="34" charset="0"/>
              <a:buChar char="•"/>
            </a:pPr>
            <a:r>
              <a:rPr lang="en-US" sz="3300" b="1" i="0" dirty="0">
                <a:solidFill>
                  <a:srgbClr val="242424"/>
                </a:solidFill>
                <a:effectLst/>
                <a:latin typeface="source-serif-pro"/>
              </a:rPr>
              <a:t>Description:</a:t>
            </a:r>
            <a:r>
              <a:rPr lang="en-US" sz="3300" b="0" i="0" dirty="0">
                <a:solidFill>
                  <a:srgbClr val="242424"/>
                </a:solidFill>
                <a:effectLst/>
                <a:latin typeface="source-serif-pro"/>
              </a:rPr>
              <a:t> Haystack is an open-source framework designed for building search and question-answering applications with LLMs. It offers a modular architecture for building complex NLP pipelines.</a:t>
            </a:r>
          </a:p>
          <a:p>
            <a:pPr algn="l">
              <a:lnSpc>
                <a:spcPts val="2400"/>
              </a:lnSpc>
              <a:buFont typeface="Arial" panose="020B0604020202020204" pitchFamily="34" charset="0"/>
              <a:buChar char="•"/>
            </a:pPr>
            <a:r>
              <a:rPr lang="en-US" sz="3300" b="1" i="0" dirty="0">
                <a:solidFill>
                  <a:srgbClr val="242424"/>
                </a:solidFill>
                <a:effectLst/>
                <a:latin typeface="source-serif-pro"/>
              </a:rPr>
              <a:t>Lifecycle:</a:t>
            </a:r>
            <a:r>
              <a:rPr lang="en-US" sz="3300" b="0" i="0" dirty="0">
                <a:solidFill>
                  <a:srgbClr val="242424"/>
                </a:solidFill>
                <a:effectLst/>
                <a:latin typeface="source-serif-pro"/>
              </a:rPr>
              <a:t> Haystack provides a flexible pipeline for the entire RAG process:</a:t>
            </a:r>
          </a:p>
          <a:p>
            <a:pPr algn="l">
              <a:lnSpc>
                <a:spcPts val="2400"/>
              </a:lnSpc>
              <a:buFont typeface="Arial" panose="020B0604020202020204" pitchFamily="34" charset="0"/>
              <a:buChar char="•"/>
            </a:pPr>
            <a:r>
              <a:rPr lang="en-US" sz="3300" b="1" i="0" dirty="0">
                <a:solidFill>
                  <a:srgbClr val="242424"/>
                </a:solidFill>
                <a:effectLst/>
                <a:latin typeface="source-serif-pro"/>
              </a:rPr>
              <a:t>Ingestion:</a:t>
            </a:r>
            <a:r>
              <a:rPr lang="en-US" sz="3300" b="0" i="0" dirty="0">
                <a:solidFill>
                  <a:srgbClr val="242424"/>
                </a:solidFill>
                <a:effectLst/>
                <a:latin typeface="source-serif-pro"/>
              </a:rPr>
              <a:t> Offers connectors for various data sources (files, databases, etc.).</a:t>
            </a:r>
          </a:p>
          <a:p>
            <a:pPr algn="l">
              <a:lnSpc>
                <a:spcPts val="2400"/>
              </a:lnSpc>
              <a:buFont typeface="Arial" panose="020B0604020202020204" pitchFamily="34" charset="0"/>
              <a:buChar char="•"/>
            </a:pPr>
            <a:r>
              <a:rPr lang="en-US" sz="3300" b="1" i="0" dirty="0">
                <a:solidFill>
                  <a:srgbClr val="242424"/>
                </a:solidFill>
                <a:effectLst/>
                <a:latin typeface="source-serif-pro"/>
              </a:rPr>
              <a:t>Preprocessing:</a:t>
            </a:r>
            <a:r>
              <a:rPr lang="en-US" sz="3300" b="0" i="0" dirty="0">
                <a:solidFill>
                  <a:srgbClr val="242424"/>
                </a:solidFill>
                <a:effectLst/>
                <a:latin typeface="source-serif-pro"/>
              </a:rPr>
              <a:t> Features processors for cleaning, splitting, and embedding data.</a:t>
            </a:r>
          </a:p>
          <a:p>
            <a:pPr algn="l">
              <a:lnSpc>
                <a:spcPts val="2400"/>
              </a:lnSpc>
              <a:buFont typeface="Arial" panose="020B0604020202020204" pitchFamily="34" charset="0"/>
              <a:buChar char="•"/>
            </a:pPr>
            <a:r>
              <a:rPr lang="en-US" sz="3300" b="1" i="0" dirty="0">
                <a:solidFill>
                  <a:srgbClr val="242424"/>
                </a:solidFill>
                <a:effectLst/>
                <a:latin typeface="source-serif-pro"/>
              </a:rPr>
              <a:t>Retrieval:</a:t>
            </a:r>
            <a:r>
              <a:rPr lang="en-US" sz="3300" b="0" i="0" dirty="0">
                <a:solidFill>
                  <a:srgbClr val="242424"/>
                </a:solidFill>
                <a:effectLst/>
                <a:latin typeface="source-serif-pro"/>
              </a:rPr>
              <a:t> Supports dense and sparse retrieval methods (using various vector databases).</a:t>
            </a:r>
          </a:p>
          <a:p>
            <a:pPr algn="l">
              <a:lnSpc>
                <a:spcPts val="2400"/>
              </a:lnSpc>
              <a:buFont typeface="Arial" panose="020B0604020202020204" pitchFamily="34" charset="0"/>
              <a:buChar char="•"/>
            </a:pPr>
            <a:r>
              <a:rPr lang="en-US" sz="3300" b="1" i="0" dirty="0">
                <a:solidFill>
                  <a:srgbClr val="242424"/>
                </a:solidFill>
                <a:effectLst/>
                <a:latin typeface="source-serif-pro"/>
              </a:rPr>
              <a:t>Augmentation:</a:t>
            </a:r>
            <a:r>
              <a:rPr lang="en-US" sz="3300" b="0" i="0" dirty="0">
                <a:solidFill>
                  <a:srgbClr val="242424"/>
                </a:solidFill>
                <a:effectLst/>
                <a:latin typeface="source-serif-pro"/>
              </a:rPr>
              <a:t> Provides tools for passing retrieved data to the prompt.</a:t>
            </a:r>
          </a:p>
          <a:p>
            <a:pPr algn="l">
              <a:lnSpc>
                <a:spcPts val="2400"/>
              </a:lnSpc>
              <a:buFont typeface="Arial" panose="020B0604020202020204" pitchFamily="34" charset="0"/>
              <a:buChar char="•"/>
            </a:pPr>
            <a:r>
              <a:rPr lang="en-US" sz="3300" b="1" i="0" dirty="0">
                <a:solidFill>
                  <a:srgbClr val="242424"/>
                </a:solidFill>
                <a:effectLst/>
                <a:latin typeface="source-serif-pro"/>
              </a:rPr>
              <a:t>Generation:</a:t>
            </a:r>
            <a:r>
              <a:rPr lang="en-US" sz="3300" b="0" i="0" dirty="0">
                <a:solidFill>
                  <a:srgbClr val="242424"/>
                </a:solidFill>
                <a:effectLst/>
                <a:latin typeface="source-serif-pro"/>
              </a:rPr>
              <a:t> Allows easy integration with LLMs, including open-source models.</a:t>
            </a:r>
          </a:p>
          <a:p>
            <a:pPr marL="0" indent="0">
              <a:buNone/>
            </a:pPr>
            <a:endParaRPr lang="en-US" dirty="0"/>
          </a:p>
        </p:txBody>
      </p:sp>
    </p:spTree>
    <p:extLst>
      <p:ext uri="{BB962C8B-B14F-4D97-AF65-F5344CB8AC3E}">
        <p14:creationId xmlns:p14="http://schemas.microsoft.com/office/powerpoint/2010/main" val="38777082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FF9EA167-AB54-3F31-A7CD-C69D3069FF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4907" y="358584"/>
            <a:ext cx="9862186" cy="6140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5400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B7BB8-C620-784F-49FE-086B18B4C02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AA33CF-667E-707E-587D-FF84D995E140}"/>
              </a:ext>
            </a:extLst>
          </p:cNvPr>
          <p:cNvSpPr>
            <a:spLocks noGrp="1"/>
          </p:cNvSpPr>
          <p:nvPr>
            <p:ph idx="1"/>
          </p:nvPr>
        </p:nvSpPr>
        <p:spPr/>
        <p:txBody>
          <a:bodyPr/>
          <a:lstStyle/>
          <a:p>
            <a:pPr algn="l">
              <a:lnSpc>
                <a:spcPts val="2400"/>
              </a:lnSpc>
              <a:buFont typeface="Arial" panose="020B0604020202020204" pitchFamily="34" charset="0"/>
              <a:buChar char="•"/>
            </a:pPr>
            <a:r>
              <a:rPr lang="en-US" b="1" i="0" dirty="0">
                <a:solidFill>
                  <a:srgbClr val="242424"/>
                </a:solidFill>
                <a:effectLst/>
                <a:latin typeface="source-serif-pro"/>
              </a:rPr>
              <a:t>Integrated retrieval and generation:</a:t>
            </a:r>
            <a:r>
              <a:rPr lang="en-US" b="0" i="0" dirty="0">
                <a:solidFill>
                  <a:srgbClr val="242424"/>
                </a:solidFill>
                <a:effectLst/>
                <a:latin typeface="source-serif-pro"/>
              </a:rPr>
              <a:t> Haystack tightly couples retrieval with generative AI to deliver highly accurate answers.</a:t>
            </a:r>
          </a:p>
          <a:p>
            <a:pPr algn="l">
              <a:lnSpc>
                <a:spcPts val="2400"/>
              </a:lnSpc>
              <a:buFont typeface="Arial" panose="020B0604020202020204" pitchFamily="34" charset="0"/>
              <a:buChar char="•"/>
            </a:pPr>
            <a:r>
              <a:rPr lang="en-US" b="1" i="0" dirty="0">
                <a:solidFill>
                  <a:srgbClr val="242424"/>
                </a:solidFill>
                <a:effectLst/>
                <a:latin typeface="source-serif-pro"/>
              </a:rPr>
              <a:t>Production-ready pipelines:</a:t>
            </a:r>
            <a:r>
              <a:rPr lang="en-US" b="0" i="0" dirty="0">
                <a:solidFill>
                  <a:srgbClr val="242424"/>
                </a:solidFill>
                <a:effectLst/>
                <a:latin typeface="source-serif-pro"/>
              </a:rPr>
              <a:t> It provides pre-configured pipelines for document search, Q&amp;A systems, and hybrid search scenarios, allowing teams to move from prototype to production quickly.</a:t>
            </a:r>
          </a:p>
          <a:p>
            <a:pPr algn="l">
              <a:lnSpc>
                <a:spcPts val="2400"/>
              </a:lnSpc>
              <a:buFont typeface="Arial" panose="020B0604020202020204" pitchFamily="34" charset="0"/>
              <a:buChar char="•"/>
            </a:pPr>
            <a:r>
              <a:rPr lang="en-US" b="1" i="0" dirty="0">
                <a:solidFill>
                  <a:srgbClr val="242424"/>
                </a:solidFill>
                <a:effectLst/>
                <a:latin typeface="source-serif-pro"/>
              </a:rPr>
              <a:t>Elastic backend support:</a:t>
            </a:r>
            <a:r>
              <a:rPr lang="en-US" b="0" i="0" dirty="0">
                <a:solidFill>
                  <a:srgbClr val="242424"/>
                </a:solidFill>
                <a:effectLst/>
                <a:latin typeface="source-serif-pro"/>
              </a:rPr>
              <a:t> Haystack works seamlessly with Elasticsearch, OpenSearch, and other IR systems, ensuring robust scalability and performance.</a:t>
            </a:r>
          </a:p>
          <a:p>
            <a:pPr algn="l">
              <a:lnSpc>
                <a:spcPts val="2400"/>
              </a:lnSpc>
              <a:buFont typeface="Arial" panose="020B0604020202020204" pitchFamily="34" charset="0"/>
              <a:buChar char="•"/>
            </a:pPr>
            <a:r>
              <a:rPr lang="en-US" b="1" i="0" dirty="0">
                <a:solidFill>
                  <a:srgbClr val="242424"/>
                </a:solidFill>
                <a:effectLst/>
                <a:latin typeface="source-serif-pro"/>
              </a:rPr>
              <a:t>Proven in enterprise environments:</a:t>
            </a:r>
            <a:r>
              <a:rPr lang="en-US" b="0" i="0" dirty="0">
                <a:solidFill>
                  <a:srgbClr val="242424"/>
                </a:solidFill>
                <a:effectLst/>
                <a:latin typeface="source-serif-pro"/>
              </a:rPr>
              <a:t> Haystack has been battle-tested in real-world applications, making it a reliable choice for mission-critical projects.</a:t>
            </a:r>
          </a:p>
        </p:txBody>
      </p:sp>
    </p:spTree>
    <p:extLst>
      <p:ext uri="{BB962C8B-B14F-4D97-AF65-F5344CB8AC3E}">
        <p14:creationId xmlns:p14="http://schemas.microsoft.com/office/powerpoint/2010/main" val="4376288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39715-86E9-B58C-D06C-40FCFD70D5BF}"/>
              </a:ext>
            </a:extLst>
          </p:cNvPr>
          <p:cNvSpPr>
            <a:spLocks noGrp="1"/>
          </p:cNvSpPr>
          <p:nvPr>
            <p:ph type="title"/>
          </p:nvPr>
        </p:nvSpPr>
        <p:spPr/>
        <p:txBody>
          <a:bodyPr/>
          <a:lstStyle/>
          <a:p>
            <a:r>
              <a:rPr lang="en-US" b="1" i="0" dirty="0">
                <a:solidFill>
                  <a:srgbClr val="242424"/>
                </a:solidFill>
                <a:effectLst/>
                <a:latin typeface="source-serif-pro"/>
              </a:rPr>
              <a:t>Example:</a:t>
            </a:r>
            <a:r>
              <a:rPr lang="en-US" b="0" i="0" dirty="0">
                <a:solidFill>
                  <a:srgbClr val="242424"/>
                </a:solidFill>
                <a:effectLst/>
                <a:latin typeface="source-serif-pro"/>
              </a:rPr>
              <a:t> </a:t>
            </a:r>
            <a:endParaRPr lang="en-US" dirty="0"/>
          </a:p>
        </p:txBody>
      </p:sp>
      <p:sp>
        <p:nvSpPr>
          <p:cNvPr id="3" name="Content Placeholder 2">
            <a:extLst>
              <a:ext uri="{FF2B5EF4-FFF2-40B4-BE49-F238E27FC236}">
                <a16:creationId xmlns:a16="http://schemas.microsoft.com/office/drawing/2014/main" id="{5DF9B398-C2E4-D57E-4D59-C67D4C898FA4}"/>
              </a:ext>
            </a:extLst>
          </p:cNvPr>
          <p:cNvSpPr>
            <a:spLocks noGrp="1"/>
          </p:cNvSpPr>
          <p:nvPr>
            <p:ph idx="1"/>
          </p:nvPr>
        </p:nvSpPr>
        <p:spPr/>
        <p:txBody>
          <a:bodyPr/>
          <a:lstStyle/>
          <a:p>
            <a:pPr marL="0" indent="0">
              <a:buNone/>
            </a:pPr>
            <a:r>
              <a:rPr lang="en-US" b="0" i="0" dirty="0">
                <a:solidFill>
                  <a:srgbClr val="242424"/>
                </a:solidFill>
                <a:effectLst/>
                <a:latin typeface="source-serif-pro"/>
              </a:rPr>
              <a:t>Building a search system for a large document archive that can provide answers to specific questions from the documents</a:t>
            </a:r>
            <a:endParaRPr lang="en-US" dirty="0"/>
          </a:p>
        </p:txBody>
      </p:sp>
    </p:spTree>
    <p:extLst>
      <p:ext uri="{BB962C8B-B14F-4D97-AF65-F5344CB8AC3E}">
        <p14:creationId xmlns:p14="http://schemas.microsoft.com/office/powerpoint/2010/main" val="29029244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B487D4-4BFB-D2AE-A001-4B66C598E454}"/>
              </a:ext>
            </a:extLst>
          </p:cNvPr>
          <p:cNvSpPr txBox="1"/>
          <p:nvPr/>
        </p:nvSpPr>
        <p:spPr>
          <a:xfrm>
            <a:off x="432434" y="222975"/>
            <a:ext cx="11466195" cy="6370975"/>
          </a:xfrm>
          <a:prstGeom prst="rect">
            <a:avLst/>
          </a:prstGeom>
          <a:noFill/>
        </p:spPr>
        <p:txBody>
          <a:bodyPr wrap="square">
            <a:spAutoFit/>
          </a:bodyPr>
          <a:lstStyle/>
          <a:p>
            <a:r>
              <a:rPr lang="en-US" sz="2400" b="0" i="0" dirty="0">
                <a:solidFill>
                  <a:srgbClr val="AA0D91"/>
                </a:solidFill>
                <a:effectLst/>
                <a:latin typeface="source-code-pro"/>
              </a:rPr>
              <a:t>from</a:t>
            </a:r>
            <a:r>
              <a:rPr lang="en-US" sz="2400" b="0" i="0" dirty="0">
                <a:solidFill>
                  <a:srgbClr val="242424"/>
                </a:solidFill>
                <a:effectLst/>
                <a:latin typeface="source-code-pro"/>
              </a:rPr>
              <a:t> haystack </a:t>
            </a:r>
            <a:r>
              <a:rPr lang="en-US" sz="2400" b="0" i="0" dirty="0">
                <a:solidFill>
                  <a:srgbClr val="AA0D91"/>
                </a:solidFill>
                <a:effectLst/>
                <a:latin typeface="source-code-pro"/>
              </a:rPr>
              <a:t>import</a:t>
            </a:r>
            <a:r>
              <a:rPr lang="en-US" sz="2400" b="0" i="0" dirty="0">
                <a:solidFill>
                  <a:srgbClr val="242424"/>
                </a:solidFill>
                <a:effectLst/>
                <a:latin typeface="source-code-pro"/>
              </a:rPr>
              <a:t> Document</a:t>
            </a:r>
            <a:br>
              <a:rPr lang="en-US" sz="2400" dirty="0"/>
            </a:br>
            <a:r>
              <a:rPr lang="en-US" sz="2400" b="0" i="0" dirty="0">
                <a:solidFill>
                  <a:srgbClr val="AA0D91"/>
                </a:solidFill>
                <a:effectLst/>
                <a:latin typeface="source-code-pro"/>
              </a:rPr>
              <a:t>from</a:t>
            </a:r>
            <a:r>
              <a:rPr lang="en-US" sz="2400" b="0" i="0" dirty="0">
                <a:solidFill>
                  <a:srgbClr val="242424"/>
                </a:solidFill>
                <a:effectLst/>
                <a:latin typeface="source-code-pro"/>
              </a:rPr>
              <a:t> </a:t>
            </a:r>
            <a:r>
              <a:rPr lang="en-US" sz="2400" b="0" i="0" dirty="0" err="1">
                <a:solidFill>
                  <a:srgbClr val="242424"/>
                </a:solidFill>
                <a:effectLst/>
                <a:latin typeface="source-code-pro"/>
              </a:rPr>
              <a:t>haystack.nodes</a:t>
            </a:r>
            <a:r>
              <a:rPr lang="en-US" sz="2400" b="0" i="0" dirty="0">
                <a:solidFill>
                  <a:srgbClr val="242424"/>
                </a:solidFill>
                <a:effectLst/>
                <a:latin typeface="source-code-pro"/>
              </a:rPr>
              <a:t> </a:t>
            </a:r>
            <a:r>
              <a:rPr lang="en-US" sz="2400" b="0" i="0" dirty="0">
                <a:solidFill>
                  <a:srgbClr val="AA0D91"/>
                </a:solidFill>
                <a:effectLst/>
                <a:latin typeface="source-code-pro"/>
              </a:rPr>
              <a:t>import</a:t>
            </a:r>
            <a:r>
              <a:rPr lang="en-US" sz="2400" b="0" i="0" dirty="0">
                <a:solidFill>
                  <a:srgbClr val="242424"/>
                </a:solidFill>
                <a:effectLst/>
                <a:latin typeface="source-code-pro"/>
              </a:rPr>
              <a:t> </a:t>
            </a:r>
            <a:r>
              <a:rPr lang="en-US" sz="2400" b="0" i="0" dirty="0" err="1">
                <a:solidFill>
                  <a:srgbClr val="242424"/>
                </a:solidFill>
                <a:effectLst/>
                <a:latin typeface="source-code-pro"/>
              </a:rPr>
              <a:t>EmbeddingRetriever</a:t>
            </a:r>
            <a:r>
              <a:rPr lang="en-US" sz="2400" b="0" i="0" dirty="0">
                <a:solidFill>
                  <a:srgbClr val="242424"/>
                </a:solidFill>
                <a:effectLst/>
                <a:latin typeface="source-code-pro"/>
              </a:rPr>
              <a:t>, </a:t>
            </a:r>
            <a:r>
              <a:rPr lang="en-US" sz="2400" b="0" i="0" dirty="0" err="1">
                <a:solidFill>
                  <a:srgbClr val="242424"/>
                </a:solidFill>
                <a:effectLst/>
                <a:latin typeface="source-code-pro"/>
              </a:rPr>
              <a:t>SentenceTransformersTextEmbedder</a:t>
            </a:r>
            <a:br>
              <a:rPr lang="en-US" sz="2400" dirty="0"/>
            </a:br>
            <a:r>
              <a:rPr lang="en-US" sz="2400" b="0" i="0" dirty="0">
                <a:solidFill>
                  <a:srgbClr val="AA0D91"/>
                </a:solidFill>
                <a:effectLst/>
                <a:latin typeface="source-code-pro"/>
              </a:rPr>
              <a:t>from</a:t>
            </a:r>
            <a:r>
              <a:rPr lang="en-US" sz="2400" b="0" i="0" dirty="0">
                <a:solidFill>
                  <a:srgbClr val="242424"/>
                </a:solidFill>
                <a:effectLst/>
                <a:latin typeface="source-code-pro"/>
              </a:rPr>
              <a:t> </a:t>
            </a:r>
            <a:r>
              <a:rPr lang="en-US" sz="2400" b="0" i="0" dirty="0" err="1">
                <a:solidFill>
                  <a:srgbClr val="242424"/>
                </a:solidFill>
                <a:effectLst/>
                <a:latin typeface="source-code-pro"/>
              </a:rPr>
              <a:t>haystack.nodes</a:t>
            </a:r>
            <a:r>
              <a:rPr lang="en-US" sz="2400" b="0" i="0" dirty="0">
                <a:solidFill>
                  <a:srgbClr val="242424"/>
                </a:solidFill>
                <a:effectLst/>
                <a:latin typeface="source-code-pro"/>
              </a:rPr>
              <a:t> </a:t>
            </a:r>
            <a:r>
              <a:rPr lang="en-US" sz="2400" b="0" i="0" dirty="0">
                <a:solidFill>
                  <a:srgbClr val="AA0D91"/>
                </a:solidFill>
                <a:effectLst/>
                <a:latin typeface="source-code-pro"/>
              </a:rPr>
              <a:t>import</a:t>
            </a:r>
            <a:r>
              <a:rPr lang="en-US" sz="2400" b="0" i="0" dirty="0">
                <a:solidFill>
                  <a:srgbClr val="242424"/>
                </a:solidFill>
                <a:effectLst/>
                <a:latin typeface="source-code-pro"/>
              </a:rPr>
              <a:t> </a:t>
            </a:r>
            <a:r>
              <a:rPr lang="en-US" sz="2400" b="0" i="0" dirty="0" err="1">
                <a:solidFill>
                  <a:srgbClr val="242424"/>
                </a:solidFill>
                <a:effectLst/>
                <a:latin typeface="source-code-pro"/>
              </a:rPr>
              <a:t>FARMReader</a:t>
            </a:r>
            <a:r>
              <a:rPr lang="en-US" sz="2400" b="0" i="0" dirty="0">
                <a:solidFill>
                  <a:srgbClr val="242424"/>
                </a:solidFill>
                <a:effectLst/>
                <a:latin typeface="source-code-pro"/>
              </a:rPr>
              <a:t>, </a:t>
            </a:r>
            <a:r>
              <a:rPr lang="en-US" sz="2400" b="0" i="0" dirty="0" err="1">
                <a:solidFill>
                  <a:srgbClr val="242424"/>
                </a:solidFill>
                <a:effectLst/>
                <a:latin typeface="source-code-pro"/>
              </a:rPr>
              <a:t>TransformersReader</a:t>
            </a:r>
            <a:br>
              <a:rPr lang="en-US" sz="2400" dirty="0"/>
            </a:br>
            <a:r>
              <a:rPr lang="en-US" sz="2400" b="0" i="0" dirty="0">
                <a:solidFill>
                  <a:srgbClr val="AA0D91"/>
                </a:solidFill>
                <a:effectLst/>
                <a:latin typeface="source-code-pro"/>
              </a:rPr>
              <a:t>from</a:t>
            </a:r>
            <a:r>
              <a:rPr lang="en-US" sz="2400" b="0" i="0" dirty="0">
                <a:solidFill>
                  <a:srgbClr val="242424"/>
                </a:solidFill>
                <a:effectLst/>
                <a:latin typeface="source-code-pro"/>
              </a:rPr>
              <a:t> </a:t>
            </a:r>
            <a:r>
              <a:rPr lang="en-US" sz="2400" b="0" i="0" dirty="0" err="1">
                <a:solidFill>
                  <a:srgbClr val="242424"/>
                </a:solidFill>
                <a:effectLst/>
                <a:latin typeface="source-code-pro"/>
              </a:rPr>
              <a:t>haystack.pipelines</a:t>
            </a:r>
            <a:r>
              <a:rPr lang="en-US" sz="2400" b="0" i="0" dirty="0">
                <a:solidFill>
                  <a:srgbClr val="242424"/>
                </a:solidFill>
                <a:effectLst/>
                <a:latin typeface="source-code-pro"/>
              </a:rPr>
              <a:t> </a:t>
            </a:r>
            <a:r>
              <a:rPr lang="en-US" sz="2400" b="0" i="0" dirty="0">
                <a:solidFill>
                  <a:srgbClr val="AA0D91"/>
                </a:solidFill>
                <a:effectLst/>
                <a:latin typeface="source-code-pro"/>
              </a:rPr>
              <a:t>import</a:t>
            </a:r>
            <a:r>
              <a:rPr lang="en-US" sz="2400" b="0" i="0" dirty="0">
                <a:solidFill>
                  <a:srgbClr val="242424"/>
                </a:solidFill>
                <a:effectLst/>
                <a:latin typeface="source-code-pro"/>
              </a:rPr>
              <a:t> </a:t>
            </a:r>
            <a:r>
              <a:rPr lang="en-US" sz="2400" b="0" i="0" dirty="0" err="1">
                <a:solidFill>
                  <a:srgbClr val="242424"/>
                </a:solidFill>
                <a:effectLst/>
                <a:latin typeface="source-code-pro"/>
              </a:rPr>
              <a:t>ExtractiveQAPipeline</a:t>
            </a:r>
            <a:br>
              <a:rPr lang="en-US" sz="2400" dirty="0"/>
            </a:br>
            <a:r>
              <a:rPr lang="en-US" sz="2400" b="0" i="0" dirty="0">
                <a:solidFill>
                  <a:srgbClr val="AA0D91"/>
                </a:solidFill>
                <a:effectLst/>
                <a:latin typeface="source-code-pro"/>
              </a:rPr>
              <a:t>from</a:t>
            </a:r>
            <a:r>
              <a:rPr lang="en-US" sz="2400" b="0" i="0" dirty="0">
                <a:solidFill>
                  <a:srgbClr val="242424"/>
                </a:solidFill>
                <a:effectLst/>
                <a:latin typeface="source-code-pro"/>
              </a:rPr>
              <a:t> </a:t>
            </a:r>
            <a:r>
              <a:rPr lang="en-US" sz="2400" b="0" i="0" dirty="0" err="1">
                <a:solidFill>
                  <a:srgbClr val="242424"/>
                </a:solidFill>
                <a:effectLst/>
                <a:latin typeface="source-code-pro"/>
              </a:rPr>
              <a:t>haystack.document_stores</a:t>
            </a:r>
            <a:r>
              <a:rPr lang="en-US" sz="2400" b="0" i="0" dirty="0">
                <a:solidFill>
                  <a:srgbClr val="242424"/>
                </a:solidFill>
                <a:effectLst/>
                <a:latin typeface="source-code-pro"/>
              </a:rPr>
              <a:t> </a:t>
            </a:r>
            <a:r>
              <a:rPr lang="en-US" sz="2400" b="0" i="0" dirty="0">
                <a:solidFill>
                  <a:srgbClr val="AA0D91"/>
                </a:solidFill>
                <a:effectLst/>
                <a:latin typeface="source-code-pro"/>
              </a:rPr>
              <a:t>import</a:t>
            </a:r>
            <a:r>
              <a:rPr lang="en-US" sz="2400" b="0" i="0" dirty="0">
                <a:solidFill>
                  <a:srgbClr val="242424"/>
                </a:solidFill>
                <a:effectLst/>
                <a:latin typeface="source-code-pro"/>
              </a:rPr>
              <a:t> </a:t>
            </a:r>
            <a:r>
              <a:rPr lang="en-US" sz="2400" b="0" i="0" dirty="0" err="1">
                <a:solidFill>
                  <a:srgbClr val="242424"/>
                </a:solidFill>
                <a:effectLst/>
                <a:latin typeface="source-code-pro"/>
              </a:rPr>
              <a:t>InMemoryDocumentStore</a:t>
            </a:r>
            <a:br>
              <a:rPr lang="en-US" sz="2400" dirty="0"/>
            </a:br>
            <a:br>
              <a:rPr lang="en-US" sz="2400" dirty="0"/>
            </a:br>
            <a:r>
              <a:rPr lang="en-US" sz="2400" b="0" i="0" dirty="0">
                <a:solidFill>
                  <a:srgbClr val="007400"/>
                </a:solidFill>
                <a:effectLst/>
                <a:latin typeface="source-code-pro"/>
              </a:rPr>
              <a:t># 1. Data Ingestion</a:t>
            </a:r>
            <a:br>
              <a:rPr lang="en-US" sz="2400" dirty="0"/>
            </a:br>
            <a:r>
              <a:rPr lang="en-US" sz="2400" b="0" i="0" dirty="0">
                <a:solidFill>
                  <a:srgbClr val="242424"/>
                </a:solidFill>
                <a:effectLst/>
                <a:latin typeface="source-code-pro"/>
              </a:rPr>
              <a:t>documents = [Document(content=</a:t>
            </a:r>
            <a:r>
              <a:rPr lang="en-US" sz="2400" b="0" i="0" dirty="0">
                <a:solidFill>
                  <a:srgbClr val="C41A16"/>
                </a:solidFill>
                <a:effectLst/>
                <a:latin typeface="source-code-pro"/>
              </a:rPr>
              <a:t>"Document 1 content goes here."</a:t>
            </a:r>
            <a:r>
              <a:rPr lang="en-US" sz="2400" b="0" i="0" dirty="0">
                <a:solidFill>
                  <a:srgbClr val="242424"/>
                </a:solidFill>
                <a:effectLst/>
                <a:latin typeface="source-code-pro"/>
              </a:rPr>
              <a:t>), Document(content=</a:t>
            </a:r>
            <a:r>
              <a:rPr lang="en-US" sz="2400" b="0" i="0" dirty="0">
                <a:solidFill>
                  <a:srgbClr val="C41A16"/>
                </a:solidFill>
                <a:effectLst/>
                <a:latin typeface="source-code-pro"/>
              </a:rPr>
              <a:t>"Document 2 content"</a:t>
            </a:r>
            <a:r>
              <a:rPr lang="en-US" sz="2400" b="0" i="0" dirty="0">
                <a:solidFill>
                  <a:srgbClr val="242424"/>
                </a:solidFill>
                <a:effectLst/>
                <a:latin typeface="source-code-pro"/>
              </a:rPr>
              <a:t>)]</a:t>
            </a:r>
            <a:br>
              <a:rPr lang="en-US" sz="2400" dirty="0"/>
            </a:br>
            <a:br>
              <a:rPr lang="en-US" sz="2400" dirty="0"/>
            </a:br>
            <a:r>
              <a:rPr lang="en-US" sz="2400" b="0" i="0" dirty="0">
                <a:solidFill>
                  <a:srgbClr val="007400"/>
                </a:solidFill>
                <a:effectLst/>
                <a:latin typeface="source-code-pro"/>
              </a:rPr>
              <a:t># 2. Document Store</a:t>
            </a:r>
            <a:br>
              <a:rPr lang="en-US" sz="2400" dirty="0"/>
            </a:br>
            <a:r>
              <a:rPr lang="en-US" sz="2400" b="0" i="0" dirty="0" err="1">
                <a:solidFill>
                  <a:srgbClr val="242424"/>
                </a:solidFill>
                <a:effectLst/>
                <a:latin typeface="source-code-pro"/>
              </a:rPr>
              <a:t>document_store</a:t>
            </a:r>
            <a:r>
              <a:rPr lang="en-US" sz="2400" b="0" i="0" dirty="0">
                <a:solidFill>
                  <a:srgbClr val="242424"/>
                </a:solidFill>
                <a:effectLst/>
                <a:latin typeface="source-code-pro"/>
              </a:rPr>
              <a:t> = </a:t>
            </a:r>
            <a:r>
              <a:rPr lang="en-US" sz="2400" b="0" i="0" dirty="0" err="1">
                <a:solidFill>
                  <a:srgbClr val="242424"/>
                </a:solidFill>
                <a:effectLst/>
                <a:latin typeface="source-code-pro"/>
              </a:rPr>
              <a:t>InMemoryDocumentStore</a:t>
            </a:r>
            <a:r>
              <a:rPr lang="en-US" sz="2400" b="0" i="0" dirty="0">
                <a:solidFill>
                  <a:srgbClr val="242424"/>
                </a:solidFill>
                <a:effectLst/>
                <a:latin typeface="source-code-pro"/>
              </a:rPr>
              <a:t>()</a:t>
            </a:r>
            <a:br>
              <a:rPr lang="en-US" sz="2400" dirty="0"/>
            </a:br>
            <a:r>
              <a:rPr lang="en-US" sz="2400" b="0" i="0" dirty="0" err="1">
                <a:solidFill>
                  <a:srgbClr val="242424"/>
                </a:solidFill>
                <a:effectLst/>
                <a:latin typeface="source-code-pro"/>
              </a:rPr>
              <a:t>document_store.write_documents</a:t>
            </a:r>
            <a:r>
              <a:rPr lang="en-US" sz="2400" b="0" i="0" dirty="0">
                <a:solidFill>
                  <a:srgbClr val="242424"/>
                </a:solidFill>
                <a:effectLst/>
                <a:latin typeface="source-code-pro"/>
              </a:rPr>
              <a:t>(documents)</a:t>
            </a:r>
            <a:br>
              <a:rPr lang="en-US" sz="2400" dirty="0"/>
            </a:br>
            <a:br>
              <a:rPr lang="en-US" sz="2400" dirty="0"/>
            </a:br>
            <a:r>
              <a:rPr lang="en-US" sz="2400" b="0" i="0" dirty="0">
                <a:solidFill>
                  <a:srgbClr val="007400"/>
                </a:solidFill>
                <a:effectLst/>
                <a:latin typeface="source-code-pro"/>
              </a:rPr>
              <a:t># 3. Text Embedding</a:t>
            </a:r>
            <a:br>
              <a:rPr lang="en-US" sz="2400" dirty="0"/>
            </a:br>
            <a:r>
              <a:rPr lang="en-US" sz="2400" b="0" i="0" dirty="0">
                <a:solidFill>
                  <a:srgbClr val="242424"/>
                </a:solidFill>
                <a:effectLst/>
                <a:latin typeface="source-code-pro"/>
              </a:rPr>
              <a:t>embedder = </a:t>
            </a:r>
            <a:r>
              <a:rPr lang="en-US" sz="2400" b="0" i="0" dirty="0" err="1">
                <a:solidFill>
                  <a:srgbClr val="242424"/>
                </a:solidFill>
                <a:effectLst/>
                <a:latin typeface="source-code-pro"/>
              </a:rPr>
              <a:t>SentenceTransformersTextEmbedder</a:t>
            </a:r>
            <a:r>
              <a:rPr lang="en-US" sz="2400" b="0" i="0" dirty="0">
                <a:solidFill>
                  <a:srgbClr val="242424"/>
                </a:solidFill>
                <a:effectLst/>
                <a:latin typeface="source-code-pro"/>
              </a:rPr>
              <a:t>(</a:t>
            </a:r>
            <a:r>
              <a:rPr lang="en-US" sz="2400" b="0" i="0" dirty="0" err="1">
                <a:solidFill>
                  <a:srgbClr val="242424"/>
                </a:solidFill>
                <a:effectLst/>
                <a:latin typeface="source-code-pro"/>
              </a:rPr>
              <a:t>model_name_or_path</a:t>
            </a:r>
            <a:r>
              <a:rPr lang="en-US" sz="2400" b="0" i="0" dirty="0">
                <a:solidFill>
                  <a:srgbClr val="242424"/>
                </a:solidFill>
                <a:effectLst/>
                <a:latin typeface="source-code-pro"/>
              </a:rPr>
              <a:t>=</a:t>
            </a:r>
            <a:r>
              <a:rPr lang="en-US" sz="2400" b="0" i="0" dirty="0">
                <a:solidFill>
                  <a:srgbClr val="C41A16"/>
                </a:solidFill>
                <a:effectLst/>
                <a:latin typeface="source-code-pro"/>
              </a:rPr>
              <a:t>"all-mpnet-base-v2“</a:t>
            </a:r>
            <a:r>
              <a:rPr lang="en-US" sz="2400" dirty="0">
                <a:solidFill>
                  <a:srgbClr val="242424"/>
                </a:solidFill>
                <a:latin typeface="source-code-pro"/>
              </a:rPr>
              <a:t>)</a:t>
            </a:r>
            <a:endParaRPr lang="en-US" sz="2400" dirty="0"/>
          </a:p>
        </p:txBody>
      </p:sp>
    </p:spTree>
    <p:extLst>
      <p:ext uri="{BB962C8B-B14F-4D97-AF65-F5344CB8AC3E}">
        <p14:creationId xmlns:p14="http://schemas.microsoft.com/office/powerpoint/2010/main" val="4371540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EEF356-DABF-D6F9-41DA-3E903ABF60E3}"/>
              </a:ext>
            </a:extLst>
          </p:cNvPr>
          <p:cNvSpPr txBox="1"/>
          <p:nvPr/>
        </p:nvSpPr>
        <p:spPr>
          <a:xfrm>
            <a:off x="762952" y="651153"/>
            <a:ext cx="10998517" cy="4893647"/>
          </a:xfrm>
          <a:prstGeom prst="rect">
            <a:avLst/>
          </a:prstGeom>
          <a:noFill/>
        </p:spPr>
        <p:txBody>
          <a:bodyPr wrap="square">
            <a:spAutoFit/>
          </a:bodyPr>
          <a:lstStyle/>
          <a:p>
            <a:r>
              <a:rPr lang="en-US" sz="2400" b="0" i="0" dirty="0">
                <a:solidFill>
                  <a:srgbClr val="007400"/>
                </a:solidFill>
                <a:effectLst/>
                <a:latin typeface="source-code-pro"/>
              </a:rPr>
              <a:t># 4. Retrieval</a:t>
            </a:r>
            <a:br>
              <a:rPr lang="en-US" sz="2400" dirty="0"/>
            </a:br>
            <a:r>
              <a:rPr lang="en-US" sz="2400" b="0" i="0" dirty="0">
                <a:solidFill>
                  <a:srgbClr val="242424"/>
                </a:solidFill>
                <a:effectLst/>
                <a:latin typeface="source-code-pro"/>
              </a:rPr>
              <a:t>retriever = </a:t>
            </a:r>
            <a:r>
              <a:rPr lang="en-US" sz="2400" b="0" i="0" dirty="0" err="1">
                <a:solidFill>
                  <a:srgbClr val="242424"/>
                </a:solidFill>
                <a:effectLst/>
                <a:latin typeface="source-code-pro"/>
              </a:rPr>
              <a:t>EmbeddingRetriever</a:t>
            </a:r>
            <a:r>
              <a:rPr lang="en-US" sz="2400" b="0" i="0" dirty="0">
                <a:solidFill>
                  <a:srgbClr val="242424"/>
                </a:solidFill>
                <a:effectLst/>
                <a:latin typeface="source-code-pro"/>
              </a:rPr>
              <a:t>(</a:t>
            </a:r>
            <a:r>
              <a:rPr lang="en-US" sz="2400" b="0" i="0" dirty="0" err="1">
                <a:solidFill>
                  <a:srgbClr val="242424"/>
                </a:solidFill>
                <a:effectLst/>
                <a:latin typeface="source-code-pro"/>
              </a:rPr>
              <a:t>document_store</a:t>
            </a:r>
            <a:r>
              <a:rPr lang="en-US" sz="2400" b="0" i="0" dirty="0">
                <a:solidFill>
                  <a:srgbClr val="242424"/>
                </a:solidFill>
                <a:effectLst/>
                <a:latin typeface="source-code-pro"/>
              </a:rPr>
              <a:t>=</a:t>
            </a:r>
            <a:r>
              <a:rPr lang="en-US" sz="2400" b="0" i="0" dirty="0" err="1">
                <a:solidFill>
                  <a:srgbClr val="242424"/>
                </a:solidFill>
                <a:effectLst/>
                <a:latin typeface="source-code-pro"/>
              </a:rPr>
              <a:t>document_store</a:t>
            </a:r>
            <a:r>
              <a:rPr lang="en-US" sz="2400" b="0" i="0" dirty="0">
                <a:solidFill>
                  <a:srgbClr val="242424"/>
                </a:solidFill>
                <a:effectLst/>
                <a:latin typeface="source-code-pro"/>
              </a:rPr>
              <a:t>, </a:t>
            </a:r>
            <a:r>
              <a:rPr lang="en-US" sz="2400" b="0" i="0" dirty="0" err="1">
                <a:solidFill>
                  <a:srgbClr val="242424"/>
                </a:solidFill>
                <a:effectLst/>
                <a:latin typeface="source-code-pro"/>
              </a:rPr>
              <a:t>embedding_model</a:t>
            </a:r>
            <a:r>
              <a:rPr lang="en-US" sz="2400" b="0" i="0" dirty="0">
                <a:solidFill>
                  <a:srgbClr val="242424"/>
                </a:solidFill>
                <a:effectLst/>
                <a:latin typeface="source-code-pro"/>
              </a:rPr>
              <a:t>=embedder)</a:t>
            </a:r>
            <a:br>
              <a:rPr lang="en-US" sz="2400" dirty="0"/>
            </a:br>
            <a:r>
              <a:rPr lang="en-US" sz="2400" b="0" i="0" dirty="0" err="1">
                <a:solidFill>
                  <a:srgbClr val="242424"/>
                </a:solidFill>
                <a:effectLst/>
                <a:latin typeface="source-code-pro"/>
              </a:rPr>
              <a:t>document_store.update_embeddings</a:t>
            </a:r>
            <a:r>
              <a:rPr lang="en-US" sz="2400" b="0" i="0" dirty="0">
                <a:solidFill>
                  <a:srgbClr val="242424"/>
                </a:solidFill>
                <a:effectLst/>
                <a:latin typeface="source-code-pro"/>
              </a:rPr>
              <a:t>(retriever)</a:t>
            </a:r>
            <a:br>
              <a:rPr lang="en-US" sz="2400" dirty="0"/>
            </a:br>
            <a:br>
              <a:rPr lang="en-US" sz="2400" dirty="0"/>
            </a:br>
            <a:r>
              <a:rPr lang="en-US" sz="2400" b="0" i="0" dirty="0">
                <a:solidFill>
                  <a:srgbClr val="007400"/>
                </a:solidFill>
                <a:effectLst/>
                <a:latin typeface="source-code-pro"/>
              </a:rPr>
              <a:t># 5. Reader</a:t>
            </a:r>
            <a:br>
              <a:rPr lang="en-US" sz="2400" dirty="0"/>
            </a:br>
            <a:r>
              <a:rPr lang="en-US" sz="2400" b="0" i="0" dirty="0" err="1">
                <a:solidFill>
                  <a:srgbClr val="242424"/>
                </a:solidFill>
                <a:effectLst/>
                <a:latin typeface="source-code-pro"/>
              </a:rPr>
              <a:t>reader</a:t>
            </a:r>
            <a:r>
              <a:rPr lang="en-US" sz="2400" b="0" i="0" dirty="0">
                <a:solidFill>
                  <a:srgbClr val="242424"/>
                </a:solidFill>
                <a:effectLst/>
                <a:latin typeface="source-code-pro"/>
              </a:rPr>
              <a:t> = </a:t>
            </a:r>
            <a:r>
              <a:rPr lang="en-US" sz="2400" b="0" i="0" dirty="0" err="1">
                <a:solidFill>
                  <a:srgbClr val="242424"/>
                </a:solidFill>
                <a:effectLst/>
                <a:latin typeface="source-code-pro"/>
              </a:rPr>
              <a:t>FARMReader</a:t>
            </a:r>
            <a:r>
              <a:rPr lang="en-US" sz="2400" b="0" i="0" dirty="0">
                <a:solidFill>
                  <a:srgbClr val="242424"/>
                </a:solidFill>
                <a:effectLst/>
                <a:latin typeface="source-code-pro"/>
              </a:rPr>
              <a:t>(</a:t>
            </a:r>
            <a:r>
              <a:rPr lang="en-US" sz="2400" b="0" i="0" dirty="0" err="1">
                <a:solidFill>
                  <a:srgbClr val="242424"/>
                </a:solidFill>
                <a:effectLst/>
                <a:latin typeface="source-code-pro"/>
              </a:rPr>
              <a:t>model_name_or_path</a:t>
            </a:r>
            <a:r>
              <a:rPr lang="en-US" sz="2400" b="0" i="0" dirty="0">
                <a:solidFill>
                  <a:srgbClr val="242424"/>
                </a:solidFill>
                <a:effectLst/>
                <a:latin typeface="source-code-pro"/>
              </a:rPr>
              <a:t>=</a:t>
            </a:r>
            <a:r>
              <a:rPr lang="en-US" sz="2400" b="0" i="0" dirty="0">
                <a:solidFill>
                  <a:srgbClr val="C41A16"/>
                </a:solidFill>
                <a:effectLst/>
                <a:latin typeface="source-code-pro"/>
              </a:rPr>
              <a:t>"</a:t>
            </a:r>
            <a:r>
              <a:rPr lang="en-US" sz="2400" b="0" i="0" dirty="0" err="1">
                <a:solidFill>
                  <a:srgbClr val="C41A16"/>
                </a:solidFill>
                <a:effectLst/>
                <a:latin typeface="source-code-pro"/>
              </a:rPr>
              <a:t>deepset</a:t>
            </a:r>
            <a:r>
              <a:rPr lang="en-US" sz="2400" b="0" i="0" dirty="0">
                <a:solidFill>
                  <a:srgbClr val="C41A16"/>
                </a:solidFill>
                <a:effectLst/>
                <a:latin typeface="source-code-pro"/>
              </a:rPr>
              <a:t>/roberta-base-squad2"</a:t>
            </a:r>
            <a:r>
              <a:rPr lang="en-US" sz="2400" b="0" i="0" dirty="0">
                <a:solidFill>
                  <a:srgbClr val="242424"/>
                </a:solidFill>
                <a:effectLst/>
                <a:latin typeface="source-code-pro"/>
              </a:rPr>
              <a:t>)</a:t>
            </a:r>
            <a:br>
              <a:rPr lang="en-US" sz="2400" dirty="0"/>
            </a:br>
            <a:br>
              <a:rPr lang="en-US" sz="2400" dirty="0"/>
            </a:br>
            <a:r>
              <a:rPr lang="en-US" sz="2400" b="0" i="0" dirty="0">
                <a:solidFill>
                  <a:srgbClr val="007400"/>
                </a:solidFill>
                <a:effectLst/>
                <a:latin typeface="source-code-pro"/>
              </a:rPr>
              <a:t># 6. Pipeline</a:t>
            </a:r>
            <a:br>
              <a:rPr lang="en-US" sz="2400" dirty="0"/>
            </a:br>
            <a:r>
              <a:rPr lang="en-US" sz="2400" b="0" i="0" dirty="0" err="1">
                <a:solidFill>
                  <a:srgbClr val="242424"/>
                </a:solidFill>
                <a:effectLst/>
                <a:latin typeface="source-code-pro"/>
              </a:rPr>
              <a:t>pipeline</a:t>
            </a:r>
            <a:r>
              <a:rPr lang="en-US" sz="2400" b="0" i="0" dirty="0">
                <a:solidFill>
                  <a:srgbClr val="242424"/>
                </a:solidFill>
                <a:effectLst/>
                <a:latin typeface="source-code-pro"/>
              </a:rPr>
              <a:t> = </a:t>
            </a:r>
            <a:r>
              <a:rPr lang="en-US" sz="2400" b="0" i="0" dirty="0" err="1">
                <a:solidFill>
                  <a:srgbClr val="242424"/>
                </a:solidFill>
                <a:effectLst/>
                <a:latin typeface="source-code-pro"/>
              </a:rPr>
              <a:t>ExtractiveQAPipeline</a:t>
            </a:r>
            <a:r>
              <a:rPr lang="en-US" sz="2400" b="0" i="0" dirty="0">
                <a:solidFill>
                  <a:srgbClr val="242424"/>
                </a:solidFill>
                <a:effectLst/>
                <a:latin typeface="source-code-pro"/>
              </a:rPr>
              <a:t>(reader=reader, retriever=retriever)</a:t>
            </a:r>
            <a:br>
              <a:rPr lang="en-US" sz="2400" dirty="0"/>
            </a:br>
            <a:r>
              <a:rPr lang="en-US" sz="2400" b="0" i="0" dirty="0">
                <a:solidFill>
                  <a:srgbClr val="242424"/>
                </a:solidFill>
                <a:effectLst/>
                <a:latin typeface="source-code-pro"/>
              </a:rPr>
              <a:t>query = </a:t>
            </a:r>
            <a:r>
              <a:rPr lang="en-US" sz="2400" b="0" i="0" dirty="0">
                <a:solidFill>
                  <a:srgbClr val="C41A16"/>
                </a:solidFill>
                <a:effectLst/>
                <a:latin typeface="source-code-pro"/>
              </a:rPr>
              <a:t>"What is described in Document 1?"</a:t>
            </a:r>
            <a:br>
              <a:rPr lang="en-US" sz="2400" dirty="0"/>
            </a:br>
            <a:r>
              <a:rPr lang="en-US" sz="2400" b="0" i="0" dirty="0">
                <a:solidFill>
                  <a:srgbClr val="242424"/>
                </a:solidFill>
                <a:effectLst/>
                <a:latin typeface="source-code-pro"/>
              </a:rPr>
              <a:t>response = </a:t>
            </a:r>
            <a:r>
              <a:rPr lang="en-US" sz="2400" b="0" i="0" dirty="0" err="1">
                <a:solidFill>
                  <a:srgbClr val="242424"/>
                </a:solidFill>
                <a:effectLst/>
                <a:latin typeface="source-code-pro"/>
              </a:rPr>
              <a:t>pipeline.run</a:t>
            </a:r>
            <a:r>
              <a:rPr lang="en-US" sz="2400" b="0" i="0" dirty="0">
                <a:solidFill>
                  <a:srgbClr val="242424"/>
                </a:solidFill>
                <a:effectLst/>
                <a:latin typeface="source-code-pro"/>
              </a:rPr>
              <a:t>(query=query)</a:t>
            </a:r>
            <a:br>
              <a:rPr lang="en-US" sz="2400" dirty="0"/>
            </a:br>
            <a:r>
              <a:rPr lang="en-US" sz="2400" b="0" i="0" dirty="0">
                <a:solidFill>
                  <a:srgbClr val="5C2699"/>
                </a:solidFill>
                <a:effectLst/>
                <a:latin typeface="source-code-pro"/>
              </a:rPr>
              <a:t>print</a:t>
            </a:r>
            <a:r>
              <a:rPr lang="en-US" sz="2400" b="0" i="0" dirty="0">
                <a:solidFill>
                  <a:srgbClr val="242424"/>
                </a:solidFill>
                <a:effectLst/>
                <a:latin typeface="source-code-pro"/>
              </a:rPr>
              <a:t>(response)</a:t>
            </a:r>
            <a:endParaRPr lang="en-US" sz="2400" dirty="0"/>
          </a:p>
        </p:txBody>
      </p:sp>
    </p:spTree>
    <p:extLst>
      <p:ext uri="{BB962C8B-B14F-4D97-AF65-F5344CB8AC3E}">
        <p14:creationId xmlns:p14="http://schemas.microsoft.com/office/powerpoint/2010/main" val="41649770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FE610-EF35-020C-CE5E-13C8794EAA57}"/>
              </a:ext>
            </a:extLst>
          </p:cNvPr>
          <p:cNvSpPr>
            <a:spLocks noGrp="1"/>
          </p:cNvSpPr>
          <p:nvPr>
            <p:ph type="title"/>
          </p:nvPr>
        </p:nvSpPr>
        <p:spPr/>
        <p:txBody>
          <a:bodyPr>
            <a:normAutofit/>
          </a:bodyPr>
          <a:lstStyle/>
          <a:p>
            <a:r>
              <a:rPr lang="en-US" b="1" i="0" dirty="0">
                <a:solidFill>
                  <a:srgbClr val="242424"/>
                </a:solidFill>
                <a:effectLst/>
                <a:latin typeface="source-serif-pro"/>
              </a:rPr>
              <a:t>Pros &amp; Cons</a:t>
            </a:r>
            <a:endParaRPr lang="en-US" dirty="0"/>
          </a:p>
        </p:txBody>
      </p:sp>
      <p:sp>
        <p:nvSpPr>
          <p:cNvPr id="3" name="Content Placeholder 2">
            <a:extLst>
              <a:ext uri="{FF2B5EF4-FFF2-40B4-BE49-F238E27FC236}">
                <a16:creationId xmlns:a16="http://schemas.microsoft.com/office/drawing/2014/main" id="{B991B346-061A-D949-1CEB-EF46FDA579C6}"/>
              </a:ext>
            </a:extLst>
          </p:cNvPr>
          <p:cNvSpPr>
            <a:spLocks noGrp="1"/>
          </p:cNvSpPr>
          <p:nvPr>
            <p:ph idx="1"/>
          </p:nvPr>
        </p:nvSpPr>
        <p:spPr/>
        <p:txBody>
          <a:bodyPr/>
          <a:lstStyle/>
          <a:p>
            <a:pPr algn="l">
              <a:lnSpc>
                <a:spcPts val="2400"/>
              </a:lnSpc>
              <a:buNone/>
            </a:pPr>
            <a:r>
              <a:rPr lang="en-US" b="1" i="0" dirty="0">
                <a:solidFill>
                  <a:srgbClr val="242424"/>
                </a:solidFill>
                <a:effectLst/>
                <a:latin typeface="source-serif-pro"/>
              </a:rPr>
              <a:t>Pros:</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Modular and flexible pipeline design.</a:t>
            </a:r>
          </a:p>
          <a:p>
            <a:pPr algn="l">
              <a:lnSpc>
                <a:spcPts val="2400"/>
              </a:lnSpc>
              <a:buFont typeface="Arial" panose="020B0604020202020204" pitchFamily="34" charset="0"/>
              <a:buChar char="•"/>
            </a:pPr>
            <a:r>
              <a:rPr lang="en-US" b="0" i="0" dirty="0">
                <a:solidFill>
                  <a:srgbClr val="242424"/>
                </a:solidFill>
                <a:effectLst/>
                <a:latin typeface="source-serif-pro"/>
              </a:rPr>
              <a:t>Supports diverse retrieval methods.</a:t>
            </a:r>
          </a:p>
          <a:p>
            <a:pPr algn="l">
              <a:lnSpc>
                <a:spcPts val="2400"/>
              </a:lnSpc>
              <a:buFont typeface="Arial" panose="020B0604020202020204" pitchFamily="34" charset="0"/>
              <a:buChar char="•"/>
            </a:pPr>
            <a:r>
              <a:rPr lang="en-US" b="0" i="0" dirty="0">
                <a:solidFill>
                  <a:srgbClr val="242424"/>
                </a:solidFill>
                <a:effectLst/>
                <a:latin typeface="source-serif-pro"/>
              </a:rPr>
              <a:t>Good for complex NLP workflows.</a:t>
            </a:r>
          </a:p>
          <a:p>
            <a:pPr algn="l">
              <a:lnSpc>
                <a:spcPts val="2400"/>
              </a:lnSpc>
              <a:buFont typeface="Arial" panose="020B0604020202020204" pitchFamily="34" charset="0"/>
              <a:buChar char="•"/>
            </a:pPr>
            <a:r>
              <a:rPr lang="en-US" b="0" i="0" dirty="0">
                <a:solidFill>
                  <a:srgbClr val="242424"/>
                </a:solidFill>
                <a:effectLst/>
                <a:latin typeface="source-serif-pro"/>
              </a:rPr>
              <a:t>Good support for open-source and commercial models.</a:t>
            </a:r>
          </a:p>
          <a:p>
            <a:pPr algn="l">
              <a:lnSpc>
                <a:spcPts val="2400"/>
              </a:lnSpc>
              <a:buNone/>
            </a:pPr>
            <a:r>
              <a:rPr lang="en-US" b="1" i="0" dirty="0">
                <a:solidFill>
                  <a:srgbClr val="242424"/>
                </a:solidFill>
                <a:effectLst/>
                <a:latin typeface="source-serif-pro"/>
              </a:rPr>
              <a:t>Cons:</a:t>
            </a:r>
            <a:endParaRPr lang="en-US" b="0" i="0" dirty="0">
              <a:solidFill>
                <a:srgbClr val="242424"/>
              </a:solidFill>
              <a:effectLst/>
              <a:latin typeface="source-serif-pro"/>
            </a:endParaRPr>
          </a:p>
          <a:p>
            <a:pPr algn="l">
              <a:lnSpc>
                <a:spcPts val="2400"/>
              </a:lnSpc>
              <a:buFont typeface="Arial" panose="020B0604020202020204" pitchFamily="34" charset="0"/>
              <a:buChar char="•"/>
            </a:pPr>
            <a:r>
              <a:rPr lang="en-US" b="0" i="0" dirty="0">
                <a:solidFill>
                  <a:srgbClr val="242424"/>
                </a:solidFill>
                <a:effectLst/>
                <a:latin typeface="source-serif-pro"/>
              </a:rPr>
              <a:t>Can be more complex for very basic RAG implementations.</a:t>
            </a:r>
          </a:p>
          <a:p>
            <a:pPr algn="l">
              <a:lnSpc>
                <a:spcPts val="2400"/>
              </a:lnSpc>
              <a:buFont typeface="Arial" panose="020B0604020202020204" pitchFamily="34" charset="0"/>
              <a:buChar char="•"/>
            </a:pPr>
            <a:r>
              <a:rPr lang="en-US" b="0" i="0" dirty="0">
                <a:solidFill>
                  <a:srgbClr val="242424"/>
                </a:solidFill>
                <a:effectLst/>
                <a:latin typeface="source-serif-pro"/>
              </a:rPr>
              <a:t>Can have a learning curve to understand the modular pipeline.</a:t>
            </a:r>
          </a:p>
          <a:p>
            <a:pPr algn="l">
              <a:lnSpc>
                <a:spcPts val="2400"/>
              </a:lnSpc>
              <a:buFont typeface="Arial" panose="020B0604020202020204" pitchFamily="34" charset="0"/>
              <a:buChar char="•"/>
            </a:pPr>
            <a:r>
              <a:rPr lang="en-US" b="0" i="0" dirty="0">
                <a:solidFill>
                  <a:srgbClr val="242424"/>
                </a:solidFill>
                <a:effectLst/>
                <a:latin typeface="source-serif-pro"/>
              </a:rPr>
              <a:t>Requires setting up pipelines, might be a bit tedious.</a:t>
            </a:r>
          </a:p>
        </p:txBody>
      </p:sp>
    </p:spTree>
    <p:extLst>
      <p:ext uri="{BB962C8B-B14F-4D97-AF65-F5344CB8AC3E}">
        <p14:creationId xmlns:p14="http://schemas.microsoft.com/office/powerpoint/2010/main" val="1769793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9456F-09FF-9DEF-EF7C-620C31098778}"/>
              </a:ext>
            </a:extLst>
          </p:cNvPr>
          <p:cNvSpPr>
            <a:spLocks noGrp="1"/>
          </p:cNvSpPr>
          <p:nvPr>
            <p:ph type="title"/>
          </p:nvPr>
        </p:nvSpPr>
        <p:spPr/>
        <p:txBody>
          <a:bodyPr>
            <a:normAutofit fontScale="90000"/>
          </a:bodyPr>
          <a:lstStyle/>
          <a:p>
            <a:r>
              <a:rPr lang="en-US" b="1" i="0" dirty="0" err="1">
                <a:solidFill>
                  <a:srgbClr val="242424"/>
                </a:solidFill>
                <a:effectLst/>
                <a:latin typeface="sohne"/>
              </a:rPr>
              <a:t>LangGraph</a:t>
            </a:r>
            <a:r>
              <a:rPr lang="en-US" b="1" i="0" dirty="0">
                <a:solidFill>
                  <a:srgbClr val="242424"/>
                </a:solidFill>
                <a:effectLst/>
                <a:latin typeface="sohne"/>
              </a:rPr>
              <a:t> — Graph-Powered Retrieval Meets LLMs</a:t>
            </a:r>
            <a:endParaRPr lang="en-US" dirty="0"/>
          </a:p>
        </p:txBody>
      </p:sp>
      <p:sp>
        <p:nvSpPr>
          <p:cNvPr id="3" name="Content Placeholder 2">
            <a:extLst>
              <a:ext uri="{FF2B5EF4-FFF2-40B4-BE49-F238E27FC236}">
                <a16:creationId xmlns:a16="http://schemas.microsoft.com/office/drawing/2014/main" id="{98B20E65-FC5E-913F-15F7-A53AAAA7B14E}"/>
              </a:ext>
            </a:extLst>
          </p:cNvPr>
          <p:cNvSpPr>
            <a:spLocks noGrp="1"/>
          </p:cNvSpPr>
          <p:nvPr>
            <p:ph idx="1"/>
          </p:nvPr>
        </p:nvSpPr>
        <p:spPr/>
        <p:txBody>
          <a:bodyPr/>
          <a:lstStyle/>
          <a:p>
            <a:pPr marL="0" indent="0">
              <a:buNone/>
            </a:pPr>
            <a:r>
              <a:rPr lang="en-US" b="0" i="0" dirty="0" err="1">
                <a:solidFill>
                  <a:srgbClr val="242424"/>
                </a:solidFill>
                <a:effectLst/>
                <a:latin typeface="source-serif-pro"/>
              </a:rPr>
              <a:t>LangGraph</a:t>
            </a:r>
            <a:r>
              <a:rPr lang="en-US" b="0" i="0" dirty="0">
                <a:solidFill>
                  <a:srgbClr val="242424"/>
                </a:solidFill>
                <a:effectLst/>
                <a:latin typeface="source-serif-pro"/>
              </a:rPr>
              <a:t> builds upon </a:t>
            </a:r>
            <a:r>
              <a:rPr lang="en-US" b="0" i="0" dirty="0" err="1">
                <a:solidFill>
                  <a:srgbClr val="242424"/>
                </a:solidFill>
                <a:effectLst/>
                <a:latin typeface="source-serif-pro"/>
              </a:rPr>
              <a:t>LangChain’s</a:t>
            </a:r>
            <a:r>
              <a:rPr lang="en-US" b="0" i="0" dirty="0">
                <a:solidFill>
                  <a:srgbClr val="242424"/>
                </a:solidFill>
                <a:effectLst/>
                <a:latin typeface="source-serif-pro"/>
              </a:rPr>
              <a:t> foundation by incorporating graph-based data modeling, enabling more nuanced relationships and connections between concepts. This makes it ideal for applications that need to understand and reason over complex datasets, such as knowledge graphs, ontologies, or interlinked datasets.</a:t>
            </a:r>
            <a:endParaRPr lang="en-US" dirty="0"/>
          </a:p>
        </p:txBody>
      </p:sp>
    </p:spTree>
    <p:extLst>
      <p:ext uri="{BB962C8B-B14F-4D97-AF65-F5344CB8AC3E}">
        <p14:creationId xmlns:p14="http://schemas.microsoft.com/office/powerpoint/2010/main" val="21039232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90" name="Rectangle 3089">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3092" name="Rectangle 3091">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05A4A0-CE73-5082-1E18-3D6054408CDF}"/>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5400"/>
              <a:t>Key Highlights</a:t>
            </a:r>
          </a:p>
        </p:txBody>
      </p:sp>
      <p:sp>
        <p:nvSpPr>
          <p:cNvPr id="3094"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27432"/>
          </a:xfrm>
          <a:custGeom>
            <a:avLst/>
            <a:gdLst>
              <a:gd name="csX0" fmla="*/ 0 w 3255095"/>
              <a:gd name="csY0" fmla="*/ 0 h 27432"/>
              <a:gd name="csX1" fmla="*/ 618468 w 3255095"/>
              <a:gd name="csY1" fmla="*/ 0 h 27432"/>
              <a:gd name="csX2" fmla="*/ 1269487 w 3255095"/>
              <a:gd name="csY2" fmla="*/ 0 h 27432"/>
              <a:gd name="csX3" fmla="*/ 1953057 w 3255095"/>
              <a:gd name="csY3" fmla="*/ 0 h 27432"/>
              <a:gd name="csX4" fmla="*/ 2636627 w 3255095"/>
              <a:gd name="csY4" fmla="*/ 0 h 27432"/>
              <a:gd name="csX5" fmla="*/ 3255095 w 3255095"/>
              <a:gd name="csY5" fmla="*/ 0 h 27432"/>
              <a:gd name="csX6" fmla="*/ 3255095 w 3255095"/>
              <a:gd name="csY6" fmla="*/ 27432 h 27432"/>
              <a:gd name="csX7" fmla="*/ 2538974 w 3255095"/>
              <a:gd name="csY7" fmla="*/ 27432 h 27432"/>
              <a:gd name="csX8" fmla="*/ 1822853 w 3255095"/>
              <a:gd name="csY8" fmla="*/ 27432 h 27432"/>
              <a:gd name="csX9" fmla="*/ 1171834 w 3255095"/>
              <a:gd name="csY9" fmla="*/ 27432 h 27432"/>
              <a:gd name="csX10" fmla="*/ 0 w 3255095"/>
              <a:gd name="csY10" fmla="*/ 27432 h 27432"/>
              <a:gd name="csX11" fmla="*/ 0 w 3255095"/>
              <a:gd name="csY11"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27432"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3929" y="7395"/>
                  <a:pt x="3255140" y="21864"/>
                  <a:pt x="3255095" y="27432"/>
                </a:cubicBezTo>
                <a:cubicBezTo>
                  <a:pt x="3088545" y="32347"/>
                  <a:pt x="2687475" y="16563"/>
                  <a:pt x="2538974" y="27432"/>
                </a:cubicBezTo>
                <a:cubicBezTo>
                  <a:pt x="2390473" y="38301"/>
                  <a:pt x="2137381" y="185"/>
                  <a:pt x="1822853" y="27432"/>
                </a:cubicBezTo>
                <a:cubicBezTo>
                  <a:pt x="1508325" y="54679"/>
                  <a:pt x="1466437" y="29529"/>
                  <a:pt x="1171834" y="27432"/>
                </a:cubicBezTo>
                <a:cubicBezTo>
                  <a:pt x="877231" y="25335"/>
                  <a:pt x="561097" y="46787"/>
                  <a:pt x="0" y="27432"/>
                </a:cubicBezTo>
                <a:cubicBezTo>
                  <a:pt x="-503" y="20663"/>
                  <a:pt x="1168" y="5855"/>
                  <a:pt x="0" y="0"/>
                </a:cubicBezTo>
                <a:close/>
              </a:path>
              <a:path w="3255095" h="27432"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5288" y="12649"/>
                  <a:pt x="3254107" y="17989"/>
                  <a:pt x="3255095" y="27432"/>
                </a:cubicBezTo>
                <a:cubicBezTo>
                  <a:pt x="3120743" y="25834"/>
                  <a:pt x="2759628" y="51606"/>
                  <a:pt x="2604076" y="27432"/>
                </a:cubicBezTo>
                <a:cubicBezTo>
                  <a:pt x="2448524" y="3258"/>
                  <a:pt x="2184336" y="28743"/>
                  <a:pt x="1887955" y="27432"/>
                </a:cubicBezTo>
                <a:cubicBezTo>
                  <a:pt x="1591574" y="26121"/>
                  <a:pt x="1548845" y="16014"/>
                  <a:pt x="1334589" y="27432"/>
                </a:cubicBezTo>
                <a:cubicBezTo>
                  <a:pt x="1120333" y="38850"/>
                  <a:pt x="996014" y="18806"/>
                  <a:pt x="683570" y="27432"/>
                </a:cubicBezTo>
                <a:cubicBezTo>
                  <a:pt x="371126" y="36058"/>
                  <a:pt x="198687" y="25311"/>
                  <a:pt x="0" y="27432"/>
                </a:cubicBezTo>
                <a:cubicBezTo>
                  <a:pt x="1300" y="19678"/>
                  <a:pt x="-86" y="12044"/>
                  <a:pt x="0" y="0"/>
                </a:cubicBezTo>
                <a:close/>
              </a:path>
            </a:pathLst>
          </a:custGeom>
          <a:solidFill>
            <a:srgbClr val="69CFF8"/>
          </a:solidFill>
          <a:ln w="38100" cap="rnd">
            <a:solidFill>
              <a:srgbClr val="69CFF8"/>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a:extLst>
              <a:ext uri="{FF2B5EF4-FFF2-40B4-BE49-F238E27FC236}">
                <a16:creationId xmlns:a16="http://schemas.microsoft.com/office/drawing/2014/main" id="{42362075-6588-CB84-3064-E76E4FA7180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80695" y="640080"/>
            <a:ext cx="7161817" cy="5550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92743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252F0-3E14-2B77-2D07-99F58509B8E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D5C00A5-EB7F-F60D-F9C4-B7382290A9CC}"/>
              </a:ext>
            </a:extLst>
          </p:cNvPr>
          <p:cNvSpPr>
            <a:spLocks noGrp="1"/>
          </p:cNvSpPr>
          <p:nvPr>
            <p:ph idx="1"/>
          </p:nvPr>
        </p:nvSpPr>
        <p:spPr/>
        <p:txBody>
          <a:bodyPr/>
          <a:lstStyle/>
          <a:p>
            <a:pPr algn="l">
              <a:lnSpc>
                <a:spcPts val="2400"/>
              </a:lnSpc>
              <a:buFont typeface="Arial" panose="020B0604020202020204" pitchFamily="34" charset="0"/>
              <a:buChar char="•"/>
            </a:pPr>
            <a:r>
              <a:rPr lang="en-US" b="1" i="0" dirty="0">
                <a:solidFill>
                  <a:srgbClr val="242424"/>
                </a:solidFill>
                <a:effectLst/>
                <a:latin typeface="source-serif-pro"/>
              </a:rPr>
              <a:t>Graph-based data retrieval:</a:t>
            </a:r>
            <a:r>
              <a:rPr lang="en-US" b="0" i="0" dirty="0">
                <a:solidFill>
                  <a:srgbClr val="242424"/>
                </a:solidFill>
                <a:effectLst/>
                <a:latin typeface="source-serif-pro"/>
              </a:rPr>
              <a:t> </a:t>
            </a:r>
            <a:r>
              <a:rPr lang="en-US" b="0" i="0" dirty="0" err="1">
                <a:solidFill>
                  <a:srgbClr val="242424"/>
                </a:solidFill>
                <a:effectLst/>
                <a:latin typeface="source-serif-pro"/>
              </a:rPr>
              <a:t>LangGraph</a:t>
            </a:r>
            <a:r>
              <a:rPr lang="en-US" b="0" i="0" dirty="0">
                <a:solidFill>
                  <a:srgbClr val="242424"/>
                </a:solidFill>
                <a:effectLst/>
                <a:latin typeface="source-serif-pro"/>
              </a:rPr>
              <a:t> uses graph structures to represent relationships between data points, providing richer contextual information for the LLM.</a:t>
            </a:r>
          </a:p>
          <a:p>
            <a:pPr algn="l">
              <a:lnSpc>
                <a:spcPts val="2400"/>
              </a:lnSpc>
              <a:buFont typeface="Arial" panose="020B0604020202020204" pitchFamily="34" charset="0"/>
              <a:buChar char="•"/>
            </a:pPr>
            <a:r>
              <a:rPr lang="en-US" b="1" i="0" dirty="0">
                <a:solidFill>
                  <a:srgbClr val="242424"/>
                </a:solidFill>
                <a:effectLst/>
                <a:latin typeface="source-serif-pro"/>
              </a:rPr>
              <a:t>Advanced contextual understanding:</a:t>
            </a:r>
            <a:r>
              <a:rPr lang="en-US" b="0" i="0" dirty="0">
                <a:solidFill>
                  <a:srgbClr val="242424"/>
                </a:solidFill>
                <a:effectLst/>
                <a:latin typeface="source-serif-pro"/>
              </a:rPr>
              <a:t> By leveraging the structure of a graph, it can retrieve more relevant and interconnected data to inform generative outputs.</a:t>
            </a:r>
          </a:p>
          <a:p>
            <a:pPr algn="l">
              <a:lnSpc>
                <a:spcPts val="2400"/>
              </a:lnSpc>
              <a:buFont typeface="Arial" panose="020B0604020202020204" pitchFamily="34" charset="0"/>
              <a:buChar char="•"/>
            </a:pPr>
            <a:r>
              <a:rPr lang="en-US" b="1" i="0" dirty="0">
                <a:solidFill>
                  <a:srgbClr val="242424"/>
                </a:solidFill>
                <a:effectLst/>
                <a:latin typeface="source-serif-pro"/>
              </a:rPr>
              <a:t>Highly customizable architecture:</a:t>
            </a:r>
            <a:r>
              <a:rPr lang="en-US" b="0" i="0" dirty="0">
                <a:solidFill>
                  <a:srgbClr val="242424"/>
                </a:solidFill>
                <a:effectLst/>
                <a:latin typeface="source-serif-pro"/>
              </a:rPr>
              <a:t> Developers can adapt </a:t>
            </a:r>
            <a:r>
              <a:rPr lang="en-US" b="0" i="0" dirty="0" err="1">
                <a:solidFill>
                  <a:srgbClr val="242424"/>
                </a:solidFill>
                <a:effectLst/>
                <a:latin typeface="source-serif-pro"/>
              </a:rPr>
              <a:t>LangGraph</a:t>
            </a:r>
            <a:r>
              <a:rPr lang="en-US" b="0" i="0" dirty="0">
                <a:solidFill>
                  <a:srgbClr val="242424"/>
                </a:solidFill>
                <a:effectLst/>
                <a:latin typeface="source-serif-pro"/>
              </a:rPr>
              <a:t> to specific use cases, ranging from relationship-aware Q&amp;A systems to in-depth semantic search engines.</a:t>
            </a:r>
          </a:p>
          <a:p>
            <a:endParaRPr lang="en-US" dirty="0"/>
          </a:p>
        </p:txBody>
      </p:sp>
    </p:spTree>
    <p:extLst>
      <p:ext uri="{BB962C8B-B14F-4D97-AF65-F5344CB8AC3E}">
        <p14:creationId xmlns:p14="http://schemas.microsoft.com/office/powerpoint/2010/main" val="32216488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BEBD3-4400-D03B-7050-1382011CEDAA}"/>
              </a:ext>
            </a:extLst>
          </p:cNvPr>
          <p:cNvSpPr>
            <a:spLocks noGrp="1"/>
          </p:cNvSpPr>
          <p:nvPr>
            <p:ph type="title"/>
          </p:nvPr>
        </p:nvSpPr>
        <p:spPr/>
        <p:txBody>
          <a:bodyPr>
            <a:normAutofit fontScale="90000"/>
          </a:bodyPr>
          <a:lstStyle/>
          <a:p>
            <a:r>
              <a:rPr lang="en-US" dirty="0"/>
              <a:t>RAGFLOW- </a:t>
            </a:r>
            <a:r>
              <a:rPr lang="en-US" b="1" i="0" dirty="0">
                <a:solidFill>
                  <a:srgbClr val="242424"/>
                </a:solidFill>
                <a:effectLst/>
                <a:latin typeface="sohne"/>
              </a:rPr>
              <a:t>Bridging the Gap Between Retrieval and Generation</a:t>
            </a:r>
            <a:endParaRPr lang="en-US" dirty="0"/>
          </a:p>
        </p:txBody>
      </p:sp>
      <p:sp>
        <p:nvSpPr>
          <p:cNvPr id="3" name="Content Placeholder 2">
            <a:extLst>
              <a:ext uri="{FF2B5EF4-FFF2-40B4-BE49-F238E27FC236}">
                <a16:creationId xmlns:a16="http://schemas.microsoft.com/office/drawing/2014/main" id="{8D2C2719-A0C6-7606-2C3A-764EB2D6B194}"/>
              </a:ext>
            </a:extLst>
          </p:cNvPr>
          <p:cNvSpPr>
            <a:spLocks noGrp="1"/>
          </p:cNvSpPr>
          <p:nvPr>
            <p:ph idx="1"/>
          </p:nvPr>
        </p:nvSpPr>
        <p:spPr/>
        <p:txBody>
          <a:bodyPr/>
          <a:lstStyle/>
          <a:p>
            <a:pPr marL="0" indent="0">
              <a:buNone/>
            </a:pPr>
            <a:r>
              <a:rPr lang="en-US" b="0" i="0" dirty="0" err="1">
                <a:solidFill>
                  <a:srgbClr val="242424"/>
                </a:solidFill>
                <a:effectLst/>
                <a:latin typeface="source-serif-pro"/>
              </a:rPr>
              <a:t>RAGFlow</a:t>
            </a:r>
            <a:r>
              <a:rPr lang="en-US" b="0" i="0" dirty="0">
                <a:solidFill>
                  <a:srgbClr val="242424"/>
                </a:solidFill>
                <a:effectLst/>
                <a:latin typeface="source-serif-pro"/>
              </a:rPr>
              <a:t> is a relatively new player that emphasizes a smooth, tightly integrated approach to retrieval and generation. It provides developers with a flexible, workflow-oriented environment to create highly customized RAG pipelines that cater to specialized use cases and niche domains.</a:t>
            </a:r>
            <a:endParaRPr lang="en-US" dirty="0"/>
          </a:p>
        </p:txBody>
      </p:sp>
    </p:spTree>
    <p:extLst>
      <p:ext uri="{BB962C8B-B14F-4D97-AF65-F5344CB8AC3E}">
        <p14:creationId xmlns:p14="http://schemas.microsoft.com/office/powerpoint/2010/main" val="11502031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EAE75C09-B800-0C49-C0E1-01A1F26ECE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4038" y="0"/>
            <a:ext cx="85423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87042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38B17-F3C0-9EF6-742C-1401096E63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CAADFB1-F673-B28D-DB67-E7E95FB736E0}"/>
              </a:ext>
            </a:extLst>
          </p:cNvPr>
          <p:cNvSpPr>
            <a:spLocks noGrp="1"/>
          </p:cNvSpPr>
          <p:nvPr>
            <p:ph idx="1"/>
          </p:nvPr>
        </p:nvSpPr>
        <p:spPr/>
        <p:txBody>
          <a:bodyPr/>
          <a:lstStyle/>
          <a:p>
            <a:pPr algn="l">
              <a:lnSpc>
                <a:spcPts val="2400"/>
              </a:lnSpc>
              <a:buFont typeface="Arial" panose="020B0604020202020204" pitchFamily="34" charset="0"/>
              <a:buChar char="•"/>
            </a:pPr>
            <a:r>
              <a:rPr lang="en-US" b="1" i="0" dirty="0">
                <a:solidFill>
                  <a:srgbClr val="242424"/>
                </a:solidFill>
                <a:effectLst/>
                <a:latin typeface="source-serif-pro"/>
              </a:rPr>
              <a:t>Seamless retrieval-generation integration:</a:t>
            </a:r>
            <a:r>
              <a:rPr lang="en-US" b="0" i="0" dirty="0">
                <a:solidFill>
                  <a:srgbClr val="242424"/>
                </a:solidFill>
                <a:effectLst/>
                <a:latin typeface="source-serif-pro"/>
              </a:rPr>
              <a:t> </a:t>
            </a:r>
            <a:r>
              <a:rPr lang="en-US" b="0" i="0" dirty="0" err="1">
                <a:solidFill>
                  <a:srgbClr val="242424"/>
                </a:solidFill>
                <a:effectLst/>
                <a:latin typeface="source-serif-pro"/>
              </a:rPr>
              <a:t>RAGFlow</a:t>
            </a:r>
            <a:r>
              <a:rPr lang="en-US" b="0" i="0" dirty="0">
                <a:solidFill>
                  <a:srgbClr val="242424"/>
                </a:solidFill>
                <a:effectLst/>
                <a:latin typeface="source-serif-pro"/>
              </a:rPr>
              <a:t> minimizes the friction between retrieving information and generating responses, ensuring a more cohesive pipeline.</a:t>
            </a:r>
          </a:p>
          <a:p>
            <a:pPr algn="l">
              <a:lnSpc>
                <a:spcPts val="2400"/>
              </a:lnSpc>
              <a:buFont typeface="Arial" panose="020B0604020202020204" pitchFamily="34" charset="0"/>
              <a:buChar char="•"/>
            </a:pPr>
            <a:r>
              <a:rPr lang="en-US" b="1" i="0" dirty="0">
                <a:solidFill>
                  <a:srgbClr val="242424"/>
                </a:solidFill>
                <a:effectLst/>
                <a:latin typeface="source-serif-pro"/>
              </a:rPr>
              <a:t>Support for various data formats:</a:t>
            </a:r>
            <a:r>
              <a:rPr lang="en-US" b="0" i="0" dirty="0">
                <a:solidFill>
                  <a:srgbClr val="242424"/>
                </a:solidFill>
                <a:effectLst/>
                <a:latin typeface="source-serif-pro"/>
              </a:rPr>
              <a:t> The framework can handle multiple database and document types, giving developers the freedom to incorporate diverse data sources.</a:t>
            </a:r>
          </a:p>
          <a:p>
            <a:pPr algn="l">
              <a:lnSpc>
                <a:spcPts val="2400"/>
              </a:lnSpc>
              <a:buFont typeface="Arial" panose="020B0604020202020204" pitchFamily="34" charset="0"/>
              <a:buChar char="•"/>
            </a:pPr>
            <a:r>
              <a:rPr lang="en-US" b="1" i="0" dirty="0">
                <a:solidFill>
                  <a:srgbClr val="242424"/>
                </a:solidFill>
                <a:effectLst/>
                <a:latin typeface="source-serif-pro"/>
              </a:rPr>
              <a:t>Tailored workflows:</a:t>
            </a:r>
            <a:r>
              <a:rPr lang="en-US" b="0" i="0" dirty="0">
                <a:solidFill>
                  <a:srgbClr val="242424"/>
                </a:solidFill>
                <a:effectLst/>
                <a:latin typeface="source-serif-pro"/>
              </a:rPr>
              <a:t> With a flexible architecture, </a:t>
            </a:r>
            <a:r>
              <a:rPr lang="en-US" b="0" i="0" dirty="0" err="1">
                <a:solidFill>
                  <a:srgbClr val="242424"/>
                </a:solidFill>
                <a:effectLst/>
                <a:latin typeface="source-serif-pro"/>
              </a:rPr>
              <a:t>RAGFlow</a:t>
            </a:r>
            <a:r>
              <a:rPr lang="en-US" b="0" i="0" dirty="0">
                <a:solidFill>
                  <a:srgbClr val="242424"/>
                </a:solidFill>
                <a:effectLst/>
                <a:latin typeface="source-serif-pro"/>
              </a:rPr>
              <a:t> enables the creation of specialized RAG solutions that meet domain-specific needs.</a:t>
            </a:r>
          </a:p>
          <a:p>
            <a:endParaRPr lang="en-US" dirty="0"/>
          </a:p>
        </p:txBody>
      </p:sp>
    </p:spTree>
    <p:extLst>
      <p:ext uri="{BB962C8B-B14F-4D97-AF65-F5344CB8AC3E}">
        <p14:creationId xmlns:p14="http://schemas.microsoft.com/office/powerpoint/2010/main" val="24345398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244EC-3DCD-E095-D1C6-4A16242F718E}"/>
              </a:ext>
            </a:extLst>
          </p:cNvPr>
          <p:cNvSpPr>
            <a:spLocks noGrp="1"/>
          </p:cNvSpPr>
          <p:nvPr>
            <p:ph type="title"/>
          </p:nvPr>
        </p:nvSpPr>
        <p:spPr/>
        <p:txBody>
          <a:bodyPr>
            <a:normAutofit/>
          </a:bodyPr>
          <a:lstStyle/>
          <a:p>
            <a:r>
              <a:rPr lang="en-US" b="1" i="0" dirty="0">
                <a:solidFill>
                  <a:srgbClr val="242424"/>
                </a:solidFill>
                <a:effectLst/>
                <a:latin typeface="source-serif-pro"/>
              </a:rPr>
              <a:t>Best For:</a:t>
            </a:r>
            <a:endParaRPr lang="en-US" dirty="0"/>
          </a:p>
        </p:txBody>
      </p:sp>
      <p:sp>
        <p:nvSpPr>
          <p:cNvPr id="3" name="Content Placeholder 2">
            <a:extLst>
              <a:ext uri="{FF2B5EF4-FFF2-40B4-BE49-F238E27FC236}">
                <a16:creationId xmlns:a16="http://schemas.microsoft.com/office/drawing/2014/main" id="{1E797C28-F016-EC08-2D3A-BDA06BAEB767}"/>
              </a:ext>
            </a:extLst>
          </p:cNvPr>
          <p:cNvSpPr>
            <a:spLocks noGrp="1"/>
          </p:cNvSpPr>
          <p:nvPr>
            <p:ph idx="1"/>
          </p:nvPr>
        </p:nvSpPr>
        <p:spPr/>
        <p:txBody>
          <a:bodyPr/>
          <a:lstStyle/>
          <a:p>
            <a:pPr algn="l">
              <a:lnSpc>
                <a:spcPts val="2400"/>
              </a:lnSpc>
              <a:buFont typeface="Arial" panose="020B0604020202020204" pitchFamily="34" charset="0"/>
              <a:buChar char="•"/>
            </a:pPr>
            <a:r>
              <a:rPr lang="en-US" b="0" i="0" dirty="0">
                <a:solidFill>
                  <a:srgbClr val="242424"/>
                </a:solidFill>
                <a:effectLst/>
                <a:latin typeface="source-serif-pro"/>
              </a:rPr>
              <a:t>Custom RAG projects where flexibility, control, and domain-specific adaptations are critical.</a:t>
            </a:r>
          </a:p>
          <a:p>
            <a:pPr algn="l">
              <a:lnSpc>
                <a:spcPts val="2400"/>
              </a:lnSpc>
              <a:buFont typeface="Arial" panose="020B0604020202020204" pitchFamily="34" charset="0"/>
              <a:buChar char="•"/>
            </a:pPr>
            <a:r>
              <a:rPr lang="en-US" b="0" i="0" dirty="0">
                <a:solidFill>
                  <a:srgbClr val="242424"/>
                </a:solidFill>
                <a:effectLst/>
                <a:latin typeface="source-serif-pro"/>
              </a:rPr>
              <a:t>Developers who want a framework that allows for detailed customization and precise optimization.</a:t>
            </a:r>
          </a:p>
          <a:p>
            <a:endParaRPr lang="en-US" dirty="0"/>
          </a:p>
        </p:txBody>
      </p:sp>
    </p:spTree>
    <p:extLst>
      <p:ext uri="{BB962C8B-B14F-4D97-AF65-F5344CB8AC3E}">
        <p14:creationId xmlns:p14="http://schemas.microsoft.com/office/powerpoint/2010/main" val="27124819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A381740-063A-41A4-836D-85D14980E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3688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useBgFill="1">
        <p:nvSpPr>
          <p:cNvPr id="19" name="Rectangle 18">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Bright modern kitchen">
            <a:extLst>
              <a:ext uri="{FF2B5EF4-FFF2-40B4-BE49-F238E27FC236}">
                <a16:creationId xmlns:a16="http://schemas.microsoft.com/office/drawing/2014/main" id="{7FF09FAD-60B8-0963-8897-BCFEED6D2507}"/>
              </a:ext>
            </a:extLst>
          </p:cNvPr>
          <p:cNvPicPr>
            <a:picLocks noChangeAspect="1"/>
          </p:cNvPicPr>
          <p:nvPr/>
        </p:nvPicPr>
        <p:blipFill>
          <a:blip r:embed="rId2">
            <a:alphaModFix/>
          </a:blip>
          <a:srcRect t="15709" r="-1" b="-1"/>
          <a:stretch>
            <a:fillRect/>
          </a:stretch>
        </p:blipFill>
        <p:spPr>
          <a:xfrm>
            <a:off x="20" y="10"/>
            <a:ext cx="12188930" cy="6857990"/>
          </a:xfrm>
          <a:prstGeom prst="rect">
            <a:avLst/>
          </a:prstGeom>
        </p:spPr>
      </p:pic>
      <p:sp>
        <p:nvSpPr>
          <p:cNvPr id="21" name="Rectangle 20">
            <a:extLst>
              <a:ext uri="{FF2B5EF4-FFF2-40B4-BE49-F238E27FC236}">
                <a16:creationId xmlns:a16="http://schemas.microsoft.com/office/drawing/2014/main" id="{8F51725E-A483-43B2-A6F2-C44F502FE0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937549"/>
            <a:ext cx="12191999" cy="5058137"/>
          </a:xfrm>
          <a:prstGeom prst="rect">
            <a:avLst/>
          </a:prstGeom>
          <a:gradFill flip="none" rotWithShape="1">
            <a:gsLst>
              <a:gs pos="50000">
                <a:schemeClr val="tx1">
                  <a:alpha val="30000"/>
                </a:schemeClr>
              </a:gs>
              <a:gs pos="80000">
                <a:schemeClr val="tx1">
                  <a:alpha val="15000"/>
                </a:schemeClr>
              </a:gs>
              <a:gs pos="0">
                <a:schemeClr val="tx1">
                  <a:alpha val="0"/>
                </a:schemeClr>
              </a:gs>
              <a:gs pos="20000">
                <a:schemeClr val="tx1">
                  <a:alpha val="15000"/>
                </a:schemeClr>
              </a:gs>
              <a:gs pos="100000">
                <a:schemeClr val="tx1">
                  <a:alpha val="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BD3425-D5F1-2346-6E54-378D88B832C8}"/>
              </a:ext>
            </a:extLst>
          </p:cNvPr>
          <p:cNvSpPr>
            <a:spLocks noGrp="1"/>
          </p:cNvSpPr>
          <p:nvPr>
            <p:ph type="title"/>
          </p:nvPr>
        </p:nvSpPr>
        <p:spPr>
          <a:xfrm>
            <a:off x="1524000" y="1122363"/>
            <a:ext cx="9144000" cy="3063240"/>
          </a:xfrm>
        </p:spPr>
        <p:txBody>
          <a:bodyPr vert="horz" lIns="91440" tIns="45720" rIns="91440" bIns="45720" rtlCol="0" anchor="b">
            <a:normAutofit/>
          </a:bodyPr>
          <a:lstStyle/>
          <a:p>
            <a:r>
              <a:rPr lang="en-US" sz="10800">
                <a:solidFill>
                  <a:schemeClr val="bg1"/>
                </a:solidFill>
              </a:rPr>
              <a:t>Thank You</a:t>
            </a:r>
          </a:p>
        </p:txBody>
      </p:sp>
      <p:sp>
        <p:nvSpPr>
          <p:cNvPr id="23" name="Rectangle 6">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27432"/>
          </a:xfrm>
          <a:custGeom>
            <a:avLst/>
            <a:gdLst>
              <a:gd name="csX0" fmla="*/ 0 w 4243589"/>
              <a:gd name="csY0" fmla="*/ 0 h 27432"/>
              <a:gd name="csX1" fmla="*/ 563791 w 4243589"/>
              <a:gd name="csY1" fmla="*/ 0 h 27432"/>
              <a:gd name="csX2" fmla="*/ 1042710 w 4243589"/>
              <a:gd name="csY2" fmla="*/ 0 h 27432"/>
              <a:gd name="csX3" fmla="*/ 1564066 w 4243589"/>
              <a:gd name="csY3" fmla="*/ 0 h 27432"/>
              <a:gd name="csX4" fmla="*/ 2212729 w 4243589"/>
              <a:gd name="csY4" fmla="*/ 0 h 27432"/>
              <a:gd name="csX5" fmla="*/ 2776520 w 4243589"/>
              <a:gd name="csY5" fmla="*/ 0 h 27432"/>
              <a:gd name="csX6" fmla="*/ 3297875 w 4243589"/>
              <a:gd name="csY6" fmla="*/ 0 h 27432"/>
              <a:gd name="csX7" fmla="*/ 4243589 w 4243589"/>
              <a:gd name="csY7" fmla="*/ 0 h 27432"/>
              <a:gd name="csX8" fmla="*/ 4243589 w 4243589"/>
              <a:gd name="csY8" fmla="*/ 27432 h 27432"/>
              <a:gd name="csX9" fmla="*/ 3637362 w 4243589"/>
              <a:gd name="csY9" fmla="*/ 27432 h 27432"/>
              <a:gd name="csX10" fmla="*/ 3116007 w 4243589"/>
              <a:gd name="csY10" fmla="*/ 27432 h 27432"/>
              <a:gd name="csX11" fmla="*/ 2424908 w 4243589"/>
              <a:gd name="csY11" fmla="*/ 27432 h 27432"/>
              <a:gd name="csX12" fmla="*/ 1861117 w 4243589"/>
              <a:gd name="csY12" fmla="*/ 27432 h 27432"/>
              <a:gd name="csX13" fmla="*/ 1382198 w 4243589"/>
              <a:gd name="csY13" fmla="*/ 27432 h 27432"/>
              <a:gd name="csX14" fmla="*/ 733535 w 4243589"/>
              <a:gd name="csY14" fmla="*/ 27432 h 27432"/>
              <a:gd name="csX15" fmla="*/ 0 w 4243589"/>
              <a:gd name="csY15" fmla="*/ 27432 h 27432"/>
              <a:gd name="csX16" fmla="*/ 0 w 4243589"/>
              <a:gd name="csY1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24440269"/>
      </p:ext>
    </p:extLst>
  </p:cSld>
  <p:clrMapOvr>
    <a:masterClrMapping/>
  </p:clrMapOvr>
</p:sld>
</file>

<file path=ppt/theme/theme1.xml><?xml version="1.0" encoding="utf-8"?>
<a:theme xmlns:a="http://schemas.openxmlformats.org/drawingml/2006/main" name="SketchyVTI">
  <a:themeElements>
    <a:clrScheme name="SketchyVTI">
      <a:dk1>
        <a:sysClr val="windowText" lastClr="000000"/>
      </a:dk1>
      <a:lt1>
        <a:sysClr val="window" lastClr="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otalTime>178</TotalTime>
  <Words>3311</Words>
  <Application>Microsoft Office PowerPoint</Application>
  <PresentationFormat>Widescreen</PresentationFormat>
  <Paragraphs>215</Paragraphs>
  <Slides>51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51</vt:i4>
      </vt:variant>
    </vt:vector>
  </HeadingPairs>
  <TitlesOfParts>
    <vt:vector size="62" baseType="lpstr">
      <vt:lpstr>Arial</vt:lpstr>
      <vt:lpstr>Modern Love</vt:lpstr>
      <vt:lpstr>Nunito</vt:lpstr>
      <vt:lpstr>Public Sans</vt:lpstr>
      <vt:lpstr>SFMono-Regular</vt:lpstr>
      <vt:lpstr>sohne</vt:lpstr>
      <vt:lpstr>Source Sans Pro</vt:lpstr>
      <vt:lpstr>source-code-pro</vt:lpstr>
      <vt:lpstr>source-serif-pro</vt:lpstr>
      <vt:lpstr>The Hand</vt:lpstr>
      <vt:lpstr>SketchyVTI</vt:lpstr>
      <vt:lpstr>Retreival Augumented Generation(RAG)</vt:lpstr>
      <vt:lpstr>Introduction</vt:lpstr>
      <vt:lpstr>PowerPoint Presentation</vt:lpstr>
      <vt:lpstr>Importance of RAG</vt:lpstr>
      <vt:lpstr>Components of RAG</vt:lpstr>
      <vt:lpstr>Working of RAG</vt:lpstr>
      <vt:lpstr>Vector Databases</vt:lpstr>
      <vt:lpstr>PowerPoint Presentation</vt:lpstr>
      <vt:lpstr>Popular Vector Databases</vt:lpstr>
      <vt:lpstr>PowerPoint Presentation</vt:lpstr>
      <vt:lpstr>PowerPoint Presentation</vt:lpstr>
      <vt:lpstr>What Problems does RAG solve?</vt:lpstr>
      <vt:lpstr>Rag Applications</vt:lpstr>
      <vt:lpstr>PowerPoint Presentation</vt:lpstr>
      <vt:lpstr>RAG Components</vt:lpstr>
      <vt:lpstr>RAG Lifecycle - Indexing </vt:lpstr>
      <vt:lpstr>PowerPoint Presentation</vt:lpstr>
      <vt:lpstr>Retrieval and Generation </vt:lpstr>
      <vt:lpstr>PowerPoint Presentation</vt:lpstr>
      <vt:lpstr>Complete RAG pipeline</vt:lpstr>
      <vt:lpstr>Types of RAG</vt:lpstr>
      <vt:lpstr>RAG Alternatives</vt:lpstr>
      <vt:lpstr>RAG Frameworks and Their Features </vt:lpstr>
      <vt:lpstr>LangChain </vt:lpstr>
      <vt:lpstr>Applications of LangChains</vt:lpstr>
      <vt:lpstr>Applications</vt:lpstr>
      <vt:lpstr>Example: </vt:lpstr>
      <vt:lpstr>PowerPoint Presentation</vt:lpstr>
      <vt:lpstr>PowerPoint Presentation</vt:lpstr>
      <vt:lpstr>Pros &amp; Cons</vt:lpstr>
      <vt:lpstr>LlamaIndex (GPT Index) </vt:lpstr>
      <vt:lpstr>PowerPoint Presentation</vt:lpstr>
      <vt:lpstr>Applications</vt:lpstr>
      <vt:lpstr>Example: </vt:lpstr>
      <vt:lpstr>PowerPoint Presentation</vt:lpstr>
      <vt:lpstr>Pros &amp; Cons </vt:lpstr>
      <vt:lpstr>Haystack </vt:lpstr>
      <vt:lpstr>PowerPoint Presentation</vt:lpstr>
      <vt:lpstr>PowerPoint Presentation</vt:lpstr>
      <vt:lpstr>Example: </vt:lpstr>
      <vt:lpstr>PowerPoint Presentation</vt:lpstr>
      <vt:lpstr>PowerPoint Presentation</vt:lpstr>
      <vt:lpstr>Pros &amp; Cons</vt:lpstr>
      <vt:lpstr>LangGraph — Graph-Powered Retrieval Meets LLMs</vt:lpstr>
      <vt:lpstr>Key Highlights</vt:lpstr>
      <vt:lpstr>PowerPoint Presentation</vt:lpstr>
      <vt:lpstr>RAGFLOW- Bridging the Gap Between Retrieval and Generation</vt:lpstr>
      <vt:lpstr>PowerPoint Presentation</vt:lpstr>
      <vt:lpstr>PowerPoint Presentation</vt:lpstr>
      <vt:lpstr>Best For: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rakhee chhibber</dc:creator>
  <cp:lastModifiedBy>Rakhee Chhibber</cp:lastModifiedBy>
  <cp:revision>5</cp:revision>
  <dcterms:created xsi:type="dcterms:W3CDTF">2025-06-23T15:49:55Z</dcterms:created>
  <dcterms:modified xsi:type="dcterms:W3CDTF">2026-03-04T14:23:30Z</dcterms:modified>
</cp:coreProperties>
</file>
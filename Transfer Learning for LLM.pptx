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87" r:id="rId4"/>
    <p:sldId id="291" r:id="rId5"/>
    <p:sldId id="294" r:id="rId6"/>
    <p:sldId id="258" r:id="rId7"/>
    <p:sldId id="259" r:id="rId8"/>
    <p:sldId id="260" r:id="rId9"/>
    <p:sldId id="261" r:id="rId10"/>
    <p:sldId id="263" r:id="rId11"/>
    <p:sldId id="262" r:id="rId12"/>
    <p:sldId id="288" r:id="rId13"/>
    <p:sldId id="290" r:id="rId14"/>
    <p:sldId id="289" r:id="rId15"/>
    <p:sldId id="268" r:id="rId16"/>
    <p:sldId id="280" r:id="rId17"/>
    <p:sldId id="274" r:id="rId18"/>
    <p:sldId id="276" r:id="rId19"/>
    <p:sldId id="277" r:id="rId20"/>
    <p:sldId id="278" r:id="rId21"/>
    <p:sldId id="292" r:id="rId22"/>
    <p:sldId id="269" r:id="rId23"/>
    <p:sldId id="264" r:id="rId24"/>
    <p:sldId id="271" r:id="rId25"/>
    <p:sldId id="270" r:id="rId26"/>
    <p:sldId id="267" r:id="rId27"/>
    <p:sldId id="273" r:id="rId28"/>
    <p:sldId id="281" r:id="rId29"/>
    <p:sldId id="282" r:id="rId30"/>
    <p:sldId id="283" r:id="rId31"/>
    <p:sldId id="284" r:id="rId32"/>
    <p:sldId id="285" r:id="rId33"/>
    <p:sldId id="272" r:id="rId34"/>
    <p:sldId id="293"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EB46B8FB-F6A2-5F47-A6CD-A7E17E69270F}"/>
              </a:ext>
            </a:extLst>
          </p:cNvPr>
          <p:cNvGrpSpPr/>
          <p:nvPr/>
        </p:nvGrpSpPr>
        <p:grpSpPr>
          <a:xfrm>
            <a:off x="6201388" y="0"/>
            <a:ext cx="5990612" cy="6858001"/>
            <a:chOff x="6201388" y="0"/>
            <a:chExt cx="5990612" cy="6858001"/>
          </a:xfrm>
        </p:grpSpPr>
        <p:sp>
          <p:nvSpPr>
            <p:cNvPr id="45" name="Oval 44">
              <a:extLst>
                <a:ext uri="{FF2B5EF4-FFF2-40B4-BE49-F238E27FC236}">
                  <a16:creationId xmlns:a16="http://schemas.microsoft.com/office/drawing/2014/main" id="{419BDE93-3EC2-4E4D-BC0B-417378F49EDA}"/>
                </a:ext>
              </a:extLst>
            </p:cNvPr>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a:extLst>
                <a:ext uri="{FF2B5EF4-FFF2-40B4-BE49-F238E27FC236}">
                  <a16:creationId xmlns:a16="http://schemas.microsoft.com/office/drawing/2014/main" id="{FE21F82F-1EE5-8240-97F8-387DF0253FCE}"/>
                </a:ext>
              </a:extLst>
            </p:cNvPr>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48">
              <a:extLst>
                <a:ext uri="{FF2B5EF4-FFF2-40B4-BE49-F238E27FC236}">
                  <a16:creationId xmlns:a16="http://schemas.microsoft.com/office/drawing/2014/main" id="{AE1903E3-6B5F-6B4C-9A1F-62628A050AEB}"/>
                </a:ext>
              </a:extLst>
            </p:cNvPr>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Oval 50">
              <a:extLst>
                <a:ext uri="{FF2B5EF4-FFF2-40B4-BE49-F238E27FC236}">
                  <a16:creationId xmlns:a16="http://schemas.microsoft.com/office/drawing/2014/main" id="{F7C55863-3B37-0743-B001-1A970033FBA8}"/>
                </a:ext>
              </a:extLst>
            </p:cNvPr>
            <p:cNvSpPr/>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932B4C24-3A58-924C-B79A-D961EF7C2C48}"/>
                </a:ext>
              </a:extLst>
            </p:cNvPr>
            <p:cNvSpPr/>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21EF52E0-D2CF-544F-93A6-4D7B45A0483A}"/>
                </a:ext>
              </a:extLst>
            </p:cNvPr>
            <p:cNvSpPr/>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63">
              <a:extLst>
                <a:ext uri="{FF2B5EF4-FFF2-40B4-BE49-F238E27FC236}">
                  <a16:creationId xmlns:a16="http://schemas.microsoft.com/office/drawing/2014/main" id="{6966CFE5-1C8C-2E4F-9B2D-A8438F5A5322}"/>
                </a:ext>
              </a:extLst>
            </p:cNvPr>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5" name="Freeform 64">
              <a:extLst>
                <a:ext uri="{FF2B5EF4-FFF2-40B4-BE49-F238E27FC236}">
                  <a16:creationId xmlns:a16="http://schemas.microsoft.com/office/drawing/2014/main" id="{9FD29EF3-A5B2-554A-A307-6BE1BCE8AF03}"/>
                </a:ext>
              </a:extLst>
            </p:cNvPr>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a:extLst>
                <a:ext uri="{FF2B5EF4-FFF2-40B4-BE49-F238E27FC236}">
                  <a16:creationId xmlns:a16="http://schemas.microsoft.com/office/drawing/2014/main" id="{AC1ECAD8-0CF2-934D-AA1E-C108208CDE6F}"/>
                </a:ext>
              </a:extLst>
            </p:cNvPr>
            <p:cNvSpPr/>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DB14DED1-3A58-8C4D-902E-2A9F34043F61}"/>
                </a:ext>
              </a:extLst>
            </p:cNvPr>
            <p:cNvSpPr/>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65D65157-5719-0341-A807-A8956595FB4C}"/>
                </a:ext>
              </a:extLst>
            </p:cNvPr>
            <p:cNvSpPr/>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A7F23F74-B777-2A4C-8EF9-E798880D5942}"/>
                </a:ext>
              </a:extLst>
            </p:cNvPr>
            <p:cNvSpPr/>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a:extLst>
                <a:ext uri="{FF2B5EF4-FFF2-40B4-BE49-F238E27FC236}">
                  <a16:creationId xmlns:a16="http://schemas.microsoft.com/office/drawing/2014/main" id="{E3B9A050-0AE1-1D4B-A2AC-6EEF64B106D9}"/>
                </a:ext>
              </a:extLst>
            </p:cNvPr>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a:extLst>
                <a:ext uri="{FF2B5EF4-FFF2-40B4-BE49-F238E27FC236}">
                  <a16:creationId xmlns:a16="http://schemas.microsoft.com/office/drawing/2014/main" id="{C424FE38-F803-8D47-BF56-1B18EC2B1F03}"/>
                </a:ext>
              </a:extLst>
            </p:cNvPr>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a:extLst>
                <a:ext uri="{FF2B5EF4-FFF2-40B4-BE49-F238E27FC236}">
                  <a16:creationId xmlns:a16="http://schemas.microsoft.com/office/drawing/2014/main" id="{E37187F2-9212-0641-97D0-1ACD50B748A8}"/>
                </a:ext>
              </a:extLst>
            </p:cNvPr>
            <p:cNvSpPr/>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C760C651-2AC4-564E-BEAA-AB7FAFE7F79F}"/>
                </a:ext>
              </a:extLst>
            </p:cNvPr>
            <p:cNvSpPr/>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58B0A1B8-5BA3-3548-9511-B4904D05264B}"/>
                </a:ext>
              </a:extLst>
            </p:cNvPr>
            <p:cNvSpPr/>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a:extLst>
                <a:ext uri="{FF2B5EF4-FFF2-40B4-BE49-F238E27FC236}">
                  <a16:creationId xmlns:a16="http://schemas.microsoft.com/office/drawing/2014/main" id="{424CD779-EE9A-214D-9488-767327E373AA}"/>
                </a:ext>
              </a:extLst>
            </p:cNvPr>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a:extLst>
                <a:ext uri="{FF2B5EF4-FFF2-40B4-BE49-F238E27FC236}">
                  <a16:creationId xmlns:a16="http://schemas.microsoft.com/office/drawing/2014/main" id="{630D08C6-9EFB-8540-875F-2A55DED2AAE3}"/>
                </a:ext>
              </a:extLst>
            </p:cNvPr>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a:extLst>
                <a:ext uri="{FF2B5EF4-FFF2-40B4-BE49-F238E27FC236}">
                  <a16:creationId xmlns:a16="http://schemas.microsoft.com/office/drawing/2014/main" id="{D7E8DA86-1294-4641-9C52-6E153150641C}"/>
                </a:ext>
              </a:extLst>
            </p:cNvPr>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a:extLst>
                <a:ext uri="{FF2B5EF4-FFF2-40B4-BE49-F238E27FC236}">
                  <a16:creationId xmlns:a16="http://schemas.microsoft.com/office/drawing/2014/main" id="{011063C9-2A43-3348-A018-F27FACAA778D}"/>
                </a:ext>
              </a:extLst>
            </p:cNvPr>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a:extLst>
                <a:ext uri="{FF2B5EF4-FFF2-40B4-BE49-F238E27FC236}">
                  <a16:creationId xmlns:a16="http://schemas.microsoft.com/office/drawing/2014/main" id="{EE85C7DE-D965-244F-BD95-3A05FF4AAC61}"/>
                </a:ext>
              </a:extLst>
            </p:cNvPr>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a:extLst>
                <a:ext uri="{FF2B5EF4-FFF2-40B4-BE49-F238E27FC236}">
                  <a16:creationId xmlns:a16="http://schemas.microsoft.com/office/drawing/2014/main" id="{315A1389-149A-3342-A863-637D42FDB28D}"/>
                </a:ext>
              </a:extLst>
            </p:cNvPr>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a:extLst>
                <a:ext uri="{FF2B5EF4-FFF2-40B4-BE49-F238E27FC236}">
                  <a16:creationId xmlns:a16="http://schemas.microsoft.com/office/drawing/2014/main" id="{B149CC6F-B6C6-BE46-B451-1BF7D47A8936}"/>
                </a:ext>
              </a:extLst>
            </p:cNvPr>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CDAB39E9-6F50-3F4B-9DDB-FC0E0CA993A6}"/>
              </a:ext>
            </a:extLst>
          </p:cNvPr>
          <p:cNvSpPr>
            <a:spLocks noGrp="1"/>
          </p:cNvSpPr>
          <p:nvPr>
            <p:ph type="ctrTitle"/>
          </p:nvPr>
        </p:nvSpPr>
        <p:spPr>
          <a:xfrm>
            <a:off x="565150" y="768334"/>
            <a:ext cx="5066001" cy="2866405"/>
          </a:xfrm>
        </p:spPr>
        <p:txBody>
          <a:bodyPr anchor="t"/>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A6B2C33E-E9A6-304D-BBCB-97AD0B213CE0}"/>
              </a:ext>
            </a:extLst>
          </p:cNvPr>
          <p:cNvSpPr>
            <a:spLocks noGrp="1"/>
          </p:cNvSpPr>
          <p:nvPr>
            <p:ph type="subTitle" idx="1"/>
          </p:nvPr>
        </p:nvSpPr>
        <p:spPr>
          <a:xfrm>
            <a:off x="565150" y="4283239"/>
            <a:ext cx="5066001" cy="1475177"/>
          </a:xfrm>
        </p:spPr>
        <p:txBody>
          <a:bodyPr anchor="b"/>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29C75C4-E533-BE48-B528-D1A278BC39A3}"/>
              </a:ext>
            </a:extLst>
          </p:cNvPr>
          <p:cNvSpPr>
            <a:spLocks noGrp="1"/>
          </p:cNvSpPr>
          <p:nvPr>
            <p:ph type="dt" sz="half" idx="10"/>
          </p:nvPr>
        </p:nvSpPr>
        <p:spPr>
          <a:xfrm>
            <a:off x="566928" y="457200"/>
            <a:ext cx="3608205" cy="365125"/>
          </a:xfrm>
        </p:spPr>
        <p:txBody>
          <a:bodyPr/>
          <a:lstStyle>
            <a:lvl1pPr algn="l">
              <a:defRPr/>
            </a:lvl1pPr>
          </a:lstStyle>
          <a:p>
            <a:pPr algn="l"/>
            <a:fld id="{A5B0A250-5CC0-1746-B209-08E8B0DAE6AF}" type="datetimeFigureOut">
              <a:rPr lang="en-US" smtClean="0"/>
              <a:pPr algn="l"/>
              <a:t>4/20/2026</a:t>
            </a:fld>
            <a:endParaRPr lang="en-US" dirty="0"/>
          </a:p>
        </p:txBody>
      </p:sp>
      <p:sp>
        <p:nvSpPr>
          <p:cNvPr id="5" name="Footer Placeholder 4">
            <a:extLst>
              <a:ext uri="{FF2B5EF4-FFF2-40B4-BE49-F238E27FC236}">
                <a16:creationId xmlns:a16="http://schemas.microsoft.com/office/drawing/2014/main" id="{8F09BA8A-EF83-434D-A90E-0805D1104A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FCFDDE0-90B9-AD4E-B0EB-E7464FA9CDF2}"/>
              </a:ext>
            </a:extLst>
          </p:cNvPr>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dirty="0"/>
          </a:p>
        </p:txBody>
      </p:sp>
      <p:cxnSp>
        <p:nvCxnSpPr>
          <p:cNvPr id="7" name="Straight Connector 6">
            <a:extLst>
              <a:ext uri="{FF2B5EF4-FFF2-40B4-BE49-F238E27FC236}">
                <a16:creationId xmlns:a16="http://schemas.microsoft.com/office/drawing/2014/main" id="{D33A3282-0389-C547-8CA6-7F3E7F27B34D}"/>
              </a:ext>
            </a:extLst>
          </p:cNvPr>
          <p:cNvCxnSpPr>
            <a:cxnSpLocks/>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15871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F0CAFDA3-320A-C24D-A7A1-20C1267EC987}"/>
              </a:ext>
            </a:extLst>
          </p:cNvPr>
          <p:cNvGrpSpPr/>
          <p:nvPr/>
        </p:nvGrpSpPr>
        <p:grpSpPr>
          <a:xfrm>
            <a:off x="8928528" y="0"/>
            <a:ext cx="3263472" cy="6858000"/>
            <a:chOff x="8928528" y="0"/>
            <a:chExt cx="3263472" cy="6858000"/>
          </a:xfrm>
        </p:grpSpPr>
        <p:sp>
          <p:nvSpPr>
            <p:cNvPr id="23" name="Oval 22">
              <a:extLst>
                <a:ext uri="{FF2B5EF4-FFF2-40B4-BE49-F238E27FC236}">
                  <a16:creationId xmlns:a16="http://schemas.microsoft.com/office/drawing/2014/main" id="{D2411669-6E2C-2243-99CD-6BC9D724FA1F}"/>
                </a:ext>
              </a:extLst>
            </p:cNvPr>
            <p:cNvSpPr/>
            <p:nvPr/>
          </p:nvSpPr>
          <p:spPr>
            <a:xfrm>
              <a:off x="8928528"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a:extLst>
                <a:ext uri="{FF2B5EF4-FFF2-40B4-BE49-F238E27FC236}">
                  <a16:creationId xmlns:a16="http://schemas.microsoft.com/office/drawing/2014/main" id="{C4E0C522-0F40-ED44-A700-F1BCD1CF74F5}"/>
                </a:ext>
              </a:extLst>
            </p:cNvPr>
            <p:cNvSpPr/>
            <p:nvPr/>
          </p:nvSpPr>
          <p:spPr>
            <a:xfrm>
              <a:off x="8928528" y="0"/>
              <a:ext cx="1130724" cy="565573"/>
            </a:xfrm>
            <a:custGeom>
              <a:avLst/>
              <a:gdLst>
                <a:gd name="connsiteX0" fmla="*/ 22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2"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a:extLst>
                <a:ext uri="{FF2B5EF4-FFF2-40B4-BE49-F238E27FC236}">
                  <a16:creationId xmlns:a16="http://schemas.microsoft.com/office/drawing/2014/main" id="{B79B4380-CBEC-C341-A10E-5EF9A8597959}"/>
                </a:ext>
              </a:extLst>
            </p:cNvPr>
            <p:cNvSpPr/>
            <p:nvPr/>
          </p:nvSpPr>
          <p:spPr>
            <a:xfrm>
              <a:off x="10291391" y="6292417"/>
              <a:ext cx="1130724" cy="565583"/>
            </a:xfrm>
            <a:custGeom>
              <a:avLst/>
              <a:gdLst>
                <a:gd name="connsiteX0" fmla="*/ 565362 w 1130724"/>
                <a:gd name="connsiteY0" fmla="*/ 0 h 565583"/>
                <a:gd name="connsiteX1" fmla="*/ 1130724 w 1130724"/>
                <a:gd name="connsiteY1" fmla="*/ 565362 h 565583"/>
                <a:gd name="connsiteX2" fmla="*/ 1130702 w 1130724"/>
                <a:gd name="connsiteY2" fmla="*/ 565583 h 565583"/>
                <a:gd name="connsiteX3" fmla="*/ 22 w 1130724"/>
                <a:gd name="connsiteY3" fmla="*/ 565583 h 565583"/>
                <a:gd name="connsiteX4" fmla="*/ 0 w 1130724"/>
                <a:gd name="connsiteY4" fmla="*/ 565362 h 565583"/>
                <a:gd name="connsiteX5" fmla="*/ 565362 w 1130724"/>
                <a:gd name="connsiteY5" fmla="*/ 0 h 565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83">
                  <a:moveTo>
                    <a:pt x="565362" y="0"/>
                  </a:moveTo>
                  <a:cubicBezTo>
                    <a:pt x="877603" y="0"/>
                    <a:pt x="1130724" y="253121"/>
                    <a:pt x="1130724" y="565362"/>
                  </a:cubicBezTo>
                  <a:lnTo>
                    <a:pt x="1130702" y="565583"/>
                  </a:lnTo>
                  <a:lnTo>
                    <a:pt x="22" y="565583"/>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a:extLst>
                <a:ext uri="{FF2B5EF4-FFF2-40B4-BE49-F238E27FC236}">
                  <a16:creationId xmlns:a16="http://schemas.microsoft.com/office/drawing/2014/main" id="{F04AD70E-5490-4C4E-A05D-D67949C51A74}"/>
                </a:ext>
              </a:extLst>
            </p:cNvPr>
            <p:cNvSpPr/>
            <p:nvPr/>
          </p:nvSpPr>
          <p:spPr>
            <a:xfrm>
              <a:off x="10291392"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128A8883-9F24-0047-92B7-45B3D2E7D9C0}"/>
                </a:ext>
              </a:extLst>
            </p:cNvPr>
            <p:cNvSpPr/>
            <p:nvPr/>
          </p:nvSpPr>
          <p:spPr>
            <a:xfrm>
              <a:off x="10291392" y="2177876"/>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AAC3A3BB-FD2C-FB44-9478-FA87EF229D37}"/>
                </a:ext>
              </a:extLst>
            </p:cNvPr>
            <p:cNvSpPr/>
            <p:nvPr/>
          </p:nvSpPr>
          <p:spPr>
            <a:xfrm>
              <a:off x="10291392" y="806363"/>
              <a:ext cx="1130724" cy="11307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a:extLst>
                <a:ext uri="{FF2B5EF4-FFF2-40B4-BE49-F238E27FC236}">
                  <a16:creationId xmlns:a16="http://schemas.microsoft.com/office/drawing/2014/main" id="{BF46B3B1-E981-BB40-B916-51A6D3851969}"/>
                </a:ext>
              </a:extLst>
            </p:cNvPr>
            <p:cNvSpPr/>
            <p:nvPr/>
          </p:nvSpPr>
          <p:spPr>
            <a:xfrm>
              <a:off x="10291392"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29">
              <a:extLst>
                <a:ext uri="{FF2B5EF4-FFF2-40B4-BE49-F238E27FC236}">
                  <a16:creationId xmlns:a16="http://schemas.microsoft.com/office/drawing/2014/main" id="{EA7DAE92-7D6B-B042-83BE-047C8EC322A0}"/>
                </a:ext>
              </a:extLst>
            </p:cNvPr>
            <p:cNvSpPr/>
            <p:nvPr/>
          </p:nvSpPr>
          <p:spPr>
            <a:xfrm>
              <a:off x="11654256" y="6295201"/>
              <a:ext cx="537744" cy="562799"/>
            </a:xfrm>
            <a:custGeom>
              <a:avLst/>
              <a:gdLst>
                <a:gd name="connsiteX0" fmla="*/ 537744 w 537744"/>
                <a:gd name="connsiteY0" fmla="*/ 0 h 562799"/>
                <a:gd name="connsiteX1" fmla="*/ 537744 w 537744"/>
                <a:gd name="connsiteY1" fmla="*/ 562799 h 562799"/>
                <a:gd name="connsiteX2" fmla="*/ 22 w 537744"/>
                <a:gd name="connsiteY2" fmla="*/ 562799 h 562799"/>
                <a:gd name="connsiteX3" fmla="*/ 0 w 537744"/>
                <a:gd name="connsiteY3" fmla="*/ 562578 h 562799"/>
                <a:gd name="connsiteX4" fmla="*/ 451422 w 537744"/>
                <a:gd name="connsiteY4" fmla="*/ 8702 h 562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99">
                  <a:moveTo>
                    <a:pt x="537744" y="0"/>
                  </a:moveTo>
                  <a:lnTo>
                    <a:pt x="537744" y="562799"/>
                  </a:lnTo>
                  <a:lnTo>
                    <a:pt x="22" y="562799"/>
                  </a:lnTo>
                  <a:lnTo>
                    <a:pt x="0" y="562578"/>
                  </a:ln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30">
              <a:extLst>
                <a:ext uri="{FF2B5EF4-FFF2-40B4-BE49-F238E27FC236}">
                  <a16:creationId xmlns:a16="http://schemas.microsoft.com/office/drawing/2014/main" id="{06AADCE6-4277-EA49-AF23-63B53CA6772A}"/>
                </a:ext>
              </a:extLst>
            </p:cNvPr>
            <p:cNvSpPr/>
            <p:nvPr/>
          </p:nvSpPr>
          <p:spPr>
            <a:xfrm>
              <a:off x="11654256" y="4923687"/>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a:extLst>
                <a:ext uri="{FF2B5EF4-FFF2-40B4-BE49-F238E27FC236}">
                  <a16:creationId xmlns:a16="http://schemas.microsoft.com/office/drawing/2014/main" id="{58CEA343-047B-DF4E-A7A8-881C7740EA36}"/>
                </a:ext>
              </a:extLst>
            </p:cNvPr>
            <p:cNvSpPr/>
            <p:nvPr/>
          </p:nvSpPr>
          <p:spPr>
            <a:xfrm>
              <a:off x="11654256" y="3552173"/>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32">
              <a:extLst>
                <a:ext uri="{FF2B5EF4-FFF2-40B4-BE49-F238E27FC236}">
                  <a16:creationId xmlns:a16="http://schemas.microsoft.com/office/drawing/2014/main" id="{FCCBAA07-17CE-2740-AA04-AEDA5EAD2796}"/>
                </a:ext>
              </a:extLst>
            </p:cNvPr>
            <p:cNvSpPr/>
            <p:nvPr/>
          </p:nvSpPr>
          <p:spPr>
            <a:xfrm>
              <a:off x="11654256" y="2180659"/>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33">
              <a:extLst>
                <a:ext uri="{FF2B5EF4-FFF2-40B4-BE49-F238E27FC236}">
                  <a16:creationId xmlns:a16="http://schemas.microsoft.com/office/drawing/2014/main" id="{BF15C430-7951-6040-BD4C-4E996E94480E}"/>
                </a:ext>
              </a:extLst>
            </p:cNvPr>
            <p:cNvSpPr/>
            <p:nvPr/>
          </p:nvSpPr>
          <p:spPr>
            <a:xfrm>
              <a:off x="11654256" y="809146"/>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a:extLst>
                <a:ext uri="{FF2B5EF4-FFF2-40B4-BE49-F238E27FC236}">
                  <a16:creationId xmlns:a16="http://schemas.microsoft.com/office/drawing/2014/main" id="{0B3467F9-370D-5C4C-9EDE-E0CA0E401568}"/>
                </a:ext>
              </a:extLst>
            </p:cNvPr>
            <p:cNvSpPr/>
            <p:nvPr/>
          </p:nvSpPr>
          <p:spPr>
            <a:xfrm>
              <a:off x="11654256" y="0"/>
              <a:ext cx="537744" cy="562788"/>
            </a:xfrm>
            <a:custGeom>
              <a:avLst/>
              <a:gdLst>
                <a:gd name="connsiteX0" fmla="*/ 21 w 537744"/>
                <a:gd name="connsiteY0" fmla="*/ 0 h 562788"/>
                <a:gd name="connsiteX1" fmla="*/ 537744 w 537744"/>
                <a:gd name="connsiteY1" fmla="*/ 0 h 562788"/>
                <a:gd name="connsiteX2" fmla="*/ 537744 w 537744"/>
                <a:gd name="connsiteY2" fmla="*/ 562788 h 562788"/>
                <a:gd name="connsiteX3" fmla="*/ 451422 w 537744"/>
                <a:gd name="connsiteY3" fmla="*/ 554086 h 562788"/>
                <a:gd name="connsiteX4" fmla="*/ 0 w 537744"/>
                <a:gd name="connsiteY4" fmla="*/ 211 h 562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88">
                  <a:moveTo>
                    <a:pt x="21" y="0"/>
                  </a:moveTo>
                  <a:lnTo>
                    <a:pt x="537744" y="0"/>
                  </a:lnTo>
                  <a:lnTo>
                    <a:pt x="537744" y="562788"/>
                  </a:lnTo>
                  <a:lnTo>
                    <a:pt x="451422" y="554086"/>
                  </a:lnTo>
                  <a:cubicBezTo>
                    <a:pt x="193796" y="501368"/>
                    <a:pt x="0" y="273421"/>
                    <a:pt x="0" y="2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652A1E4-52BA-534C-AECC-35C3CF44F861}"/>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8315675-65B4-E14F-9785-663A83B7B6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676A1E-2332-684F-BDD2-687C166BDEC0}"/>
              </a:ext>
            </a:extLst>
          </p:cNvPr>
          <p:cNvSpPr>
            <a:spLocks noGrp="1"/>
          </p:cNvSpPr>
          <p:nvPr>
            <p:ph type="dt" sz="half" idx="10"/>
          </p:nvPr>
        </p:nvSpPr>
        <p:spPr/>
        <p:txBody>
          <a:bodyPr/>
          <a:lstStyle/>
          <a:p>
            <a:fld id="{A5B0A250-5CC0-1746-B209-08E8B0DAE6AF}" type="datetimeFigureOut">
              <a:rPr lang="en-US" smtClean="0"/>
              <a:t>4/20/2026</a:t>
            </a:fld>
            <a:endParaRPr lang="en-US" dirty="0"/>
          </a:p>
        </p:txBody>
      </p:sp>
      <p:sp>
        <p:nvSpPr>
          <p:cNvPr id="5" name="Footer Placeholder 4">
            <a:extLst>
              <a:ext uri="{FF2B5EF4-FFF2-40B4-BE49-F238E27FC236}">
                <a16:creationId xmlns:a16="http://schemas.microsoft.com/office/drawing/2014/main" id="{22BB8CB0-B7BE-7D4F-B254-8A2F8AEC273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3E5A569-A063-8E40-B703-82B11D2A988A}"/>
              </a:ext>
            </a:extLst>
          </p:cNvPr>
          <p:cNvSpPr>
            <a:spLocks noGrp="1"/>
          </p:cNvSpPr>
          <p:nvPr>
            <p:ph type="sldNum" sz="quarter" idx="12"/>
          </p:nvPr>
        </p:nvSpPr>
        <p:spPr>
          <a:xfrm>
            <a:off x="7087169" y="6141085"/>
            <a:ext cx="813816" cy="365125"/>
          </a:xfrm>
        </p:spPr>
        <p:txBody>
          <a:bodyPr/>
          <a:lstStyle/>
          <a:p>
            <a:fld id="{49ABCAEC-7D34-E549-A96E-FCEDAADBE4B0}" type="slidenum">
              <a:rPr lang="en-US" smtClean="0"/>
              <a:t>‹#›</a:t>
            </a:fld>
            <a:endParaRPr lang="en-US"/>
          </a:p>
        </p:txBody>
      </p:sp>
      <p:cxnSp>
        <p:nvCxnSpPr>
          <p:cNvPr id="7" name="Straight Connector 6">
            <a:extLst>
              <a:ext uri="{FF2B5EF4-FFF2-40B4-BE49-F238E27FC236}">
                <a16:creationId xmlns:a16="http://schemas.microsoft.com/office/drawing/2014/main" id="{8231D73A-BA91-794F-8C09-4F4B41A6D08B}"/>
              </a:ext>
            </a:extLst>
          </p:cNvPr>
          <p:cNvCxnSpPr>
            <a:cxnSpLocks/>
          </p:cNvCxnSpPr>
          <p:nvPr/>
        </p:nvCxnSpPr>
        <p:spPr>
          <a:xfrm>
            <a:off x="565150" y="6087110"/>
            <a:ext cx="7335835"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3993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3ABDDED5-B489-454D-A72D-46C9473AB018}"/>
              </a:ext>
            </a:extLst>
          </p:cNvPr>
          <p:cNvGrpSpPr/>
          <p:nvPr/>
        </p:nvGrpSpPr>
        <p:grpSpPr>
          <a:xfrm>
            <a:off x="6201388" y="0"/>
            <a:ext cx="5990612" cy="6858001"/>
            <a:chOff x="6201388" y="0"/>
            <a:chExt cx="5990612" cy="6858001"/>
          </a:xfrm>
        </p:grpSpPr>
        <p:sp>
          <p:nvSpPr>
            <p:cNvPr id="40" name="Oval 39">
              <a:extLst>
                <a:ext uri="{FF2B5EF4-FFF2-40B4-BE49-F238E27FC236}">
                  <a16:creationId xmlns:a16="http://schemas.microsoft.com/office/drawing/2014/main" id="{E6338A9A-49A1-B04D-B479-43604A5CD6D5}"/>
                </a:ext>
              </a:extLst>
            </p:cNvPr>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40">
              <a:extLst>
                <a:ext uri="{FF2B5EF4-FFF2-40B4-BE49-F238E27FC236}">
                  <a16:creationId xmlns:a16="http://schemas.microsoft.com/office/drawing/2014/main" id="{3151B6D8-101B-F34D-992A-1668DB5D0067}"/>
                </a:ext>
              </a:extLst>
            </p:cNvPr>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21D4DE71-EB1A-E74C-9364-5FEC5377F4EF}"/>
                </a:ext>
              </a:extLst>
            </p:cNvPr>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Oval 42">
              <a:extLst>
                <a:ext uri="{FF2B5EF4-FFF2-40B4-BE49-F238E27FC236}">
                  <a16:creationId xmlns:a16="http://schemas.microsoft.com/office/drawing/2014/main" id="{BD99A5CD-9D3A-DA46-AD96-34B9DB522051}"/>
                </a:ext>
              </a:extLst>
            </p:cNvPr>
            <p:cNvSpPr/>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E6537DF9-74F2-924C-9B63-22B100C80C92}"/>
                </a:ext>
              </a:extLst>
            </p:cNvPr>
            <p:cNvSpPr/>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D7655457-8E4D-F34C-A595-66A45E9C3A1F}"/>
                </a:ext>
              </a:extLst>
            </p:cNvPr>
            <p:cNvSpPr/>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a:extLst>
                <a:ext uri="{FF2B5EF4-FFF2-40B4-BE49-F238E27FC236}">
                  <a16:creationId xmlns:a16="http://schemas.microsoft.com/office/drawing/2014/main" id="{FB0E8D2C-8947-E44C-BC5F-F81B083DAA3E}"/>
                </a:ext>
              </a:extLst>
            </p:cNvPr>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46">
              <a:extLst>
                <a:ext uri="{FF2B5EF4-FFF2-40B4-BE49-F238E27FC236}">
                  <a16:creationId xmlns:a16="http://schemas.microsoft.com/office/drawing/2014/main" id="{ED57F45D-85B8-AC49-A2BA-E941F1BE7F15}"/>
                </a:ext>
              </a:extLst>
            </p:cNvPr>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Oval 47">
              <a:extLst>
                <a:ext uri="{FF2B5EF4-FFF2-40B4-BE49-F238E27FC236}">
                  <a16:creationId xmlns:a16="http://schemas.microsoft.com/office/drawing/2014/main" id="{DA576359-CAE3-634C-8DF8-A834BCD7D668}"/>
                </a:ext>
              </a:extLst>
            </p:cNvPr>
            <p:cNvSpPr/>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16343F35-6601-BD4A-B9A5-25361D0453D2}"/>
                </a:ext>
              </a:extLst>
            </p:cNvPr>
            <p:cNvSpPr/>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5ED1C169-DCD9-9C4B-91B1-519621155A64}"/>
                </a:ext>
              </a:extLst>
            </p:cNvPr>
            <p:cNvSpPr/>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32328AC7-E0BC-0E46-A25B-11D523EC8100}"/>
                </a:ext>
              </a:extLst>
            </p:cNvPr>
            <p:cNvSpPr/>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51">
              <a:extLst>
                <a:ext uri="{FF2B5EF4-FFF2-40B4-BE49-F238E27FC236}">
                  <a16:creationId xmlns:a16="http://schemas.microsoft.com/office/drawing/2014/main" id="{32BBE02A-588F-6C4D-B310-694098C6A340}"/>
                </a:ext>
              </a:extLst>
            </p:cNvPr>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3" name="Freeform 52">
              <a:extLst>
                <a:ext uri="{FF2B5EF4-FFF2-40B4-BE49-F238E27FC236}">
                  <a16:creationId xmlns:a16="http://schemas.microsoft.com/office/drawing/2014/main" id="{6751D5A0-C90A-0A44-8654-CFE1B719B353}"/>
                </a:ext>
              </a:extLst>
            </p:cNvPr>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Oval 53">
              <a:extLst>
                <a:ext uri="{FF2B5EF4-FFF2-40B4-BE49-F238E27FC236}">
                  <a16:creationId xmlns:a16="http://schemas.microsoft.com/office/drawing/2014/main" id="{0F0FA086-0D80-B74A-9B37-5EACDE30D61F}"/>
                </a:ext>
              </a:extLst>
            </p:cNvPr>
            <p:cNvSpPr/>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7022E302-2A55-8844-A50B-DC16D075E16B}"/>
                </a:ext>
              </a:extLst>
            </p:cNvPr>
            <p:cNvSpPr/>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F4B325F5-A048-2843-A40B-3B2B31ECED76}"/>
                </a:ext>
              </a:extLst>
            </p:cNvPr>
            <p:cNvSpPr/>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reeform 56">
              <a:extLst>
                <a:ext uri="{FF2B5EF4-FFF2-40B4-BE49-F238E27FC236}">
                  <a16:creationId xmlns:a16="http://schemas.microsoft.com/office/drawing/2014/main" id="{7707B616-7E85-5442-B46B-AF9426A7A0E9}"/>
                </a:ext>
              </a:extLst>
            </p:cNvPr>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8" name="Freeform 57">
              <a:extLst>
                <a:ext uri="{FF2B5EF4-FFF2-40B4-BE49-F238E27FC236}">
                  <a16:creationId xmlns:a16="http://schemas.microsoft.com/office/drawing/2014/main" id="{08914A00-D181-5847-A150-77CE67F94369}"/>
                </a:ext>
              </a:extLst>
            </p:cNvPr>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a:extLst>
                <a:ext uri="{FF2B5EF4-FFF2-40B4-BE49-F238E27FC236}">
                  <a16:creationId xmlns:a16="http://schemas.microsoft.com/office/drawing/2014/main" id="{DAF2D976-5F49-2848-B465-C85708A6D706}"/>
                </a:ext>
              </a:extLst>
            </p:cNvPr>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Freeform 59">
              <a:extLst>
                <a:ext uri="{FF2B5EF4-FFF2-40B4-BE49-F238E27FC236}">
                  <a16:creationId xmlns:a16="http://schemas.microsoft.com/office/drawing/2014/main" id="{5E333474-B850-354C-A2E2-01735C948D47}"/>
                </a:ext>
              </a:extLst>
            </p:cNvPr>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1" name="Freeform 60">
              <a:extLst>
                <a:ext uri="{FF2B5EF4-FFF2-40B4-BE49-F238E27FC236}">
                  <a16:creationId xmlns:a16="http://schemas.microsoft.com/office/drawing/2014/main" id="{BC25646C-71B3-4A44-A4FE-C3CABE5580BB}"/>
                </a:ext>
              </a:extLst>
            </p:cNvPr>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61">
              <a:extLst>
                <a:ext uri="{FF2B5EF4-FFF2-40B4-BE49-F238E27FC236}">
                  <a16:creationId xmlns:a16="http://schemas.microsoft.com/office/drawing/2014/main" id="{B598CFE9-67EE-E342-9EF7-F40A1E0BE59E}"/>
                </a:ext>
              </a:extLst>
            </p:cNvPr>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3" name="Freeform 62">
              <a:extLst>
                <a:ext uri="{FF2B5EF4-FFF2-40B4-BE49-F238E27FC236}">
                  <a16:creationId xmlns:a16="http://schemas.microsoft.com/office/drawing/2014/main" id="{1E29AD13-94FE-1349-A28E-10F6E780F510}"/>
                </a:ext>
              </a:extLst>
            </p:cNvPr>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650648E-B4D5-4145-84E7-46B5793EA68B}"/>
              </a:ext>
            </a:extLst>
          </p:cNvPr>
          <p:cNvSpPr>
            <a:spLocks noGrp="1"/>
          </p:cNvSpPr>
          <p:nvPr>
            <p:ph type="title"/>
          </p:nvPr>
        </p:nvSpPr>
        <p:spPr>
          <a:xfrm>
            <a:off x="565150" y="768351"/>
            <a:ext cx="5066001" cy="2334768"/>
          </a:xfrm>
        </p:spPr>
        <p:txBody>
          <a:bodyPr anchor="t"/>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E3B92A6-7558-3148-B855-5BC58B4159C5}"/>
              </a:ext>
            </a:extLst>
          </p:cNvPr>
          <p:cNvSpPr>
            <a:spLocks noGrp="1"/>
          </p:cNvSpPr>
          <p:nvPr>
            <p:ph type="body" idx="1"/>
          </p:nvPr>
        </p:nvSpPr>
        <p:spPr>
          <a:xfrm>
            <a:off x="565150" y="4255453"/>
            <a:ext cx="5066001" cy="1500187"/>
          </a:xfrm>
        </p:spPr>
        <p:txBody>
          <a:bodyPr anchor="b"/>
          <a:lstStyle>
            <a:lvl1pPr marL="0" indent="0">
              <a:buNone/>
              <a:defRPr sz="2400">
                <a:solidFill>
                  <a:schemeClr val="bg1">
                    <a:lumMod val="6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3A0B541-D211-974B-97FE-C1F9473ABE9D}"/>
              </a:ext>
            </a:extLst>
          </p:cNvPr>
          <p:cNvSpPr>
            <a:spLocks noGrp="1"/>
          </p:cNvSpPr>
          <p:nvPr>
            <p:ph type="dt" sz="half" idx="10"/>
          </p:nvPr>
        </p:nvSpPr>
        <p:spPr/>
        <p:txBody>
          <a:bodyPr/>
          <a:lstStyle/>
          <a:p>
            <a:fld id="{A5B0A250-5CC0-1746-B209-08E8B0DAE6AF}" type="datetimeFigureOut">
              <a:rPr lang="en-US" smtClean="0"/>
              <a:t>4/20/2026</a:t>
            </a:fld>
            <a:endParaRPr lang="en-US" dirty="0"/>
          </a:p>
        </p:txBody>
      </p:sp>
      <p:sp>
        <p:nvSpPr>
          <p:cNvPr id="5" name="Footer Placeholder 4">
            <a:extLst>
              <a:ext uri="{FF2B5EF4-FFF2-40B4-BE49-F238E27FC236}">
                <a16:creationId xmlns:a16="http://schemas.microsoft.com/office/drawing/2014/main" id="{A1727FB0-D95A-D543-8E29-6E5F22B491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89C4404-F49D-9F48-A10B-1F60870B4450}"/>
              </a:ext>
            </a:extLst>
          </p:cNvPr>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dirty="0"/>
          </a:p>
        </p:txBody>
      </p:sp>
      <p:cxnSp>
        <p:nvCxnSpPr>
          <p:cNvPr id="7" name="Straight Connector 6">
            <a:extLst>
              <a:ext uri="{FF2B5EF4-FFF2-40B4-BE49-F238E27FC236}">
                <a16:creationId xmlns:a16="http://schemas.microsoft.com/office/drawing/2014/main" id="{2D6A1FD1-D82F-3141-8687-8D7C0631C215}"/>
              </a:ext>
            </a:extLst>
          </p:cNvPr>
          <p:cNvCxnSpPr>
            <a:cxnSpLocks/>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4205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442ECFEB-12CF-4C4F-BC8A-5816C27CA565}"/>
              </a:ext>
            </a:extLst>
          </p:cNvPr>
          <p:cNvGrpSpPr/>
          <p:nvPr/>
        </p:nvGrpSpPr>
        <p:grpSpPr>
          <a:xfrm>
            <a:off x="10290315" y="0"/>
            <a:ext cx="1901686" cy="6858000"/>
            <a:chOff x="10290315" y="0"/>
            <a:chExt cx="1901686" cy="6858000"/>
          </a:xfrm>
        </p:grpSpPr>
        <p:sp>
          <p:nvSpPr>
            <p:cNvPr id="18" name="Oval 17">
              <a:extLst>
                <a:ext uri="{FF2B5EF4-FFF2-40B4-BE49-F238E27FC236}">
                  <a16:creationId xmlns:a16="http://schemas.microsoft.com/office/drawing/2014/main" id="{626C9482-2804-144B-88B2-0AF191BD757D}"/>
                </a:ext>
              </a:extLst>
            </p:cNvPr>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a:extLst>
                <a:ext uri="{FF2B5EF4-FFF2-40B4-BE49-F238E27FC236}">
                  <a16:creationId xmlns:a16="http://schemas.microsoft.com/office/drawing/2014/main" id="{71363F79-96BD-9240-86E2-DF26C9C2437D}"/>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153F0BF1-DA57-1D49-82F0-802F4D385A85}"/>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8CD42A1B-A03A-C946-8A2A-CE437EA433FD}"/>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5591FE00-3AAF-9B4B-8107-E94D50828227}"/>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149E92E9-89A7-4842-B271-411C7DF75D2D}"/>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23">
              <a:extLst>
                <a:ext uri="{FF2B5EF4-FFF2-40B4-BE49-F238E27FC236}">
                  <a16:creationId xmlns:a16="http://schemas.microsoft.com/office/drawing/2014/main" id="{4DC29C99-0841-9F46-AB1A-E9751DFE4487}"/>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EE0AB684-BDA8-014B-8DCC-125F8B8DCEE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2540E05-0F5F-6243-AD57-66BFC33ADBAC}"/>
              </a:ext>
            </a:extLst>
          </p:cNvPr>
          <p:cNvSpPr>
            <a:spLocks noGrp="1"/>
          </p:cNvSpPr>
          <p:nvPr>
            <p:ph sz="half" idx="1"/>
          </p:nvPr>
        </p:nvSpPr>
        <p:spPr>
          <a:xfrm>
            <a:off x="562851"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170B3A4-11FE-D94C-9B93-255E36231064}"/>
              </a:ext>
            </a:extLst>
          </p:cNvPr>
          <p:cNvSpPr>
            <a:spLocks noGrp="1"/>
          </p:cNvSpPr>
          <p:nvPr>
            <p:ph sz="half" idx="2"/>
          </p:nvPr>
        </p:nvSpPr>
        <p:spPr>
          <a:xfrm>
            <a:off x="6389638"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D67BEEAF-F881-6E48-84AF-E5CEEF1C7167}"/>
              </a:ext>
            </a:extLst>
          </p:cNvPr>
          <p:cNvSpPr>
            <a:spLocks noGrp="1"/>
          </p:cNvSpPr>
          <p:nvPr>
            <p:ph type="dt" sz="half" idx="10"/>
          </p:nvPr>
        </p:nvSpPr>
        <p:spPr/>
        <p:txBody>
          <a:bodyPr/>
          <a:lstStyle/>
          <a:p>
            <a:fld id="{A5B0A250-5CC0-1746-B209-08E8B0DAE6AF}" type="datetimeFigureOut">
              <a:rPr lang="en-US" smtClean="0"/>
              <a:t>4/20/2026</a:t>
            </a:fld>
            <a:endParaRPr lang="en-US" dirty="0"/>
          </a:p>
        </p:txBody>
      </p:sp>
      <p:sp>
        <p:nvSpPr>
          <p:cNvPr id="6" name="Footer Placeholder 5">
            <a:extLst>
              <a:ext uri="{FF2B5EF4-FFF2-40B4-BE49-F238E27FC236}">
                <a16:creationId xmlns:a16="http://schemas.microsoft.com/office/drawing/2014/main" id="{9C472753-1CC3-9244-9AF0-6927018A64F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4DD55D0-FCC7-AC42-9810-9B49E3348958}"/>
              </a:ext>
            </a:extLst>
          </p:cNvPr>
          <p:cNvSpPr>
            <a:spLocks noGrp="1"/>
          </p:cNvSpPr>
          <p:nvPr>
            <p:ph type="sldNum" sz="quarter" idx="12"/>
          </p:nvPr>
        </p:nvSpPr>
        <p:spPr/>
        <p:txBody>
          <a:bodyPr/>
          <a:lstStyle/>
          <a:p>
            <a:fld id="{49ABCAEC-7D34-E549-A96E-FCEDAADBE4B0}" type="slidenum">
              <a:rPr lang="en-US" smtClean="0"/>
              <a:t>‹#›</a:t>
            </a:fld>
            <a:endParaRPr lang="en-US" dirty="0"/>
          </a:p>
        </p:txBody>
      </p:sp>
      <p:cxnSp>
        <p:nvCxnSpPr>
          <p:cNvPr id="8" name="Straight Connector 7">
            <a:extLst>
              <a:ext uri="{FF2B5EF4-FFF2-40B4-BE49-F238E27FC236}">
                <a16:creationId xmlns:a16="http://schemas.microsoft.com/office/drawing/2014/main" id="{5FC736C3-88FB-244C-83B8-B2856998D221}"/>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8086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B7D16A9C-7411-5242-A59C-816B8907E3BE}"/>
              </a:ext>
            </a:extLst>
          </p:cNvPr>
          <p:cNvGrpSpPr/>
          <p:nvPr/>
        </p:nvGrpSpPr>
        <p:grpSpPr>
          <a:xfrm>
            <a:off x="10290315" y="0"/>
            <a:ext cx="1901686" cy="6858000"/>
            <a:chOff x="10290315" y="0"/>
            <a:chExt cx="1901686" cy="6858000"/>
          </a:xfrm>
        </p:grpSpPr>
        <p:sp>
          <p:nvSpPr>
            <p:cNvPr id="20" name="Oval 19">
              <a:extLst>
                <a:ext uri="{FF2B5EF4-FFF2-40B4-BE49-F238E27FC236}">
                  <a16:creationId xmlns:a16="http://schemas.microsoft.com/office/drawing/2014/main" id="{A997260B-7D44-7049-B605-7FD6E6CE5612}"/>
                </a:ext>
              </a:extLst>
            </p:cNvPr>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a:extLst>
                <a:ext uri="{FF2B5EF4-FFF2-40B4-BE49-F238E27FC236}">
                  <a16:creationId xmlns:a16="http://schemas.microsoft.com/office/drawing/2014/main" id="{5D6AF601-77C3-D74A-B1E5-7F33703A6927}"/>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4DFCA921-0F9E-2E41-A285-75409E25501A}"/>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120B9E03-438B-FC42-9DA1-835D5BC3FE88}"/>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23">
              <a:extLst>
                <a:ext uri="{FF2B5EF4-FFF2-40B4-BE49-F238E27FC236}">
                  <a16:creationId xmlns:a16="http://schemas.microsoft.com/office/drawing/2014/main" id="{4D670E1F-61CD-8940-A898-6D5092A78BB9}"/>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a:extLst>
                <a:ext uri="{FF2B5EF4-FFF2-40B4-BE49-F238E27FC236}">
                  <a16:creationId xmlns:a16="http://schemas.microsoft.com/office/drawing/2014/main" id="{080C64CF-0C6A-3449-9709-AE038C4A7995}"/>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25">
              <a:extLst>
                <a:ext uri="{FF2B5EF4-FFF2-40B4-BE49-F238E27FC236}">
                  <a16:creationId xmlns:a16="http://schemas.microsoft.com/office/drawing/2014/main" id="{FEC46D5B-957F-A24C-8E36-CC71F660EC8B}"/>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9058182F-7B5E-FD42-AFC6-A3848D8332AC}"/>
              </a:ext>
            </a:extLst>
          </p:cNvPr>
          <p:cNvSpPr>
            <a:spLocks noGrp="1"/>
          </p:cNvSpPr>
          <p:nvPr>
            <p:ph type="title"/>
          </p:nvPr>
        </p:nvSpPr>
        <p:spPr>
          <a:xfrm>
            <a:off x="566928" y="768096"/>
            <a:ext cx="7333488" cy="127101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FD9E4DE-75C0-C841-A68D-9D7BBAD76C5E}"/>
              </a:ext>
            </a:extLst>
          </p:cNvPr>
          <p:cNvSpPr>
            <a:spLocks noGrp="1"/>
          </p:cNvSpPr>
          <p:nvPr>
            <p:ph type="body" idx="1"/>
          </p:nvPr>
        </p:nvSpPr>
        <p:spPr>
          <a:xfrm>
            <a:off x="562149"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B5C87F7-356E-9E43-97A0-D972B22853DA}"/>
              </a:ext>
            </a:extLst>
          </p:cNvPr>
          <p:cNvSpPr>
            <a:spLocks noGrp="1"/>
          </p:cNvSpPr>
          <p:nvPr>
            <p:ph sz="half" idx="2"/>
          </p:nvPr>
        </p:nvSpPr>
        <p:spPr>
          <a:xfrm>
            <a:off x="562149"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DAB4C28-30CB-CC4E-A25E-F4FEFA49BCA5}"/>
              </a:ext>
            </a:extLst>
          </p:cNvPr>
          <p:cNvSpPr>
            <a:spLocks noGrp="1"/>
          </p:cNvSpPr>
          <p:nvPr>
            <p:ph type="body" sz="quarter" idx="3"/>
          </p:nvPr>
        </p:nvSpPr>
        <p:spPr>
          <a:xfrm>
            <a:off x="6383066"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E9ED0191-963B-1E4C-BEC5-9B42E39514A3}"/>
              </a:ext>
            </a:extLst>
          </p:cNvPr>
          <p:cNvSpPr>
            <a:spLocks noGrp="1"/>
          </p:cNvSpPr>
          <p:nvPr>
            <p:ph sz="quarter" idx="4"/>
          </p:nvPr>
        </p:nvSpPr>
        <p:spPr>
          <a:xfrm>
            <a:off x="6383066"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7F0E0BED-3EB7-BB4A-A556-FA967FB0115F}"/>
              </a:ext>
            </a:extLst>
          </p:cNvPr>
          <p:cNvSpPr>
            <a:spLocks noGrp="1"/>
          </p:cNvSpPr>
          <p:nvPr>
            <p:ph type="dt" sz="half" idx="10"/>
          </p:nvPr>
        </p:nvSpPr>
        <p:spPr/>
        <p:txBody>
          <a:bodyPr/>
          <a:lstStyle/>
          <a:p>
            <a:fld id="{A5B0A250-5CC0-1746-B209-08E8B0DAE6AF}" type="datetimeFigureOut">
              <a:rPr lang="en-US" smtClean="0"/>
              <a:t>4/20/2026</a:t>
            </a:fld>
            <a:endParaRPr lang="en-US" dirty="0"/>
          </a:p>
        </p:txBody>
      </p:sp>
      <p:sp>
        <p:nvSpPr>
          <p:cNvPr id="8" name="Footer Placeholder 7">
            <a:extLst>
              <a:ext uri="{FF2B5EF4-FFF2-40B4-BE49-F238E27FC236}">
                <a16:creationId xmlns:a16="http://schemas.microsoft.com/office/drawing/2014/main" id="{B6A2466A-4D90-174C-B382-AC4674D7215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6EADE49-8082-214B-9742-5EE8DA2E9FFE}"/>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10" name="Straight Connector 9">
            <a:extLst>
              <a:ext uri="{FF2B5EF4-FFF2-40B4-BE49-F238E27FC236}">
                <a16:creationId xmlns:a16="http://schemas.microsoft.com/office/drawing/2014/main" id="{75E39200-18D5-014B-BAB8-FF5D0BA15E0C}"/>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2551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D7DF52F6-A06E-0343-95B8-DAAC38DB4B8C}"/>
              </a:ext>
            </a:extLst>
          </p:cNvPr>
          <p:cNvGrpSpPr/>
          <p:nvPr/>
        </p:nvGrpSpPr>
        <p:grpSpPr>
          <a:xfrm>
            <a:off x="10290315" y="0"/>
            <a:ext cx="1901686" cy="6858000"/>
            <a:chOff x="10290315" y="0"/>
            <a:chExt cx="1901686" cy="6858000"/>
          </a:xfrm>
        </p:grpSpPr>
        <p:sp>
          <p:nvSpPr>
            <p:cNvPr id="16" name="Oval 15">
              <a:extLst>
                <a:ext uri="{FF2B5EF4-FFF2-40B4-BE49-F238E27FC236}">
                  <a16:creationId xmlns:a16="http://schemas.microsoft.com/office/drawing/2014/main" id="{67092C52-7052-0749-9DA0-9374DBF495AE}"/>
                </a:ext>
              </a:extLst>
            </p:cNvPr>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a:extLst>
                <a:ext uri="{FF2B5EF4-FFF2-40B4-BE49-F238E27FC236}">
                  <a16:creationId xmlns:a16="http://schemas.microsoft.com/office/drawing/2014/main" id="{C64E1C2F-81E1-C44D-859C-946596C950F2}"/>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a:extLst>
                <a:ext uri="{FF2B5EF4-FFF2-40B4-BE49-F238E27FC236}">
                  <a16:creationId xmlns:a16="http://schemas.microsoft.com/office/drawing/2014/main" id="{53626485-4263-0A44-9561-E278A7056C33}"/>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7D45AAB5-3CCC-DE4A-A962-3702911B55CC}"/>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8CAFB16F-8EDE-D44F-A51E-34EDC41E7404}"/>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DCD51329-732C-BB4C-98E5-715BAF9F8853}"/>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192B5D44-BC55-AF4C-984D-C8231B22F80B}"/>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DFA1E9E2-564E-7049-A22F-BB5B876BABB5}"/>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B6359D05-C08D-7747-B2FC-3F62B3357315}"/>
              </a:ext>
            </a:extLst>
          </p:cNvPr>
          <p:cNvSpPr>
            <a:spLocks noGrp="1"/>
          </p:cNvSpPr>
          <p:nvPr>
            <p:ph type="dt" sz="half" idx="10"/>
          </p:nvPr>
        </p:nvSpPr>
        <p:spPr/>
        <p:txBody>
          <a:bodyPr/>
          <a:lstStyle/>
          <a:p>
            <a:fld id="{A5B0A250-5CC0-1746-B209-08E8B0DAE6AF}" type="datetimeFigureOut">
              <a:rPr lang="en-US" smtClean="0"/>
              <a:t>4/20/2026</a:t>
            </a:fld>
            <a:endParaRPr lang="en-US" dirty="0"/>
          </a:p>
        </p:txBody>
      </p:sp>
      <p:sp>
        <p:nvSpPr>
          <p:cNvPr id="4" name="Footer Placeholder 3">
            <a:extLst>
              <a:ext uri="{FF2B5EF4-FFF2-40B4-BE49-F238E27FC236}">
                <a16:creationId xmlns:a16="http://schemas.microsoft.com/office/drawing/2014/main" id="{8E2FF615-BB08-A844-B689-BAA7C50407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63A67D-F96F-4849-8C83-49CC3A6539BB}"/>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6" name="Straight Connector 5">
            <a:extLst>
              <a:ext uri="{FF2B5EF4-FFF2-40B4-BE49-F238E27FC236}">
                <a16:creationId xmlns:a16="http://schemas.microsoft.com/office/drawing/2014/main" id="{1DCFAAB9-2B6B-8D4C-A748-433E2C393EA6}"/>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3086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798BCA70-D63D-40F6-B9B3-4E49B96E27FB}"/>
              </a:ext>
            </a:extLst>
          </p:cNvPr>
          <p:cNvSpPr>
            <a:spLocks noGrp="1"/>
          </p:cNvSpPr>
          <p:nvPr>
            <p:ph type="dt" sz="half" idx="10"/>
          </p:nvPr>
        </p:nvSpPr>
        <p:spPr/>
        <p:txBody>
          <a:bodyPr/>
          <a:lstStyle/>
          <a:p>
            <a:fld id="{A5B0A250-5CC0-1746-B209-08E8B0DAE6AF}" type="datetimeFigureOut">
              <a:rPr lang="en-US" smtClean="0"/>
              <a:pPr/>
              <a:t>4/20/2026</a:t>
            </a:fld>
            <a:endParaRPr lang="en-US" dirty="0"/>
          </a:p>
        </p:txBody>
      </p:sp>
      <p:sp>
        <p:nvSpPr>
          <p:cNvPr id="6" name="Footer Placeholder 5">
            <a:extLst>
              <a:ext uri="{FF2B5EF4-FFF2-40B4-BE49-F238E27FC236}">
                <a16:creationId xmlns:a16="http://schemas.microsoft.com/office/drawing/2014/main" id="{72F12559-BD91-4904-A24A-0CF0A2324A0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B658BB7-74A5-4A6F-A0FF-021E68F02BFF}"/>
              </a:ext>
            </a:extLst>
          </p:cNvPr>
          <p:cNvSpPr>
            <a:spLocks noGrp="1"/>
          </p:cNvSpPr>
          <p:nvPr>
            <p:ph type="sldNum" sz="quarter" idx="12"/>
          </p:nvPr>
        </p:nvSpPr>
        <p:spPr/>
        <p:txBody>
          <a:bodyPr/>
          <a:lstStyle/>
          <a:p>
            <a:fld id="{49ABCAEC-7D34-E549-A96E-FCEDAADBE4B0}" type="slidenum">
              <a:rPr lang="en-US" smtClean="0"/>
              <a:pPr/>
              <a:t>‹#›</a:t>
            </a:fld>
            <a:endParaRPr lang="en-US" dirty="0"/>
          </a:p>
        </p:txBody>
      </p:sp>
    </p:spTree>
    <p:extLst>
      <p:ext uri="{BB962C8B-B14F-4D97-AF65-F5344CB8AC3E}">
        <p14:creationId xmlns:p14="http://schemas.microsoft.com/office/powerpoint/2010/main" val="2707275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D0914A35-7AAF-4B42-9C68-47A633EFD9D0}"/>
              </a:ext>
            </a:extLst>
          </p:cNvPr>
          <p:cNvGrpSpPr/>
          <p:nvPr/>
        </p:nvGrpSpPr>
        <p:grpSpPr>
          <a:xfrm>
            <a:off x="10290315" y="0"/>
            <a:ext cx="1901686" cy="6858000"/>
            <a:chOff x="10290315" y="0"/>
            <a:chExt cx="1901686" cy="6858000"/>
          </a:xfrm>
        </p:grpSpPr>
        <p:sp>
          <p:nvSpPr>
            <p:cNvPr id="18" name="Freeform 17">
              <a:extLst>
                <a:ext uri="{FF2B5EF4-FFF2-40B4-BE49-F238E27FC236}">
                  <a16:creationId xmlns:a16="http://schemas.microsoft.com/office/drawing/2014/main" id="{DABCED79-0E70-FB4D-ABF2-D859BF5556E4}"/>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8364885D-A3A4-5144-AB4E-7624F27287E6}"/>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D22073D5-CC72-0549-BD26-F7AF9851BE45}"/>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1827A049-C9FD-554E-9B01-F151B0D9E86B}"/>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76832559-4D18-8744-AB91-9FCFAB732477}"/>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BF97A623-E5DC-1B44-B687-8643B9F0D741}"/>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3637BBE1-2C82-4E45-B5C5-35E07B05EA4E}"/>
              </a:ext>
            </a:extLst>
          </p:cNvPr>
          <p:cNvSpPr>
            <a:spLocks noGrp="1"/>
          </p:cNvSpPr>
          <p:nvPr>
            <p:ph type="title"/>
          </p:nvPr>
        </p:nvSpPr>
        <p:spPr>
          <a:xfrm>
            <a:off x="565151" y="764973"/>
            <a:ext cx="3609982" cy="1395043"/>
          </a:xfrm>
        </p:spPr>
        <p:txBody>
          <a:bodyPr anchor="t"/>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54201F2E-A734-364B-8A7D-990D6B8893D0}"/>
              </a:ext>
            </a:extLst>
          </p:cNvPr>
          <p:cNvSpPr>
            <a:spLocks noGrp="1"/>
          </p:cNvSpPr>
          <p:nvPr>
            <p:ph idx="1"/>
          </p:nvPr>
        </p:nvSpPr>
        <p:spPr>
          <a:xfrm>
            <a:off x="5104832" y="770890"/>
            <a:ext cx="6112517" cy="4800570"/>
          </a:xfrm>
        </p:spPr>
        <p:txBody>
          <a:bodyPr/>
          <a:lstStyle>
            <a:lvl1pPr>
              <a:defRPr sz="2800"/>
            </a:lvl1pPr>
            <a:lvl2pPr>
              <a:defRPr sz="24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D57CBAD9-5515-1748-8E77-F48160F4ED1C}"/>
              </a:ext>
            </a:extLst>
          </p:cNvPr>
          <p:cNvSpPr>
            <a:spLocks noGrp="1"/>
          </p:cNvSpPr>
          <p:nvPr>
            <p:ph type="body" sz="half" idx="2"/>
          </p:nvPr>
        </p:nvSpPr>
        <p:spPr>
          <a:xfrm>
            <a:off x="565150" y="2160016"/>
            <a:ext cx="3609983" cy="37089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A6C22B-80D4-AA42-9999-401E37B469C0}"/>
              </a:ext>
            </a:extLst>
          </p:cNvPr>
          <p:cNvSpPr>
            <a:spLocks noGrp="1"/>
          </p:cNvSpPr>
          <p:nvPr>
            <p:ph type="dt" sz="half" idx="10"/>
          </p:nvPr>
        </p:nvSpPr>
        <p:spPr/>
        <p:txBody>
          <a:bodyPr/>
          <a:lstStyle/>
          <a:p>
            <a:fld id="{A5B0A250-5CC0-1746-B209-08E8B0DAE6AF}" type="datetimeFigureOut">
              <a:rPr lang="en-US" smtClean="0"/>
              <a:t>4/20/2026</a:t>
            </a:fld>
            <a:endParaRPr lang="en-US" dirty="0"/>
          </a:p>
        </p:txBody>
      </p:sp>
      <p:sp>
        <p:nvSpPr>
          <p:cNvPr id="6" name="Footer Placeholder 5">
            <a:extLst>
              <a:ext uri="{FF2B5EF4-FFF2-40B4-BE49-F238E27FC236}">
                <a16:creationId xmlns:a16="http://schemas.microsoft.com/office/drawing/2014/main" id="{03055DE4-33E8-7F4B-9334-95EA60845C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470FA5-21EE-D742-8F01-C1BAE0FDB064}"/>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a:extLst>
              <a:ext uri="{FF2B5EF4-FFF2-40B4-BE49-F238E27FC236}">
                <a16:creationId xmlns:a16="http://schemas.microsoft.com/office/drawing/2014/main" id="{BEF966AA-D7DF-F84D-80D4-E216A641B005}"/>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3608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210D391A-F01E-4947-8A01-95438AA0B323}"/>
              </a:ext>
            </a:extLst>
          </p:cNvPr>
          <p:cNvGrpSpPr/>
          <p:nvPr/>
        </p:nvGrpSpPr>
        <p:grpSpPr>
          <a:xfrm>
            <a:off x="10290315" y="0"/>
            <a:ext cx="1901686" cy="6858000"/>
            <a:chOff x="10290315" y="0"/>
            <a:chExt cx="1901686" cy="6858000"/>
          </a:xfrm>
        </p:grpSpPr>
        <p:sp>
          <p:nvSpPr>
            <p:cNvPr id="17" name="Oval 16">
              <a:extLst>
                <a:ext uri="{FF2B5EF4-FFF2-40B4-BE49-F238E27FC236}">
                  <a16:creationId xmlns:a16="http://schemas.microsoft.com/office/drawing/2014/main" id="{7D499306-B4E0-064D-8F6C-96E9C4BD04DA}"/>
                </a:ext>
              </a:extLst>
            </p:cNvPr>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a:extLst>
                <a:ext uri="{FF2B5EF4-FFF2-40B4-BE49-F238E27FC236}">
                  <a16:creationId xmlns:a16="http://schemas.microsoft.com/office/drawing/2014/main" id="{AF3D0241-0A21-8047-8CE3-B3FDD5FDF719}"/>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13083F97-6891-0447-957C-AB0834B826D2}"/>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B2EF7D75-E7C1-5147-A03B-3EC641CF3B08}"/>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A6D7CA94-94B4-C140-8C68-01C0ADFA1C71}"/>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211CD629-C318-A848-BDDE-BBA9465EBF9D}"/>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2A5AC1F8-1370-E946-977E-E4CFC6947BAB}"/>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64CEE63B-B967-0A48-9623-2203767609F4}"/>
              </a:ext>
            </a:extLst>
          </p:cNvPr>
          <p:cNvSpPr>
            <a:spLocks noGrp="1"/>
          </p:cNvSpPr>
          <p:nvPr>
            <p:ph type="title"/>
          </p:nvPr>
        </p:nvSpPr>
        <p:spPr>
          <a:xfrm>
            <a:off x="565150" y="770889"/>
            <a:ext cx="3609983" cy="1389127"/>
          </a:xfrm>
        </p:spPr>
        <p:txBody>
          <a:bodyPr anchor="t"/>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9211F680-28C8-FA44-9CD5-20709DA02EA0}"/>
              </a:ext>
            </a:extLst>
          </p:cNvPr>
          <p:cNvSpPr>
            <a:spLocks noGrp="1"/>
          </p:cNvSpPr>
          <p:nvPr>
            <p:ph type="pic" idx="1"/>
          </p:nvPr>
        </p:nvSpPr>
        <p:spPr>
          <a:xfrm>
            <a:off x="5223838" y="890816"/>
            <a:ext cx="6060136" cy="4870411"/>
          </a:xfrm>
          <a:solidFill>
            <a:schemeClr val="bg2"/>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BD507CD-197E-BB4C-83A6-DA3FC97A22C2}"/>
              </a:ext>
            </a:extLst>
          </p:cNvPr>
          <p:cNvSpPr>
            <a:spLocks noGrp="1"/>
          </p:cNvSpPr>
          <p:nvPr>
            <p:ph type="body" sz="half" idx="2"/>
          </p:nvPr>
        </p:nvSpPr>
        <p:spPr>
          <a:xfrm>
            <a:off x="565150" y="2160016"/>
            <a:ext cx="3609983" cy="360121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59E00AC-DF6C-D548-8A06-D6269BDB0A41}"/>
              </a:ext>
            </a:extLst>
          </p:cNvPr>
          <p:cNvSpPr>
            <a:spLocks noGrp="1"/>
          </p:cNvSpPr>
          <p:nvPr>
            <p:ph type="dt" sz="half" idx="10"/>
          </p:nvPr>
        </p:nvSpPr>
        <p:spPr/>
        <p:txBody>
          <a:bodyPr/>
          <a:lstStyle/>
          <a:p>
            <a:fld id="{A5B0A250-5CC0-1746-B209-08E8B0DAE6AF}" type="datetimeFigureOut">
              <a:rPr lang="en-US" smtClean="0"/>
              <a:t>4/20/2026</a:t>
            </a:fld>
            <a:endParaRPr lang="en-US" dirty="0"/>
          </a:p>
        </p:txBody>
      </p:sp>
      <p:sp>
        <p:nvSpPr>
          <p:cNvPr id="6" name="Footer Placeholder 5">
            <a:extLst>
              <a:ext uri="{FF2B5EF4-FFF2-40B4-BE49-F238E27FC236}">
                <a16:creationId xmlns:a16="http://schemas.microsoft.com/office/drawing/2014/main" id="{F8ED113B-57D4-9A4F-BFE0-2A3963B425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0D9954-FA18-8948-AA52-21CED059476D}"/>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a:extLst>
              <a:ext uri="{FF2B5EF4-FFF2-40B4-BE49-F238E27FC236}">
                <a16:creationId xmlns:a16="http://schemas.microsoft.com/office/drawing/2014/main" id="{5E3EB25D-2379-5040-B990-1C99B0B7D931}"/>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253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7ED46EE4-CE67-DD46-A751-9FEA049A22B8}"/>
              </a:ext>
            </a:extLst>
          </p:cNvPr>
          <p:cNvGrpSpPr/>
          <p:nvPr/>
        </p:nvGrpSpPr>
        <p:grpSpPr>
          <a:xfrm>
            <a:off x="8928528" y="0"/>
            <a:ext cx="3263472" cy="6858000"/>
            <a:chOff x="8928528" y="0"/>
            <a:chExt cx="3263472" cy="6858000"/>
          </a:xfrm>
        </p:grpSpPr>
        <p:sp>
          <p:nvSpPr>
            <p:cNvPr id="23" name="Oval 22">
              <a:extLst>
                <a:ext uri="{FF2B5EF4-FFF2-40B4-BE49-F238E27FC236}">
                  <a16:creationId xmlns:a16="http://schemas.microsoft.com/office/drawing/2014/main" id="{955C5B70-D34F-8A49-B220-808CE2BBB7F3}"/>
                </a:ext>
              </a:extLst>
            </p:cNvPr>
            <p:cNvSpPr/>
            <p:nvPr/>
          </p:nvSpPr>
          <p:spPr>
            <a:xfrm>
              <a:off x="8928528" y="491812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a:extLst>
                <a:ext uri="{FF2B5EF4-FFF2-40B4-BE49-F238E27FC236}">
                  <a16:creationId xmlns:a16="http://schemas.microsoft.com/office/drawing/2014/main" id="{4BBFE624-6DBD-8541-B43B-180C0AFA21F0}"/>
                </a:ext>
              </a:extLst>
            </p:cNvPr>
            <p:cNvSpPr/>
            <p:nvPr/>
          </p:nvSpPr>
          <p:spPr>
            <a:xfrm>
              <a:off x="8928528" y="0"/>
              <a:ext cx="1130724" cy="565573"/>
            </a:xfrm>
            <a:custGeom>
              <a:avLst/>
              <a:gdLst>
                <a:gd name="connsiteX0" fmla="*/ 22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2"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a:extLst>
                <a:ext uri="{FF2B5EF4-FFF2-40B4-BE49-F238E27FC236}">
                  <a16:creationId xmlns:a16="http://schemas.microsoft.com/office/drawing/2014/main" id="{6E01AC23-2120-A542-B140-5A29AA27A2C8}"/>
                </a:ext>
              </a:extLst>
            </p:cNvPr>
            <p:cNvSpPr/>
            <p:nvPr/>
          </p:nvSpPr>
          <p:spPr>
            <a:xfrm>
              <a:off x="10291391" y="6292417"/>
              <a:ext cx="1130724" cy="565583"/>
            </a:xfrm>
            <a:custGeom>
              <a:avLst/>
              <a:gdLst>
                <a:gd name="connsiteX0" fmla="*/ 565362 w 1130724"/>
                <a:gd name="connsiteY0" fmla="*/ 0 h 565583"/>
                <a:gd name="connsiteX1" fmla="*/ 1130724 w 1130724"/>
                <a:gd name="connsiteY1" fmla="*/ 565362 h 565583"/>
                <a:gd name="connsiteX2" fmla="*/ 1130702 w 1130724"/>
                <a:gd name="connsiteY2" fmla="*/ 565583 h 565583"/>
                <a:gd name="connsiteX3" fmla="*/ 22 w 1130724"/>
                <a:gd name="connsiteY3" fmla="*/ 565583 h 565583"/>
                <a:gd name="connsiteX4" fmla="*/ 0 w 1130724"/>
                <a:gd name="connsiteY4" fmla="*/ 565362 h 565583"/>
                <a:gd name="connsiteX5" fmla="*/ 565362 w 1130724"/>
                <a:gd name="connsiteY5" fmla="*/ 0 h 565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83">
                  <a:moveTo>
                    <a:pt x="565362" y="0"/>
                  </a:moveTo>
                  <a:cubicBezTo>
                    <a:pt x="877603" y="0"/>
                    <a:pt x="1130724" y="253121"/>
                    <a:pt x="1130724" y="565362"/>
                  </a:cubicBezTo>
                  <a:lnTo>
                    <a:pt x="1130702" y="565583"/>
                  </a:lnTo>
                  <a:lnTo>
                    <a:pt x="22" y="565583"/>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a:extLst>
                <a:ext uri="{FF2B5EF4-FFF2-40B4-BE49-F238E27FC236}">
                  <a16:creationId xmlns:a16="http://schemas.microsoft.com/office/drawing/2014/main" id="{154689C0-9C35-9B4D-906B-DA287DA55A38}"/>
                </a:ext>
              </a:extLst>
            </p:cNvPr>
            <p:cNvSpPr/>
            <p:nvPr/>
          </p:nvSpPr>
          <p:spPr>
            <a:xfrm>
              <a:off x="10291392"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96570F0-11E0-6147-9053-E3A4B5DBA0E4}"/>
                </a:ext>
              </a:extLst>
            </p:cNvPr>
            <p:cNvSpPr/>
            <p:nvPr/>
          </p:nvSpPr>
          <p:spPr>
            <a:xfrm>
              <a:off x="10291392" y="2177876"/>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9BDD97F6-A366-B54A-B889-42E97AFEDE37}"/>
                </a:ext>
              </a:extLst>
            </p:cNvPr>
            <p:cNvSpPr/>
            <p:nvPr/>
          </p:nvSpPr>
          <p:spPr>
            <a:xfrm>
              <a:off x="10291392" y="806363"/>
              <a:ext cx="1130724" cy="11307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a:extLst>
                <a:ext uri="{FF2B5EF4-FFF2-40B4-BE49-F238E27FC236}">
                  <a16:creationId xmlns:a16="http://schemas.microsoft.com/office/drawing/2014/main" id="{58E853BC-EE80-374B-B823-8D51A948C4CF}"/>
                </a:ext>
              </a:extLst>
            </p:cNvPr>
            <p:cNvSpPr/>
            <p:nvPr/>
          </p:nvSpPr>
          <p:spPr>
            <a:xfrm>
              <a:off x="10291392"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29">
              <a:extLst>
                <a:ext uri="{FF2B5EF4-FFF2-40B4-BE49-F238E27FC236}">
                  <a16:creationId xmlns:a16="http://schemas.microsoft.com/office/drawing/2014/main" id="{4B5B70B1-649D-9848-B5D4-6DE04D55F5F0}"/>
                </a:ext>
              </a:extLst>
            </p:cNvPr>
            <p:cNvSpPr/>
            <p:nvPr/>
          </p:nvSpPr>
          <p:spPr>
            <a:xfrm>
              <a:off x="11654256" y="6295201"/>
              <a:ext cx="537744" cy="562799"/>
            </a:xfrm>
            <a:custGeom>
              <a:avLst/>
              <a:gdLst>
                <a:gd name="connsiteX0" fmla="*/ 537744 w 537744"/>
                <a:gd name="connsiteY0" fmla="*/ 0 h 562799"/>
                <a:gd name="connsiteX1" fmla="*/ 537744 w 537744"/>
                <a:gd name="connsiteY1" fmla="*/ 562799 h 562799"/>
                <a:gd name="connsiteX2" fmla="*/ 22 w 537744"/>
                <a:gd name="connsiteY2" fmla="*/ 562799 h 562799"/>
                <a:gd name="connsiteX3" fmla="*/ 0 w 537744"/>
                <a:gd name="connsiteY3" fmla="*/ 562578 h 562799"/>
                <a:gd name="connsiteX4" fmla="*/ 451422 w 537744"/>
                <a:gd name="connsiteY4" fmla="*/ 8702 h 562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99">
                  <a:moveTo>
                    <a:pt x="537744" y="0"/>
                  </a:moveTo>
                  <a:lnTo>
                    <a:pt x="537744" y="562799"/>
                  </a:lnTo>
                  <a:lnTo>
                    <a:pt x="22" y="562799"/>
                  </a:lnTo>
                  <a:lnTo>
                    <a:pt x="0" y="562578"/>
                  </a:ln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30">
              <a:extLst>
                <a:ext uri="{FF2B5EF4-FFF2-40B4-BE49-F238E27FC236}">
                  <a16:creationId xmlns:a16="http://schemas.microsoft.com/office/drawing/2014/main" id="{46A2092A-2157-0A49-937F-BBAE14687DE7}"/>
                </a:ext>
              </a:extLst>
            </p:cNvPr>
            <p:cNvSpPr/>
            <p:nvPr/>
          </p:nvSpPr>
          <p:spPr>
            <a:xfrm>
              <a:off x="11654256" y="4923687"/>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a:extLst>
                <a:ext uri="{FF2B5EF4-FFF2-40B4-BE49-F238E27FC236}">
                  <a16:creationId xmlns:a16="http://schemas.microsoft.com/office/drawing/2014/main" id="{F092371E-D526-AF43-816F-F7AEBA9FF166}"/>
                </a:ext>
              </a:extLst>
            </p:cNvPr>
            <p:cNvSpPr/>
            <p:nvPr/>
          </p:nvSpPr>
          <p:spPr>
            <a:xfrm>
              <a:off x="11654256" y="3552173"/>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32">
              <a:extLst>
                <a:ext uri="{FF2B5EF4-FFF2-40B4-BE49-F238E27FC236}">
                  <a16:creationId xmlns:a16="http://schemas.microsoft.com/office/drawing/2014/main" id="{06995714-B51E-E84A-9FD5-3AD33004E517}"/>
                </a:ext>
              </a:extLst>
            </p:cNvPr>
            <p:cNvSpPr/>
            <p:nvPr/>
          </p:nvSpPr>
          <p:spPr>
            <a:xfrm>
              <a:off x="11654256" y="2180659"/>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33">
              <a:extLst>
                <a:ext uri="{FF2B5EF4-FFF2-40B4-BE49-F238E27FC236}">
                  <a16:creationId xmlns:a16="http://schemas.microsoft.com/office/drawing/2014/main" id="{0FDB0CC5-76AA-6E44-8376-4EE649C1DE42}"/>
                </a:ext>
              </a:extLst>
            </p:cNvPr>
            <p:cNvSpPr/>
            <p:nvPr/>
          </p:nvSpPr>
          <p:spPr>
            <a:xfrm>
              <a:off x="11654256" y="809146"/>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a:extLst>
                <a:ext uri="{FF2B5EF4-FFF2-40B4-BE49-F238E27FC236}">
                  <a16:creationId xmlns:a16="http://schemas.microsoft.com/office/drawing/2014/main" id="{3D981F0B-8982-1C45-8D7C-30E744003823}"/>
                </a:ext>
              </a:extLst>
            </p:cNvPr>
            <p:cNvSpPr/>
            <p:nvPr/>
          </p:nvSpPr>
          <p:spPr>
            <a:xfrm>
              <a:off x="11654256" y="0"/>
              <a:ext cx="537744" cy="562788"/>
            </a:xfrm>
            <a:custGeom>
              <a:avLst/>
              <a:gdLst>
                <a:gd name="connsiteX0" fmla="*/ 21 w 537744"/>
                <a:gd name="connsiteY0" fmla="*/ 0 h 562788"/>
                <a:gd name="connsiteX1" fmla="*/ 537744 w 537744"/>
                <a:gd name="connsiteY1" fmla="*/ 0 h 562788"/>
                <a:gd name="connsiteX2" fmla="*/ 537744 w 537744"/>
                <a:gd name="connsiteY2" fmla="*/ 562788 h 562788"/>
                <a:gd name="connsiteX3" fmla="*/ 451422 w 537744"/>
                <a:gd name="connsiteY3" fmla="*/ 554086 h 562788"/>
                <a:gd name="connsiteX4" fmla="*/ 0 w 537744"/>
                <a:gd name="connsiteY4" fmla="*/ 211 h 562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88">
                  <a:moveTo>
                    <a:pt x="21" y="0"/>
                  </a:moveTo>
                  <a:lnTo>
                    <a:pt x="537744" y="0"/>
                  </a:lnTo>
                  <a:lnTo>
                    <a:pt x="537744" y="562788"/>
                  </a:lnTo>
                  <a:lnTo>
                    <a:pt x="451422" y="554086"/>
                  </a:lnTo>
                  <a:cubicBezTo>
                    <a:pt x="193796" y="501368"/>
                    <a:pt x="0" y="273421"/>
                    <a:pt x="0" y="2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DF76EEB7-1E87-0447-8CD6-DD220CF4EE59}"/>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BA8AE526-3A03-9B41-8C9F-27156E701C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D08D72-182D-C947-B3F7-B74948D0849B}"/>
              </a:ext>
            </a:extLst>
          </p:cNvPr>
          <p:cNvSpPr>
            <a:spLocks noGrp="1"/>
          </p:cNvSpPr>
          <p:nvPr>
            <p:ph type="dt" sz="half" idx="10"/>
          </p:nvPr>
        </p:nvSpPr>
        <p:spPr/>
        <p:txBody>
          <a:bodyPr/>
          <a:lstStyle/>
          <a:p>
            <a:fld id="{A5B0A250-5CC0-1746-B209-08E8B0DAE6AF}" type="datetimeFigureOut">
              <a:rPr lang="en-US" smtClean="0"/>
              <a:t>4/20/2026</a:t>
            </a:fld>
            <a:endParaRPr lang="en-US" dirty="0"/>
          </a:p>
        </p:txBody>
      </p:sp>
      <p:sp>
        <p:nvSpPr>
          <p:cNvPr id="5" name="Footer Placeholder 4">
            <a:extLst>
              <a:ext uri="{FF2B5EF4-FFF2-40B4-BE49-F238E27FC236}">
                <a16:creationId xmlns:a16="http://schemas.microsoft.com/office/drawing/2014/main" id="{B076E396-D059-AF4D-A1D9-C1347978AAD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F8845B6-87C0-2F4A-8146-00E911CDF70D}"/>
              </a:ext>
            </a:extLst>
          </p:cNvPr>
          <p:cNvSpPr>
            <a:spLocks noGrp="1"/>
          </p:cNvSpPr>
          <p:nvPr>
            <p:ph type="sldNum" sz="quarter" idx="12"/>
          </p:nvPr>
        </p:nvSpPr>
        <p:spPr>
          <a:xfrm>
            <a:off x="7086480" y="6141085"/>
            <a:ext cx="813816" cy="365125"/>
          </a:xfrm>
        </p:spPr>
        <p:txBody>
          <a:bodyPr/>
          <a:lstStyle/>
          <a:p>
            <a:fld id="{49ABCAEC-7D34-E549-A96E-FCEDAADBE4B0}" type="slidenum">
              <a:rPr lang="en-US" smtClean="0"/>
              <a:t>‹#›</a:t>
            </a:fld>
            <a:endParaRPr lang="en-US"/>
          </a:p>
        </p:txBody>
      </p:sp>
      <p:cxnSp>
        <p:nvCxnSpPr>
          <p:cNvPr id="7" name="Straight Connector 6">
            <a:extLst>
              <a:ext uri="{FF2B5EF4-FFF2-40B4-BE49-F238E27FC236}">
                <a16:creationId xmlns:a16="http://schemas.microsoft.com/office/drawing/2014/main" id="{A78A912D-4325-C449-BF2E-F331A221C695}"/>
              </a:ext>
            </a:extLst>
          </p:cNvPr>
          <p:cNvCxnSpPr>
            <a:cxnSpLocks/>
          </p:cNvCxnSpPr>
          <p:nvPr/>
        </p:nvCxnSpPr>
        <p:spPr>
          <a:xfrm>
            <a:off x="565150" y="6087110"/>
            <a:ext cx="733514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1987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C3803ECC-8207-244B-8051-94AA5304EDD9}"/>
              </a:ext>
            </a:extLst>
          </p:cNvPr>
          <p:cNvGrpSpPr/>
          <p:nvPr/>
        </p:nvGrpSpPr>
        <p:grpSpPr>
          <a:xfrm>
            <a:off x="10290315" y="0"/>
            <a:ext cx="1901686" cy="6858000"/>
            <a:chOff x="10290315" y="0"/>
            <a:chExt cx="1901686" cy="6858000"/>
          </a:xfrm>
        </p:grpSpPr>
        <p:sp>
          <p:nvSpPr>
            <p:cNvPr id="17" name="Freeform 16">
              <a:extLst>
                <a:ext uri="{FF2B5EF4-FFF2-40B4-BE49-F238E27FC236}">
                  <a16:creationId xmlns:a16="http://schemas.microsoft.com/office/drawing/2014/main" id="{CF2E8536-821C-3846-A152-2001B7BA4BC9}"/>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a:extLst>
                <a:ext uri="{FF2B5EF4-FFF2-40B4-BE49-F238E27FC236}">
                  <a16:creationId xmlns:a16="http://schemas.microsoft.com/office/drawing/2014/main" id="{57A02781-FFB4-C04E-97FB-78D26A9E8F1C}"/>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14C29607-37D2-7A4B-98E2-2C851CD6776C}"/>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D12FC7BA-80CC-1C4E-B268-B3EEA08137F1}"/>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BEBC8FB1-96B9-D84A-BD2A-BC8410EBE012}"/>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5A8455B4-A778-B44D-A7E8-C45A4846D9F7}"/>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Vertical Title 1">
            <a:extLst>
              <a:ext uri="{FF2B5EF4-FFF2-40B4-BE49-F238E27FC236}">
                <a16:creationId xmlns:a16="http://schemas.microsoft.com/office/drawing/2014/main" id="{B0407CCA-80EF-2B45-8F8C-7D5796A61BC0}"/>
              </a:ext>
            </a:extLst>
          </p:cNvPr>
          <p:cNvSpPr>
            <a:spLocks noGrp="1"/>
          </p:cNvSpPr>
          <p:nvPr>
            <p:ph type="title" orient="vert"/>
          </p:nvPr>
        </p:nvSpPr>
        <p:spPr>
          <a:xfrm>
            <a:off x="8950095" y="976630"/>
            <a:ext cx="2268507" cy="478459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AA221C3-F2D3-FC4F-938B-4C4CAC7370B1}"/>
              </a:ext>
            </a:extLst>
          </p:cNvPr>
          <p:cNvSpPr>
            <a:spLocks noGrp="1"/>
          </p:cNvSpPr>
          <p:nvPr>
            <p:ph type="body" orient="vert" idx="1"/>
          </p:nvPr>
        </p:nvSpPr>
        <p:spPr>
          <a:xfrm>
            <a:off x="565150" y="976630"/>
            <a:ext cx="8264057" cy="478459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B061B46-3E9A-AC48-8C84-5B46EA1EC583}"/>
              </a:ext>
            </a:extLst>
          </p:cNvPr>
          <p:cNvSpPr>
            <a:spLocks noGrp="1"/>
          </p:cNvSpPr>
          <p:nvPr>
            <p:ph type="dt" sz="half" idx="10"/>
          </p:nvPr>
        </p:nvSpPr>
        <p:spPr/>
        <p:txBody>
          <a:bodyPr/>
          <a:lstStyle/>
          <a:p>
            <a:fld id="{A5B0A250-5CC0-1746-B209-08E8B0DAE6AF}" type="datetimeFigureOut">
              <a:rPr lang="en-US" smtClean="0"/>
              <a:t>4/20/2026</a:t>
            </a:fld>
            <a:endParaRPr lang="en-US"/>
          </a:p>
        </p:txBody>
      </p:sp>
      <p:sp>
        <p:nvSpPr>
          <p:cNvPr id="5" name="Footer Placeholder 4">
            <a:extLst>
              <a:ext uri="{FF2B5EF4-FFF2-40B4-BE49-F238E27FC236}">
                <a16:creationId xmlns:a16="http://schemas.microsoft.com/office/drawing/2014/main" id="{369F8F49-5859-714C-8EE1-61A74F324E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B6F69-3FFA-D94F-BA99-873D36F7F69D}"/>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7" name="Straight Connector 6">
            <a:extLst>
              <a:ext uri="{FF2B5EF4-FFF2-40B4-BE49-F238E27FC236}">
                <a16:creationId xmlns:a16="http://schemas.microsoft.com/office/drawing/2014/main" id="{C31B40EC-87DB-A64F-9D4B-98A86F7CEFFF}"/>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5541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0D98E2-86CE-4D4F-9F8F-17C83D19A271}"/>
              </a:ext>
            </a:extLst>
          </p:cNvPr>
          <p:cNvSpPr>
            <a:spLocks noGrp="1"/>
          </p:cNvSpPr>
          <p:nvPr>
            <p:ph type="title"/>
          </p:nvPr>
        </p:nvSpPr>
        <p:spPr>
          <a:xfrm>
            <a:off x="565150" y="770890"/>
            <a:ext cx="7335835" cy="1268984"/>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8804B4F2-48A4-A140-B59B-7A2ED9FD4653}"/>
              </a:ext>
            </a:extLst>
          </p:cNvPr>
          <p:cNvSpPr>
            <a:spLocks noGrp="1"/>
          </p:cNvSpPr>
          <p:nvPr>
            <p:ph type="body" idx="1"/>
          </p:nvPr>
        </p:nvSpPr>
        <p:spPr>
          <a:xfrm>
            <a:off x="565150" y="2160016"/>
            <a:ext cx="7335835" cy="360121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FCF4A7E-D5FF-BF48-8E01-8F46150ABFD5}"/>
              </a:ext>
            </a:extLst>
          </p:cNvPr>
          <p:cNvSpPr>
            <a:spLocks noGrp="1"/>
          </p:cNvSpPr>
          <p:nvPr>
            <p:ph type="dt" sz="half" idx="2"/>
          </p:nvPr>
        </p:nvSpPr>
        <p:spPr>
          <a:xfrm>
            <a:off x="566928" y="457200"/>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fld id="{A5B0A250-5CC0-1746-B209-08E8B0DAE6AF}" type="datetimeFigureOut">
              <a:rPr lang="en-US" smtClean="0"/>
              <a:pPr/>
              <a:t>4/20/2026</a:t>
            </a:fld>
            <a:endParaRPr lang="en-US" dirty="0"/>
          </a:p>
        </p:txBody>
      </p:sp>
      <p:sp>
        <p:nvSpPr>
          <p:cNvPr id="5" name="Footer Placeholder 4">
            <a:extLst>
              <a:ext uri="{FF2B5EF4-FFF2-40B4-BE49-F238E27FC236}">
                <a16:creationId xmlns:a16="http://schemas.microsoft.com/office/drawing/2014/main" id="{CA131757-5039-BF46-B47A-50DA8FFBC078}"/>
              </a:ext>
            </a:extLst>
          </p:cNvPr>
          <p:cNvSpPr>
            <a:spLocks noGrp="1"/>
          </p:cNvSpPr>
          <p:nvPr>
            <p:ph type="ftr" sz="quarter" idx="3"/>
          </p:nvPr>
        </p:nvSpPr>
        <p:spPr>
          <a:xfrm>
            <a:off x="565150" y="6141085"/>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endParaRPr lang="en-US" dirty="0"/>
          </a:p>
        </p:txBody>
      </p:sp>
      <p:sp>
        <p:nvSpPr>
          <p:cNvPr id="6" name="Slide Number Placeholder 5">
            <a:extLst>
              <a:ext uri="{FF2B5EF4-FFF2-40B4-BE49-F238E27FC236}">
                <a16:creationId xmlns:a16="http://schemas.microsoft.com/office/drawing/2014/main" id="{AA83FD16-4337-B940-905E-D20A26FD483A}"/>
              </a:ext>
            </a:extLst>
          </p:cNvPr>
          <p:cNvSpPr>
            <a:spLocks noGrp="1"/>
          </p:cNvSpPr>
          <p:nvPr>
            <p:ph type="sldNum" sz="quarter" idx="4"/>
          </p:nvPr>
        </p:nvSpPr>
        <p:spPr>
          <a:xfrm>
            <a:off x="10809678" y="6141085"/>
            <a:ext cx="813816" cy="365125"/>
          </a:xfrm>
          <a:prstGeom prst="rect">
            <a:avLst/>
          </a:prstGeom>
        </p:spPr>
        <p:txBody>
          <a:bodyPr vert="horz" lIns="91440" tIns="45720" rIns="91440" bIns="45720" rtlCol="0" anchor="ctr"/>
          <a:lstStyle>
            <a:lvl1pPr algn="r">
              <a:defRPr sz="1050" b="0" i="0">
                <a:solidFill>
                  <a:schemeClr val="tx1">
                    <a:tint val="75000"/>
                  </a:schemeClr>
                </a:solidFill>
                <a:latin typeface="+mn-lt"/>
              </a:defRPr>
            </a:lvl1pPr>
          </a:lstStyle>
          <a:p>
            <a:fld id="{49ABCAEC-7D34-E549-A96E-FCEDAADBE4B0}" type="slidenum">
              <a:rPr lang="en-US" smtClean="0"/>
              <a:pPr/>
              <a:t>‹#›</a:t>
            </a:fld>
            <a:endParaRPr lang="en-US" dirty="0"/>
          </a:p>
        </p:txBody>
      </p:sp>
    </p:spTree>
    <p:extLst>
      <p:ext uri="{BB962C8B-B14F-4D97-AF65-F5344CB8AC3E}">
        <p14:creationId xmlns:p14="http://schemas.microsoft.com/office/powerpoint/2010/main" val="1704669896"/>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hyperlink" Target="mailto:rakheechhibber1971@gmail.com" TargetMode="Externa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F4FF7361-1AA2-0F00-B31A-9D54CF951295}"/>
              </a:ext>
            </a:extLst>
          </p:cNvPr>
          <p:cNvPicPr>
            <a:picLocks noChangeAspect="1"/>
          </p:cNvPicPr>
          <p:nvPr/>
        </p:nvPicPr>
        <p:blipFill>
          <a:blip r:embed="rId2"/>
          <a:srcRect t="9949" b="33801"/>
          <a:stretch>
            <a:fillRect/>
          </a:stretch>
        </p:blipFill>
        <p:spPr>
          <a:xfrm>
            <a:off x="-91420" y="-34290"/>
            <a:ext cx="12191980" cy="6857999"/>
          </a:xfrm>
          <a:prstGeom prst="rect">
            <a:avLst/>
          </a:prstGeom>
        </p:spPr>
      </p:pic>
      <p:sp>
        <p:nvSpPr>
          <p:cNvPr id="11" name="Rectangle">
            <a:extLst>
              <a:ext uri="{FF2B5EF4-FFF2-40B4-BE49-F238E27FC236}">
                <a16:creationId xmlns:a16="http://schemas.microsoft.com/office/drawing/2014/main" id="{B4F75AE3-A3AC-DE4C-98FE-EC9DC3BF8D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5267217" cy="6858000"/>
          </a:xfrm>
          <a:prstGeom prst="rect">
            <a:avLst/>
          </a:prstGeom>
          <a:gradFill flip="none" rotWithShape="1">
            <a:gsLst>
              <a:gs pos="31000">
                <a:schemeClr val="bg1">
                  <a:alpha val="80000"/>
                </a:schemeClr>
              </a:gs>
              <a:gs pos="0">
                <a:schemeClr val="bg1"/>
              </a:gs>
              <a:gs pos="100000">
                <a:schemeClr val="bg1">
                  <a:alpha val="34000"/>
                </a:schemeClr>
              </a:gs>
            </a:gsLst>
            <a:path path="circle">
              <a:fillToRect r="100000" b="100000"/>
            </a:path>
            <a:tileRect l="-100000" t="-100000"/>
          </a:gradFill>
          <a:ln w="12700">
            <a:miter lim="400000"/>
          </a:ln>
        </p:spPr>
        <p:txBody>
          <a:bodyPr lIns="50800" tIns="50800" rIns="50800" bIns="50800" anchor="ctr"/>
          <a:lstStyle/>
          <a:p>
            <a:pPr algn="ctr"/>
            <a:endParaRPr sz="2600" cap="all" dirty="0">
              <a:solidFill>
                <a:srgbClr val="FFFFFF"/>
              </a:solidFill>
              <a:sym typeface="Avenir Next"/>
            </a:endParaRPr>
          </a:p>
        </p:txBody>
      </p:sp>
      <p:sp>
        <p:nvSpPr>
          <p:cNvPr id="2" name="Title 1">
            <a:extLst>
              <a:ext uri="{FF2B5EF4-FFF2-40B4-BE49-F238E27FC236}">
                <a16:creationId xmlns:a16="http://schemas.microsoft.com/office/drawing/2014/main" id="{7EB6F89F-C0C1-074D-8EEB-27E1A359627E}"/>
              </a:ext>
            </a:extLst>
          </p:cNvPr>
          <p:cNvSpPr>
            <a:spLocks noGrp="1"/>
          </p:cNvSpPr>
          <p:nvPr>
            <p:ph type="ctrTitle"/>
          </p:nvPr>
        </p:nvSpPr>
        <p:spPr>
          <a:xfrm>
            <a:off x="565151" y="768334"/>
            <a:ext cx="4134538" cy="2866405"/>
          </a:xfrm>
        </p:spPr>
        <p:txBody>
          <a:bodyPr>
            <a:normAutofit/>
          </a:bodyPr>
          <a:lstStyle/>
          <a:p>
            <a:r>
              <a:rPr lang="en-US" sz="5400" dirty="0"/>
              <a:t>Transfer Learning for LLM</a:t>
            </a:r>
          </a:p>
        </p:txBody>
      </p:sp>
      <p:sp>
        <p:nvSpPr>
          <p:cNvPr id="3" name="Subtitle 2">
            <a:extLst>
              <a:ext uri="{FF2B5EF4-FFF2-40B4-BE49-F238E27FC236}">
                <a16:creationId xmlns:a16="http://schemas.microsoft.com/office/drawing/2014/main" id="{8BA91F0E-8510-BAA4-3F9A-ADF1E7DC4C57}"/>
              </a:ext>
            </a:extLst>
          </p:cNvPr>
          <p:cNvSpPr>
            <a:spLocks noGrp="1"/>
          </p:cNvSpPr>
          <p:nvPr>
            <p:ph type="subTitle" idx="1"/>
          </p:nvPr>
        </p:nvSpPr>
        <p:spPr>
          <a:xfrm>
            <a:off x="565151" y="4283239"/>
            <a:ext cx="4134538" cy="1475177"/>
          </a:xfrm>
        </p:spPr>
        <p:txBody>
          <a:bodyPr>
            <a:normAutofit/>
          </a:bodyPr>
          <a:lstStyle/>
          <a:p>
            <a:r>
              <a:rPr lang="en-US" dirty="0"/>
              <a:t>Dr. Rakhee Chhibber</a:t>
            </a:r>
          </a:p>
        </p:txBody>
      </p:sp>
      <p:cxnSp>
        <p:nvCxnSpPr>
          <p:cNvPr id="13" name="Straight Connector 12">
            <a:extLst>
              <a:ext uri="{FF2B5EF4-FFF2-40B4-BE49-F238E27FC236}">
                <a16:creationId xmlns:a16="http://schemas.microsoft.com/office/drawing/2014/main" id="{41C79BB7-CCAB-2243-9830-5569626C4D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4134538"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44406D7A-DB1A-D940-8AD1-93FAF9DD71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1746" y="0"/>
            <a:ext cx="1900254" cy="6858000"/>
            <a:chOff x="10291746" y="0"/>
            <a:chExt cx="1900254" cy="6858000"/>
          </a:xfrm>
        </p:grpSpPr>
        <p:sp>
          <p:nvSpPr>
            <p:cNvPr id="16" name="Freeform 40">
              <a:extLst>
                <a:ext uri="{FF2B5EF4-FFF2-40B4-BE49-F238E27FC236}">
                  <a16:creationId xmlns:a16="http://schemas.microsoft.com/office/drawing/2014/main" id="{D0F85DF7-431B-BE45-B932-0E22FC3F8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5829" y="809310"/>
              <a:ext cx="536171" cy="1124839"/>
            </a:xfrm>
            <a:custGeom>
              <a:avLst/>
              <a:gdLst>
                <a:gd name="connsiteX0" fmla="*/ 536171 w 536171"/>
                <a:gd name="connsiteY0" fmla="*/ 0 h 1124839"/>
                <a:gd name="connsiteX1" fmla="*/ 536171 w 536171"/>
                <a:gd name="connsiteY1" fmla="*/ 1124839 h 1124839"/>
                <a:gd name="connsiteX2" fmla="*/ 451423 w 536171"/>
                <a:gd name="connsiteY2" fmla="*/ 1116295 h 1124839"/>
                <a:gd name="connsiteX3" fmla="*/ 0 w 536171"/>
                <a:gd name="connsiteY3" fmla="*/ 562419 h 1124839"/>
                <a:gd name="connsiteX4" fmla="*/ 451423 w 536171"/>
                <a:gd name="connsiteY4" fmla="*/ 8543 h 11248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171" h="1124839">
                  <a:moveTo>
                    <a:pt x="536171" y="0"/>
                  </a:moveTo>
                  <a:lnTo>
                    <a:pt x="536171" y="1124839"/>
                  </a:lnTo>
                  <a:lnTo>
                    <a:pt x="451423" y="1116295"/>
                  </a:lnTo>
                  <a:cubicBezTo>
                    <a:pt x="193797" y="1063577"/>
                    <a:pt x="0" y="835630"/>
                    <a:pt x="0" y="562419"/>
                  </a:cubicBezTo>
                  <a:cubicBezTo>
                    <a:pt x="0" y="289208"/>
                    <a:pt x="193797" y="61261"/>
                    <a:pt x="451423" y="85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41">
              <a:extLst>
                <a:ext uri="{FF2B5EF4-FFF2-40B4-BE49-F238E27FC236}">
                  <a16:creationId xmlns:a16="http://schemas.microsoft.com/office/drawing/2014/main" id="{BEA0AA89-2965-2A44-B84E-51C748B2D2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1748" y="0"/>
              <a:ext cx="1130725" cy="565362"/>
            </a:xfrm>
            <a:custGeom>
              <a:avLst/>
              <a:gdLst>
                <a:gd name="connsiteX0" fmla="*/ 0 w 1130725"/>
                <a:gd name="connsiteY0" fmla="*/ 0 h 565362"/>
                <a:gd name="connsiteX1" fmla="*/ 25420 w 1130725"/>
                <a:gd name="connsiteY1" fmla="*/ 0 h 565362"/>
                <a:gd name="connsiteX2" fmla="*/ 36369 w 1130725"/>
                <a:gd name="connsiteY2" fmla="*/ 108609 h 565362"/>
                <a:gd name="connsiteX3" fmla="*/ 565363 w 1130725"/>
                <a:gd name="connsiteY3" fmla="*/ 539750 h 565362"/>
                <a:gd name="connsiteX4" fmla="*/ 1094356 w 1130725"/>
                <a:gd name="connsiteY4" fmla="*/ 108609 h 565362"/>
                <a:gd name="connsiteX5" fmla="*/ 1105305 w 1130725"/>
                <a:gd name="connsiteY5" fmla="*/ 0 h 565362"/>
                <a:gd name="connsiteX6" fmla="*/ 1130725 w 1130725"/>
                <a:gd name="connsiteY6" fmla="*/ 0 h 565362"/>
                <a:gd name="connsiteX7" fmla="*/ 565363 w 1130725"/>
                <a:gd name="connsiteY7" fmla="*/ 565362 h 565362"/>
                <a:gd name="connsiteX8" fmla="*/ 0 w 1130725"/>
                <a:gd name="connsiteY8" fmla="*/ 0 h 565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30725" h="565362">
                  <a:moveTo>
                    <a:pt x="0" y="0"/>
                  </a:moveTo>
                  <a:lnTo>
                    <a:pt x="25420" y="0"/>
                  </a:lnTo>
                  <a:lnTo>
                    <a:pt x="36369" y="108609"/>
                  </a:lnTo>
                  <a:cubicBezTo>
                    <a:pt x="86718" y="354660"/>
                    <a:pt x="304425" y="539750"/>
                    <a:pt x="565363" y="539750"/>
                  </a:cubicBezTo>
                  <a:cubicBezTo>
                    <a:pt x="826300" y="539750"/>
                    <a:pt x="1044007" y="354660"/>
                    <a:pt x="1094356" y="108609"/>
                  </a:cubicBezTo>
                  <a:lnTo>
                    <a:pt x="1105305" y="0"/>
                  </a:lnTo>
                  <a:lnTo>
                    <a:pt x="1130725" y="0"/>
                  </a:lnTo>
                  <a:cubicBezTo>
                    <a:pt x="1130725" y="312241"/>
                    <a:pt x="877604" y="565362"/>
                    <a:pt x="565363" y="565362"/>
                  </a:cubicBezTo>
                  <a:cubicBezTo>
                    <a:pt x="253121" y="565362"/>
                    <a:pt x="0" y="312241"/>
                    <a:pt x="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42">
              <a:extLst>
                <a:ext uri="{FF2B5EF4-FFF2-40B4-BE49-F238E27FC236}">
                  <a16:creationId xmlns:a16="http://schemas.microsoft.com/office/drawing/2014/main" id="{7EC47259-887A-FD48-989C-42BC5A3C98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6578" y="0"/>
              <a:ext cx="535422" cy="562344"/>
            </a:xfrm>
            <a:custGeom>
              <a:avLst/>
              <a:gdLst>
                <a:gd name="connsiteX0" fmla="*/ 0 w 535422"/>
                <a:gd name="connsiteY0" fmla="*/ 0 h 562344"/>
                <a:gd name="connsiteX1" fmla="*/ 25421 w 535422"/>
                <a:gd name="connsiteY1" fmla="*/ 0 h 562344"/>
                <a:gd name="connsiteX2" fmla="*/ 36370 w 535422"/>
                <a:gd name="connsiteY2" fmla="*/ 108609 h 562344"/>
                <a:gd name="connsiteX3" fmla="*/ 469781 w 535422"/>
                <a:gd name="connsiteY3" fmla="*/ 531316 h 562344"/>
                <a:gd name="connsiteX4" fmla="*/ 535422 w 535422"/>
                <a:gd name="connsiteY4" fmla="*/ 537108 h 562344"/>
                <a:gd name="connsiteX5" fmla="*/ 535422 w 535422"/>
                <a:gd name="connsiteY5" fmla="*/ 562344 h 562344"/>
                <a:gd name="connsiteX6" fmla="*/ 451424 w 535422"/>
                <a:gd name="connsiteY6" fmla="*/ 553876 h 562344"/>
                <a:gd name="connsiteX7" fmla="*/ 0 w 535422"/>
                <a:gd name="connsiteY7" fmla="*/ 0 h 562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5422" h="562344">
                  <a:moveTo>
                    <a:pt x="0" y="0"/>
                  </a:moveTo>
                  <a:lnTo>
                    <a:pt x="25421" y="0"/>
                  </a:lnTo>
                  <a:lnTo>
                    <a:pt x="36370" y="108609"/>
                  </a:lnTo>
                  <a:cubicBezTo>
                    <a:pt x="80425" y="323904"/>
                    <a:pt x="252614" y="492525"/>
                    <a:pt x="469781" y="531316"/>
                  </a:cubicBezTo>
                  <a:lnTo>
                    <a:pt x="535422" y="537108"/>
                  </a:lnTo>
                  <a:lnTo>
                    <a:pt x="535422" y="562344"/>
                  </a:lnTo>
                  <a:lnTo>
                    <a:pt x="451424" y="553876"/>
                  </a:lnTo>
                  <a:cubicBezTo>
                    <a:pt x="193797" y="501158"/>
                    <a:pt x="0" y="273211"/>
                    <a:pt x="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43">
              <a:extLst>
                <a:ext uri="{FF2B5EF4-FFF2-40B4-BE49-F238E27FC236}">
                  <a16:creationId xmlns:a16="http://schemas.microsoft.com/office/drawing/2014/main" id="{16E261C3-18BE-934F-8A2B-59BE70AE2F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6578" y="2181112"/>
              <a:ext cx="535422" cy="1124687"/>
            </a:xfrm>
            <a:custGeom>
              <a:avLst/>
              <a:gdLst>
                <a:gd name="connsiteX0" fmla="*/ 535422 w 535422"/>
                <a:gd name="connsiteY0" fmla="*/ 0 h 1124687"/>
                <a:gd name="connsiteX1" fmla="*/ 535422 w 535422"/>
                <a:gd name="connsiteY1" fmla="*/ 25186 h 1124687"/>
                <a:gd name="connsiteX2" fmla="*/ 456541 w 535422"/>
                <a:gd name="connsiteY2" fmla="*/ 33138 h 1124687"/>
                <a:gd name="connsiteX3" fmla="*/ 25399 w 535422"/>
                <a:gd name="connsiteY3" fmla="*/ 562130 h 1124687"/>
                <a:gd name="connsiteX4" fmla="*/ 456541 w 535422"/>
                <a:gd name="connsiteY4" fmla="*/ 1091123 h 1124687"/>
                <a:gd name="connsiteX5" fmla="*/ 535422 w 535422"/>
                <a:gd name="connsiteY5" fmla="*/ 1099075 h 1124687"/>
                <a:gd name="connsiteX6" fmla="*/ 535422 w 535422"/>
                <a:gd name="connsiteY6" fmla="*/ 1124687 h 1124687"/>
                <a:gd name="connsiteX7" fmla="*/ 451423 w 535422"/>
                <a:gd name="connsiteY7" fmla="*/ 1116219 h 1124687"/>
                <a:gd name="connsiteX8" fmla="*/ 0 w 535422"/>
                <a:gd name="connsiteY8" fmla="*/ 562343 h 1124687"/>
                <a:gd name="connsiteX9" fmla="*/ 451423 w 535422"/>
                <a:gd name="connsiteY9" fmla="*/ 8468 h 112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5422" h="1124687">
                  <a:moveTo>
                    <a:pt x="535422" y="0"/>
                  </a:moveTo>
                  <a:lnTo>
                    <a:pt x="535422" y="25186"/>
                  </a:lnTo>
                  <a:lnTo>
                    <a:pt x="456541" y="33138"/>
                  </a:lnTo>
                  <a:cubicBezTo>
                    <a:pt x="210489" y="83487"/>
                    <a:pt x="25399" y="301194"/>
                    <a:pt x="25399" y="562130"/>
                  </a:cubicBezTo>
                  <a:cubicBezTo>
                    <a:pt x="25399" y="823067"/>
                    <a:pt x="210489" y="1040774"/>
                    <a:pt x="456541" y="1091123"/>
                  </a:cubicBezTo>
                  <a:lnTo>
                    <a:pt x="535422" y="1099075"/>
                  </a:lnTo>
                  <a:lnTo>
                    <a:pt x="535422" y="1124687"/>
                  </a:lnTo>
                  <a:lnTo>
                    <a:pt x="451423" y="1116219"/>
                  </a:lnTo>
                  <a:cubicBezTo>
                    <a:pt x="193797" y="1063501"/>
                    <a:pt x="0" y="835554"/>
                    <a:pt x="0" y="562343"/>
                  </a:cubicBezTo>
                  <a:cubicBezTo>
                    <a:pt x="0" y="289132"/>
                    <a:pt x="193797" y="61185"/>
                    <a:pt x="451423" y="846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44">
              <a:extLst>
                <a:ext uri="{FF2B5EF4-FFF2-40B4-BE49-F238E27FC236}">
                  <a16:creationId xmlns:a16="http://schemas.microsoft.com/office/drawing/2014/main" id="{35A2267B-0862-A24E-87D2-6CE5187CF9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1746" y="806365"/>
              <a:ext cx="1130726" cy="1130724"/>
            </a:xfrm>
            <a:custGeom>
              <a:avLst/>
              <a:gdLst>
                <a:gd name="connsiteX0" fmla="*/ 565363 w 1130726"/>
                <a:gd name="connsiteY0" fmla="*/ 25186 h 1130724"/>
                <a:gd name="connsiteX1" fmla="*/ 25399 w 1130726"/>
                <a:gd name="connsiteY1" fmla="*/ 565149 h 1130724"/>
                <a:gd name="connsiteX2" fmla="*/ 565363 w 1130726"/>
                <a:gd name="connsiteY2" fmla="*/ 1105112 h 1130724"/>
                <a:gd name="connsiteX3" fmla="*/ 1105327 w 1130726"/>
                <a:gd name="connsiteY3" fmla="*/ 565149 h 1130724"/>
                <a:gd name="connsiteX4" fmla="*/ 565363 w 1130726"/>
                <a:gd name="connsiteY4" fmla="*/ 25186 h 1130724"/>
                <a:gd name="connsiteX5" fmla="*/ 565363 w 1130726"/>
                <a:gd name="connsiteY5" fmla="*/ 0 h 1130724"/>
                <a:gd name="connsiteX6" fmla="*/ 1130726 w 1130726"/>
                <a:gd name="connsiteY6" fmla="*/ 565362 h 1130724"/>
                <a:gd name="connsiteX7" fmla="*/ 565363 w 1130726"/>
                <a:gd name="connsiteY7" fmla="*/ 1130724 h 1130724"/>
                <a:gd name="connsiteX8" fmla="*/ 0 w 1130726"/>
                <a:gd name="connsiteY8" fmla="*/ 565362 h 1130724"/>
                <a:gd name="connsiteX9" fmla="*/ 565363 w 1130726"/>
                <a:gd name="connsiteY9" fmla="*/ 0 h 1130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0726" h="1130724">
                  <a:moveTo>
                    <a:pt x="565363" y="25186"/>
                  </a:moveTo>
                  <a:cubicBezTo>
                    <a:pt x="267149" y="25186"/>
                    <a:pt x="25399" y="266936"/>
                    <a:pt x="25399" y="565149"/>
                  </a:cubicBezTo>
                  <a:cubicBezTo>
                    <a:pt x="25399" y="863362"/>
                    <a:pt x="267149" y="1105112"/>
                    <a:pt x="565363" y="1105112"/>
                  </a:cubicBezTo>
                  <a:cubicBezTo>
                    <a:pt x="863577" y="1105112"/>
                    <a:pt x="1105327" y="863362"/>
                    <a:pt x="1105327" y="565149"/>
                  </a:cubicBezTo>
                  <a:cubicBezTo>
                    <a:pt x="1105327" y="266936"/>
                    <a:pt x="863577" y="25186"/>
                    <a:pt x="565363" y="25186"/>
                  </a:cubicBezTo>
                  <a:close/>
                  <a:moveTo>
                    <a:pt x="565363" y="0"/>
                  </a:moveTo>
                  <a:cubicBezTo>
                    <a:pt x="877604" y="0"/>
                    <a:pt x="1130726" y="253121"/>
                    <a:pt x="1130726" y="565362"/>
                  </a:cubicBezTo>
                  <a:cubicBezTo>
                    <a:pt x="1130726" y="877603"/>
                    <a:pt x="877604" y="1130724"/>
                    <a:pt x="565363" y="1130724"/>
                  </a:cubicBezTo>
                  <a:cubicBezTo>
                    <a:pt x="253122" y="1130724"/>
                    <a:pt x="0" y="877603"/>
                    <a:pt x="0" y="565362"/>
                  </a:cubicBezTo>
                  <a:cubicBezTo>
                    <a:pt x="0" y="253121"/>
                    <a:pt x="253122" y="0"/>
                    <a:pt x="565363"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45">
              <a:extLst>
                <a:ext uri="{FF2B5EF4-FFF2-40B4-BE49-F238E27FC236}">
                  <a16:creationId xmlns:a16="http://schemas.microsoft.com/office/drawing/2014/main" id="{A404A0DE-A076-8C4E-B8D4-EBC9453377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6578" y="3552837"/>
              <a:ext cx="535422" cy="1124688"/>
            </a:xfrm>
            <a:custGeom>
              <a:avLst/>
              <a:gdLst>
                <a:gd name="connsiteX0" fmla="*/ 535422 w 535422"/>
                <a:gd name="connsiteY0" fmla="*/ 0 h 1124688"/>
                <a:gd name="connsiteX1" fmla="*/ 535422 w 535422"/>
                <a:gd name="connsiteY1" fmla="*/ 25186 h 1124688"/>
                <a:gd name="connsiteX2" fmla="*/ 456541 w 535422"/>
                <a:gd name="connsiteY2" fmla="*/ 33138 h 1124688"/>
                <a:gd name="connsiteX3" fmla="*/ 25399 w 535422"/>
                <a:gd name="connsiteY3" fmla="*/ 562131 h 1124688"/>
                <a:gd name="connsiteX4" fmla="*/ 456541 w 535422"/>
                <a:gd name="connsiteY4" fmla="*/ 1091124 h 1124688"/>
                <a:gd name="connsiteX5" fmla="*/ 535422 w 535422"/>
                <a:gd name="connsiteY5" fmla="*/ 1099076 h 1124688"/>
                <a:gd name="connsiteX6" fmla="*/ 535422 w 535422"/>
                <a:gd name="connsiteY6" fmla="*/ 1124688 h 1124688"/>
                <a:gd name="connsiteX7" fmla="*/ 451423 w 535422"/>
                <a:gd name="connsiteY7" fmla="*/ 1116220 h 1124688"/>
                <a:gd name="connsiteX8" fmla="*/ 0 w 535422"/>
                <a:gd name="connsiteY8" fmla="*/ 562344 h 1124688"/>
                <a:gd name="connsiteX9" fmla="*/ 451423 w 535422"/>
                <a:gd name="connsiteY9" fmla="*/ 8468 h 1124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5422" h="1124688">
                  <a:moveTo>
                    <a:pt x="535422" y="0"/>
                  </a:moveTo>
                  <a:lnTo>
                    <a:pt x="535422" y="25186"/>
                  </a:lnTo>
                  <a:lnTo>
                    <a:pt x="456541" y="33138"/>
                  </a:lnTo>
                  <a:cubicBezTo>
                    <a:pt x="210489" y="83488"/>
                    <a:pt x="25399" y="301195"/>
                    <a:pt x="25399" y="562131"/>
                  </a:cubicBezTo>
                  <a:cubicBezTo>
                    <a:pt x="25399" y="823068"/>
                    <a:pt x="210489" y="1040775"/>
                    <a:pt x="456541" y="1091124"/>
                  </a:cubicBezTo>
                  <a:lnTo>
                    <a:pt x="535422" y="1099076"/>
                  </a:lnTo>
                  <a:lnTo>
                    <a:pt x="535422" y="1124688"/>
                  </a:lnTo>
                  <a:lnTo>
                    <a:pt x="451423" y="1116220"/>
                  </a:lnTo>
                  <a:cubicBezTo>
                    <a:pt x="193797" y="1063502"/>
                    <a:pt x="0" y="835555"/>
                    <a:pt x="0" y="562344"/>
                  </a:cubicBezTo>
                  <a:cubicBezTo>
                    <a:pt x="0" y="289133"/>
                    <a:pt x="193797" y="61186"/>
                    <a:pt x="451423" y="846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53">
              <a:extLst>
                <a:ext uri="{FF2B5EF4-FFF2-40B4-BE49-F238E27FC236}">
                  <a16:creationId xmlns:a16="http://schemas.microsoft.com/office/drawing/2014/main" id="{9EED6D73-C275-3347-BB66-C839642572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6642" y="6295916"/>
              <a:ext cx="535358" cy="562084"/>
            </a:xfrm>
            <a:custGeom>
              <a:avLst/>
              <a:gdLst>
                <a:gd name="connsiteX0" fmla="*/ 535358 w 535358"/>
                <a:gd name="connsiteY0" fmla="*/ 0 h 562084"/>
                <a:gd name="connsiteX1" fmla="*/ 535358 w 535358"/>
                <a:gd name="connsiteY1" fmla="*/ 25186 h 562084"/>
                <a:gd name="connsiteX2" fmla="*/ 469717 w 535358"/>
                <a:gd name="connsiteY2" fmla="*/ 30978 h 562084"/>
                <a:gd name="connsiteX3" fmla="*/ 36306 w 535358"/>
                <a:gd name="connsiteY3" fmla="*/ 453686 h 562084"/>
                <a:gd name="connsiteX4" fmla="*/ 25378 w 535358"/>
                <a:gd name="connsiteY4" fmla="*/ 562084 h 562084"/>
                <a:gd name="connsiteX5" fmla="*/ 0 w 535358"/>
                <a:gd name="connsiteY5" fmla="*/ 562084 h 562084"/>
                <a:gd name="connsiteX6" fmla="*/ 11423 w 535358"/>
                <a:gd name="connsiteY6" fmla="*/ 448780 h 562084"/>
                <a:gd name="connsiteX7" fmla="*/ 465221 w 535358"/>
                <a:gd name="connsiteY7" fmla="*/ 6189 h 562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5358" h="562084">
                  <a:moveTo>
                    <a:pt x="535358" y="0"/>
                  </a:moveTo>
                  <a:lnTo>
                    <a:pt x="535358" y="25186"/>
                  </a:lnTo>
                  <a:lnTo>
                    <a:pt x="469717" y="30978"/>
                  </a:lnTo>
                  <a:cubicBezTo>
                    <a:pt x="252550" y="69769"/>
                    <a:pt x="80361" y="238391"/>
                    <a:pt x="36306" y="453686"/>
                  </a:cubicBezTo>
                  <a:lnTo>
                    <a:pt x="25378" y="562084"/>
                  </a:lnTo>
                  <a:lnTo>
                    <a:pt x="0" y="562084"/>
                  </a:lnTo>
                  <a:lnTo>
                    <a:pt x="11423" y="448780"/>
                  </a:lnTo>
                  <a:cubicBezTo>
                    <a:pt x="57551" y="223357"/>
                    <a:pt x="237840" y="46805"/>
                    <a:pt x="465221" y="6189"/>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5819797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302CA-6C3D-7FBD-4928-2B9280855A0D}"/>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955470EE-51DC-48A8-2F24-9AB15A8A181E}"/>
              </a:ext>
            </a:extLst>
          </p:cNvPr>
          <p:cNvSpPr>
            <a:spLocks noGrp="1"/>
          </p:cNvSpPr>
          <p:nvPr>
            <p:ph idx="1"/>
          </p:nvPr>
        </p:nvSpPr>
        <p:spPr>
          <a:xfrm>
            <a:off x="565150" y="2160016"/>
            <a:ext cx="7824470" cy="3601212"/>
          </a:xfrm>
        </p:spPr>
        <p:txBody>
          <a:bodyPr>
            <a:normAutofit/>
          </a:bodyPr>
          <a:lstStyle/>
          <a:p>
            <a:r>
              <a:rPr lang="en-IN" dirty="0"/>
              <a:t>Transfer Learning for LLMs </a:t>
            </a:r>
          </a:p>
          <a:p>
            <a:r>
              <a:rPr lang="en-IN" dirty="0"/>
              <a:t>How it is done ?</a:t>
            </a:r>
          </a:p>
          <a:p>
            <a:r>
              <a:rPr lang="en-IN" dirty="0"/>
              <a:t>What are the two approaches to transfer learning </a:t>
            </a:r>
          </a:p>
          <a:p>
            <a:pPr marL="914400" lvl="1" indent="-457200">
              <a:buAutoNum type="arabicPeriod"/>
            </a:pPr>
            <a:r>
              <a:rPr lang="en-IN" sz="2400" dirty="0"/>
              <a:t>Features extraction approach and </a:t>
            </a:r>
          </a:p>
          <a:p>
            <a:pPr marL="914400" lvl="1" indent="-457200">
              <a:buAutoNum type="arabicPeriod"/>
            </a:pPr>
            <a:r>
              <a:rPr lang="en-IN" sz="2400" dirty="0"/>
              <a:t>Fine tuning approach, how is each type of fine tuning different from the other</a:t>
            </a:r>
            <a:r>
              <a:rPr lang="en-US" sz="2400" dirty="0"/>
              <a:t> </a:t>
            </a:r>
          </a:p>
          <a:p>
            <a:endParaRPr lang="en-US" dirty="0"/>
          </a:p>
        </p:txBody>
      </p:sp>
    </p:spTree>
    <p:extLst>
      <p:ext uri="{BB962C8B-B14F-4D97-AF65-F5344CB8AC3E}">
        <p14:creationId xmlns:p14="http://schemas.microsoft.com/office/powerpoint/2010/main" val="878750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4889F02-6D81-A50E-860A-E06E8DCC0C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1820" y="275273"/>
            <a:ext cx="5562600" cy="6010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6608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57B0AD7-E991-E343-BF68-F1188152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C1857A19-E623-E0B3-BA23-24DA98F153A2}"/>
              </a:ext>
            </a:extLst>
          </p:cNvPr>
          <p:cNvPicPr>
            <a:picLocks noChangeAspect="1"/>
          </p:cNvPicPr>
          <p:nvPr/>
        </p:nvPicPr>
        <p:blipFill>
          <a:blip r:embed="rId2"/>
          <a:srcRect t="4281" b="179"/>
          <a:stretch>
            <a:fillRect/>
          </a:stretch>
        </p:blipFill>
        <p:spPr>
          <a:xfrm>
            <a:off x="651489" y="681645"/>
            <a:ext cx="10885620" cy="5486059"/>
          </a:xfrm>
          <a:prstGeom prst="rect">
            <a:avLst/>
          </a:prstGeom>
        </p:spPr>
      </p:pic>
    </p:spTree>
    <p:extLst>
      <p:ext uri="{BB962C8B-B14F-4D97-AF65-F5344CB8AC3E}">
        <p14:creationId xmlns:p14="http://schemas.microsoft.com/office/powerpoint/2010/main" val="1085277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e principle of Transfer Learning in the LLM">
            <a:extLst>
              <a:ext uri="{FF2B5EF4-FFF2-40B4-BE49-F238E27FC236}">
                <a16:creationId xmlns:a16="http://schemas.microsoft.com/office/drawing/2014/main" id="{71AED9C0-66D9-F6E1-066F-3AF4B03977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95288"/>
            <a:ext cx="12192000" cy="60658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00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2BFF8-A942-0BA2-A185-D5440779F788}"/>
              </a:ext>
            </a:extLst>
          </p:cNvPr>
          <p:cNvSpPr>
            <a:spLocks noGrp="1"/>
          </p:cNvSpPr>
          <p:nvPr>
            <p:ph type="title"/>
          </p:nvPr>
        </p:nvSpPr>
        <p:spPr/>
        <p:txBody>
          <a:bodyPr/>
          <a:lstStyle/>
          <a:p>
            <a:r>
              <a:rPr lang="en-US" dirty="0"/>
              <a:t>Introduction </a:t>
            </a:r>
          </a:p>
        </p:txBody>
      </p:sp>
      <p:sp>
        <p:nvSpPr>
          <p:cNvPr id="3" name="Content Placeholder 2">
            <a:extLst>
              <a:ext uri="{FF2B5EF4-FFF2-40B4-BE49-F238E27FC236}">
                <a16:creationId xmlns:a16="http://schemas.microsoft.com/office/drawing/2014/main" id="{CAA69E6C-7364-1E17-05B0-BDF73950FA08}"/>
              </a:ext>
            </a:extLst>
          </p:cNvPr>
          <p:cNvSpPr>
            <a:spLocks noGrp="1"/>
          </p:cNvSpPr>
          <p:nvPr>
            <p:ph idx="1"/>
          </p:nvPr>
        </p:nvSpPr>
        <p:spPr>
          <a:xfrm>
            <a:off x="565150" y="1840230"/>
            <a:ext cx="9973310" cy="4366260"/>
          </a:xfrm>
        </p:spPr>
        <p:txBody>
          <a:bodyPr>
            <a:normAutofit fontScale="70000" lnSpcReduction="20000"/>
          </a:bodyPr>
          <a:lstStyle/>
          <a:p>
            <a:pPr marL="0" indent="0" algn="just">
              <a:buNone/>
            </a:pPr>
            <a:r>
              <a:rPr lang="en-US" sz="3600" dirty="0"/>
              <a:t>Recently, deep learning models have allowed to get significant improvements in performances of machine learning models, representing a solution to the problems of traditional machine learning algorithms. Nevertheless, training of models from scratch does not always represent a good solution, as it is difficult but also expensive to have a dataset of sufficient size available to obtain a satisfactory prediction result for a specific task. </a:t>
            </a:r>
            <a:r>
              <a:rPr lang="en-US" sz="3600" b="1" dirty="0"/>
              <a:t>What if we do not have such amount of data? A solution is Transfer Learning, which consists in pre-training a network on very large public datasets with a large number of classes.</a:t>
            </a:r>
            <a:r>
              <a:rPr lang="en-US" sz="3600" dirty="0"/>
              <a:t> It allows you to use features calculated by the pre-trained network in order to use them to solve the issue at hand.</a:t>
            </a:r>
          </a:p>
          <a:p>
            <a:pPr marL="0" indent="0" algn="just">
              <a:buNone/>
            </a:pPr>
            <a:br>
              <a:rPr lang="en-US" dirty="0"/>
            </a:br>
            <a:endParaRPr lang="en-US" dirty="0"/>
          </a:p>
        </p:txBody>
      </p:sp>
    </p:spTree>
    <p:extLst>
      <p:ext uri="{BB962C8B-B14F-4D97-AF65-F5344CB8AC3E}">
        <p14:creationId xmlns:p14="http://schemas.microsoft.com/office/powerpoint/2010/main" val="3550101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ED187-A566-8772-875F-3429CE4E3751}"/>
              </a:ext>
            </a:extLst>
          </p:cNvPr>
          <p:cNvSpPr>
            <a:spLocks noGrp="1"/>
          </p:cNvSpPr>
          <p:nvPr>
            <p:ph type="title"/>
          </p:nvPr>
        </p:nvSpPr>
        <p:spPr/>
        <p:txBody>
          <a:bodyPr/>
          <a:lstStyle/>
          <a:p>
            <a:r>
              <a:rPr lang="en-US" dirty="0"/>
              <a:t>Transfer learning techniques</a:t>
            </a:r>
          </a:p>
        </p:txBody>
      </p:sp>
      <p:sp>
        <p:nvSpPr>
          <p:cNvPr id="3" name="Content Placeholder 2">
            <a:extLst>
              <a:ext uri="{FF2B5EF4-FFF2-40B4-BE49-F238E27FC236}">
                <a16:creationId xmlns:a16="http://schemas.microsoft.com/office/drawing/2014/main" id="{68EE0F24-F6FB-C231-1A90-2373F4AD1BFA}"/>
              </a:ext>
            </a:extLst>
          </p:cNvPr>
          <p:cNvSpPr>
            <a:spLocks noGrp="1"/>
          </p:cNvSpPr>
          <p:nvPr>
            <p:ph idx="1"/>
          </p:nvPr>
        </p:nvSpPr>
        <p:spPr>
          <a:xfrm>
            <a:off x="565150" y="2039874"/>
            <a:ext cx="10030460" cy="3949446"/>
          </a:xfrm>
        </p:spPr>
        <p:txBody>
          <a:bodyPr>
            <a:normAutofit fontScale="92500" lnSpcReduction="10000"/>
          </a:bodyPr>
          <a:lstStyle/>
          <a:p>
            <a:pPr marL="0" indent="0">
              <a:buNone/>
            </a:pPr>
            <a:r>
              <a:rPr lang="en-US" sz="2800" dirty="0"/>
              <a:t>There are two different : </a:t>
            </a:r>
          </a:p>
          <a:p>
            <a:pPr marL="914400" lvl="1" indent="-457200">
              <a:buFont typeface="+mj-lt"/>
              <a:buAutoNum type="arabicPeriod"/>
            </a:pPr>
            <a:r>
              <a:rPr lang="en-US" sz="2800" dirty="0"/>
              <a:t>Fine tuning and </a:t>
            </a:r>
          </a:p>
          <a:p>
            <a:pPr marL="914400" lvl="1" indent="-457200">
              <a:buFont typeface="+mj-lt"/>
              <a:buAutoNum type="arabicPeriod"/>
            </a:pPr>
            <a:r>
              <a:rPr lang="en-US" sz="2800" dirty="0"/>
              <a:t>Feature extraction. </a:t>
            </a:r>
          </a:p>
          <a:p>
            <a:pPr marL="0" indent="0">
              <a:buNone/>
            </a:pPr>
            <a:r>
              <a:rPr lang="en-US" dirty="0"/>
              <a:t>Both techniques are used to leverage knowledge from a pre-trained model on a very large source task to improve performance on a target task. </a:t>
            </a:r>
            <a:r>
              <a:rPr lang="en-US" b="1" dirty="0"/>
              <a:t>Why does Transfer Learning work? Motivated by the insight that the earlier features of a model comprise more generic features that could be beneficial across numerous tasks (e.g. edge detectors or color blob detectors in case of image classification tasks), later layers of the model represent instead more specific details of the classes contained in the original dataset.</a:t>
            </a:r>
            <a:endParaRPr lang="en-US" sz="3200" dirty="0"/>
          </a:p>
        </p:txBody>
      </p:sp>
    </p:spTree>
    <p:extLst>
      <p:ext uri="{BB962C8B-B14F-4D97-AF65-F5344CB8AC3E}">
        <p14:creationId xmlns:p14="http://schemas.microsoft.com/office/powerpoint/2010/main" val="2458059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5BBC5D-555C-21C1-7DF8-AA84F282A8B0}"/>
              </a:ext>
            </a:extLst>
          </p:cNvPr>
          <p:cNvPicPr>
            <a:picLocks noChangeAspect="1"/>
          </p:cNvPicPr>
          <p:nvPr/>
        </p:nvPicPr>
        <p:blipFill>
          <a:blip r:embed="rId2"/>
          <a:stretch>
            <a:fillRect/>
          </a:stretch>
        </p:blipFill>
        <p:spPr>
          <a:xfrm>
            <a:off x="613764" y="-91655"/>
            <a:ext cx="10644785" cy="5589485"/>
          </a:xfrm>
          <a:prstGeom prst="rect">
            <a:avLst/>
          </a:prstGeom>
        </p:spPr>
      </p:pic>
      <p:sp>
        <p:nvSpPr>
          <p:cNvPr id="5" name="TextBox 4">
            <a:extLst>
              <a:ext uri="{FF2B5EF4-FFF2-40B4-BE49-F238E27FC236}">
                <a16:creationId xmlns:a16="http://schemas.microsoft.com/office/drawing/2014/main" id="{F8999C2B-BBDA-B256-9A47-F70DBD8CF34E}"/>
              </a:ext>
            </a:extLst>
          </p:cNvPr>
          <p:cNvSpPr txBox="1"/>
          <p:nvPr/>
        </p:nvSpPr>
        <p:spPr>
          <a:xfrm>
            <a:off x="363855" y="5732324"/>
            <a:ext cx="11464290" cy="923330"/>
          </a:xfrm>
          <a:prstGeom prst="rect">
            <a:avLst/>
          </a:prstGeom>
          <a:noFill/>
        </p:spPr>
        <p:txBody>
          <a:bodyPr wrap="square">
            <a:spAutoFit/>
          </a:bodyPr>
          <a:lstStyle/>
          <a:p>
            <a:r>
              <a:rPr lang="en-US" b="0" i="0" dirty="0">
                <a:solidFill>
                  <a:srgbClr val="6B6B6B"/>
                </a:solidFill>
                <a:effectLst/>
                <a:latin typeface="sohne"/>
              </a:rPr>
              <a:t>In the picture, we can see different specific tasks of image classification: face detection, car, elephants and chairs. They have generic feature in common, embedded in the earlier layers. Later layers are, instead, different from each others: for example, for face detection task we could have features about nose, eyes and so on</a:t>
            </a:r>
            <a:endParaRPr lang="en-US" dirty="0"/>
          </a:p>
        </p:txBody>
      </p:sp>
    </p:spTree>
    <p:extLst>
      <p:ext uri="{BB962C8B-B14F-4D97-AF65-F5344CB8AC3E}">
        <p14:creationId xmlns:p14="http://schemas.microsoft.com/office/powerpoint/2010/main" val="3678744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91F96-2E70-34BA-C8BA-9E5803205F2F}"/>
              </a:ext>
            </a:extLst>
          </p:cNvPr>
          <p:cNvSpPr>
            <a:spLocks noGrp="1"/>
          </p:cNvSpPr>
          <p:nvPr>
            <p:ph type="title"/>
          </p:nvPr>
        </p:nvSpPr>
        <p:spPr/>
        <p:txBody>
          <a:bodyPr>
            <a:normAutofit fontScale="90000"/>
          </a:bodyPr>
          <a:lstStyle/>
          <a:p>
            <a:r>
              <a:rPr lang="en-US" dirty="0"/>
              <a:t>Feature Extraction</a:t>
            </a:r>
            <a:br>
              <a:rPr lang="en-US" dirty="0"/>
            </a:br>
            <a:endParaRPr lang="en-US" dirty="0"/>
          </a:p>
        </p:txBody>
      </p:sp>
      <p:sp>
        <p:nvSpPr>
          <p:cNvPr id="3" name="Content Placeholder 2">
            <a:extLst>
              <a:ext uri="{FF2B5EF4-FFF2-40B4-BE49-F238E27FC236}">
                <a16:creationId xmlns:a16="http://schemas.microsoft.com/office/drawing/2014/main" id="{3CFE83F5-81E7-1D66-3F28-A6797D567828}"/>
              </a:ext>
            </a:extLst>
          </p:cNvPr>
          <p:cNvSpPr>
            <a:spLocks noGrp="1"/>
          </p:cNvSpPr>
          <p:nvPr>
            <p:ph idx="1"/>
          </p:nvPr>
        </p:nvSpPr>
        <p:spPr>
          <a:xfrm>
            <a:off x="565150" y="1680210"/>
            <a:ext cx="8807450" cy="4406900"/>
          </a:xfrm>
        </p:spPr>
        <p:txBody>
          <a:bodyPr>
            <a:normAutofit/>
          </a:bodyPr>
          <a:lstStyle/>
          <a:p>
            <a:pPr marL="0" indent="0" algn="just">
              <a:buNone/>
            </a:pPr>
            <a:r>
              <a:rPr lang="en-US" sz="2500" b="1" dirty="0"/>
              <a:t>It uses the representations learned by the pre-trained network to extract meaningful features for new samples of a specific task. </a:t>
            </a:r>
            <a:r>
              <a:rPr lang="en-US" sz="2500" dirty="0"/>
              <a:t>At this point, you can simply add a new classifier, which will be trained from scratch but on top the pre-trained model, so that you can reuse the feature map learned previously. Specifically, the pre-trained model’s parameters are kept frozen during training on the target task. This way you do not need to retrain the whole (more complex) model because the base network already contains features that are generally useful for different specific tasks.</a:t>
            </a:r>
          </a:p>
        </p:txBody>
      </p:sp>
    </p:spTree>
    <p:extLst>
      <p:ext uri="{BB962C8B-B14F-4D97-AF65-F5344CB8AC3E}">
        <p14:creationId xmlns:p14="http://schemas.microsoft.com/office/powerpoint/2010/main" val="259259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D409F3-EA89-B210-A2E1-98160BD7B306}"/>
              </a:ext>
            </a:extLst>
          </p:cNvPr>
          <p:cNvPicPr>
            <a:picLocks noChangeAspect="1"/>
          </p:cNvPicPr>
          <p:nvPr/>
        </p:nvPicPr>
        <p:blipFill>
          <a:blip r:embed="rId2"/>
          <a:srcRect l="4281" r="4391"/>
          <a:stretch>
            <a:fillRect/>
          </a:stretch>
        </p:blipFill>
        <p:spPr>
          <a:xfrm>
            <a:off x="594360" y="190112"/>
            <a:ext cx="11407140" cy="5410588"/>
          </a:xfrm>
          <a:prstGeom prst="rect">
            <a:avLst/>
          </a:prstGeom>
        </p:spPr>
      </p:pic>
      <p:sp>
        <p:nvSpPr>
          <p:cNvPr id="5" name="TextBox 4">
            <a:extLst>
              <a:ext uri="{FF2B5EF4-FFF2-40B4-BE49-F238E27FC236}">
                <a16:creationId xmlns:a16="http://schemas.microsoft.com/office/drawing/2014/main" id="{17D6990E-8C30-A477-5F33-939F74555EFD}"/>
              </a:ext>
            </a:extLst>
          </p:cNvPr>
          <p:cNvSpPr txBox="1"/>
          <p:nvPr/>
        </p:nvSpPr>
        <p:spPr>
          <a:xfrm>
            <a:off x="1002983" y="6021557"/>
            <a:ext cx="10495597" cy="646331"/>
          </a:xfrm>
          <a:prstGeom prst="rect">
            <a:avLst/>
          </a:prstGeom>
          <a:noFill/>
        </p:spPr>
        <p:txBody>
          <a:bodyPr wrap="square">
            <a:spAutoFit/>
          </a:bodyPr>
          <a:lstStyle/>
          <a:p>
            <a:r>
              <a:rPr lang="en-US" b="0" i="0" dirty="0">
                <a:solidFill>
                  <a:srgbClr val="6B6B6B"/>
                </a:solidFill>
                <a:effectLst/>
                <a:latin typeface="sohne"/>
              </a:rPr>
              <a:t>Feature extraction of a pre-trained convolutional network that has the image classification of 1000 classes as source task. The result of the extraction is a 4096-d feature vector</a:t>
            </a:r>
            <a:endParaRPr lang="en-US" dirty="0"/>
          </a:p>
        </p:txBody>
      </p:sp>
    </p:spTree>
    <p:extLst>
      <p:ext uri="{BB962C8B-B14F-4D97-AF65-F5344CB8AC3E}">
        <p14:creationId xmlns:p14="http://schemas.microsoft.com/office/powerpoint/2010/main" val="1655518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64DE55-CF64-CC29-236D-B5885DD75E31}"/>
              </a:ext>
            </a:extLst>
          </p:cNvPr>
          <p:cNvSpPr>
            <a:spLocks noGrp="1"/>
          </p:cNvSpPr>
          <p:nvPr>
            <p:ph idx="1"/>
          </p:nvPr>
        </p:nvSpPr>
        <p:spPr>
          <a:xfrm>
            <a:off x="565150" y="422910"/>
            <a:ext cx="8727440" cy="5589270"/>
          </a:xfrm>
        </p:spPr>
        <p:txBody>
          <a:bodyPr>
            <a:normAutofit/>
          </a:bodyPr>
          <a:lstStyle/>
          <a:p>
            <a:pPr marL="0" indent="0" algn="just">
              <a:buNone/>
            </a:pPr>
            <a:r>
              <a:rPr lang="en-US" b="1" dirty="0"/>
              <a:t>Feature extraction is particularly useful when the target task has a small dataset or when computational resources are limited.</a:t>
            </a:r>
            <a:r>
              <a:rPr lang="en-US" dirty="0"/>
              <a:t> </a:t>
            </a:r>
          </a:p>
          <a:p>
            <a:pPr algn="just"/>
            <a:r>
              <a:rPr lang="en-US" dirty="0"/>
              <a:t>If the target task dataset is similar to the source task dataset you should perform a training on the pre-trained model features from higher layers (detailed features).</a:t>
            </a:r>
          </a:p>
          <a:p>
            <a:pPr algn="just"/>
            <a:r>
              <a:rPr lang="en-US" dirty="0"/>
              <a:t> Otherwise, if the dataset is very different from the original dataset, then you should perform a training on the features extracted from lower layers (general features). </a:t>
            </a:r>
          </a:p>
          <a:p>
            <a:pPr marL="0" indent="0" algn="just">
              <a:buNone/>
            </a:pPr>
            <a:r>
              <a:rPr lang="en-US" dirty="0"/>
              <a:t>A possible limit is </a:t>
            </a:r>
            <a:r>
              <a:rPr lang="en-US" i="1" dirty="0"/>
              <a:t>overfitting</a:t>
            </a:r>
            <a:r>
              <a:rPr lang="en-US" dirty="0"/>
              <a:t>, which can occurs if the amount of new data is particularly limited. On the other side, it is computationally less expensive than fine tuning as it requires training only for the added layers, which generally have fewer parameters than the pre-trained layers.</a:t>
            </a:r>
          </a:p>
        </p:txBody>
      </p:sp>
    </p:spTree>
    <p:extLst>
      <p:ext uri="{BB962C8B-B14F-4D97-AF65-F5344CB8AC3E}">
        <p14:creationId xmlns:p14="http://schemas.microsoft.com/office/powerpoint/2010/main" val="3167995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CEF9CA-77D3-C1C3-6D3F-1F65A330A9CB}"/>
              </a:ext>
            </a:extLst>
          </p:cNvPr>
          <p:cNvSpPr>
            <a:spLocks noGrp="1"/>
          </p:cNvSpPr>
          <p:nvPr>
            <p:ph idx="1"/>
          </p:nvPr>
        </p:nvSpPr>
        <p:spPr/>
        <p:txBody>
          <a:bodyPr>
            <a:normAutofit fontScale="92500"/>
          </a:bodyPr>
          <a:lstStyle/>
          <a:p>
            <a:r>
              <a:rPr lang="en-US" b="1" dirty="0"/>
              <a:t>Load a Pre-trained Model:</a:t>
            </a:r>
            <a:r>
              <a:rPr lang="en-US" dirty="0"/>
              <a:t> Select a base model like BERT or </a:t>
            </a:r>
            <a:r>
              <a:rPr lang="en-US" dirty="0" err="1"/>
              <a:t>RoBERTa</a:t>
            </a:r>
            <a:r>
              <a:rPr lang="en-US" dirty="0"/>
              <a:t>.</a:t>
            </a:r>
          </a:p>
          <a:p>
            <a:r>
              <a:rPr lang="en-US" b="1" dirty="0"/>
              <a:t>Freeze Weights:</a:t>
            </a:r>
            <a:r>
              <a:rPr lang="en-US" dirty="0"/>
              <a:t> Ensure the base model's parameters remain unchanged during training.</a:t>
            </a:r>
          </a:p>
          <a:p>
            <a:r>
              <a:rPr lang="en-US" b="1" dirty="0"/>
              <a:t>Extract Embeddings:</a:t>
            </a:r>
            <a:r>
              <a:rPr lang="en-US" dirty="0"/>
              <a:t> Feed text through the frozen model to obtain high-dimensional feature vectors.</a:t>
            </a:r>
          </a:p>
          <a:p>
            <a:r>
              <a:rPr lang="en-US" b="1" dirty="0"/>
              <a:t>Train a Classifier:</a:t>
            </a:r>
            <a:r>
              <a:rPr lang="en-US" dirty="0"/>
              <a:t> Pass these vectors into a small, new head (e.g., Logistic Regression or a shallow Neural Network) to perform the final task.</a:t>
            </a:r>
          </a:p>
          <a:p>
            <a:endParaRPr lang="en-US" dirty="0"/>
          </a:p>
        </p:txBody>
      </p:sp>
      <p:sp>
        <p:nvSpPr>
          <p:cNvPr id="4" name="Rectangle 1">
            <a:extLst>
              <a:ext uri="{FF2B5EF4-FFF2-40B4-BE49-F238E27FC236}">
                <a16:creationId xmlns:a16="http://schemas.microsoft.com/office/drawing/2014/main" id="{03DE35E5-A851-2D3A-9224-C665BC83AC79}"/>
              </a:ext>
            </a:extLst>
          </p:cNvPr>
          <p:cNvSpPr>
            <a:spLocks noGrp="1" noChangeArrowheads="1"/>
          </p:cNvSpPr>
          <p:nvPr>
            <p:ph type="title"/>
          </p:nvPr>
        </p:nvSpPr>
        <p:spPr bwMode="auto">
          <a:xfrm>
            <a:off x="565150" y="268368"/>
            <a:ext cx="8773160" cy="165680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6176" rIns="0" bIns="10156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800" b="1" i="0" u="none" strike="noStrike" cap="none" normalizeH="0" baseline="0" dirty="0">
                <a:ln>
                  <a:noFill/>
                </a:ln>
                <a:solidFill>
                  <a:srgbClr val="001D35"/>
                </a:solidFill>
                <a:effectLst/>
                <a:latin typeface="Google Sans"/>
              </a:rPr>
              <a:t>Core Workflow</a:t>
            </a:r>
            <a:r>
              <a:rPr kumimoji="0" lang="en-US" altLang="en-US" sz="4800" b="0" i="0" u="none" strike="noStrike" cap="none" normalizeH="0" baseline="0" dirty="0">
                <a:ln>
                  <a:noFill/>
                </a:ln>
                <a:solidFill>
                  <a:schemeClr val="tx1"/>
                </a:solidFill>
                <a:effectLst/>
                <a:latin typeface="Arial" panose="020B0604020202020204" pitchFamily="34" charset="0"/>
              </a:rPr>
              <a:t> </a:t>
            </a:r>
            <a:r>
              <a:rPr lang="en-US" altLang="en-US" sz="4800" dirty="0">
                <a:solidFill>
                  <a:srgbClr val="001D35"/>
                </a:solidFill>
                <a:latin typeface="Google Sans"/>
              </a:rPr>
              <a:t>for feature extraction</a:t>
            </a:r>
          </a:p>
        </p:txBody>
      </p:sp>
    </p:spTree>
    <p:extLst>
      <p:ext uri="{BB962C8B-B14F-4D97-AF65-F5344CB8AC3E}">
        <p14:creationId xmlns:p14="http://schemas.microsoft.com/office/powerpoint/2010/main" val="25724227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FA276-FE96-72CB-7F93-1259F90C9A68}"/>
              </a:ext>
            </a:extLst>
          </p:cNvPr>
          <p:cNvSpPr>
            <a:spLocks noGrp="1"/>
          </p:cNvSpPr>
          <p:nvPr>
            <p:ph type="title"/>
          </p:nvPr>
        </p:nvSpPr>
        <p:spPr>
          <a:xfrm>
            <a:off x="565150" y="770890"/>
            <a:ext cx="7915910" cy="1268984"/>
          </a:xfrm>
        </p:spPr>
        <p:txBody>
          <a:bodyPr>
            <a:normAutofit fontScale="90000"/>
          </a:bodyPr>
          <a:lstStyle/>
          <a:p>
            <a:r>
              <a:rPr lang="en-US" dirty="0"/>
              <a:t>When to Use Feature Extraction?</a:t>
            </a:r>
          </a:p>
        </p:txBody>
      </p:sp>
      <p:sp>
        <p:nvSpPr>
          <p:cNvPr id="3" name="Content Placeholder 2">
            <a:extLst>
              <a:ext uri="{FF2B5EF4-FFF2-40B4-BE49-F238E27FC236}">
                <a16:creationId xmlns:a16="http://schemas.microsoft.com/office/drawing/2014/main" id="{464047BF-F333-7EB5-D7AB-539B61A68A16}"/>
              </a:ext>
            </a:extLst>
          </p:cNvPr>
          <p:cNvSpPr>
            <a:spLocks noGrp="1"/>
          </p:cNvSpPr>
          <p:nvPr>
            <p:ph idx="1"/>
          </p:nvPr>
        </p:nvSpPr>
        <p:spPr/>
        <p:txBody>
          <a:bodyPr/>
          <a:lstStyle/>
          <a:p>
            <a:r>
              <a:rPr lang="en-US" b="1" dirty="0"/>
              <a:t>Small Datasets:</a:t>
            </a:r>
            <a:r>
              <a:rPr lang="en-US" dirty="0"/>
              <a:t> Useful when you have very little labeled data, preventing overfitting.</a:t>
            </a:r>
          </a:p>
          <a:p>
            <a:r>
              <a:rPr lang="en-US" b="1" dirty="0"/>
              <a:t>Limited Hardware:</a:t>
            </a:r>
            <a:r>
              <a:rPr lang="en-US" dirty="0"/>
              <a:t> Computationally cheaper than full fine-tuning because you only train the small classifier head.</a:t>
            </a:r>
          </a:p>
          <a:p>
            <a:r>
              <a:rPr lang="en-US" b="1" dirty="0"/>
              <a:t>Speed:</a:t>
            </a:r>
            <a:r>
              <a:rPr lang="en-US" dirty="0"/>
              <a:t> Ideal for rapid prototyping or situations where you need to pre-compute embeddings for faster inference</a:t>
            </a:r>
          </a:p>
          <a:p>
            <a:endParaRPr lang="en-US" dirty="0"/>
          </a:p>
        </p:txBody>
      </p:sp>
    </p:spTree>
    <p:extLst>
      <p:ext uri="{BB962C8B-B14F-4D97-AF65-F5344CB8AC3E}">
        <p14:creationId xmlns:p14="http://schemas.microsoft.com/office/powerpoint/2010/main" val="2421465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A9FA3B62-239E-1609-B116-D38F390DA4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5500" y="628650"/>
            <a:ext cx="8001000" cy="5600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8139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BB692B-A090-36EA-D961-EF7BA49EBC51}"/>
              </a:ext>
            </a:extLst>
          </p:cNvPr>
          <p:cNvSpPr txBox="1"/>
          <p:nvPr/>
        </p:nvSpPr>
        <p:spPr>
          <a:xfrm>
            <a:off x="255270" y="660999"/>
            <a:ext cx="11681460" cy="6067495"/>
          </a:xfrm>
          <a:prstGeom prst="rect">
            <a:avLst/>
          </a:prstGeom>
          <a:noFill/>
        </p:spPr>
        <p:txBody>
          <a:bodyPr wrap="square">
            <a:spAutoFit/>
          </a:bodyPr>
          <a:lstStyle/>
          <a:p>
            <a:pPr algn="l">
              <a:lnSpc>
                <a:spcPts val="1800"/>
              </a:lnSpc>
              <a:buNone/>
            </a:pPr>
            <a:r>
              <a:rPr lang="en-US" sz="2400" b="1" i="0" dirty="0">
                <a:solidFill>
                  <a:srgbClr val="242424"/>
                </a:solidFill>
                <a:effectLst/>
                <a:latin typeface="sohne"/>
              </a:rPr>
              <a:t>Approach #1: Feature Extraction</a:t>
            </a:r>
          </a:p>
          <a:p>
            <a:pPr algn="l">
              <a:lnSpc>
                <a:spcPts val="1800"/>
              </a:lnSpc>
              <a:buNone/>
            </a:pPr>
            <a:endParaRPr lang="en-US" sz="2400" b="1" i="0" dirty="0">
              <a:solidFill>
                <a:srgbClr val="242424"/>
              </a:solidFill>
              <a:effectLst/>
              <a:latin typeface="sohne"/>
            </a:endParaRPr>
          </a:p>
          <a:p>
            <a:pPr algn="l">
              <a:spcAft>
                <a:spcPts val="600"/>
              </a:spcAft>
              <a:buNone/>
            </a:pPr>
            <a:r>
              <a:rPr lang="en-US" sz="2400" b="1" i="0" dirty="0">
                <a:solidFill>
                  <a:srgbClr val="242424"/>
                </a:solidFill>
                <a:effectLst/>
                <a:latin typeface="sohne"/>
              </a:rPr>
              <a:t>The Concept - </a:t>
            </a:r>
            <a:r>
              <a:rPr lang="en-US" sz="2400" b="0" i="0" dirty="0">
                <a:solidFill>
                  <a:srgbClr val="242424"/>
                </a:solidFill>
                <a:effectLst/>
                <a:latin typeface="source-serif-pro"/>
              </a:rPr>
              <a:t>treat the pretrained model (like VGG16, </a:t>
            </a:r>
            <a:r>
              <a:rPr lang="en-US" sz="2400" b="0" i="0" dirty="0" err="1">
                <a:solidFill>
                  <a:srgbClr val="242424"/>
                </a:solidFill>
                <a:effectLst/>
                <a:latin typeface="source-serif-pro"/>
              </a:rPr>
              <a:t>ResNet</a:t>
            </a:r>
            <a:r>
              <a:rPr lang="en-US" sz="2400" b="0" i="0" dirty="0">
                <a:solidFill>
                  <a:srgbClr val="242424"/>
                </a:solidFill>
                <a:effectLst/>
                <a:latin typeface="source-serif-pro"/>
              </a:rPr>
              <a:t>, or Inception) as an </a:t>
            </a:r>
            <a:r>
              <a:rPr lang="en-US" sz="2400" b="1" i="0" dirty="0">
                <a:solidFill>
                  <a:srgbClr val="242424"/>
                </a:solidFill>
                <a:effectLst/>
                <a:latin typeface="source-serif-pro"/>
              </a:rPr>
              <a:t>automatic feature extractor</a:t>
            </a:r>
            <a:r>
              <a:rPr lang="en-US" sz="2400" b="0" i="0" dirty="0">
                <a:solidFill>
                  <a:srgbClr val="242424"/>
                </a:solidFill>
                <a:effectLst/>
                <a:latin typeface="source-serif-pro"/>
              </a:rPr>
              <a:t>. You freeze all the model’s layers and take the features it produces as input for simple additional layers — like Dense Layers or even Logistic Regression — to perform your final classification.</a:t>
            </a:r>
          </a:p>
          <a:p>
            <a:pPr algn="l">
              <a:spcAft>
                <a:spcPts val="600"/>
              </a:spcAft>
              <a:buNone/>
            </a:pPr>
            <a:r>
              <a:rPr lang="en-US" sz="2400" b="1" i="0" dirty="0">
                <a:solidFill>
                  <a:srgbClr val="242424"/>
                </a:solidFill>
                <a:effectLst/>
                <a:latin typeface="sohne"/>
              </a:rPr>
              <a:t>When to Use It? - </a:t>
            </a:r>
            <a:r>
              <a:rPr lang="en-US" sz="2400" b="0" i="0" dirty="0">
                <a:solidFill>
                  <a:srgbClr val="242424"/>
                </a:solidFill>
                <a:effectLst/>
                <a:latin typeface="source-serif-pro"/>
              </a:rPr>
              <a:t>When you have </a:t>
            </a:r>
            <a:r>
              <a:rPr lang="en-US" sz="2400" b="1" i="0" dirty="0">
                <a:solidFill>
                  <a:srgbClr val="242424"/>
                </a:solidFill>
                <a:effectLst/>
                <a:latin typeface="source-serif-pro"/>
              </a:rPr>
              <a:t>limited data, </a:t>
            </a:r>
            <a:r>
              <a:rPr lang="en-US" sz="2400" b="0" i="0" dirty="0">
                <a:solidFill>
                  <a:srgbClr val="242424"/>
                </a:solidFill>
                <a:effectLst/>
                <a:latin typeface="source-serif-pro"/>
              </a:rPr>
              <a:t>When your data is </a:t>
            </a:r>
            <a:r>
              <a:rPr lang="en-US" sz="2400" b="1" i="0" dirty="0">
                <a:solidFill>
                  <a:srgbClr val="242424"/>
                </a:solidFill>
                <a:effectLst/>
                <a:latin typeface="source-serif-pro"/>
              </a:rPr>
              <a:t>similar to the original dataset</a:t>
            </a:r>
            <a:r>
              <a:rPr lang="en-US" sz="2400" b="0" i="0" dirty="0">
                <a:solidFill>
                  <a:srgbClr val="242424"/>
                </a:solidFill>
                <a:effectLst/>
                <a:latin typeface="source-serif-pro"/>
              </a:rPr>
              <a:t> the model was trained on (e.g., general images), When you need a </a:t>
            </a:r>
            <a:r>
              <a:rPr lang="en-US" sz="2400" b="1" i="0" dirty="0">
                <a:solidFill>
                  <a:srgbClr val="242424"/>
                </a:solidFill>
                <a:effectLst/>
                <a:latin typeface="source-serif-pro"/>
              </a:rPr>
              <a:t>quick and effective solution</a:t>
            </a:r>
            <a:endParaRPr lang="en-US" sz="2400" b="0" i="0" dirty="0">
              <a:solidFill>
                <a:srgbClr val="242424"/>
              </a:solidFill>
              <a:effectLst/>
              <a:latin typeface="source-serif-pro"/>
            </a:endParaRPr>
          </a:p>
          <a:p>
            <a:pPr algn="l">
              <a:lnSpc>
                <a:spcPts val="1800"/>
              </a:lnSpc>
              <a:spcAft>
                <a:spcPts val="600"/>
              </a:spcAft>
              <a:buNone/>
            </a:pPr>
            <a:r>
              <a:rPr lang="en-US" sz="2400" b="1" i="0" dirty="0">
                <a:solidFill>
                  <a:srgbClr val="242424"/>
                </a:solidFill>
                <a:effectLst/>
                <a:latin typeface="sohne"/>
              </a:rPr>
              <a:t>Advantages</a:t>
            </a:r>
          </a:p>
          <a:p>
            <a:pPr lvl="1">
              <a:lnSpc>
                <a:spcPts val="2400"/>
              </a:lnSpc>
              <a:spcAft>
                <a:spcPts val="600"/>
              </a:spcAft>
              <a:buFont typeface="Arial" panose="020B0604020202020204" pitchFamily="34" charset="0"/>
              <a:buChar char="•"/>
            </a:pPr>
            <a:r>
              <a:rPr lang="en-US" sz="2400" b="1" i="0" dirty="0">
                <a:solidFill>
                  <a:srgbClr val="242424"/>
                </a:solidFill>
                <a:effectLst/>
                <a:latin typeface="source-serif-pro"/>
              </a:rPr>
              <a:t>Lightning fast</a:t>
            </a:r>
            <a:r>
              <a:rPr lang="en-US" sz="2400" b="0" i="0" dirty="0">
                <a:solidFill>
                  <a:srgbClr val="242424"/>
                </a:solidFill>
                <a:effectLst/>
                <a:latin typeface="source-serif-pro"/>
              </a:rPr>
              <a:t> training — doesn’t require a powerful GPU or long training time</a:t>
            </a:r>
          </a:p>
          <a:p>
            <a:pPr lvl="1">
              <a:lnSpc>
                <a:spcPts val="2400"/>
              </a:lnSpc>
              <a:spcAft>
                <a:spcPts val="600"/>
              </a:spcAft>
              <a:buFont typeface="Arial" panose="020B0604020202020204" pitchFamily="34" charset="0"/>
              <a:buChar char="•"/>
            </a:pPr>
            <a:r>
              <a:rPr lang="en-US" sz="2400" b="1" i="0" dirty="0">
                <a:solidFill>
                  <a:srgbClr val="242424"/>
                </a:solidFill>
                <a:effectLst/>
                <a:latin typeface="source-serif-pro"/>
              </a:rPr>
              <a:t>Ideal for small datasets</a:t>
            </a:r>
            <a:r>
              <a:rPr lang="en-US" sz="2400" b="0" i="0" dirty="0">
                <a:solidFill>
                  <a:srgbClr val="242424"/>
                </a:solidFill>
                <a:effectLst/>
                <a:latin typeface="source-serif-pro"/>
              </a:rPr>
              <a:t> — minimal risk of overfitting</a:t>
            </a:r>
          </a:p>
          <a:p>
            <a:pPr lvl="1">
              <a:lnSpc>
                <a:spcPts val="2400"/>
              </a:lnSpc>
              <a:spcAft>
                <a:spcPts val="600"/>
              </a:spcAft>
              <a:buFont typeface="Arial" panose="020B0604020202020204" pitchFamily="34" charset="0"/>
              <a:buChar char="•"/>
            </a:pPr>
            <a:r>
              <a:rPr lang="en-US" sz="2400" b="1" i="0" dirty="0">
                <a:solidFill>
                  <a:srgbClr val="242424"/>
                </a:solidFill>
                <a:effectLst/>
                <a:latin typeface="source-serif-pro"/>
              </a:rPr>
              <a:t>Easy to implement</a:t>
            </a:r>
            <a:r>
              <a:rPr lang="en-US" sz="2400" b="0" i="0" dirty="0">
                <a:solidFill>
                  <a:srgbClr val="242424"/>
                </a:solidFill>
                <a:effectLst/>
                <a:latin typeface="source-serif-pro"/>
              </a:rPr>
              <a:t> — simple and straightforward code</a:t>
            </a:r>
          </a:p>
          <a:p>
            <a:pPr algn="l">
              <a:lnSpc>
                <a:spcPts val="1800"/>
              </a:lnSpc>
              <a:spcAft>
                <a:spcPts val="600"/>
              </a:spcAft>
              <a:buNone/>
            </a:pPr>
            <a:r>
              <a:rPr lang="en-US" sz="2400" b="1" i="0" dirty="0">
                <a:solidFill>
                  <a:srgbClr val="242424"/>
                </a:solidFill>
                <a:effectLst/>
                <a:latin typeface="sohne"/>
              </a:rPr>
              <a:t>Disadvantages</a:t>
            </a:r>
          </a:p>
          <a:p>
            <a:pPr lvl="1">
              <a:lnSpc>
                <a:spcPts val="2400"/>
              </a:lnSpc>
              <a:spcAft>
                <a:spcPts val="600"/>
              </a:spcAft>
              <a:buFont typeface="Arial" panose="020B0604020202020204" pitchFamily="34" charset="0"/>
              <a:buChar char="•"/>
            </a:pPr>
            <a:r>
              <a:rPr lang="en-US" sz="2400" b="1" i="0" dirty="0">
                <a:solidFill>
                  <a:srgbClr val="242424"/>
                </a:solidFill>
                <a:effectLst/>
                <a:latin typeface="source-serif-pro"/>
              </a:rPr>
              <a:t>Limited performance</a:t>
            </a:r>
            <a:r>
              <a:rPr lang="en-US" sz="2400" b="0" i="0" dirty="0">
                <a:solidFill>
                  <a:srgbClr val="242424"/>
                </a:solidFill>
                <a:effectLst/>
                <a:latin typeface="source-serif-pro"/>
              </a:rPr>
              <a:t> if your new data is significantly different from the original (e.g., medical images, X-rays, industrial imagery)</a:t>
            </a:r>
          </a:p>
          <a:p>
            <a:pPr lvl="1">
              <a:lnSpc>
                <a:spcPts val="2400"/>
              </a:lnSpc>
              <a:spcAft>
                <a:spcPts val="600"/>
              </a:spcAft>
              <a:buFont typeface="Arial" panose="020B0604020202020204" pitchFamily="34" charset="0"/>
              <a:buChar char="•"/>
            </a:pPr>
            <a:r>
              <a:rPr lang="en-US" sz="2400" b="0" i="0" dirty="0">
                <a:solidFill>
                  <a:srgbClr val="242424"/>
                </a:solidFill>
                <a:effectLst/>
                <a:latin typeface="source-serif-pro"/>
              </a:rPr>
              <a:t>The model </a:t>
            </a:r>
            <a:r>
              <a:rPr lang="en-US" sz="2400" b="1" i="0" dirty="0">
                <a:solidFill>
                  <a:srgbClr val="242424"/>
                </a:solidFill>
                <a:effectLst/>
                <a:latin typeface="source-serif-pro"/>
              </a:rPr>
              <a:t>doesn’t adapt</a:t>
            </a:r>
            <a:r>
              <a:rPr lang="en-US" sz="2400" b="0" i="0" dirty="0">
                <a:solidFill>
                  <a:srgbClr val="242424"/>
                </a:solidFill>
                <a:effectLst/>
                <a:latin typeface="source-serif-pro"/>
              </a:rPr>
              <a:t> to your project’s specifics</a:t>
            </a:r>
          </a:p>
        </p:txBody>
      </p:sp>
    </p:spTree>
    <p:extLst>
      <p:ext uri="{BB962C8B-B14F-4D97-AF65-F5344CB8AC3E}">
        <p14:creationId xmlns:p14="http://schemas.microsoft.com/office/powerpoint/2010/main" val="3444569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9F016-4605-41BB-B7DA-62074EB3B5E2}"/>
              </a:ext>
            </a:extLst>
          </p:cNvPr>
          <p:cNvSpPr>
            <a:spLocks noGrp="1"/>
          </p:cNvSpPr>
          <p:nvPr>
            <p:ph type="title"/>
          </p:nvPr>
        </p:nvSpPr>
        <p:spPr/>
        <p:txBody>
          <a:bodyPr/>
          <a:lstStyle/>
          <a:p>
            <a:r>
              <a:rPr lang="en-US" dirty="0"/>
              <a:t>Code for Transfer learning</a:t>
            </a:r>
          </a:p>
        </p:txBody>
      </p:sp>
      <p:sp>
        <p:nvSpPr>
          <p:cNvPr id="4" name="TextBox 3">
            <a:extLst>
              <a:ext uri="{FF2B5EF4-FFF2-40B4-BE49-F238E27FC236}">
                <a16:creationId xmlns:a16="http://schemas.microsoft.com/office/drawing/2014/main" id="{B6B9A16B-1389-D6C2-764C-4D91514AF0EE}"/>
              </a:ext>
            </a:extLst>
          </p:cNvPr>
          <p:cNvSpPr txBox="1"/>
          <p:nvPr/>
        </p:nvSpPr>
        <p:spPr>
          <a:xfrm>
            <a:off x="1711643" y="3429000"/>
            <a:ext cx="6097904" cy="369332"/>
          </a:xfrm>
          <a:prstGeom prst="rect">
            <a:avLst/>
          </a:prstGeom>
          <a:noFill/>
        </p:spPr>
        <p:txBody>
          <a:bodyPr wrap="square">
            <a:spAutoFit/>
          </a:bodyPr>
          <a:lstStyle/>
          <a:p>
            <a:r>
              <a:rPr lang="en-US" dirty="0"/>
              <a:t>Transfer learning using feature </a:t>
            </a:r>
            <a:r>
              <a:rPr lang="en-US" dirty="0" err="1"/>
              <a:t>extraction.ipynb</a:t>
            </a:r>
            <a:endParaRPr lang="en-US" dirty="0"/>
          </a:p>
        </p:txBody>
      </p:sp>
      <p:sp>
        <p:nvSpPr>
          <p:cNvPr id="5" name="TextBox 4">
            <a:extLst>
              <a:ext uri="{FF2B5EF4-FFF2-40B4-BE49-F238E27FC236}">
                <a16:creationId xmlns:a16="http://schemas.microsoft.com/office/drawing/2014/main" id="{0D2FC3A8-7A4C-E149-3180-82ED86A939D4}"/>
              </a:ext>
            </a:extLst>
          </p:cNvPr>
          <p:cNvSpPr txBox="1"/>
          <p:nvPr/>
        </p:nvSpPr>
        <p:spPr>
          <a:xfrm>
            <a:off x="1711642" y="2798564"/>
            <a:ext cx="9249728" cy="646331"/>
          </a:xfrm>
          <a:prstGeom prst="rect">
            <a:avLst/>
          </a:prstGeom>
          <a:noFill/>
        </p:spPr>
        <p:txBody>
          <a:bodyPr wrap="square">
            <a:spAutoFit/>
          </a:bodyPr>
          <a:lstStyle/>
          <a:p>
            <a:r>
              <a:rPr lang="en-US" dirty="0"/>
              <a:t>Transfer learning using feature extraction 1 – </a:t>
            </a:r>
            <a:r>
              <a:rPr lang="en-US" dirty="0">
                <a:hlinkClick r:id="rId2"/>
              </a:rPr>
              <a:t>rakheechhibber1971@gmail.com</a:t>
            </a:r>
            <a:endParaRPr lang="en-US" dirty="0"/>
          </a:p>
          <a:p>
            <a:r>
              <a:rPr lang="en-US" dirty="0" err="1"/>
              <a:t>Transer</a:t>
            </a:r>
            <a:r>
              <a:rPr lang="en-US" dirty="0"/>
              <a:t> Learning feature extraction 2.ipynb</a:t>
            </a:r>
          </a:p>
        </p:txBody>
      </p:sp>
      <p:sp>
        <p:nvSpPr>
          <p:cNvPr id="6" name="TextBox 5">
            <a:extLst>
              <a:ext uri="{FF2B5EF4-FFF2-40B4-BE49-F238E27FC236}">
                <a16:creationId xmlns:a16="http://schemas.microsoft.com/office/drawing/2014/main" id="{F4D5C68C-EDDC-4044-C55F-DB02D4B6E164}"/>
              </a:ext>
            </a:extLst>
          </p:cNvPr>
          <p:cNvSpPr txBox="1"/>
          <p:nvPr/>
        </p:nvSpPr>
        <p:spPr>
          <a:xfrm>
            <a:off x="1711643" y="3890665"/>
            <a:ext cx="6097904" cy="369332"/>
          </a:xfrm>
          <a:prstGeom prst="rect">
            <a:avLst/>
          </a:prstGeom>
          <a:noFill/>
        </p:spPr>
        <p:txBody>
          <a:bodyPr wrap="square">
            <a:spAutoFit/>
          </a:bodyPr>
          <a:lstStyle/>
          <a:p>
            <a:r>
              <a:rPr lang="en-US" dirty="0"/>
              <a:t>Step wise Transfer learning by fine </a:t>
            </a:r>
            <a:r>
              <a:rPr lang="en-US" dirty="0" err="1"/>
              <a:t>tuning.ipynb</a:t>
            </a:r>
            <a:endParaRPr lang="en-US" dirty="0"/>
          </a:p>
        </p:txBody>
      </p:sp>
    </p:spTree>
    <p:extLst>
      <p:ext uri="{BB962C8B-B14F-4D97-AF65-F5344CB8AC3E}">
        <p14:creationId xmlns:p14="http://schemas.microsoft.com/office/powerpoint/2010/main" val="23797222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44BC02-C2C8-150C-47EC-DD063A242942}"/>
              </a:ext>
            </a:extLst>
          </p:cNvPr>
          <p:cNvSpPr txBox="1"/>
          <p:nvPr/>
        </p:nvSpPr>
        <p:spPr>
          <a:xfrm>
            <a:off x="445770" y="345401"/>
            <a:ext cx="10824210" cy="6986528"/>
          </a:xfrm>
          <a:prstGeom prst="rect">
            <a:avLst/>
          </a:prstGeom>
          <a:noFill/>
        </p:spPr>
        <p:txBody>
          <a:bodyPr wrap="square">
            <a:spAutoFit/>
          </a:bodyPr>
          <a:lstStyle/>
          <a:p>
            <a:r>
              <a:rPr lang="en-US" sz="2800" b="0" i="0" dirty="0">
                <a:solidFill>
                  <a:srgbClr val="AA0D91"/>
                </a:solidFill>
                <a:effectLst/>
                <a:latin typeface="source-code-pro"/>
              </a:rPr>
              <a:t>import</a:t>
            </a:r>
            <a:r>
              <a:rPr lang="en-US" sz="2800" b="0" i="0" dirty="0">
                <a:solidFill>
                  <a:srgbClr val="242424"/>
                </a:solidFill>
                <a:effectLst/>
                <a:latin typeface="source-code-pro"/>
              </a:rPr>
              <a:t> </a:t>
            </a:r>
            <a:r>
              <a:rPr lang="en-US" sz="2800" b="0" i="0" dirty="0" err="1">
                <a:solidFill>
                  <a:srgbClr val="242424"/>
                </a:solidFill>
                <a:effectLst/>
                <a:latin typeface="source-code-pro"/>
              </a:rPr>
              <a:t>numpy</a:t>
            </a:r>
            <a:r>
              <a:rPr lang="en-US" sz="2800" b="0" i="0" dirty="0">
                <a:solidFill>
                  <a:srgbClr val="242424"/>
                </a:solidFill>
                <a:effectLst/>
                <a:latin typeface="source-code-pro"/>
              </a:rPr>
              <a:t> </a:t>
            </a:r>
            <a:r>
              <a:rPr lang="en-US" sz="2800" b="0" i="0" dirty="0">
                <a:solidFill>
                  <a:srgbClr val="AA0D91"/>
                </a:solidFill>
                <a:effectLst/>
                <a:latin typeface="source-code-pro"/>
              </a:rPr>
              <a:t>as</a:t>
            </a:r>
            <a:r>
              <a:rPr lang="en-US" sz="2800" b="0" i="0" dirty="0">
                <a:solidFill>
                  <a:srgbClr val="242424"/>
                </a:solidFill>
                <a:effectLst/>
                <a:latin typeface="source-code-pro"/>
              </a:rPr>
              <a:t> np</a:t>
            </a:r>
            <a:br>
              <a:rPr lang="en-US" sz="2800" dirty="0"/>
            </a:br>
            <a:r>
              <a:rPr lang="en-US" sz="2800" b="0" i="0" dirty="0">
                <a:solidFill>
                  <a:srgbClr val="AA0D91"/>
                </a:solidFill>
                <a:effectLst/>
                <a:latin typeface="source-code-pro"/>
              </a:rPr>
              <a:t>import</a:t>
            </a:r>
            <a:r>
              <a:rPr lang="en-US" sz="2800" b="0" i="0" dirty="0">
                <a:solidFill>
                  <a:srgbClr val="242424"/>
                </a:solidFill>
                <a:effectLst/>
                <a:latin typeface="source-code-pro"/>
              </a:rPr>
              <a:t> </a:t>
            </a:r>
            <a:r>
              <a:rPr lang="en-US" sz="2800" b="0" i="0" dirty="0" err="1">
                <a:solidFill>
                  <a:srgbClr val="242424"/>
                </a:solidFill>
                <a:effectLst/>
                <a:latin typeface="source-code-pro"/>
              </a:rPr>
              <a:t>tensorflow</a:t>
            </a:r>
            <a:r>
              <a:rPr lang="en-US" sz="2800" b="0" i="0" dirty="0">
                <a:solidFill>
                  <a:srgbClr val="242424"/>
                </a:solidFill>
                <a:effectLst/>
                <a:latin typeface="source-code-pro"/>
              </a:rPr>
              <a:t> </a:t>
            </a:r>
            <a:r>
              <a:rPr lang="en-US" sz="2800" b="0" i="0" dirty="0">
                <a:solidFill>
                  <a:srgbClr val="AA0D91"/>
                </a:solidFill>
                <a:effectLst/>
                <a:latin typeface="source-code-pro"/>
              </a:rPr>
              <a:t>as</a:t>
            </a:r>
            <a:r>
              <a:rPr lang="en-US" sz="2800" b="0" i="0" dirty="0">
                <a:solidFill>
                  <a:srgbClr val="242424"/>
                </a:solidFill>
                <a:effectLst/>
                <a:latin typeface="source-code-pro"/>
              </a:rPr>
              <a:t> </a:t>
            </a:r>
            <a:r>
              <a:rPr lang="en-US" sz="2800" b="0" i="0" dirty="0" err="1">
                <a:solidFill>
                  <a:srgbClr val="242424"/>
                </a:solidFill>
                <a:effectLst/>
                <a:latin typeface="source-code-pro"/>
              </a:rPr>
              <a:t>tf</a:t>
            </a:r>
            <a:br>
              <a:rPr lang="en-US" sz="2800" dirty="0"/>
            </a:br>
            <a:r>
              <a:rPr lang="en-US" sz="2800" b="0" i="0" dirty="0">
                <a:solidFill>
                  <a:srgbClr val="AA0D91"/>
                </a:solidFill>
                <a:effectLst/>
                <a:latin typeface="source-code-pro"/>
              </a:rPr>
              <a:t>from</a:t>
            </a:r>
            <a:r>
              <a:rPr lang="en-US" sz="2800" b="0" i="0" dirty="0">
                <a:solidFill>
                  <a:srgbClr val="242424"/>
                </a:solidFill>
                <a:effectLst/>
                <a:latin typeface="source-code-pro"/>
              </a:rPr>
              <a:t> </a:t>
            </a:r>
            <a:r>
              <a:rPr lang="en-US" sz="2800" b="0" i="0" dirty="0" err="1">
                <a:solidFill>
                  <a:srgbClr val="242424"/>
                </a:solidFill>
                <a:effectLst/>
                <a:latin typeface="source-code-pro"/>
              </a:rPr>
              <a:t>tensorflow.keras.applications</a:t>
            </a:r>
            <a:r>
              <a:rPr lang="en-US" sz="2800" b="0" i="0" dirty="0">
                <a:solidFill>
                  <a:srgbClr val="242424"/>
                </a:solidFill>
                <a:effectLst/>
                <a:latin typeface="source-code-pro"/>
              </a:rPr>
              <a:t> </a:t>
            </a:r>
            <a:r>
              <a:rPr lang="en-US" sz="2800" b="0" i="0" dirty="0">
                <a:solidFill>
                  <a:srgbClr val="AA0D91"/>
                </a:solidFill>
                <a:effectLst/>
                <a:latin typeface="source-code-pro"/>
              </a:rPr>
              <a:t>import</a:t>
            </a:r>
            <a:r>
              <a:rPr lang="en-US" sz="2800" b="0" i="0" dirty="0">
                <a:solidFill>
                  <a:srgbClr val="242424"/>
                </a:solidFill>
                <a:effectLst/>
                <a:latin typeface="source-code-pro"/>
              </a:rPr>
              <a:t> VGG16</a:t>
            </a:r>
            <a:br>
              <a:rPr lang="en-US" sz="2800" dirty="0"/>
            </a:br>
            <a:r>
              <a:rPr lang="en-US" sz="2800" b="0" i="0" dirty="0">
                <a:solidFill>
                  <a:srgbClr val="AA0D91"/>
                </a:solidFill>
                <a:effectLst/>
                <a:latin typeface="source-code-pro"/>
              </a:rPr>
              <a:t>from</a:t>
            </a:r>
            <a:r>
              <a:rPr lang="en-US" sz="2800" b="0" i="0" dirty="0">
                <a:solidFill>
                  <a:srgbClr val="242424"/>
                </a:solidFill>
                <a:effectLst/>
                <a:latin typeface="source-code-pro"/>
              </a:rPr>
              <a:t> </a:t>
            </a:r>
            <a:r>
              <a:rPr lang="en-US" sz="2800" b="0" i="0" dirty="0" err="1">
                <a:solidFill>
                  <a:srgbClr val="242424"/>
                </a:solidFill>
                <a:effectLst/>
                <a:latin typeface="source-code-pro"/>
              </a:rPr>
              <a:t>tensorflow.keras.datasets</a:t>
            </a:r>
            <a:r>
              <a:rPr lang="en-US" sz="2800" b="0" i="0" dirty="0">
                <a:solidFill>
                  <a:srgbClr val="242424"/>
                </a:solidFill>
                <a:effectLst/>
                <a:latin typeface="source-code-pro"/>
              </a:rPr>
              <a:t> </a:t>
            </a:r>
            <a:r>
              <a:rPr lang="en-US" sz="2800" b="0" i="0" dirty="0">
                <a:solidFill>
                  <a:srgbClr val="AA0D91"/>
                </a:solidFill>
                <a:effectLst/>
                <a:latin typeface="source-code-pro"/>
              </a:rPr>
              <a:t>import</a:t>
            </a:r>
            <a:r>
              <a:rPr lang="en-US" sz="2800" b="0" i="0" dirty="0">
                <a:solidFill>
                  <a:srgbClr val="242424"/>
                </a:solidFill>
                <a:effectLst/>
                <a:latin typeface="source-code-pro"/>
              </a:rPr>
              <a:t> cifar10</a:t>
            </a:r>
            <a:br>
              <a:rPr lang="en-US" sz="2800" dirty="0"/>
            </a:br>
            <a:r>
              <a:rPr lang="en-US" sz="2800" b="0" i="0" dirty="0">
                <a:solidFill>
                  <a:srgbClr val="AA0D91"/>
                </a:solidFill>
                <a:effectLst/>
                <a:latin typeface="source-code-pro"/>
              </a:rPr>
              <a:t>from</a:t>
            </a:r>
            <a:r>
              <a:rPr lang="en-US" sz="2800" b="0" i="0" dirty="0">
                <a:solidFill>
                  <a:srgbClr val="242424"/>
                </a:solidFill>
                <a:effectLst/>
                <a:latin typeface="source-code-pro"/>
              </a:rPr>
              <a:t> </a:t>
            </a:r>
            <a:r>
              <a:rPr lang="en-US" sz="2800" b="0" i="0" dirty="0" err="1">
                <a:solidFill>
                  <a:srgbClr val="242424"/>
                </a:solidFill>
                <a:effectLst/>
                <a:latin typeface="source-code-pro"/>
              </a:rPr>
              <a:t>tensorflow.keras.utils</a:t>
            </a:r>
            <a:r>
              <a:rPr lang="en-US" sz="2800" b="0" i="0" dirty="0">
                <a:solidFill>
                  <a:srgbClr val="242424"/>
                </a:solidFill>
                <a:effectLst/>
                <a:latin typeface="source-code-pro"/>
              </a:rPr>
              <a:t> </a:t>
            </a:r>
            <a:r>
              <a:rPr lang="en-US" sz="2800" b="0" i="0" dirty="0">
                <a:solidFill>
                  <a:srgbClr val="AA0D91"/>
                </a:solidFill>
                <a:effectLst/>
                <a:latin typeface="source-code-pro"/>
              </a:rPr>
              <a:t>import</a:t>
            </a:r>
            <a:r>
              <a:rPr lang="en-US" sz="2800" b="0" i="0" dirty="0">
                <a:solidFill>
                  <a:srgbClr val="242424"/>
                </a:solidFill>
                <a:effectLst/>
                <a:latin typeface="source-code-pro"/>
              </a:rPr>
              <a:t> </a:t>
            </a:r>
            <a:r>
              <a:rPr lang="en-US" sz="2800" b="0" i="0" dirty="0" err="1">
                <a:solidFill>
                  <a:srgbClr val="242424"/>
                </a:solidFill>
                <a:effectLst/>
                <a:latin typeface="source-code-pro"/>
              </a:rPr>
              <a:t>to_categorical</a:t>
            </a:r>
            <a:br>
              <a:rPr lang="en-US" sz="2800" dirty="0"/>
            </a:br>
            <a:r>
              <a:rPr lang="en-US" sz="2800" b="0" i="0" dirty="0">
                <a:solidFill>
                  <a:srgbClr val="AA0D91"/>
                </a:solidFill>
                <a:effectLst/>
                <a:latin typeface="source-code-pro"/>
              </a:rPr>
              <a:t>from</a:t>
            </a:r>
            <a:r>
              <a:rPr lang="en-US" sz="2800" b="0" i="0" dirty="0">
                <a:solidFill>
                  <a:srgbClr val="242424"/>
                </a:solidFill>
                <a:effectLst/>
                <a:latin typeface="source-code-pro"/>
              </a:rPr>
              <a:t> </a:t>
            </a:r>
            <a:r>
              <a:rPr lang="en-US" sz="2800" b="0" i="0" dirty="0" err="1">
                <a:solidFill>
                  <a:srgbClr val="242424"/>
                </a:solidFill>
                <a:effectLst/>
                <a:latin typeface="source-code-pro"/>
              </a:rPr>
              <a:t>tensorflow.keras.models</a:t>
            </a:r>
            <a:r>
              <a:rPr lang="en-US" sz="2800" b="0" i="0" dirty="0">
                <a:solidFill>
                  <a:srgbClr val="242424"/>
                </a:solidFill>
                <a:effectLst/>
                <a:latin typeface="source-code-pro"/>
              </a:rPr>
              <a:t> </a:t>
            </a:r>
            <a:r>
              <a:rPr lang="en-US" sz="2800" b="0" i="0" dirty="0">
                <a:solidFill>
                  <a:srgbClr val="AA0D91"/>
                </a:solidFill>
                <a:effectLst/>
                <a:latin typeface="source-code-pro"/>
              </a:rPr>
              <a:t>import</a:t>
            </a:r>
            <a:r>
              <a:rPr lang="en-US" sz="2800" b="0" i="0" dirty="0">
                <a:solidFill>
                  <a:srgbClr val="242424"/>
                </a:solidFill>
                <a:effectLst/>
                <a:latin typeface="source-code-pro"/>
              </a:rPr>
              <a:t> Sequential</a:t>
            </a:r>
            <a:br>
              <a:rPr lang="en-US" sz="2800" dirty="0"/>
            </a:br>
            <a:r>
              <a:rPr lang="en-US" sz="2800" b="0" i="0" dirty="0">
                <a:solidFill>
                  <a:srgbClr val="AA0D91"/>
                </a:solidFill>
                <a:effectLst/>
                <a:latin typeface="source-code-pro"/>
              </a:rPr>
              <a:t>from</a:t>
            </a:r>
            <a:r>
              <a:rPr lang="en-US" sz="2800" b="0" i="0" dirty="0">
                <a:solidFill>
                  <a:srgbClr val="242424"/>
                </a:solidFill>
                <a:effectLst/>
                <a:latin typeface="source-code-pro"/>
              </a:rPr>
              <a:t> </a:t>
            </a:r>
            <a:r>
              <a:rPr lang="en-US" sz="2800" b="0" i="0" dirty="0" err="1">
                <a:solidFill>
                  <a:srgbClr val="242424"/>
                </a:solidFill>
                <a:effectLst/>
                <a:latin typeface="source-code-pro"/>
              </a:rPr>
              <a:t>tensorflow.keras.layers</a:t>
            </a:r>
            <a:r>
              <a:rPr lang="en-US" sz="2800" b="0" i="0" dirty="0">
                <a:solidFill>
                  <a:srgbClr val="242424"/>
                </a:solidFill>
                <a:effectLst/>
                <a:latin typeface="source-code-pro"/>
              </a:rPr>
              <a:t> </a:t>
            </a:r>
            <a:r>
              <a:rPr lang="en-US" sz="2800" b="0" i="0" dirty="0">
                <a:solidFill>
                  <a:srgbClr val="AA0D91"/>
                </a:solidFill>
                <a:effectLst/>
                <a:latin typeface="source-code-pro"/>
              </a:rPr>
              <a:t>import</a:t>
            </a:r>
            <a:r>
              <a:rPr lang="en-US" sz="2800" b="0" i="0" dirty="0">
                <a:solidFill>
                  <a:srgbClr val="242424"/>
                </a:solidFill>
                <a:effectLst/>
                <a:latin typeface="source-code-pro"/>
              </a:rPr>
              <a:t> Dense, Flatten</a:t>
            </a:r>
            <a:br>
              <a:rPr lang="en-US" sz="2800" dirty="0"/>
            </a:br>
            <a:br>
              <a:rPr lang="en-US" sz="2800" dirty="0"/>
            </a:br>
            <a:r>
              <a:rPr lang="en-US" sz="2800" b="0" i="0" dirty="0">
                <a:solidFill>
                  <a:srgbClr val="007400"/>
                </a:solidFill>
                <a:effectLst/>
                <a:latin typeface="source-code-pro"/>
              </a:rPr>
              <a:t># Load CIFAR-10 dataset</a:t>
            </a:r>
            <a:br>
              <a:rPr lang="en-US" sz="2800" dirty="0"/>
            </a:br>
            <a:r>
              <a:rPr lang="en-US" sz="2800" b="0" i="0" dirty="0">
                <a:solidFill>
                  <a:srgbClr val="242424"/>
                </a:solidFill>
                <a:effectLst/>
                <a:latin typeface="source-code-pro"/>
              </a:rPr>
              <a:t>(</a:t>
            </a:r>
            <a:r>
              <a:rPr lang="en-US" sz="2800" b="0" i="0" dirty="0" err="1">
                <a:solidFill>
                  <a:srgbClr val="242424"/>
                </a:solidFill>
                <a:effectLst/>
                <a:latin typeface="source-code-pro"/>
              </a:rPr>
              <a:t>train_images</a:t>
            </a:r>
            <a:r>
              <a:rPr lang="en-US" sz="2800" b="0" i="0" dirty="0">
                <a:solidFill>
                  <a:srgbClr val="242424"/>
                </a:solidFill>
                <a:effectLst/>
                <a:latin typeface="source-code-pro"/>
              </a:rPr>
              <a:t>, </a:t>
            </a:r>
            <a:r>
              <a:rPr lang="en-US" sz="2800" b="0" i="0" dirty="0" err="1">
                <a:solidFill>
                  <a:srgbClr val="242424"/>
                </a:solidFill>
                <a:effectLst/>
                <a:latin typeface="source-code-pro"/>
              </a:rPr>
              <a:t>train_labels</a:t>
            </a:r>
            <a:r>
              <a:rPr lang="en-US" sz="2800" b="0" i="0" dirty="0">
                <a:solidFill>
                  <a:srgbClr val="242424"/>
                </a:solidFill>
                <a:effectLst/>
                <a:latin typeface="source-code-pro"/>
              </a:rPr>
              <a:t>), (</a:t>
            </a:r>
            <a:r>
              <a:rPr lang="en-US" sz="2800" b="0" i="0" dirty="0" err="1">
                <a:solidFill>
                  <a:srgbClr val="242424"/>
                </a:solidFill>
                <a:effectLst/>
                <a:latin typeface="source-code-pro"/>
              </a:rPr>
              <a:t>test_images</a:t>
            </a:r>
            <a:r>
              <a:rPr lang="en-US" sz="2800" b="0" i="0" dirty="0">
                <a:solidFill>
                  <a:srgbClr val="242424"/>
                </a:solidFill>
                <a:effectLst/>
                <a:latin typeface="source-code-pro"/>
              </a:rPr>
              <a:t>, </a:t>
            </a:r>
            <a:r>
              <a:rPr lang="en-US" sz="2800" b="0" i="0" dirty="0" err="1">
                <a:solidFill>
                  <a:srgbClr val="242424"/>
                </a:solidFill>
                <a:effectLst/>
                <a:latin typeface="source-code-pro"/>
              </a:rPr>
              <a:t>test_labels</a:t>
            </a:r>
            <a:r>
              <a:rPr lang="en-US" sz="2800" b="0" i="0" dirty="0">
                <a:solidFill>
                  <a:srgbClr val="242424"/>
                </a:solidFill>
                <a:effectLst/>
                <a:latin typeface="source-code-pro"/>
              </a:rPr>
              <a:t>) = cifar10.load_data()</a:t>
            </a:r>
            <a:br>
              <a:rPr lang="en-US" sz="2800" dirty="0"/>
            </a:br>
            <a:br>
              <a:rPr lang="en-US" sz="2800" dirty="0"/>
            </a:br>
            <a:r>
              <a:rPr lang="en-US" sz="2800" b="0" i="0" dirty="0">
                <a:solidFill>
                  <a:srgbClr val="007400"/>
                </a:solidFill>
                <a:effectLst/>
                <a:latin typeface="source-code-pro"/>
              </a:rPr>
              <a:t># Normalize pixel values to be between 0 and 1</a:t>
            </a:r>
            <a:br>
              <a:rPr lang="en-US" sz="2800" dirty="0"/>
            </a:br>
            <a:r>
              <a:rPr lang="en-US" sz="2800" b="0" i="0" dirty="0" err="1">
                <a:solidFill>
                  <a:srgbClr val="242424"/>
                </a:solidFill>
                <a:effectLst/>
                <a:latin typeface="source-code-pro"/>
              </a:rPr>
              <a:t>train_images</a:t>
            </a:r>
            <a:r>
              <a:rPr lang="en-US" sz="2800" b="0" i="0" dirty="0">
                <a:solidFill>
                  <a:srgbClr val="242424"/>
                </a:solidFill>
                <a:effectLst/>
                <a:latin typeface="source-code-pro"/>
              </a:rPr>
              <a:t>, </a:t>
            </a:r>
            <a:r>
              <a:rPr lang="en-US" sz="2800" b="0" i="0" dirty="0" err="1">
                <a:solidFill>
                  <a:srgbClr val="242424"/>
                </a:solidFill>
                <a:effectLst/>
                <a:latin typeface="source-code-pro"/>
              </a:rPr>
              <a:t>test_images</a:t>
            </a:r>
            <a:r>
              <a:rPr lang="en-US" sz="2800" b="0" i="0" dirty="0">
                <a:solidFill>
                  <a:srgbClr val="242424"/>
                </a:solidFill>
                <a:effectLst/>
                <a:latin typeface="source-code-pro"/>
              </a:rPr>
              <a:t> = </a:t>
            </a:r>
            <a:r>
              <a:rPr lang="en-US" sz="2800" b="0" i="0" dirty="0" err="1">
                <a:solidFill>
                  <a:srgbClr val="242424"/>
                </a:solidFill>
                <a:effectLst/>
                <a:latin typeface="source-code-pro"/>
              </a:rPr>
              <a:t>train_images</a:t>
            </a:r>
            <a:r>
              <a:rPr lang="en-US" sz="2800" b="0" i="0" dirty="0">
                <a:solidFill>
                  <a:srgbClr val="242424"/>
                </a:solidFill>
                <a:effectLst/>
                <a:latin typeface="source-code-pro"/>
              </a:rPr>
              <a:t> / </a:t>
            </a:r>
            <a:r>
              <a:rPr lang="en-US" sz="2800" b="0" i="0" dirty="0">
                <a:solidFill>
                  <a:srgbClr val="1C00CF"/>
                </a:solidFill>
                <a:effectLst/>
                <a:latin typeface="source-code-pro"/>
              </a:rPr>
              <a:t>255.0</a:t>
            </a:r>
            <a:r>
              <a:rPr lang="en-US" sz="2800" b="0" i="0" dirty="0">
                <a:solidFill>
                  <a:srgbClr val="242424"/>
                </a:solidFill>
                <a:effectLst/>
                <a:latin typeface="source-code-pro"/>
              </a:rPr>
              <a:t>, </a:t>
            </a:r>
            <a:r>
              <a:rPr lang="en-US" sz="2800" b="0" i="0" dirty="0" err="1">
                <a:solidFill>
                  <a:srgbClr val="242424"/>
                </a:solidFill>
                <a:effectLst/>
                <a:latin typeface="source-code-pro"/>
              </a:rPr>
              <a:t>test_images</a:t>
            </a:r>
            <a:r>
              <a:rPr lang="en-US" sz="2800" b="0" i="0" dirty="0">
                <a:solidFill>
                  <a:srgbClr val="242424"/>
                </a:solidFill>
                <a:effectLst/>
                <a:latin typeface="source-code-pro"/>
              </a:rPr>
              <a:t> / </a:t>
            </a:r>
            <a:r>
              <a:rPr lang="en-US" sz="2800" b="0" i="0" dirty="0">
                <a:solidFill>
                  <a:srgbClr val="1C00CF"/>
                </a:solidFill>
                <a:effectLst/>
                <a:latin typeface="source-code-pro"/>
              </a:rPr>
              <a:t>255.0</a:t>
            </a:r>
            <a:br>
              <a:rPr lang="en-US" sz="2800" dirty="0"/>
            </a:br>
            <a:br>
              <a:rPr lang="en-US" sz="2800" dirty="0"/>
            </a:br>
            <a:endParaRPr lang="en-US" sz="2800" dirty="0"/>
          </a:p>
        </p:txBody>
      </p:sp>
    </p:spTree>
    <p:extLst>
      <p:ext uri="{BB962C8B-B14F-4D97-AF65-F5344CB8AC3E}">
        <p14:creationId xmlns:p14="http://schemas.microsoft.com/office/powerpoint/2010/main" val="36409698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2039EA-29A7-BC82-D0B1-AECD40755537}"/>
              </a:ext>
            </a:extLst>
          </p:cNvPr>
          <p:cNvSpPr txBox="1"/>
          <p:nvPr/>
        </p:nvSpPr>
        <p:spPr>
          <a:xfrm>
            <a:off x="1040130" y="746610"/>
            <a:ext cx="10527030" cy="5693866"/>
          </a:xfrm>
          <a:prstGeom prst="rect">
            <a:avLst/>
          </a:prstGeom>
          <a:noFill/>
        </p:spPr>
        <p:txBody>
          <a:bodyPr wrap="square">
            <a:spAutoFit/>
          </a:bodyPr>
          <a:lstStyle/>
          <a:p>
            <a:r>
              <a:rPr lang="en-US" sz="2800" b="0" i="0" dirty="0">
                <a:solidFill>
                  <a:srgbClr val="007400"/>
                </a:solidFill>
                <a:effectLst/>
                <a:latin typeface="source-code-pro"/>
              </a:rPr>
              <a:t># One-hot encode the labels</a:t>
            </a:r>
            <a:br>
              <a:rPr lang="en-US" sz="2800" dirty="0"/>
            </a:br>
            <a:r>
              <a:rPr lang="en-US" sz="2800" b="0" i="0" dirty="0" err="1">
                <a:solidFill>
                  <a:srgbClr val="242424"/>
                </a:solidFill>
                <a:effectLst/>
                <a:latin typeface="source-code-pro"/>
              </a:rPr>
              <a:t>train_labels</a:t>
            </a:r>
            <a:r>
              <a:rPr lang="en-US" sz="2800" b="0" i="0" dirty="0">
                <a:solidFill>
                  <a:srgbClr val="242424"/>
                </a:solidFill>
                <a:effectLst/>
                <a:latin typeface="source-code-pro"/>
              </a:rPr>
              <a:t> = </a:t>
            </a:r>
            <a:r>
              <a:rPr lang="en-US" sz="2800" b="0" i="0" dirty="0" err="1">
                <a:solidFill>
                  <a:srgbClr val="242424"/>
                </a:solidFill>
                <a:effectLst/>
                <a:latin typeface="source-code-pro"/>
              </a:rPr>
              <a:t>to_categorical</a:t>
            </a:r>
            <a:r>
              <a:rPr lang="en-US" sz="2800" b="0" i="0" dirty="0">
                <a:solidFill>
                  <a:srgbClr val="242424"/>
                </a:solidFill>
                <a:effectLst/>
                <a:latin typeface="source-code-pro"/>
              </a:rPr>
              <a:t>(</a:t>
            </a:r>
            <a:r>
              <a:rPr lang="en-US" sz="2800" b="0" i="0" dirty="0" err="1">
                <a:solidFill>
                  <a:srgbClr val="242424"/>
                </a:solidFill>
                <a:effectLst/>
                <a:latin typeface="source-code-pro"/>
              </a:rPr>
              <a:t>train_labels</a:t>
            </a:r>
            <a:r>
              <a:rPr lang="en-US" sz="2800" b="0" i="0" dirty="0">
                <a:solidFill>
                  <a:srgbClr val="242424"/>
                </a:solidFill>
                <a:effectLst/>
                <a:latin typeface="source-code-pro"/>
              </a:rPr>
              <a:t>, </a:t>
            </a:r>
            <a:r>
              <a:rPr lang="en-US" sz="2800" b="0" i="0" dirty="0" err="1">
                <a:solidFill>
                  <a:srgbClr val="242424"/>
                </a:solidFill>
                <a:effectLst/>
                <a:latin typeface="source-code-pro"/>
              </a:rPr>
              <a:t>num_classes</a:t>
            </a:r>
            <a:r>
              <a:rPr lang="en-US" sz="2800" b="0" i="0" dirty="0">
                <a:solidFill>
                  <a:srgbClr val="242424"/>
                </a:solidFill>
                <a:effectLst/>
                <a:latin typeface="source-code-pro"/>
              </a:rPr>
              <a:t>=</a:t>
            </a:r>
            <a:r>
              <a:rPr lang="en-US" sz="2800" b="0" i="0" dirty="0">
                <a:solidFill>
                  <a:srgbClr val="1C00CF"/>
                </a:solidFill>
                <a:effectLst/>
                <a:latin typeface="source-code-pro"/>
              </a:rPr>
              <a:t>10</a:t>
            </a:r>
            <a:r>
              <a:rPr lang="en-US" sz="2800" b="0" i="0" dirty="0">
                <a:solidFill>
                  <a:srgbClr val="242424"/>
                </a:solidFill>
                <a:effectLst/>
                <a:latin typeface="source-code-pro"/>
              </a:rPr>
              <a:t>)</a:t>
            </a:r>
            <a:br>
              <a:rPr lang="en-US" sz="2800" dirty="0"/>
            </a:br>
            <a:r>
              <a:rPr lang="en-US" sz="2800" b="0" i="0" dirty="0" err="1">
                <a:solidFill>
                  <a:srgbClr val="242424"/>
                </a:solidFill>
                <a:effectLst/>
                <a:latin typeface="source-code-pro"/>
              </a:rPr>
              <a:t>test_labels</a:t>
            </a:r>
            <a:r>
              <a:rPr lang="en-US" sz="2800" b="0" i="0" dirty="0">
                <a:solidFill>
                  <a:srgbClr val="242424"/>
                </a:solidFill>
                <a:effectLst/>
                <a:latin typeface="source-code-pro"/>
              </a:rPr>
              <a:t> = </a:t>
            </a:r>
            <a:r>
              <a:rPr lang="en-US" sz="2800" b="0" i="0" dirty="0" err="1">
                <a:solidFill>
                  <a:srgbClr val="242424"/>
                </a:solidFill>
                <a:effectLst/>
                <a:latin typeface="source-code-pro"/>
              </a:rPr>
              <a:t>to_categorical</a:t>
            </a:r>
            <a:r>
              <a:rPr lang="en-US" sz="2800" b="0" i="0" dirty="0">
                <a:solidFill>
                  <a:srgbClr val="242424"/>
                </a:solidFill>
                <a:effectLst/>
                <a:latin typeface="source-code-pro"/>
              </a:rPr>
              <a:t>(</a:t>
            </a:r>
            <a:r>
              <a:rPr lang="en-US" sz="2800" b="0" i="0" dirty="0" err="1">
                <a:solidFill>
                  <a:srgbClr val="242424"/>
                </a:solidFill>
                <a:effectLst/>
                <a:latin typeface="source-code-pro"/>
              </a:rPr>
              <a:t>test_labels</a:t>
            </a:r>
            <a:r>
              <a:rPr lang="en-US" sz="2800" b="0" i="0" dirty="0">
                <a:solidFill>
                  <a:srgbClr val="242424"/>
                </a:solidFill>
                <a:effectLst/>
                <a:latin typeface="source-code-pro"/>
              </a:rPr>
              <a:t>, </a:t>
            </a:r>
            <a:r>
              <a:rPr lang="en-US" sz="2800" b="0" i="0" dirty="0" err="1">
                <a:solidFill>
                  <a:srgbClr val="242424"/>
                </a:solidFill>
                <a:effectLst/>
                <a:latin typeface="source-code-pro"/>
              </a:rPr>
              <a:t>num_classes</a:t>
            </a:r>
            <a:r>
              <a:rPr lang="en-US" sz="2800" b="0" i="0" dirty="0">
                <a:solidFill>
                  <a:srgbClr val="242424"/>
                </a:solidFill>
                <a:effectLst/>
                <a:latin typeface="source-code-pro"/>
              </a:rPr>
              <a:t>=</a:t>
            </a:r>
            <a:r>
              <a:rPr lang="en-US" sz="2800" b="0" i="0" dirty="0">
                <a:solidFill>
                  <a:srgbClr val="1C00CF"/>
                </a:solidFill>
                <a:effectLst/>
                <a:latin typeface="source-code-pro"/>
              </a:rPr>
              <a:t>10</a:t>
            </a:r>
            <a:r>
              <a:rPr lang="en-US" sz="2800" b="0" i="0" dirty="0">
                <a:solidFill>
                  <a:srgbClr val="242424"/>
                </a:solidFill>
                <a:effectLst/>
                <a:latin typeface="source-code-pro"/>
              </a:rPr>
              <a:t>)</a:t>
            </a:r>
            <a:br>
              <a:rPr lang="en-US" sz="2800" dirty="0"/>
            </a:br>
            <a:br>
              <a:rPr lang="en-US" sz="2800" dirty="0"/>
            </a:br>
            <a:r>
              <a:rPr lang="en-US" sz="2800" b="0" i="0" dirty="0">
                <a:solidFill>
                  <a:srgbClr val="007400"/>
                </a:solidFill>
                <a:effectLst/>
                <a:latin typeface="source-code-pro"/>
              </a:rPr>
              <a:t># Load pre-trained VGG16 model without the top (classification) layer</a:t>
            </a:r>
            <a:br>
              <a:rPr lang="en-US" sz="2800" dirty="0"/>
            </a:br>
            <a:r>
              <a:rPr lang="en-US" sz="2800" b="0" i="0" dirty="0" err="1">
                <a:solidFill>
                  <a:srgbClr val="242424"/>
                </a:solidFill>
                <a:effectLst/>
                <a:latin typeface="source-code-pro"/>
              </a:rPr>
              <a:t>base_model</a:t>
            </a:r>
            <a:r>
              <a:rPr lang="en-US" sz="2800" b="0" i="0" dirty="0">
                <a:solidFill>
                  <a:srgbClr val="242424"/>
                </a:solidFill>
                <a:effectLst/>
                <a:latin typeface="source-code-pro"/>
              </a:rPr>
              <a:t> = VGG16(weights=</a:t>
            </a:r>
            <a:r>
              <a:rPr lang="en-US" sz="2800" b="0" i="0" dirty="0">
                <a:solidFill>
                  <a:srgbClr val="C41A16"/>
                </a:solidFill>
                <a:effectLst/>
                <a:latin typeface="source-code-pro"/>
              </a:rPr>
              <a:t>'</a:t>
            </a:r>
            <a:r>
              <a:rPr lang="en-US" sz="2800" b="0" i="0" dirty="0" err="1">
                <a:solidFill>
                  <a:srgbClr val="C41A16"/>
                </a:solidFill>
                <a:effectLst/>
                <a:latin typeface="source-code-pro"/>
              </a:rPr>
              <a:t>imagenet</a:t>
            </a:r>
            <a:r>
              <a:rPr lang="en-US" sz="2800" b="0" i="0" dirty="0">
                <a:solidFill>
                  <a:srgbClr val="C41A16"/>
                </a:solidFill>
                <a:effectLst/>
                <a:latin typeface="source-code-pro"/>
              </a:rPr>
              <a:t>'</a:t>
            </a:r>
            <a:r>
              <a:rPr lang="en-US" sz="2800" b="0" i="0" dirty="0">
                <a:solidFill>
                  <a:srgbClr val="242424"/>
                </a:solidFill>
                <a:effectLst/>
                <a:latin typeface="source-code-pro"/>
              </a:rPr>
              <a:t>, </a:t>
            </a:r>
            <a:r>
              <a:rPr lang="en-US" sz="2800" b="0" i="0" dirty="0" err="1">
                <a:solidFill>
                  <a:srgbClr val="242424"/>
                </a:solidFill>
                <a:effectLst/>
                <a:latin typeface="source-code-pro"/>
              </a:rPr>
              <a:t>include_top</a:t>
            </a:r>
            <a:r>
              <a:rPr lang="en-US" sz="2800" b="0" i="0" dirty="0">
                <a:solidFill>
                  <a:srgbClr val="242424"/>
                </a:solidFill>
                <a:effectLst/>
                <a:latin typeface="source-code-pro"/>
              </a:rPr>
              <a:t>=</a:t>
            </a:r>
            <a:r>
              <a:rPr lang="en-US" sz="2800" b="0" i="0" dirty="0">
                <a:solidFill>
                  <a:srgbClr val="AA0D91"/>
                </a:solidFill>
                <a:effectLst/>
                <a:latin typeface="source-code-pro"/>
              </a:rPr>
              <a:t>False</a:t>
            </a:r>
            <a:r>
              <a:rPr lang="en-US" sz="2800" b="0" i="0" dirty="0">
                <a:solidFill>
                  <a:srgbClr val="242424"/>
                </a:solidFill>
                <a:effectLst/>
                <a:latin typeface="source-code-pro"/>
              </a:rPr>
              <a:t>, </a:t>
            </a:r>
            <a:r>
              <a:rPr lang="en-US" sz="2800" b="0" i="0" dirty="0" err="1">
                <a:solidFill>
                  <a:srgbClr val="242424"/>
                </a:solidFill>
                <a:effectLst/>
                <a:latin typeface="source-code-pro"/>
              </a:rPr>
              <a:t>input_shape</a:t>
            </a:r>
            <a:r>
              <a:rPr lang="en-US" sz="2800" b="0" i="0" dirty="0">
                <a:solidFill>
                  <a:srgbClr val="242424"/>
                </a:solidFill>
                <a:effectLst/>
                <a:latin typeface="source-code-pro"/>
              </a:rPr>
              <a:t>=(</a:t>
            </a:r>
            <a:r>
              <a:rPr lang="en-US" sz="2800" b="0" i="0" dirty="0">
                <a:solidFill>
                  <a:srgbClr val="1C00CF"/>
                </a:solidFill>
                <a:effectLst/>
                <a:latin typeface="source-code-pro"/>
              </a:rPr>
              <a:t>32</a:t>
            </a:r>
            <a:r>
              <a:rPr lang="en-US" sz="2800" b="0" i="0" dirty="0">
                <a:solidFill>
                  <a:srgbClr val="242424"/>
                </a:solidFill>
                <a:effectLst/>
                <a:latin typeface="source-code-pro"/>
              </a:rPr>
              <a:t>, </a:t>
            </a:r>
            <a:r>
              <a:rPr lang="en-US" sz="2800" b="0" i="0" dirty="0">
                <a:solidFill>
                  <a:srgbClr val="1C00CF"/>
                </a:solidFill>
                <a:effectLst/>
                <a:latin typeface="source-code-pro"/>
              </a:rPr>
              <a:t>32</a:t>
            </a:r>
            <a:r>
              <a:rPr lang="en-US" sz="2800" b="0" i="0" dirty="0">
                <a:solidFill>
                  <a:srgbClr val="242424"/>
                </a:solidFill>
                <a:effectLst/>
                <a:latin typeface="source-code-pro"/>
              </a:rPr>
              <a:t>, </a:t>
            </a:r>
            <a:r>
              <a:rPr lang="en-US" sz="2800" b="0" i="0" dirty="0">
                <a:solidFill>
                  <a:srgbClr val="1C00CF"/>
                </a:solidFill>
                <a:effectLst/>
                <a:latin typeface="source-code-pro"/>
              </a:rPr>
              <a:t>3</a:t>
            </a:r>
            <a:r>
              <a:rPr lang="en-US" sz="2800" b="0" i="0" dirty="0">
                <a:solidFill>
                  <a:srgbClr val="242424"/>
                </a:solidFill>
                <a:effectLst/>
                <a:latin typeface="source-code-pro"/>
              </a:rPr>
              <a:t>))</a:t>
            </a:r>
            <a:br>
              <a:rPr lang="en-US" sz="2800" dirty="0"/>
            </a:br>
            <a:br>
              <a:rPr lang="en-US" sz="2800" dirty="0"/>
            </a:br>
            <a:r>
              <a:rPr lang="en-US" sz="2800" b="0" i="0" dirty="0">
                <a:solidFill>
                  <a:srgbClr val="007400"/>
                </a:solidFill>
                <a:effectLst/>
                <a:latin typeface="source-code-pro"/>
              </a:rPr>
              <a:t># Freeze the weights of the pre-trained layers</a:t>
            </a:r>
            <a:br>
              <a:rPr lang="en-US" sz="2800" dirty="0"/>
            </a:br>
            <a:r>
              <a:rPr lang="en-US" sz="2800" b="0" i="0" dirty="0">
                <a:solidFill>
                  <a:srgbClr val="AA0D91"/>
                </a:solidFill>
                <a:effectLst/>
                <a:latin typeface="source-code-pro"/>
              </a:rPr>
              <a:t>for</a:t>
            </a:r>
            <a:r>
              <a:rPr lang="en-US" sz="2800" b="0" i="0" dirty="0">
                <a:solidFill>
                  <a:srgbClr val="242424"/>
                </a:solidFill>
                <a:effectLst/>
                <a:latin typeface="source-code-pro"/>
              </a:rPr>
              <a:t> layer </a:t>
            </a:r>
            <a:r>
              <a:rPr lang="en-US" sz="2800" b="0" i="0" dirty="0">
                <a:solidFill>
                  <a:srgbClr val="AA0D91"/>
                </a:solidFill>
                <a:effectLst/>
                <a:latin typeface="source-code-pro"/>
              </a:rPr>
              <a:t>in</a:t>
            </a:r>
            <a:r>
              <a:rPr lang="en-US" sz="2800" b="0" i="0" dirty="0">
                <a:solidFill>
                  <a:srgbClr val="242424"/>
                </a:solidFill>
                <a:effectLst/>
                <a:latin typeface="source-code-pro"/>
              </a:rPr>
              <a:t> </a:t>
            </a:r>
            <a:r>
              <a:rPr lang="en-US" sz="2800" b="0" i="0" dirty="0" err="1">
                <a:solidFill>
                  <a:srgbClr val="242424"/>
                </a:solidFill>
                <a:effectLst/>
                <a:latin typeface="source-code-pro"/>
              </a:rPr>
              <a:t>base_model.layers</a:t>
            </a:r>
            <a:r>
              <a:rPr lang="en-US" sz="2800" b="0" i="0" dirty="0">
                <a:solidFill>
                  <a:srgbClr val="242424"/>
                </a:solidFill>
                <a:effectLst/>
                <a:latin typeface="source-code-pro"/>
              </a:rPr>
              <a:t>:</a:t>
            </a:r>
            <a:br>
              <a:rPr lang="en-US" sz="2800" dirty="0"/>
            </a:br>
            <a:r>
              <a:rPr lang="en-US" sz="2800" b="0" i="0" dirty="0" err="1">
                <a:solidFill>
                  <a:srgbClr val="242424"/>
                </a:solidFill>
                <a:effectLst/>
                <a:latin typeface="source-code-pro"/>
              </a:rPr>
              <a:t>layer.trainable</a:t>
            </a:r>
            <a:r>
              <a:rPr lang="en-US" sz="2800" b="0" i="0" dirty="0">
                <a:solidFill>
                  <a:srgbClr val="242424"/>
                </a:solidFill>
                <a:effectLst/>
                <a:latin typeface="source-code-pro"/>
              </a:rPr>
              <a:t> = </a:t>
            </a:r>
            <a:r>
              <a:rPr lang="en-US" sz="2800" b="0" i="0" dirty="0">
                <a:solidFill>
                  <a:srgbClr val="AA0D91"/>
                </a:solidFill>
                <a:effectLst/>
                <a:latin typeface="source-code-pro"/>
              </a:rPr>
              <a:t>False</a:t>
            </a:r>
            <a:br>
              <a:rPr lang="en-US" sz="2800" dirty="0"/>
            </a:br>
            <a:br>
              <a:rPr lang="en-US" sz="2800" dirty="0"/>
            </a:br>
            <a:r>
              <a:rPr lang="en-US" sz="2800" b="0" i="0" dirty="0">
                <a:solidFill>
                  <a:srgbClr val="242424"/>
                </a:solidFill>
                <a:effectLst/>
                <a:latin typeface="source-code-pro"/>
              </a:rPr>
              <a:t>)</a:t>
            </a:r>
            <a:endParaRPr lang="en-US" sz="2800" dirty="0"/>
          </a:p>
        </p:txBody>
      </p:sp>
    </p:spTree>
    <p:extLst>
      <p:ext uri="{BB962C8B-B14F-4D97-AF65-F5344CB8AC3E}">
        <p14:creationId xmlns:p14="http://schemas.microsoft.com/office/powerpoint/2010/main" val="24598872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794C95-C463-B0E9-B9D1-0851B90AC555}"/>
              </a:ext>
            </a:extLst>
          </p:cNvPr>
          <p:cNvSpPr txBox="1"/>
          <p:nvPr/>
        </p:nvSpPr>
        <p:spPr>
          <a:xfrm>
            <a:off x="308610" y="612845"/>
            <a:ext cx="10309860" cy="5693866"/>
          </a:xfrm>
          <a:prstGeom prst="rect">
            <a:avLst/>
          </a:prstGeom>
          <a:noFill/>
        </p:spPr>
        <p:txBody>
          <a:bodyPr wrap="square">
            <a:spAutoFit/>
          </a:bodyPr>
          <a:lstStyle/>
          <a:p>
            <a:r>
              <a:rPr lang="en-US" sz="2800" b="0" i="0" dirty="0">
                <a:solidFill>
                  <a:srgbClr val="007400"/>
                </a:solidFill>
                <a:effectLst/>
                <a:latin typeface="source-code-pro"/>
              </a:rPr>
              <a:t># Create a new model on top of the pre-trained base model</a:t>
            </a:r>
            <a:br>
              <a:rPr lang="en-US" sz="2800" dirty="0"/>
            </a:br>
            <a:r>
              <a:rPr lang="en-US" sz="2800" b="0" i="0" dirty="0" err="1">
                <a:solidFill>
                  <a:srgbClr val="242424"/>
                </a:solidFill>
                <a:effectLst/>
                <a:latin typeface="source-code-pro"/>
              </a:rPr>
              <a:t>model</a:t>
            </a:r>
            <a:r>
              <a:rPr lang="en-US" sz="2800" b="0" i="0" dirty="0">
                <a:solidFill>
                  <a:srgbClr val="242424"/>
                </a:solidFill>
                <a:effectLst/>
                <a:latin typeface="source-code-pro"/>
              </a:rPr>
              <a:t> = Sequential([</a:t>
            </a:r>
            <a:br>
              <a:rPr lang="en-US" sz="2800" dirty="0"/>
            </a:br>
            <a:r>
              <a:rPr lang="en-US" sz="2800" b="0" i="0" dirty="0" err="1">
                <a:solidFill>
                  <a:srgbClr val="242424"/>
                </a:solidFill>
                <a:effectLst/>
                <a:latin typeface="source-code-pro"/>
              </a:rPr>
              <a:t>base_model</a:t>
            </a:r>
            <a:r>
              <a:rPr lang="en-US" sz="2800" b="0" i="0" dirty="0">
                <a:solidFill>
                  <a:srgbClr val="242424"/>
                </a:solidFill>
                <a:effectLst/>
                <a:latin typeface="source-code-pro"/>
              </a:rPr>
              <a:t>,</a:t>
            </a:r>
            <a:br>
              <a:rPr lang="en-US" sz="2800" dirty="0"/>
            </a:br>
            <a:r>
              <a:rPr lang="en-US" sz="2800" b="0" i="0" dirty="0">
                <a:solidFill>
                  <a:srgbClr val="242424"/>
                </a:solidFill>
                <a:effectLst/>
                <a:latin typeface="source-code-pro"/>
              </a:rPr>
              <a:t>Flatten(),</a:t>
            </a:r>
            <a:br>
              <a:rPr lang="en-US" sz="2800" dirty="0"/>
            </a:br>
            <a:r>
              <a:rPr lang="en-US" sz="2800" b="0" i="0" dirty="0">
                <a:solidFill>
                  <a:srgbClr val="242424"/>
                </a:solidFill>
                <a:effectLst/>
                <a:latin typeface="source-code-pro"/>
              </a:rPr>
              <a:t>Dense(</a:t>
            </a:r>
            <a:r>
              <a:rPr lang="en-US" sz="2800" b="0" i="0" dirty="0">
                <a:solidFill>
                  <a:srgbClr val="1C00CF"/>
                </a:solidFill>
                <a:effectLst/>
                <a:latin typeface="source-code-pro"/>
              </a:rPr>
              <a:t>256</a:t>
            </a:r>
            <a:r>
              <a:rPr lang="en-US" sz="2800" b="0" i="0" dirty="0">
                <a:solidFill>
                  <a:srgbClr val="242424"/>
                </a:solidFill>
                <a:effectLst/>
                <a:latin typeface="source-code-pro"/>
              </a:rPr>
              <a:t>, activation=</a:t>
            </a:r>
            <a:r>
              <a:rPr lang="en-US" sz="2800" b="0" i="0" dirty="0">
                <a:solidFill>
                  <a:srgbClr val="C41A16"/>
                </a:solidFill>
                <a:effectLst/>
                <a:latin typeface="source-code-pro"/>
              </a:rPr>
              <a:t>'</a:t>
            </a:r>
            <a:r>
              <a:rPr lang="en-US" sz="2800" b="0" i="0" dirty="0" err="1">
                <a:solidFill>
                  <a:srgbClr val="C41A16"/>
                </a:solidFill>
                <a:effectLst/>
                <a:latin typeface="source-code-pro"/>
              </a:rPr>
              <a:t>relu</a:t>
            </a:r>
            <a:r>
              <a:rPr lang="en-US" sz="2800" b="0" i="0" dirty="0">
                <a:solidFill>
                  <a:srgbClr val="C41A16"/>
                </a:solidFill>
                <a:effectLst/>
                <a:latin typeface="source-code-pro"/>
              </a:rPr>
              <a:t>'</a:t>
            </a:r>
            <a:r>
              <a:rPr lang="en-US" sz="2800" b="0" i="0" dirty="0">
                <a:solidFill>
                  <a:srgbClr val="242424"/>
                </a:solidFill>
                <a:effectLst/>
                <a:latin typeface="source-code-pro"/>
              </a:rPr>
              <a:t>),</a:t>
            </a:r>
            <a:br>
              <a:rPr lang="en-US" sz="2800" dirty="0"/>
            </a:br>
            <a:r>
              <a:rPr lang="en-US" sz="2800" b="0" i="0" dirty="0">
                <a:solidFill>
                  <a:srgbClr val="242424"/>
                </a:solidFill>
                <a:effectLst/>
                <a:latin typeface="source-code-pro"/>
              </a:rPr>
              <a:t>Dense(</a:t>
            </a:r>
            <a:r>
              <a:rPr lang="en-US" sz="2800" b="0" i="0" dirty="0">
                <a:solidFill>
                  <a:srgbClr val="1C00CF"/>
                </a:solidFill>
                <a:effectLst/>
                <a:latin typeface="source-code-pro"/>
              </a:rPr>
              <a:t>10</a:t>
            </a:r>
            <a:r>
              <a:rPr lang="en-US" sz="2800" b="0" i="0" dirty="0">
                <a:solidFill>
                  <a:srgbClr val="242424"/>
                </a:solidFill>
                <a:effectLst/>
                <a:latin typeface="source-code-pro"/>
              </a:rPr>
              <a:t>, activation=</a:t>
            </a:r>
            <a:r>
              <a:rPr lang="en-US" sz="2800" b="0" i="0" dirty="0">
                <a:solidFill>
                  <a:srgbClr val="C41A16"/>
                </a:solidFill>
                <a:effectLst/>
                <a:latin typeface="source-code-pro"/>
              </a:rPr>
              <a:t>'</a:t>
            </a:r>
            <a:r>
              <a:rPr lang="en-US" sz="2800" b="0" i="0" dirty="0" err="1">
                <a:solidFill>
                  <a:srgbClr val="C41A16"/>
                </a:solidFill>
                <a:effectLst/>
                <a:latin typeface="source-code-pro"/>
              </a:rPr>
              <a:t>softmax</a:t>
            </a:r>
            <a:r>
              <a:rPr lang="en-US" sz="2800" b="0" i="0" dirty="0">
                <a:solidFill>
                  <a:srgbClr val="C41A16"/>
                </a:solidFill>
                <a:effectLst/>
                <a:latin typeface="source-code-pro"/>
              </a:rPr>
              <a:t>'</a:t>
            </a:r>
            <a:r>
              <a:rPr lang="en-US" sz="2800" b="0" i="0" dirty="0">
                <a:solidFill>
                  <a:srgbClr val="242424"/>
                </a:solidFill>
                <a:effectLst/>
                <a:latin typeface="source-code-pro"/>
              </a:rPr>
              <a:t>) </a:t>
            </a:r>
            <a:r>
              <a:rPr lang="en-US" sz="2800" b="0" i="0" dirty="0">
                <a:solidFill>
                  <a:srgbClr val="007400"/>
                </a:solidFill>
                <a:effectLst/>
                <a:latin typeface="source-code-pro"/>
              </a:rPr>
              <a:t># Output layer with 10 classes</a:t>
            </a:r>
            <a:br>
              <a:rPr lang="en-US" sz="2800" dirty="0"/>
            </a:br>
            <a:r>
              <a:rPr lang="en-US" sz="2800" b="0" i="0" dirty="0">
                <a:solidFill>
                  <a:srgbClr val="242424"/>
                </a:solidFill>
                <a:effectLst/>
                <a:latin typeface="source-code-pro"/>
              </a:rPr>
              <a:t>])</a:t>
            </a:r>
            <a:br>
              <a:rPr lang="en-US" sz="2800" dirty="0"/>
            </a:br>
            <a:br>
              <a:rPr lang="en-US" sz="2800" dirty="0"/>
            </a:br>
            <a:r>
              <a:rPr lang="en-US" sz="2800" b="0" i="0" dirty="0">
                <a:solidFill>
                  <a:srgbClr val="007400"/>
                </a:solidFill>
                <a:effectLst/>
                <a:latin typeface="source-code-pro"/>
              </a:rPr>
              <a:t># Compile the model</a:t>
            </a:r>
            <a:br>
              <a:rPr lang="en-US" sz="2800" dirty="0"/>
            </a:br>
            <a:r>
              <a:rPr lang="en-US" sz="2800" b="0" i="0" dirty="0" err="1">
                <a:solidFill>
                  <a:srgbClr val="242424"/>
                </a:solidFill>
                <a:effectLst/>
                <a:latin typeface="source-code-pro"/>
              </a:rPr>
              <a:t>model.</a:t>
            </a:r>
            <a:r>
              <a:rPr lang="en-US" sz="2800" b="0" i="0" dirty="0" err="1">
                <a:solidFill>
                  <a:srgbClr val="5C2699"/>
                </a:solidFill>
                <a:effectLst/>
                <a:latin typeface="source-code-pro"/>
              </a:rPr>
              <a:t>compile</a:t>
            </a:r>
            <a:r>
              <a:rPr lang="en-US" sz="2800" b="0" i="0" dirty="0">
                <a:solidFill>
                  <a:srgbClr val="242424"/>
                </a:solidFill>
                <a:effectLst/>
                <a:latin typeface="source-code-pro"/>
              </a:rPr>
              <a:t>(optimizer=</a:t>
            </a:r>
            <a:r>
              <a:rPr lang="en-US" sz="2800" b="0" i="0" dirty="0">
                <a:solidFill>
                  <a:srgbClr val="C41A16"/>
                </a:solidFill>
                <a:effectLst/>
                <a:latin typeface="source-code-pro"/>
              </a:rPr>
              <a:t>'</a:t>
            </a:r>
            <a:r>
              <a:rPr lang="en-US" sz="2800" b="0" i="0" dirty="0" err="1">
                <a:solidFill>
                  <a:srgbClr val="C41A16"/>
                </a:solidFill>
                <a:effectLst/>
                <a:latin typeface="source-code-pro"/>
              </a:rPr>
              <a:t>adam</a:t>
            </a:r>
            <a:r>
              <a:rPr lang="en-US" sz="2800" b="0" i="0" dirty="0">
                <a:solidFill>
                  <a:srgbClr val="C41A16"/>
                </a:solidFill>
                <a:effectLst/>
                <a:latin typeface="source-code-pro"/>
              </a:rPr>
              <a:t>'</a:t>
            </a:r>
            <a:r>
              <a:rPr lang="en-US" sz="2800" b="0" i="0" dirty="0">
                <a:solidFill>
                  <a:srgbClr val="242424"/>
                </a:solidFill>
                <a:effectLst/>
                <a:latin typeface="source-code-pro"/>
              </a:rPr>
              <a:t>,</a:t>
            </a:r>
            <a:br>
              <a:rPr lang="en-US" sz="2800" dirty="0"/>
            </a:br>
            <a:r>
              <a:rPr lang="en-US" sz="2800" b="0" i="0" dirty="0">
                <a:solidFill>
                  <a:srgbClr val="242424"/>
                </a:solidFill>
                <a:effectLst/>
                <a:latin typeface="source-code-pro"/>
              </a:rPr>
              <a:t>loss=</a:t>
            </a:r>
            <a:r>
              <a:rPr lang="en-US" sz="2800" b="0" i="0" dirty="0">
                <a:solidFill>
                  <a:srgbClr val="C41A16"/>
                </a:solidFill>
                <a:effectLst/>
                <a:latin typeface="source-code-pro"/>
              </a:rPr>
              <a:t>'</a:t>
            </a:r>
            <a:r>
              <a:rPr lang="en-US" sz="2800" b="0" i="0" dirty="0" err="1">
                <a:solidFill>
                  <a:srgbClr val="C41A16"/>
                </a:solidFill>
                <a:effectLst/>
                <a:latin typeface="source-code-pro"/>
              </a:rPr>
              <a:t>categorical_crossentropy</a:t>
            </a:r>
            <a:r>
              <a:rPr lang="en-US" sz="2800" b="0" i="0" dirty="0">
                <a:solidFill>
                  <a:srgbClr val="C41A16"/>
                </a:solidFill>
                <a:effectLst/>
                <a:latin typeface="source-code-pro"/>
              </a:rPr>
              <a:t>'</a:t>
            </a:r>
            <a:r>
              <a:rPr lang="en-US" sz="2800" b="0" i="0" dirty="0">
                <a:solidFill>
                  <a:srgbClr val="242424"/>
                </a:solidFill>
                <a:effectLst/>
                <a:latin typeface="source-code-pro"/>
              </a:rPr>
              <a:t>,</a:t>
            </a:r>
            <a:br>
              <a:rPr lang="en-US" sz="2800" dirty="0"/>
            </a:br>
            <a:r>
              <a:rPr lang="en-US" sz="2800" b="0" i="0" dirty="0">
                <a:solidFill>
                  <a:srgbClr val="242424"/>
                </a:solidFill>
                <a:effectLst/>
                <a:latin typeface="source-code-pro"/>
              </a:rPr>
              <a:t>metrics=[</a:t>
            </a:r>
            <a:r>
              <a:rPr lang="en-US" sz="2800" b="0" i="0" dirty="0">
                <a:solidFill>
                  <a:srgbClr val="C41A16"/>
                </a:solidFill>
                <a:effectLst/>
                <a:latin typeface="source-code-pro"/>
              </a:rPr>
              <a:t>'accuracy'</a:t>
            </a:r>
            <a:r>
              <a:rPr lang="en-US" sz="2800" b="0" i="0" dirty="0">
                <a:solidFill>
                  <a:srgbClr val="242424"/>
                </a:solidFill>
                <a:effectLst/>
                <a:latin typeface="source-code-pro"/>
              </a:rPr>
              <a:t>])</a:t>
            </a:r>
            <a:br>
              <a:rPr lang="en-US" sz="2800" dirty="0"/>
            </a:br>
            <a:endParaRPr lang="en-US" sz="2800" dirty="0"/>
          </a:p>
        </p:txBody>
      </p:sp>
    </p:spTree>
    <p:extLst>
      <p:ext uri="{BB962C8B-B14F-4D97-AF65-F5344CB8AC3E}">
        <p14:creationId xmlns:p14="http://schemas.microsoft.com/office/powerpoint/2010/main" val="40213241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F4EA64-555D-1B29-ABD7-E41C1562EFEE}"/>
              </a:ext>
            </a:extLst>
          </p:cNvPr>
          <p:cNvSpPr txBox="1"/>
          <p:nvPr/>
        </p:nvSpPr>
        <p:spPr>
          <a:xfrm>
            <a:off x="1174432" y="640348"/>
            <a:ext cx="9992678" cy="3539430"/>
          </a:xfrm>
          <a:prstGeom prst="rect">
            <a:avLst/>
          </a:prstGeom>
          <a:noFill/>
        </p:spPr>
        <p:txBody>
          <a:bodyPr wrap="square">
            <a:spAutoFit/>
          </a:bodyPr>
          <a:lstStyle/>
          <a:p>
            <a:br>
              <a:rPr lang="en-US" sz="2800" dirty="0"/>
            </a:br>
            <a:r>
              <a:rPr lang="en-US" sz="2800" b="0" i="0" dirty="0">
                <a:solidFill>
                  <a:srgbClr val="007400"/>
                </a:solidFill>
                <a:effectLst/>
                <a:latin typeface="source-code-pro"/>
              </a:rPr>
              <a:t># Train the model</a:t>
            </a:r>
            <a:br>
              <a:rPr lang="en-US" sz="2800" dirty="0"/>
            </a:br>
            <a:r>
              <a:rPr lang="en-US" sz="2800" b="0" i="0" dirty="0">
                <a:solidFill>
                  <a:srgbClr val="242424"/>
                </a:solidFill>
                <a:effectLst/>
                <a:latin typeface="source-code-pro"/>
              </a:rPr>
              <a:t>history = </a:t>
            </a:r>
            <a:r>
              <a:rPr lang="en-US" sz="2800" b="0" i="0" dirty="0" err="1">
                <a:solidFill>
                  <a:srgbClr val="242424"/>
                </a:solidFill>
                <a:effectLst/>
                <a:latin typeface="source-code-pro"/>
              </a:rPr>
              <a:t>model.fit</a:t>
            </a:r>
            <a:r>
              <a:rPr lang="en-US" sz="2800" b="0" i="0" dirty="0">
                <a:solidFill>
                  <a:srgbClr val="242424"/>
                </a:solidFill>
                <a:effectLst/>
                <a:latin typeface="source-code-pro"/>
              </a:rPr>
              <a:t>(</a:t>
            </a:r>
            <a:r>
              <a:rPr lang="en-US" sz="2800" b="0" i="0" dirty="0" err="1">
                <a:solidFill>
                  <a:srgbClr val="242424"/>
                </a:solidFill>
                <a:effectLst/>
                <a:latin typeface="source-code-pro"/>
              </a:rPr>
              <a:t>train_images</a:t>
            </a:r>
            <a:r>
              <a:rPr lang="en-US" sz="2800" b="0" i="0" dirty="0">
                <a:solidFill>
                  <a:srgbClr val="242424"/>
                </a:solidFill>
                <a:effectLst/>
                <a:latin typeface="source-code-pro"/>
              </a:rPr>
              <a:t>, </a:t>
            </a:r>
            <a:r>
              <a:rPr lang="en-US" sz="2800" b="0" i="0" dirty="0" err="1">
                <a:solidFill>
                  <a:srgbClr val="242424"/>
                </a:solidFill>
                <a:effectLst/>
                <a:latin typeface="source-code-pro"/>
              </a:rPr>
              <a:t>train_labels</a:t>
            </a:r>
            <a:r>
              <a:rPr lang="en-US" sz="2800" b="0" i="0" dirty="0">
                <a:solidFill>
                  <a:srgbClr val="242424"/>
                </a:solidFill>
                <a:effectLst/>
                <a:latin typeface="source-code-pro"/>
              </a:rPr>
              <a:t>, epochs=</a:t>
            </a:r>
            <a:r>
              <a:rPr lang="en-US" sz="2800" b="0" i="0" dirty="0">
                <a:solidFill>
                  <a:srgbClr val="1C00CF"/>
                </a:solidFill>
                <a:effectLst/>
                <a:latin typeface="source-code-pro"/>
              </a:rPr>
              <a:t>10</a:t>
            </a:r>
            <a:r>
              <a:rPr lang="en-US" sz="2800" b="0" i="0" dirty="0">
                <a:solidFill>
                  <a:srgbClr val="242424"/>
                </a:solidFill>
                <a:effectLst/>
                <a:latin typeface="source-code-pro"/>
              </a:rPr>
              <a:t>, </a:t>
            </a:r>
            <a:r>
              <a:rPr lang="en-US" sz="2800" b="0" i="0" dirty="0" err="1">
                <a:solidFill>
                  <a:srgbClr val="242424"/>
                </a:solidFill>
                <a:effectLst/>
                <a:latin typeface="source-code-pro"/>
              </a:rPr>
              <a:t>batch_size</a:t>
            </a:r>
            <a:r>
              <a:rPr lang="en-US" sz="2800" b="0" i="0" dirty="0">
                <a:solidFill>
                  <a:srgbClr val="242424"/>
                </a:solidFill>
                <a:effectLst/>
                <a:latin typeface="source-code-pro"/>
              </a:rPr>
              <a:t>=</a:t>
            </a:r>
            <a:r>
              <a:rPr lang="en-US" sz="2800" b="0" i="0" dirty="0">
                <a:solidFill>
                  <a:srgbClr val="1C00CF"/>
                </a:solidFill>
                <a:effectLst/>
                <a:latin typeface="source-code-pro"/>
              </a:rPr>
              <a:t>64</a:t>
            </a:r>
            <a:r>
              <a:rPr lang="en-US" sz="2800" b="0" i="0" dirty="0">
                <a:solidFill>
                  <a:srgbClr val="242424"/>
                </a:solidFill>
                <a:effectLst/>
                <a:latin typeface="source-code-pro"/>
              </a:rPr>
              <a:t>, </a:t>
            </a:r>
            <a:r>
              <a:rPr lang="en-US" sz="2800" b="0" i="0" dirty="0" err="1">
                <a:solidFill>
                  <a:srgbClr val="242424"/>
                </a:solidFill>
                <a:effectLst/>
                <a:latin typeface="source-code-pro"/>
              </a:rPr>
              <a:t>validation_data</a:t>
            </a:r>
            <a:r>
              <a:rPr lang="en-US" sz="2800" b="0" i="0" dirty="0">
                <a:solidFill>
                  <a:srgbClr val="242424"/>
                </a:solidFill>
                <a:effectLst/>
                <a:latin typeface="source-code-pro"/>
              </a:rPr>
              <a:t>=(</a:t>
            </a:r>
            <a:r>
              <a:rPr lang="en-US" sz="2800" b="0" i="0" dirty="0" err="1">
                <a:solidFill>
                  <a:srgbClr val="242424"/>
                </a:solidFill>
                <a:effectLst/>
                <a:latin typeface="source-code-pro"/>
              </a:rPr>
              <a:t>test_images</a:t>
            </a:r>
            <a:r>
              <a:rPr lang="en-US" sz="2800" b="0" i="0" dirty="0">
                <a:solidFill>
                  <a:srgbClr val="242424"/>
                </a:solidFill>
                <a:effectLst/>
                <a:latin typeface="source-code-pro"/>
              </a:rPr>
              <a:t>, </a:t>
            </a:r>
            <a:r>
              <a:rPr lang="en-US" sz="2800" b="0" i="0" dirty="0" err="1">
                <a:solidFill>
                  <a:srgbClr val="242424"/>
                </a:solidFill>
                <a:effectLst/>
                <a:latin typeface="source-code-pro"/>
              </a:rPr>
              <a:t>test_labels</a:t>
            </a:r>
            <a:r>
              <a:rPr lang="en-US" sz="2800" b="0" i="0" dirty="0">
                <a:solidFill>
                  <a:srgbClr val="242424"/>
                </a:solidFill>
                <a:effectLst/>
                <a:latin typeface="source-code-pro"/>
              </a:rPr>
              <a:t>))</a:t>
            </a:r>
            <a:br>
              <a:rPr lang="en-US" sz="2800" dirty="0"/>
            </a:br>
            <a:br>
              <a:rPr lang="en-US" sz="2800" dirty="0"/>
            </a:br>
            <a:r>
              <a:rPr lang="en-US" sz="2800" b="0" i="0" dirty="0">
                <a:solidFill>
                  <a:srgbClr val="007400"/>
                </a:solidFill>
                <a:effectLst/>
                <a:latin typeface="source-code-pro"/>
              </a:rPr>
              <a:t># Evaluate the model</a:t>
            </a:r>
            <a:br>
              <a:rPr lang="en-US" sz="2800" dirty="0"/>
            </a:br>
            <a:r>
              <a:rPr lang="en-US" sz="2800" b="0" i="0" dirty="0" err="1">
                <a:solidFill>
                  <a:srgbClr val="242424"/>
                </a:solidFill>
                <a:effectLst/>
                <a:latin typeface="source-code-pro"/>
              </a:rPr>
              <a:t>test_loss</a:t>
            </a:r>
            <a:r>
              <a:rPr lang="en-US" sz="2800" b="0" i="0" dirty="0">
                <a:solidFill>
                  <a:srgbClr val="242424"/>
                </a:solidFill>
                <a:effectLst/>
                <a:latin typeface="source-code-pro"/>
              </a:rPr>
              <a:t>, </a:t>
            </a:r>
            <a:r>
              <a:rPr lang="en-US" sz="2800" b="0" i="0" dirty="0" err="1">
                <a:solidFill>
                  <a:srgbClr val="242424"/>
                </a:solidFill>
                <a:effectLst/>
                <a:latin typeface="source-code-pro"/>
              </a:rPr>
              <a:t>test_acc</a:t>
            </a:r>
            <a:r>
              <a:rPr lang="en-US" sz="2800" b="0" i="0" dirty="0">
                <a:solidFill>
                  <a:srgbClr val="242424"/>
                </a:solidFill>
                <a:effectLst/>
                <a:latin typeface="source-code-pro"/>
              </a:rPr>
              <a:t> = </a:t>
            </a:r>
            <a:r>
              <a:rPr lang="en-US" sz="2800" b="0" i="0" dirty="0" err="1">
                <a:solidFill>
                  <a:srgbClr val="242424"/>
                </a:solidFill>
                <a:effectLst/>
                <a:latin typeface="source-code-pro"/>
              </a:rPr>
              <a:t>model.evaluate</a:t>
            </a:r>
            <a:r>
              <a:rPr lang="en-US" sz="2800" b="0" i="0" dirty="0">
                <a:solidFill>
                  <a:srgbClr val="242424"/>
                </a:solidFill>
                <a:effectLst/>
                <a:latin typeface="source-code-pro"/>
              </a:rPr>
              <a:t>(</a:t>
            </a:r>
            <a:r>
              <a:rPr lang="en-US" sz="2800" b="0" i="0" dirty="0" err="1">
                <a:solidFill>
                  <a:srgbClr val="242424"/>
                </a:solidFill>
                <a:effectLst/>
                <a:latin typeface="source-code-pro"/>
              </a:rPr>
              <a:t>test_images</a:t>
            </a:r>
            <a:r>
              <a:rPr lang="en-US" sz="2800" b="0" i="0" dirty="0">
                <a:solidFill>
                  <a:srgbClr val="242424"/>
                </a:solidFill>
                <a:effectLst/>
                <a:latin typeface="source-code-pro"/>
              </a:rPr>
              <a:t>, </a:t>
            </a:r>
            <a:r>
              <a:rPr lang="en-US" sz="2800" b="0" i="0" dirty="0" err="1">
                <a:solidFill>
                  <a:srgbClr val="242424"/>
                </a:solidFill>
                <a:effectLst/>
                <a:latin typeface="source-code-pro"/>
              </a:rPr>
              <a:t>test_labels</a:t>
            </a:r>
            <a:r>
              <a:rPr lang="en-US" sz="2800" b="0" i="0" dirty="0">
                <a:solidFill>
                  <a:srgbClr val="242424"/>
                </a:solidFill>
                <a:effectLst/>
                <a:latin typeface="source-code-pro"/>
              </a:rPr>
              <a:t>)</a:t>
            </a:r>
            <a:br>
              <a:rPr lang="en-US" sz="2800" dirty="0"/>
            </a:br>
            <a:r>
              <a:rPr lang="en-US" sz="2800" b="0" i="0" dirty="0">
                <a:solidFill>
                  <a:srgbClr val="5C2699"/>
                </a:solidFill>
                <a:effectLst/>
                <a:latin typeface="source-code-pro"/>
              </a:rPr>
              <a:t>print</a:t>
            </a:r>
            <a:r>
              <a:rPr lang="en-US" sz="2800" b="0" i="0" dirty="0">
                <a:solidFill>
                  <a:srgbClr val="242424"/>
                </a:solidFill>
                <a:effectLst/>
                <a:latin typeface="source-code-pro"/>
              </a:rPr>
              <a:t>(</a:t>
            </a:r>
            <a:r>
              <a:rPr lang="en-US" sz="2800" b="0" i="0" dirty="0">
                <a:solidFill>
                  <a:srgbClr val="C41A16"/>
                </a:solidFill>
                <a:effectLst/>
                <a:latin typeface="source-code-pro"/>
              </a:rPr>
              <a:t>"Test Accuracy:"</a:t>
            </a:r>
            <a:r>
              <a:rPr lang="en-US" sz="2800" b="0" i="0" dirty="0">
                <a:solidFill>
                  <a:srgbClr val="242424"/>
                </a:solidFill>
                <a:effectLst/>
                <a:latin typeface="source-code-pro"/>
              </a:rPr>
              <a:t>, </a:t>
            </a:r>
            <a:r>
              <a:rPr lang="en-US" sz="2800" b="0" i="0" dirty="0" err="1">
                <a:solidFill>
                  <a:srgbClr val="242424"/>
                </a:solidFill>
                <a:effectLst/>
                <a:latin typeface="source-code-pro"/>
              </a:rPr>
              <a:t>test_acc</a:t>
            </a:r>
            <a:endParaRPr lang="en-US" sz="2800" dirty="0"/>
          </a:p>
        </p:txBody>
      </p:sp>
    </p:spTree>
    <p:extLst>
      <p:ext uri="{BB962C8B-B14F-4D97-AF65-F5344CB8AC3E}">
        <p14:creationId xmlns:p14="http://schemas.microsoft.com/office/powerpoint/2010/main" val="42834715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65D9D-2446-1624-7A6F-D0C97108599D}"/>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EA1FCE8F-B685-C938-B90F-18800F693613}"/>
              </a:ext>
            </a:extLst>
          </p:cNvPr>
          <p:cNvSpPr>
            <a:spLocks noGrp="1"/>
          </p:cNvSpPr>
          <p:nvPr>
            <p:ph idx="1"/>
          </p:nvPr>
        </p:nvSpPr>
        <p:spPr>
          <a:xfrm>
            <a:off x="565150" y="2160016"/>
            <a:ext cx="8270240" cy="3601212"/>
          </a:xfrm>
        </p:spPr>
        <p:txBody>
          <a:bodyPr/>
          <a:lstStyle/>
          <a:p>
            <a:r>
              <a:rPr lang="en-US" b="1" u="sng" dirty="0"/>
              <a:t>Practice Problem: Identify the Apparels</a:t>
            </a:r>
            <a:r>
              <a:rPr lang="en-US" dirty="0"/>
              <a:t>: Identify the type of apparel for given images</a:t>
            </a:r>
          </a:p>
          <a:p>
            <a:r>
              <a:rPr lang="en-US" b="1" u="sng" dirty="0"/>
              <a:t>Practice Problem: Identify the Digits</a:t>
            </a:r>
            <a:r>
              <a:rPr lang="en-US" dirty="0"/>
              <a:t>: Identify the digit in given images</a:t>
            </a:r>
          </a:p>
          <a:p>
            <a:endParaRPr lang="en-US" dirty="0"/>
          </a:p>
        </p:txBody>
      </p:sp>
    </p:spTree>
    <p:extLst>
      <p:ext uri="{BB962C8B-B14F-4D97-AF65-F5344CB8AC3E}">
        <p14:creationId xmlns:p14="http://schemas.microsoft.com/office/powerpoint/2010/main" val="34605764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8BB753-B717-F555-5601-1768FA449346}"/>
              </a:ext>
            </a:extLst>
          </p:cNvPr>
          <p:cNvSpPr txBox="1"/>
          <p:nvPr/>
        </p:nvSpPr>
        <p:spPr>
          <a:xfrm>
            <a:off x="377190" y="302359"/>
            <a:ext cx="11029950" cy="6524863"/>
          </a:xfrm>
          <a:prstGeom prst="rect">
            <a:avLst/>
          </a:prstGeom>
          <a:noFill/>
        </p:spPr>
        <p:txBody>
          <a:bodyPr wrap="square">
            <a:spAutoFit/>
          </a:bodyPr>
          <a:lstStyle/>
          <a:p>
            <a:pPr algn="l">
              <a:buNone/>
            </a:pPr>
            <a:r>
              <a:rPr lang="en-US" sz="2200" b="1" i="0" dirty="0">
                <a:solidFill>
                  <a:srgbClr val="242424"/>
                </a:solidFill>
                <a:effectLst/>
                <a:latin typeface="sohne"/>
              </a:rPr>
              <a:t>Approach #2: Fine-tuning</a:t>
            </a:r>
          </a:p>
          <a:p>
            <a:pPr algn="l">
              <a:buNone/>
            </a:pPr>
            <a:r>
              <a:rPr lang="en-US" sz="2200" b="1" i="0" dirty="0">
                <a:solidFill>
                  <a:srgbClr val="242424"/>
                </a:solidFill>
                <a:effectLst/>
                <a:latin typeface="sohne"/>
              </a:rPr>
              <a:t>The Concept - </a:t>
            </a:r>
            <a:r>
              <a:rPr lang="en-US" sz="2200" b="0" i="0" dirty="0">
                <a:solidFill>
                  <a:srgbClr val="242424"/>
                </a:solidFill>
                <a:effectLst/>
                <a:latin typeface="source-serif-pro"/>
              </a:rPr>
              <a:t>not just using the pretrained model — you’re also </a:t>
            </a:r>
            <a:r>
              <a:rPr lang="en-US" sz="2200" b="1" i="0" dirty="0">
                <a:solidFill>
                  <a:srgbClr val="242424"/>
                </a:solidFill>
                <a:effectLst/>
                <a:latin typeface="source-serif-pro"/>
              </a:rPr>
              <a:t>continuing its training</a:t>
            </a:r>
            <a:r>
              <a:rPr lang="en-US" sz="2200" b="0" i="0" dirty="0">
                <a:solidFill>
                  <a:srgbClr val="242424"/>
                </a:solidFill>
                <a:effectLst/>
                <a:latin typeface="source-serif-pro"/>
              </a:rPr>
              <a:t> on your specific data! </a:t>
            </a:r>
            <a:r>
              <a:rPr lang="en-US" sz="2200" dirty="0"/>
              <a:t>You unfreeze some layers (typically the last ones) and retrain them with a small learning rate, allowing the model to </a:t>
            </a:r>
            <a:r>
              <a:rPr lang="en-US" sz="2200" b="1" dirty="0"/>
              <a:t>learn the fine details</a:t>
            </a:r>
            <a:r>
              <a:rPr lang="en-US" sz="2200" dirty="0"/>
              <a:t> unique to your project’s data.</a:t>
            </a:r>
          </a:p>
          <a:p>
            <a:r>
              <a:rPr lang="en-US" sz="2200" b="1" dirty="0"/>
              <a:t>When to Use It?</a:t>
            </a:r>
          </a:p>
          <a:p>
            <a:pPr marL="800100" lvl="1" indent="-342900">
              <a:buFont typeface="Arial" panose="020B0604020202020204" pitchFamily="34" charset="0"/>
              <a:buChar char="•"/>
            </a:pPr>
            <a:r>
              <a:rPr lang="en-US" sz="2200" dirty="0"/>
              <a:t>When you have </a:t>
            </a:r>
            <a:r>
              <a:rPr lang="en-US" sz="2200" b="1" dirty="0"/>
              <a:t>sufficient data</a:t>
            </a:r>
            <a:r>
              <a:rPr lang="en-US" sz="2200" dirty="0"/>
              <a:t> (at least thousands of images)</a:t>
            </a:r>
          </a:p>
          <a:p>
            <a:pPr marL="800100" lvl="1" indent="-342900">
              <a:buFont typeface="Arial" panose="020B0604020202020204" pitchFamily="34" charset="0"/>
              <a:buChar char="•"/>
            </a:pPr>
            <a:r>
              <a:rPr lang="en-US" sz="2200" dirty="0"/>
              <a:t>When your data is </a:t>
            </a:r>
            <a:r>
              <a:rPr lang="en-US" sz="2200" b="1" dirty="0"/>
              <a:t>somewhat different</a:t>
            </a:r>
            <a:r>
              <a:rPr lang="en-US" sz="2200" dirty="0"/>
              <a:t> from the original dataset</a:t>
            </a:r>
          </a:p>
          <a:p>
            <a:pPr marL="800100" lvl="1" indent="-342900">
              <a:buFont typeface="Arial" panose="020B0604020202020204" pitchFamily="34" charset="0"/>
              <a:buChar char="•"/>
            </a:pPr>
            <a:r>
              <a:rPr lang="en-US" sz="2200" dirty="0"/>
              <a:t>When </a:t>
            </a:r>
            <a:r>
              <a:rPr lang="en-US" sz="2200" b="1" dirty="0"/>
              <a:t>high accuracy</a:t>
            </a:r>
            <a:r>
              <a:rPr lang="en-US" sz="2200" dirty="0"/>
              <a:t> is critical for your project</a:t>
            </a:r>
          </a:p>
          <a:p>
            <a:r>
              <a:rPr lang="en-US" sz="2200" b="1" dirty="0"/>
              <a:t>Advantages</a:t>
            </a:r>
          </a:p>
          <a:p>
            <a:pPr marL="800100" lvl="1" indent="-342900">
              <a:buFont typeface="Arial" panose="020B0604020202020204" pitchFamily="34" charset="0"/>
              <a:buChar char="•"/>
            </a:pPr>
            <a:r>
              <a:rPr lang="en-US" sz="2200" b="1" dirty="0"/>
              <a:t>Significantly stronger performance and higher accuracy</a:t>
            </a:r>
            <a:endParaRPr lang="en-US" sz="2200" dirty="0"/>
          </a:p>
          <a:p>
            <a:pPr marL="800100" lvl="1" indent="-342900">
              <a:buFont typeface="Arial" panose="020B0604020202020204" pitchFamily="34" charset="0"/>
              <a:buChar char="•"/>
            </a:pPr>
            <a:r>
              <a:rPr lang="en-US" sz="2200" dirty="0"/>
              <a:t>The model </a:t>
            </a:r>
            <a:r>
              <a:rPr lang="en-US" sz="2200" b="1" dirty="0"/>
              <a:t>understands the specific details</a:t>
            </a:r>
            <a:r>
              <a:rPr lang="en-US" sz="2200" dirty="0"/>
              <a:t> of your domain</a:t>
            </a:r>
          </a:p>
          <a:p>
            <a:pPr marL="800100" lvl="1" indent="-342900">
              <a:buFont typeface="Arial" panose="020B0604020202020204" pitchFamily="34" charset="0"/>
              <a:buChar char="•"/>
            </a:pPr>
            <a:r>
              <a:rPr lang="en-US" sz="2200" b="1" dirty="0"/>
              <a:t>Greater flexibility</a:t>
            </a:r>
            <a:r>
              <a:rPr lang="en-US" sz="2200" dirty="0"/>
              <a:t> in handling complex or specialized data</a:t>
            </a:r>
          </a:p>
          <a:p>
            <a:r>
              <a:rPr lang="en-US" sz="2200" b="1" dirty="0"/>
              <a:t>Disadvantages</a:t>
            </a:r>
          </a:p>
          <a:p>
            <a:pPr marL="800100" lvl="1" indent="-342900">
              <a:buFont typeface="Arial" panose="020B0604020202020204" pitchFamily="34" charset="0"/>
              <a:buChar char="•"/>
            </a:pPr>
            <a:r>
              <a:rPr lang="en-US" sz="2200" b="1" dirty="0"/>
              <a:t>Requires longer training time</a:t>
            </a:r>
            <a:r>
              <a:rPr lang="en-US" sz="2200" dirty="0"/>
              <a:t> and more computational resources (powerful GPU)</a:t>
            </a:r>
          </a:p>
          <a:p>
            <a:pPr marL="800100" lvl="1" indent="-342900">
              <a:buFont typeface="Arial" panose="020B0604020202020204" pitchFamily="34" charset="0"/>
              <a:buChar char="•"/>
            </a:pPr>
            <a:r>
              <a:rPr lang="en-US" sz="2200" b="1" dirty="0"/>
              <a:t>Risk of overfitting</a:t>
            </a:r>
            <a:r>
              <a:rPr lang="en-US" sz="2200" dirty="0"/>
              <a:t> if data is limited or training isn’t balanced</a:t>
            </a:r>
          </a:p>
          <a:p>
            <a:pPr marL="800100" lvl="1" indent="-342900">
              <a:buFont typeface="Arial" panose="020B0604020202020204" pitchFamily="34" charset="0"/>
              <a:buChar char="•"/>
            </a:pPr>
            <a:r>
              <a:rPr lang="en-US" sz="2200" dirty="0"/>
              <a:t>Requires </a:t>
            </a:r>
            <a:r>
              <a:rPr lang="en-US" sz="2200" b="1" dirty="0"/>
              <a:t>more expertise</a:t>
            </a:r>
            <a:r>
              <a:rPr lang="en-US" sz="2200" dirty="0"/>
              <a:t> in hyperparameter tuning</a:t>
            </a:r>
          </a:p>
          <a:p>
            <a:pPr algn="l">
              <a:buNone/>
            </a:pPr>
            <a:endParaRPr lang="en-US" sz="2200" b="0" i="0" dirty="0">
              <a:solidFill>
                <a:srgbClr val="242424"/>
              </a:solidFill>
              <a:effectLst/>
              <a:latin typeface="source-serif-pro"/>
            </a:endParaRPr>
          </a:p>
        </p:txBody>
      </p:sp>
    </p:spTree>
    <p:extLst>
      <p:ext uri="{BB962C8B-B14F-4D97-AF65-F5344CB8AC3E}">
        <p14:creationId xmlns:p14="http://schemas.microsoft.com/office/powerpoint/2010/main" val="3888590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FB0AA-7161-B93A-F475-307ADCBC9576}"/>
              </a:ext>
            </a:extLst>
          </p:cNvPr>
          <p:cNvSpPr>
            <a:spLocks noGrp="1"/>
          </p:cNvSpPr>
          <p:nvPr>
            <p:ph type="title"/>
          </p:nvPr>
        </p:nvSpPr>
        <p:spPr/>
        <p:txBody>
          <a:bodyPr>
            <a:normAutofit fontScale="90000"/>
          </a:bodyPr>
          <a:lstStyle/>
          <a:p>
            <a:r>
              <a:rPr lang="en-US" dirty="0"/>
              <a:t>Fine-Tuning</a:t>
            </a:r>
            <a:br>
              <a:rPr lang="en-US" dirty="0"/>
            </a:br>
            <a:br>
              <a:rPr lang="en-US" dirty="0"/>
            </a:br>
            <a:endParaRPr lang="en-US" dirty="0"/>
          </a:p>
        </p:txBody>
      </p:sp>
      <p:sp>
        <p:nvSpPr>
          <p:cNvPr id="3" name="Content Placeholder 2">
            <a:extLst>
              <a:ext uri="{FF2B5EF4-FFF2-40B4-BE49-F238E27FC236}">
                <a16:creationId xmlns:a16="http://schemas.microsoft.com/office/drawing/2014/main" id="{180C8878-E927-5F1C-DA49-7ED832850DAF}"/>
              </a:ext>
            </a:extLst>
          </p:cNvPr>
          <p:cNvSpPr>
            <a:spLocks noGrp="1"/>
          </p:cNvSpPr>
          <p:nvPr>
            <p:ph idx="1"/>
          </p:nvPr>
        </p:nvSpPr>
        <p:spPr>
          <a:xfrm>
            <a:off x="565150" y="1611630"/>
            <a:ext cx="9550400" cy="4149598"/>
          </a:xfrm>
        </p:spPr>
        <p:txBody>
          <a:bodyPr>
            <a:normAutofit/>
          </a:bodyPr>
          <a:lstStyle/>
          <a:p>
            <a:pPr marL="0" indent="0" algn="just">
              <a:buNone/>
            </a:pPr>
            <a:r>
              <a:rPr lang="en-US" sz="2800" b="1" dirty="0"/>
              <a:t>In fine-tuning, the pre-trained model’s parameters are further trained (fine-tuned) on the target task’s dataset along with the additional layers.</a:t>
            </a:r>
            <a:r>
              <a:rPr lang="en-US" sz="2800" dirty="0"/>
              <a:t> It consists in unfreezing some layers of a frozen pre-trained base model and jointly training both the newly added classifier layers and the last layers of the base model. This allows evolving not only the additional layers but also some of the earlier layers of the pre-trained model to better suit the target.</a:t>
            </a:r>
          </a:p>
        </p:txBody>
      </p:sp>
    </p:spTree>
    <p:extLst>
      <p:ext uri="{BB962C8B-B14F-4D97-AF65-F5344CB8AC3E}">
        <p14:creationId xmlns:p14="http://schemas.microsoft.com/office/powerpoint/2010/main" val="11431322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63A3653-ADB9-1CAE-6498-94D91225D7DB}"/>
              </a:ext>
            </a:extLst>
          </p:cNvPr>
          <p:cNvPicPr>
            <a:picLocks noChangeAspect="1"/>
          </p:cNvPicPr>
          <p:nvPr/>
        </p:nvPicPr>
        <p:blipFill>
          <a:blip r:embed="rId2"/>
          <a:stretch>
            <a:fillRect/>
          </a:stretch>
        </p:blipFill>
        <p:spPr>
          <a:xfrm>
            <a:off x="803248" y="408245"/>
            <a:ext cx="9655202" cy="5401429"/>
          </a:xfrm>
          <a:prstGeom prst="rect">
            <a:avLst/>
          </a:prstGeom>
        </p:spPr>
      </p:pic>
    </p:spTree>
    <p:extLst>
      <p:ext uri="{BB962C8B-B14F-4D97-AF65-F5344CB8AC3E}">
        <p14:creationId xmlns:p14="http://schemas.microsoft.com/office/powerpoint/2010/main" val="30113729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C8ADDF-1365-F72C-F211-B2D223D9CA74}"/>
              </a:ext>
            </a:extLst>
          </p:cNvPr>
          <p:cNvSpPr txBox="1"/>
          <p:nvPr/>
        </p:nvSpPr>
        <p:spPr>
          <a:xfrm>
            <a:off x="982980" y="582930"/>
            <a:ext cx="11087100" cy="5262979"/>
          </a:xfrm>
          <a:prstGeom prst="rect">
            <a:avLst/>
          </a:prstGeom>
          <a:noFill/>
        </p:spPr>
        <p:txBody>
          <a:bodyPr wrap="square">
            <a:spAutoFit/>
          </a:bodyPr>
          <a:lstStyle/>
          <a:p>
            <a:pPr algn="just">
              <a:buNone/>
            </a:pPr>
            <a:r>
              <a:rPr lang="en-US" sz="2800" b="1" i="0" dirty="0">
                <a:solidFill>
                  <a:srgbClr val="242424"/>
                </a:solidFill>
                <a:effectLst/>
                <a:latin typeface="sohne"/>
              </a:rPr>
              <a:t>The Smart Strategy</a:t>
            </a:r>
          </a:p>
          <a:p>
            <a:pPr algn="just">
              <a:buNone/>
            </a:pPr>
            <a:r>
              <a:rPr lang="en-US" sz="2800" b="0" i="0" dirty="0">
                <a:solidFill>
                  <a:srgbClr val="242424"/>
                </a:solidFill>
                <a:effectLst/>
                <a:latin typeface="source-serif-pro"/>
              </a:rPr>
              <a:t>The best practical approach is:</a:t>
            </a:r>
          </a:p>
          <a:p>
            <a:pPr algn="just">
              <a:buNone/>
            </a:pPr>
            <a:r>
              <a:rPr lang="en-US" sz="2800" b="1" i="0" dirty="0">
                <a:solidFill>
                  <a:srgbClr val="242424"/>
                </a:solidFill>
                <a:effectLst/>
                <a:latin typeface="sohne"/>
              </a:rPr>
              <a:t>1. Start with Feature Extraction</a:t>
            </a:r>
          </a:p>
          <a:p>
            <a:pPr algn="just">
              <a:buFont typeface="Arial" panose="020B0604020202020204" pitchFamily="34" charset="0"/>
              <a:buChar char="•"/>
            </a:pPr>
            <a:r>
              <a:rPr lang="en-US" sz="2800" b="0" i="0" dirty="0">
                <a:solidFill>
                  <a:srgbClr val="242424"/>
                </a:solidFill>
                <a:effectLst/>
                <a:latin typeface="source-serif-pro"/>
              </a:rPr>
              <a:t>Test the pretrained model as a baseline</a:t>
            </a:r>
          </a:p>
          <a:p>
            <a:pPr algn="just">
              <a:buFont typeface="Arial" panose="020B0604020202020204" pitchFamily="34" charset="0"/>
              <a:buChar char="•"/>
            </a:pPr>
            <a:r>
              <a:rPr lang="en-US" sz="2800" b="0" i="0" dirty="0">
                <a:solidFill>
                  <a:srgbClr val="242424"/>
                </a:solidFill>
                <a:effectLst/>
                <a:latin typeface="source-serif-pro"/>
              </a:rPr>
              <a:t>Evaluate performance on the validation set</a:t>
            </a:r>
          </a:p>
          <a:p>
            <a:pPr algn="just">
              <a:buNone/>
            </a:pPr>
            <a:r>
              <a:rPr lang="en-US" sz="2800" b="1" i="0" dirty="0">
                <a:solidFill>
                  <a:srgbClr val="242424"/>
                </a:solidFill>
                <a:effectLst/>
                <a:latin typeface="sohne"/>
              </a:rPr>
              <a:t>2. If Performance Isn’t Sufficient</a:t>
            </a:r>
          </a:p>
          <a:p>
            <a:pPr algn="just">
              <a:buFont typeface="Arial" panose="020B0604020202020204" pitchFamily="34" charset="0"/>
              <a:buChar char="•"/>
            </a:pPr>
            <a:r>
              <a:rPr lang="en-US" sz="2800" b="0" i="0" dirty="0">
                <a:solidFill>
                  <a:srgbClr val="242424"/>
                </a:solidFill>
                <a:effectLst/>
                <a:latin typeface="source-serif-pro"/>
              </a:rPr>
              <a:t>Move to gradual fine-tuning</a:t>
            </a:r>
          </a:p>
          <a:p>
            <a:pPr algn="just">
              <a:buFont typeface="Arial" panose="020B0604020202020204" pitchFamily="34" charset="0"/>
              <a:buChar char="•"/>
            </a:pPr>
            <a:r>
              <a:rPr lang="en-US" sz="2800" b="0" i="0" dirty="0">
                <a:solidFill>
                  <a:srgbClr val="242424"/>
                </a:solidFill>
                <a:effectLst/>
                <a:latin typeface="source-serif-pro"/>
              </a:rPr>
              <a:t>Start by unfreezing only the last layers</a:t>
            </a:r>
          </a:p>
          <a:p>
            <a:pPr algn="just">
              <a:buFont typeface="Arial" panose="020B0604020202020204" pitchFamily="34" charset="0"/>
              <a:buChar char="•"/>
            </a:pPr>
            <a:r>
              <a:rPr lang="en-US" sz="2800" b="0" i="0" dirty="0">
                <a:solidFill>
                  <a:srgbClr val="242424"/>
                </a:solidFill>
                <a:effectLst/>
                <a:latin typeface="source-serif-pro"/>
              </a:rPr>
              <a:t>Gradually increase the number of unfrozen layers</a:t>
            </a:r>
          </a:p>
          <a:p>
            <a:pPr algn="just">
              <a:buNone/>
            </a:pPr>
            <a:r>
              <a:rPr lang="en-US" sz="2800" b="1" i="0" dirty="0">
                <a:solidFill>
                  <a:srgbClr val="242424"/>
                </a:solidFill>
                <a:effectLst/>
                <a:latin typeface="sohne"/>
              </a:rPr>
              <a:t>3. Monitor Results</a:t>
            </a:r>
          </a:p>
          <a:p>
            <a:pPr algn="just">
              <a:buFont typeface="Arial" panose="020B0604020202020204" pitchFamily="34" charset="0"/>
              <a:buChar char="•"/>
            </a:pPr>
            <a:r>
              <a:rPr lang="en-US" sz="2800" b="0" i="0" dirty="0">
                <a:solidFill>
                  <a:srgbClr val="242424"/>
                </a:solidFill>
                <a:effectLst/>
                <a:latin typeface="source-serif-pro"/>
              </a:rPr>
              <a:t>Track loss and accuracy on both train and validation sets</a:t>
            </a:r>
          </a:p>
          <a:p>
            <a:pPr algn="just">
              <a:buFont typeface="Arial" panose="020B0604020202020204" pitchFamily="34" charset="0"/>
              <a:buChar char="•"/>
            </a:pPr>
            <a:r>
              <a:rPr lang="en-US" sz="2800" b="0" i="0" dirty="0">
                <a:solidFill>
                  <a:srgbClr val="242424"/>
                </a:solidFill>
                <a:effectLst/>
                <a:latin typeface="source-serif-pro"/>
              </a:rPr>
              <a:t>Watch out for overfitting</a:t>
            </a:r>
          </a:p>
        </p:txBody>
      </p:sp>
    </p:spTree>
    <p:extLst>
      <p:ext uri="{BB962C8B-B14F-4D97-AF65-F5344CB8AC3E}">
        <p14:creationId xmlns:p14="http://schemas.microsoft.com/office/powerpoint/2010/main" val="25223575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E8C79C-9A3A-DC8D-07B1-4D427FAA3EBF}"/>
              </a:ext>
            </a:extLst>
          </p:cNvPr>
          <p:cNvPicPr>
            <a:picLocks noChangeAspect="1"/>
          </p:cNvPicPr>
          <p:nvPr/>
        </p:nvPicPr>
        <p:blipFill>
          <a:blip r:embed="rId2"/>
          <a:stretch>
            <a:fillRect/>
          </a:stretch>
        </p:blipFill>
        <p:spPr>
          <a:xfrm>
            <a:off x="468098" y="479668"/>
            <a:ext cx="11201932" cy="6081151"/>
          </a:xfrm>
          <a:prstGeom prst="rect">
            <a:avLst/>
          </a:prstGeom>
        </p:spPr>
      </p:pic>
    </p:spTree>
    <p:extLst>
      <p:ext uri="{BB962C8B-B14F-4D97-AF65-F5344CB8AC3E}">
        <p14:creationId xmlns:p14="http://schemas.microsoft.com/office/powerpoint/2010/main" val="10637658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20A3C-DC07-2F09-A09A-6DF88E2FA80E}"/>
              </a:ext>
            </a:extLst>
          </p:cNvPr>
          <p:cNvSpPr>
            <a:spLocks noGrp="1"/>
          </p:cNvSpPr>
          <p:nvPr>
            <p:ph type="title"/>
          </p:nvPr>
        </p:nvSpPr>
        <p:spPr>
          <a:xfrm>
            <a:off x="656590" y="136398"/>
            <a:ext cx="7335835" cy="892302"/>
          </a:xfrm>
        </p:spPr>
        <p:txBody>
          <a:bodyPr/>
          <a:lstStyle/>
          <a:p>
            <a:r>
              <a:rPr lang="en-US" dirty="0"/>
              <a:t>Steps for fine tuning</a:t>
            </a:r>
          </a:p>
        </p:txBody>
      </p:sp>
      <p:sp>
        <p:nvSpPr>
          <p:cNvPr id="3" name="Content Placeholder 2">
            <a:extLst>
              <a:ext uri="{FF2B5EF4-FFF2-40B4-BE49-F238E27FC236}">
                <a16:creationId xmlns:a16="http://schemas.microsoft.com/office/drawing/2014/main" id="{0601C47C-8191-335A-8CC2-AB2DC92F6AC5}"/>
              </a:ext>
            </a:extLst>
          </p:cNvPr>
          <p:cNvSpPr>
            <a:spLocks noGrp="1"/>
          </p:cNvSpPr>
          <p:nvPr>
            <p:ph idx="1"/>
          </p:nvPr>
        </p:nvSpPr>
        <p:spPr>
          <a:xfrm>
            <a:off x="565150" y="857250"/>
            <a:ext cx="10133330" cy="5737860"/>
          </a:xfrm>
        </p:spPr>
        <p:txBody>
          <a:bodyPr>
            <a:normAutofit fontScale="70000" lnSpcReduction="20000"/>
          </a:bodyPr>
          <a:lstStyle/>
          <a:p>
            <a:pPr>
              <a:lnSpc>
                <a:spcPct val="120000"/>
              </a:lnSpc>
            </a:pPr>
            <a:r>
              <a:rPr lang="en-US" b="1" dirty="0"/>
              <a:t>Select a Pre-trained Model: </a:t>
            </a:r>
            <a:r>
              <a:rPr lang="en-US" dirty="0"/>
              <a:t>Choose a pre-trained model </a:t>
            </a:r>
          </a:p>
          <a:p>
            <a:pPr>
              <a:lnSpc>
                <a:spcPct val="120000"/>
              </a:lnSpc>
            </a:pPr>
            <a:r>
              <a:rPr lang="en-US" b="1" dirty="0"/>
              <a:t>Understand Model Architecture:</a:t>
            </a:r>
            <a:r>
              <a:rPr lang="en-US" dirty="0"/>
              <a:t> Study the architecture of the pre-trained model, including the number of layers, their functionalities, and the specific tasks they were trained on.</a:t>
            </a:r>
          </a:p>
          <a:p>
            <a:pPr>
              <a:lnSpc>
                <a:spcPct val="120000"/>
              </a:lnSpc>
            </a:pPr>
            <a:r>
              <a:rPr lang="en-US" b="1" dirty="0"/>
              <a:t>Determine Fine-tuning Layers: </a:t>
            </a:r>
            <a:r>
              <a:rPr lang="en-US" dirty="0"/>
              <a:t>Decide which layers of the pre-trained model to fine-tune. Typically, earlier layers capture low-level features, while later layers capture more high-level features. You may choose to fine-tune only the top layers or some of the entire model.</a:t>
            </a:r>
          </a:p>
          <a:p>
            <a:pPr>
              <a:lnSpc>
                <a:spcPct val="120000"/>
              </a:lnSpc>
            </a:pPr>
            <a:r>
              <a:rPr lang="en-US" b="1" dirty="0"/>
              <a:t>Freeze Pre-trained Layers:</a:t>
            </a:r>
            <a:r>
              <a:rPr lang="en-US" dirty="0"/>
              <a:t> Freeze the weights of the pre-trained layers that you do not want to fine-tune. This ensures that you prevent these layers from being updated during training.</a:t>
            </a:r>
          </a:p>
          <a:p>
            <a:pPr>
              <a:lnSpc>
                <a:spcPct val="120000"/>
              </a:lnSpc>
            </a:pPr>
            <a:r>
              <a:rPr lang="en-US" b="1" dirty="0"/>
              <a:t>Add Task-specific Layers:</a:t>
            </a:r>
            <a:r>
              <a:rPr lang="en-US" dirty="0"/>
              <a:t> Add new layers on top of the pre-trained model to adapt it to your specific task. These layers referred to as the “classifier,” will be responsible for making predictions relevant to your task.</a:t>
            </a:r>
          </a:p>
          <a:p>
            <a:pPr>
              <a:lnSpc>
                <a:spcPct val="120000"/>
              </a:lnSpc>
            </a:pPr>
            <a:r>
              <a:rPr lang="en-US" b="1" dirty="0"/>
              <a:t>Configure Training Parameters: </a:t>
            </a:r>
            <a:r>
              <a:rPr lang="en-US" dirty="0"/>
              <a:t>Set the hyperparameters for training, including the learning rate(Small learning rate), batch size, and number of epochs. These parameters may need to be adjusted based on the size of your dataset and the complexity of your task.</a:t>
            </a:r>
          </a:p>
          <a:p>
            <a:pPr>
              <a:lnSpc>
                <a:spcPct val="120000"/>
              </a:lnSpc>
            </a:pPr>
            <a:r>
              <a:rPr lang="en-US" b="1" dirty="0"/>
              <a:t>Train the Model: </a:t>
            </a:r>
            <a:r>
              <a:rPr lang="en-US" dirty="0"/>
              <a:t>Train the model on your dataset using a suitable optimization algorithm, such as stochastic gradient descent (SGD) or Adam. During training, the weights of the unfrozen layers will be updated to minimize the loss between the predicted outputs and the ground truth labels.</a:t>
            </a:r>
          </a:p>
          <a:p>
            <a:endParaRPr lang="en-US" dirty="0"/>
          </a:p>
        </p:txBody>
      </p:sp>
    </p:spTree>
    <p:extLst>
      <p:ext uri="{BB962C8B-B14F-4D97-AF65-F5344CB8AC3E}">
        <p14:creationId xmlns:p14="http://schemas.microsoft.com/office/powerpoint/2010/main" val="27707985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D379D-AE27-A80B-900A-2BEB25DC6C7E}"/>
              </a:ext>
            </a:extLst>
          </p:cNvPr>
          <p:cNvSpPr>
            <a:spLocks noGrp="1"/>
          </p:cNvSpPr>
          <p:nvPr>
            <p:ph type="title"/>
          </p:nvPr>
        </p:nvSpPr>
        <p:spPr/>
        <p:txBody>
          <a:bodyPr/>
          <a:lstStyle/>
          <a:p>
            <a:r>
              <a:rPr lang="en-US" dirty="0"/>
              <a:t>Fine Tuning</a:t>
            </a:r>
          </a:p>
        </p:txBody>
      </p:sp>
    </p:spTree>
    <p:extLst>
      <p:ext uri="{BB962C8B-B14F-4D97-AF65-F5344CB8AC3E}">
        <p14:creationId xmlns:p14="http://schemas.microsoft.com/office/powerpoint/2010/main" val="42879183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265C0F-A16D-59BE-6D1A-A175DF157D2A}"/>
              </a:ext>
            </a:extLst>
          </p:cNvPr>
          <p:cNvSpPr txBox="1"/>
          <p:nvPr/>
        </p:nvSpPr>
        <p:spPr>
          <a:xfrm>
            <a:off x="453390" y="732681"/>
            <a:ext cx="11738610" cy="5262979"/>
          </a:xfrm>
          <a:prstGeom prst="rect">
            <a:avLst/>
          </a:prstGeom>
          <a:noFill/>
        </p:spPr>
        <p:txBody>
          <a:bodyPr wrap="square">
            <a:spAutoFit/>
          </a:bodyPr>
          <a:lstStyle/>
          <a:p>
            <a:r>
              <a:rPr lang="en-US" sz="2800" b="0" i="0" dirty="0">
                <a:solidFill>
                  <a:srgbClr val="AA0D91"/>
                </a:solidFill>
                <a:effectLst/>
                <a:latin typeface="source-code-pro"/>
              </a:rPr>
              <a:t>import</a:t>
            </a:r>
            <a:r>
              <a:rPr lang="en-US" sz="2800" b="0" i="0" dirty="0">
                <a:solidFill>
                  <a:srgbClr val="242424"/>
                </a:solidFill>
                <a:effectLst/>
                <a:latin typeface="source-code-pro"/>
              </a:rPr>
              <a:t> </a:t>
            </a:r>
            <a:r>
              <a:rPr lang="en-US" sz="2800" b="0" i="0" dirty="0" err="1">
                <a:solidFill>
                  <a:srgbClr val="242424"/>
                </a:solidFill>
                <a:effectLst/>
                <a:latin typeface="source-code-pro"/>
              </a:rPr>
              <a:t>numpy</a:t>
            </a:r>
            <a:r>
              <a:rPr lang="en-US" sz="2800" b="0" i="0" dirty="0">
                <a:solidFill>
                  <a:srgbClr val="242424"/>
                </a:solidFill>
                <a:effectLst/>
                <a:latin typeface="source-code-pro"/>
              </a:rPr>
              <a:t> </a:t>
            </a:r>
            <a:r>
              <a:rPr lang="en-US" sz="2800" b="0" i="0" dirty="0">
                <a:solidFill>
                  <a:srgbClr val="AA0D91"/>
                </a:solidFill>
                <a:effectLst/>
                <a:latin typeface="source-code-pro"/>
              </a:rPr>
              <a:t>as</a:t>
            </a:r>
            <a:r>
              <a:rPr lang="en-US" sz="2800" b="0" i="0" dirty="0">
                <a:solidFill>
                  <a:srgbClr val="242424"/>
                </a:solidFill>
                <a:effectLst/>
                <a:latin typeface="source-code-pro"/>
              </a:rPr>
              <a:t> np</a:t>
            </a:r>
            <a:br>
              <a:rPr lang="en-US" sz="2800" dirty="0"/>
            </a:br>
            <a:r>
              <a:rPr lang="en-US" sz="2800" b="0" i="0" dirty="0">
                <a:solidFill>
                  <a:srgbClr val="AA0D91"/>
                </a:solidFill>
                <a:effectLst/>
                <a:latin typeface="source-code-pro"/>
              </a:rPr>
              <a:t>import</a:t>
            </a:r>
            <a:r>
              <a:rPr lang="en-US" sz="2800" b="0" i="0" dirty="0">
                <a:solidFill>
                  <a:srgbClr val="242424"/>
                </a:solidFill>
                <a:effectLst/>
                <a:latin typeface="source-code-pro"/>
              </a:rPr>
              <a:t> </a:t>
            </a:r>
            <a:r>
              <a:rPr lang="en-US" sz="2800" b="0" i="0" dirty="0" err="1">
                <a:solidFill>
                  <a:srgbClr val="242424"/>
                </a:solidFill>
                <a:effectLst/>
                <a:latin typeface="source-code-pro"/>
              </a:rPr>
              <a:t>tensorflow</a:t>
            </a:r>
            <a:r>
              <a:rPr lang="en-US" sz="2800" b="0" i="0" dirty="0">
                <a:solidFill>
                  <a:srgbClr val="242424"/>
                </a:solidFill>
                <a:effectLst/>
                <a:latin typeface="source-code-pro"/>
              </a:rPr>
              <a:t> </a:t>
            </a:r>
            <a:r>
              <a:rPr lang="en-US" sz="2800" b="0" i="0" dirty="0">
                <a:solidFill>
                  <a:srgbClr val="AA0D91"/>
                </a:solidFill>
                <a:effectLst/>
                <a:latin typeface="source-code-pro"/>
              </a:rPr>
              <a:t>as</a:t>
            </a:r>
            <a:r>
              <a:rPr lang="en-US" sz="2800" b="0" i="0" dirty="0">
                <a:solidFill>
                  <a:srgbClr val="242424"/>
                </a:solidFill>
                <a:effectLst/>
                <a:latin typeface="source-code-pro"/>
              </a:rPr>
              <a:t> </a:t>
            </a:r>
            <a:r>
              <a:rPr lang="en-US" sz="2800" b="0" i="0" dirty="0" err="1">
                <a:solidFill>
                  <a:srgbClr val="242424"/>
                </a:solidFill>
                <a:effectLst/>
                <a:latin typeface="source-code-pro"/>
              </a:rPr>
              <a:t>tf</a:t>
            </a:r>
            <a:br>
              <a:rPr lang="en-US" sz="2800" dirty="0"/>
            </a:br>
            <a:r>
              <a:rPr lang="en-US" sz="2800" b="0" i="0" dirty="0">
                <a:solidFill>
                  <a:srgbClr val="AA0D91"/>
                </a:solidFill>
                <a:effectLst/>
                <a:latin typeface="source-code-pro"/>
              </a:rPr>
              <a:t>from</a:t>
            </a:r>
            <a:r>
              <a:rPr lang="en-US" sz="2800" b="0" i="0" dirty="0">
                <a:solidFill>
                  <a:srgbClr val="242424"/>
                </a:solidFill>
                <a:effectLst/>
                <a:latin typeface="source-code-pro"/>
              </a:rPr>
              <a:t> </a:t>
            </a:r>
            <a:r>
              <a:rPr lang="en-US" sz="2800" b="0" i="0" dirty="0" err="1">
                <a:solidFill>
                  <a:srgbClr val="242424"/>
                </a:solidFill>
                <a:effectLst/>
                <a:latin typeface="source-code-pro"/>
              </a:rPr>
              <a:t>tensorflow.keras.applications</a:t>
            </a:r>
            <a:r>
              <a:rPr lang="en-US" sz="2800" b="0" i="0" dirty="0">
                <a:solidFill>
                  <a:srgbClr val="242424"/>
                </a:solidFill>
                <a:effectLst/>
                <a:latin typeface="source-code-pro"/>
              </a:rPr>
              <a:t> </a:t>
            </a:r>
            <a:r>
              <a:rPr lang="en-US" sz="2800" b="0" i="0" dirty="0">
                <a:solidFill>
                  <a:srgbClr val="AA0D91"/>
                </a:solidFill>
                <a:effectLst/>
                <a:latin typeface="source-code-pro"/>
              </a:rPr>
              <a:t>import</a:t>
            </a:r>
            <a:r>
              <a:rPr lang="en-US" sz="2800" b="0" i="0" dirty="0">
                <a:solidFill>
                  <a:srgbClr val="242424"/>
                </a:solidFill>
                <a:effectLst/>
                <a:latin typeface="source-code-pro"/>
              </a:rPr>
              <a:t> VGG16</a:t>
            </a:r>
            <a:br>
              <a:rPr lang="en-US" sz="2800" dirty="0"/>
            </a:br>
            <a:r>
              <a:rPr lang="en-US" sz="2800" b="0" i="0" dirty="0">
                <a:solidFill>
                  <a:srgbClr val="AA0D91"/>
                </a:solidFill>
                <a:effectLst/>
                <a:latin typeface="source-code-pro"/>
              </a:rPr>
              <a:t>from</a:t>
            </a:r>
            <a:r>
              <a:rPr lang="en-US" sz="2800" b="0" i="0" dirty="0">
                <a:solidFill>
                  <a:srgbClr val="242424"/>
                </a:solidFill>
                <a:effectLst/>
                <a:latin typeface="source-code-pro"/>
              </a:rPr>
              <a:t> </a:t>
            </a:r>
            <a:r>
              <a:rPr lang="en-US" sz="2800" b="0" i="0" dirty="0" err="1">
                <a:solidFill>
                  <a:srgbClr val="242424"/>
                </a:solidFill>
                <a:effectLst/>
                <a:latin typeface="source-code-pro"/>
              </a:rPr>
              <a:t>tensorflow.keras.datasets</a:t>
            </a:r>
            <a:r>
              <a:rPr lang="en-US" sz="2800" b="0" i="0" dirty="0">
                <a:solidFill>
                  <a:srgbClr val="242424"/>
                </a:solidFill>
                <a:effectLst/>
                <a:latin typeface="source-code-pro"/>
              </a:rPr>
              <a:t> </a:t>
            </a:r>
            <a:r>
              <a:rPr lang="en-US" sz="2800" b="0" i="0" dirty="0">
                <a:solidFill>
                  <a:srgbClr val="AA0D91"/>
                </a:solidFill>
                <a:effectLst/>
                <a:latin typeface="source-code-pro"/>
              </a:rPr>
              <a:t>import</a:t>
            </a:r>
            <a:r>
              <a:rPr lang="en-US" sz="2800" b="0" i="0" dirty="0">
                <a:solidFill>
                  <a:srgbClr val="242424"/>
                </a:solidFill>
                <a:effectLst/>
                <a:latin typeface="source-code-pro"/>
              </a:rPr>
              <a:t> cifar10</a:t>
            </a:r>
            <a:br>
              <a:rPr lang="en-US" sz="2800" dirty="0"/>
            </a:br>
            <a:r>
              <a:rPr lang="en-US" sz="2800" b="0" i="0" dirty="0">
                <a:solidFill>
                  <a:srgbClr val="AA0D91"/>
                </a:solidFill>
                <a:effectLst/>
                <a:latin typeface="source-code-pro"/>
              </a:rPr>
              <a:t>from</a:t>
            </a:r>
            <a:r>
              <a:rPr lang="en-US" sz="2800" b="0" i="0" dirty="0">
                <a:solidFill>
                  <a:srgbClr val="242424"/>
                </a:solidFill>
                <a:effectLst/>
                <a:latin typeface="source-code-pro"/>
              </a:rPr>
              <a:t> </a:t>
            </a:r>
            <a:r>
              <a:rPr lang="en-US" sz="2800" b="0" i="0" dirty="0" err="1">
                <a:solidFill>
                  <a:srgbClr val="242424"/>
                </a:solidFill>
                <a:effectLst/>
                <a:latin typeface="source-code-pro"/>
              </a:rPr>
              <a:t>tensorflow.keras.utils</a:t>
            </a:r>
            <a:r>
              <a:rPr lang="en-US" sz="2800" b="0" i="0" dirty="0">
                <a:solidFill>
                  <a:srgbClr val="242424"/>
                </a:solidFill>
                <a:effectLst/>
                <a:latin typeface="source-code-pro"/>
              </a:rPr>
              <a:t> </a:t>
            </a:r>
            <a:r>
              <a:rPr lang="en-US" sz="2800" b="0" i="0" dirty="0">
                <a:solidFill>
                  <a:srgbClr val="AA0D91"/>
                </a:solidFill>
                <a:effectLst/>
                <a:latin typeface="source-code-pro"/>
              </a:rPr>
              <a:t>import</a:t>
            </a:r>
            <a:r>
              <a:rPr lang="en-US" sz="2800" b="0" i="0" dirty="0">
                <a:solidFill>
                  <a:srgbClr val="242424"/>
                </a:solidFill>
                <a:effectLst/>
                <a:latin typeface="source-code-pro"/>
              </a:rPr>
              <a:t> </a:t>
            </a:r>
            <a:r>
              <a:rPr lang="en-US" sz="2800" b="0" i="0" dirty="0" err="1">
                <a:solidFill>
                  <a:srgbClr val="242424"/>
                </a:solidFill>
                <a:effectLst/>
                <a:latin typeface="source-code-pro"/>
              </a:rPr>
              <a:t>to_categorical</a:t>
            </a:r>
            <a:br>
              <a:rPr lang="en-US" sz="2800" dirty="0"/>
            </a:br>
            <a:r>
              <a:rPr lang="en-US" sz="2800" b="0" i="0" dirty="0">
                <a:solidFill>
                  <a:srgbClr val="AA0D91"/>
                </a:solidFill>
                <a:effectLst/>
                <a:latin typeface="source-code-pro"/>
              </a:rPr>
              <a:t>from</a:t>
            </a:r>
            <a:r>
              <a:rPr lang="en-US" sz="2800" b="0" i="0" dirty="0">
                <a:solidFill>
                  <a:srgbClr val="242424"/>
                </a:solidFill>
                <a:effectLst/>
                <a:latin typeface="source-code-pro"/>
              </a:rPr>
              <a:t> </a:t>
            </a:r>
            <a:r>
              <a:rPr lang="en-US" sz="2800" b="0" i="0" dirty="0" err="1">
                <a:solidFill>
                  <a:srgbClr val="242424"/>
                </a:solidFill>
                <a:effectLst/>
                <a:latin typeface="source-code-pro"/>
              </a:rPr>
              <a:t>tensorflow.keras.models</a:t>
            </a:r>
            <a:r>
              <a:rPr lang="en-US" sz="2800" b="0" i="0" dirty="0">
                <a:solidFill>
                  <a:srgbClr val="242424"/>
                </a:solidFill>
                <a:effectLst/>
                <a:latin typeface="source-code-pro"/>
              </a:rPr>
              <a:t> </a:t>
            </a:r>
            <a:r>
              <a:rPr lang="en-US" sz="2800" b="0" i="0" dirty="0">
                <a:solidFill>
                  <a:srgbClr val="AA0D91"/>
                </a:solidFill>
                <a:effectLst/>
                <a:latin typeface="source-code-pro"/>
              </a:rPr>
              <a:t>import</a:t>
            </a:r>
            <a:r>
              <a:rPr lang="en-US" sz="2800" b="0" i="0" dirty="0">
                <a:solidFill>
                  <a:srgbClr val="242424"/>
                </a:solidFill>
                <a:effectLst/>
                <a:latin typeface="source-code-pro"/>
              </a:rPr>
              <a:t> Sequential</a:t>
            </a:r>
            <a:br>
              <a:rPr lang="en-US" sz="2800" dirty="0"/>
            </a:br>
            <a:r>
              <a:rPr lang="en-US" sz="2800" b="0" i="0" dirty="0">
                <a:solidFill>
                  <a:srgbClr val="AA0D91"/>
                </a:solidFill>
                <a:effectLst/>
                <a:latin typeface="source-code-pro"/>
              </a:rPr>
              <a:t>from</a:t>
            </a:r>
            <a:r>
              <a:rPr lang="en-US" sz="2800" b="0" i="0" dirty="0">
                <a:solidFill>
                  <a:srgbClr val="242424"/>
                </a:solidFill>
                <a:effectLst/>
                <a:latin typeface="source-code-pro"/>
              </a:rPr>
              <a:t> </a:t>
            </a:r>
            <a:r>
              <a:rPr lang="en-US" sz="2800" b="0" i="0" dirty="0" err="1">
                <a:solidFill>
                  <a:srgbClr val="242424"/>
                </a:solidFill>
                <a:effectLst/>
                <a:latin typeface="source-code-pro"/>
              </a:rPr>
              <a:t>tensorflow.keras.layers</a:t>
            </a:r>
            <a:r>
              <a:rPr lang="en-US" sz="2800" b="0" i="0" dirty="0">
                <a:solidFill>
                  <a:srgbClr val="242424"/>
                </a:solidFill>
                <a:effectLst/>
                <a:latin typeface="source-code-pro"/>
              </a:rPr>
              <a:t> </a:t>
            </a:r>
            <a:r>
              <a:rPr lang="en-US" sz="2800" b="0" i="0" dirty="0">
                <a:solidFill>
                  <a:srgbClr val="AA0D91"/>
                </a:solidFill>
                <a:effectLst/>
                <a:latin typeface="source-code-pro"/>
              </a:rPr>
              <a:t>import</a:t>
            </a:r>
            <a:r>
              <a:rPr lang="en-US" sz="2800" b="0" i="0" dirty="0">
                <a:solidFill>
                  <a:srgbClr val="242424"/>
                </a:solidFill>
                <a:effectLst/>
                <a:latin typeface="source-code-pro"/>
              </a:rPr>
              <a:t> Dense, Flatten</a:t>
            </a:r>
            <a:br>
              <a:rPr lang="en-US" sz="2800" dirty="0"/>
            </a:br>
            <a:br>
              <a:rPr lang="en-US" sz="2800" dirty="0"/>
            </a:br>
            <a:r>
              <a:rPr lang="en-US" sz="2800" b="0" i="0" dirty="0">
                <a:solidFill>
                  <a:srgbClr val="007400"/>
                </a:solidFill>
                <a:effectLst/>
                <a:latin typeface="source-code-pro"/>
              </a:rPr>
              <a:t># Load CIFAR-10 dataset</a:t>
            </a:r>
            <a:br>
              <a:rPr lang="en-US" sz="2800" dirty="0"/>
            </a:br>
            <a:r>
              <a:rPr lang="en-US" sz="2800" b="0" i="0" dirty="0">
                <a:solidFill>
                  <a:srgbClr val="242424"/>
                </a:solidFill>
                <a:effectLst/>
                <a:latin typeface="source-code-pro"/>
              </a:rPr>
              <a:t>(</a:t>
            </a:r>
            <a:r>
              <a:rPr lang="en-US" sz="2800" b="0" i="0" dirty="0" err="1">
                <a:solidFill>
                  <a:srgbClr val="242424"/>
                </a:solidFill>
                <a:effectLst/>
                <a:latin typeface="source-code-pro"/>
              </a:rPr>
              <a:t>train_images</a:t>
            </a:r>
            <a:r>
              <a:rPr lang="en-US" sz="2800" b="0" i="0" dirty="0">
                <a:solidFill>
                  <a:srgbClr val="242424"/>
                </a:solidFill>
                <a:effectLst/>
                <a:latin typeface="source-code-pro"/>
              </a:rPr>
              <a:t>, </a:t>
            </a:r>
            <a:r>
              <a:rPr lang="en-US" sz="2800" b="0" i="0" dirty="0" err="1">
                <a:solidFill>
                  <a:srgbClr val="242424"/>
                </a:solidFill>
                <a:effectLst/>
                <a:latin typeface="source-code-pro"/>
              </a:rPr>
              <a:t>train_labels</a:t>
            </a:r>
            <a:r>
              <a:rPr lang="en-US" sz="2800" b="0" i="0" dirty="0">
                <a:solidFill>
                  <a:srgbClr val="242424"/>
                </a:solidFill>
                <a:effectLst/>
                <a:latin typeface="source-code-pro"/>
              </a:rPr>
              <a:t>), (</a:t>
            </a:r>
            <a:r>
              <a:rPr lang="en-US" sz="2800" b="0" i="0" dirty="0" err="1">
                <a:solidFill>
                  <a:srgbClr val="242424"/>
                </a:solidFill>
                <a:effectLst/>
                <a:latin typeface="source-code-pro"/>
              </a:rPr>
              <a:t>test_images</a:t>
            </a:r>
            <a:r>
              <a:rPr lang="en-US" sz="2800" b="0" i="0" dirty="0">
                <a:solidFill>
                  <a:srgbClr val="242424"/>
                </a:solidFill>
                <a:effectLst/>
                <a:latin typeface="source-code-pro"/>
              </a:rPr>
              <a:t>, </a:t>
            </a:r>
            <a:r>
              <a:rPr lang="en-US" sz="2800" b="0" i="0" dirty="0" err="1">
                <a:solidFill>
                  <a:srgbClr val="242424"/>
                </a:solidFill>
                <a:effectLst/>
                <a:latin typeface="source-code-pro"/>
              </a:rPr>
              <a:t>test_labels</a:t>
            </a:r>
            <a:r>
              <a:rPr lang="en-US" sz="2800" b="0" i="0" dirty="0">
                <a:solidFill>
                  <a:srgbClr val="242424"/>
                </a:solidFill>
                <a:effectLst/>
                <a:latin typeface="source-code-pro"/>
              </a:rPr>
              <a:t>) = cifar10.load_data()</a:t>
            </a:r>
            <a:br>
              <a:rPr lang="en-US" sz="2800" dirty="0"/>
            </a:br>
            <a:br>
              <a:rPr lang="en-US" sz="2800" dirty="0"/>
            </a:br>
            <a:endParaRPr lang="en-US" sz="2800" dirty="0"/>
          </a:p>
        </p:txBody>
      </p:sp>
    </p:spTree>
    <p:extLst>
      <p:ext uri="{BB962C8B-B14F-4D97-AF65-F5344CB8AC3E}">
        <p14:creationId xmlns:p14="http://schemas.microsoft.com/office/powerpoint/2010/main" val="4611166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2640FC-A932-82DE-97B4-87C3917B0CB0}"/>
              </a:ext>
            </a:extLst>
          </p:cNvPr>
          <p:cNvSpPr txBox="1"/>
          <p:nvPr/>
        </p:nvSpPr>
        <p:spPr>
          <a:xfrm>
            <a:off x="765810" y="266551"/>
            <a:ext cx="11098530" cy="5262979"/>
          </a:xfrm>
          <a:prstGeom prst="rect">
            <a:avLst/>
          </a:prstGeom>
          <a:noFill/>
        </p:spPr>
        <p:txBody>
          <a:bodyPr wrap="square">
            <a:spAutoFit/>
          </a:bodyPr>
          <a:lstStyle/>
          <a:p>
            <a:r>
              <a:rPr lang="en-US" sz="2800" b="0" i="0" dirty="0">
                <a:solidFill>
                  <a:srgbClr val="007400"/>
                </a:solidFill>
                <a:effectLst/>
                <a:latin typeface="source-code-pro"/>
              </a:rPr>
              <a:t># Normalize pixel values to be between 0 and 1</a:t>
            </a:r>
            <a:br>
              <a:rPr lang="en-US" sz="2800" dirty="0"/>
            </a:br>
            <a:r>
              <a:rPr lang="en-US" sz="2800" b="0" i="0" dirty="0" err="1">
                <a:solidFill>
                  <a:srgbClr val="242424"/>
                </a:solidFill>
                <a:effectLst/>
                <a:latin typeface="source-code-pro"/>
              </a:rPr>
              <a:t>train_images</a:t>
            </a:r>
            <a:r>
              <a:rPr lang="en-US" sz="2800" b="0" i="0" dirty="0">
                <a:solidFill>
                  <a:srgbClr val="242424"/>
                </a:solidFill>
                <a:effectLst/>
                <a:latin typeface="source-code-pro"/>
              </a:rPr>
              <a:t>, </a:t>
            </a:r>
            <a:r>
              <a:rPr lang="en-US" sz="2800" b="0" i="0" dirty="0" err="1">
                <a:solidFill>
                  <a:srgbClr val="242424"/>
                </a:solidFill>
                <a:effectLst/>
                <a:latin typeface="source-code-pro"/>
              </a:rPr>
              <a:t>test_images</a:t>
            </a:r>
            <a:r>
              <a:rPr lang="en-US" sz="2800" b="0" i="0" dirty="0">
                <a:solidFill>
                  <a:srgbClr val="242424"/>
                </a:solidFill>
                <a:effectLst/>
                <a:latin typeface="source-code-pro"/>
              </a:rPr>
              <a:t> = </a:t>
            </a:r>
            <a:r>
              <a:rPr lang="en-US" sz="2800" b="0" i="0" dirty="0" err="1">
                <a:solidFill>
                  <a:srgbClr val="242424"/>
                </a:solidFill>
                <a:effectLst/>
                <a:latin typeface="source-code-pro"/>
              </a:rPr>
              <a:t>train_images</a:t>
            </a:r>
            <a:r>
              <a:rPr lang="en-US" sz="2800" b="0" i="0" dirty="0">
                <a:solidFill>
                  <a:srgbClr val="242424"/>
                </a:solidFill>
                <a:effectLst/>
                <a:latin typeface="source-code-pro"/>
              </a:rPr>
              <a:t> / </a:t>
            </a:r>
            <a:r>
              <a:rPr lang="en-US" sz="2800" b="0" i="0" dirty="0">
                <a:solidFill>
                  <a:srgbClr val="1C00CF"/>
                </a:solidFill>
                <a:effectLst/>
                <a:latin typeface="source-code-pro"/>
              </a:rPr>
              <a:t>255.0</a:t>
            </a:r>
            <a:r>
              <a:rPr lang="en-US" sz="2800" b="0" i="0" dirty="0">
                <a:solidFill>
                  <a:srgbClr val="242424"/>
                </a:solidFill>
                <a:effectLst/>
                <a:latin typeface="source-code-pro"/>
              </a:rPr>
              <a:t>, </a:t>
            </a:r>
            <a:r>
              <a:rPr lang="en-US" sz="2800" b="0" i="0" dirty="0" err="1">
                <a:solidFill>
                  <a:srgbClr val="242424"/>
                </a:solidFill>
                <a:effectLst/>
                <a:latin typeface="source-code-pro"/>
              </a:rPr>
              <a:t>test_images</a:t>
            </a:r>
            <a:r>
              <a:rPr lang="en-US" sz="2800" b="0" i="0" dirty="0">
                <a:solidFill>
                  <a:srgbClr val="242424"/>
                </a:solidFill>
                <a:effectLst/>
                <a:latin typeface="source-code-pro"/>
              </a:rPr>
              <a:t> / </a:t>
            </a:r>
            <a:r>
              <a:rPr lang="en-US" sz="2800" b="0" i="0" dirty="0">
                <a:solidFill>
                  <a:srgbClr val="1C00CF"/>
                </a:solidFill>
                <a:effectLst/>
                <a:latin typeface="source-code-pro"/>
              </a:rPr>
              <a:t>255.0</a:t>
            </a:r>
            <a:br>
              <a:rPr lang="en-US" sz="2800" dirty="0"/>
            </a:br>
            <a:br>
              <a:rPr lang="en-US" sz="2800" dirty="0"/>
            </a:br>
            <a:r>
              <a:rPr lang="en-US" sz="2800" b="0" i="0" dirty="0">
                <a:solidFill>
                  <a:srgbClr val="007400"/>
                </a:solidFill>
                <a:effectLst/>
                <a:latin typeface="source-code-pro"/>
              </a:rPr>
              <a:t># One-hot encode the labels</a:t>
            </a:r>
            <a:br>
              <a:rPr lang="en-US" sz="2800" dirty="0"/>
            </a:br>
            <a:r>
              <a:rPr lang="en-US" sz="2800" b="0" i="0" dirty="0" err="1">
                <a:solidFill>
                  <a:srgbClr val="242424"/>
                </a:solidFill>
                <a:effectLst/>
                <a:latin typeface="source-code-pro"/>
              </a:rPr>
              <a:t>train_labels</a:t>
            </a:r>
            <a:r>
              <a:rPr lang="en-US" sz="2800" b="0" i="0" dirty="0">
                <a:solidFill>
                  <a:srgbClr val="242424"/>
                </a:solidFill>
                <a:effectLst/>
                <a:latin typeface="source-code-pro"/>
              </a:rPr>
              <a:t> = </a:t>
            </a:r>
            <a:r>
              <a:rPr lang="en-US" sz="2800" b="0" i="0" dirty="0" err="1">
                <a:solidFill>
                  <a:srgbClr val="242424"/>
                </a:solidFill>
                <a:effectLst/>
                <a:latin typeface="source-code-pro"/>
              </a:rPr>
              <a:t>to_categorical</a:t>
            </a:r>
            <a:r>
              <a:rPr lang="en-US" sz="2800" b="0" i="0" dirty="0">
                <a:solidFill>
                  <a:srgbClr val="242424"/>
                </a:solidFill>
                <a:effectLst/>
                <a:latin typeface="source-code-pro"/>
              </a:rPr>
              <a:t>(</a:t>
            </a:r>
            <a:r>
              <a:rPr lang="en-US" sz="2800" b="0" i="0" dirty="0" err="1">
                <a:solidFill>
                  <a:srgbClr val="242424"/>
                </a:solidFill>
                <a:effectLst/>
                <a:latin typeface="source-code-pro"/>
              </a:rPr>
              <a:t>train_labels</a:t>
            </a:r>
            <a:r>
              <a:rPr lang="en-US" sz="2800" b="0" i="0" dirty="0">
                <a:solidFill>
                  <a:srgbClr val="242424"/>
                </a:solidFill>
                <a:effectLst/>
                <a:latin typeface="source-code-pro"/>
              </a:rPr>
              <a:t>, </a:t>
            </a:r>
            <a:r>
              <a:rPr lang="en-US" sz="2800" b="0" i="0" dirty="0" err="1">
                <a:solidFill>
                  <a:srgbClr val="242424"/>
                </a:solidFill>
                <a:effectLst/>
                <a:latin typeface="source-code-pro"/>
              </a:rPr>
              <a:t>num_classes</a:t>
            </a:r>
            <a:r>
              <a:rPr lang="en-US" sz="2800" b="0" i="0" dirty="0">
                <a:solidFill>
                  <a:srgbClr val="242424"/>
                </a:solidFill>
                <a:effectLst/>
                <a:latin typeface="source-code-pro"/>
              </a:rPr>
              <a:t>=</a:t>
            </a:r>
            <a:r>
              <a:rPr lang="en-US" sz="2800" b="0" i="0" dirty="0">
                <a:solidFill>
                  <a:srgbClr val="1C00CF"/>
                </a:solidFill>
                <a:effectLst/>
                <a:latin typeface="source-code-pro"/>
              </a:rPr>
              <a:t>10</a:t>
            </a:r>
            <a:r>
              <a:rPr lang="en-US" sz="2800" b="0" i="0" dirty="0">
                <a:solidFill>
                  <a:srgbClr val="242424"/>
                </a:solidFill>
                <a:effectLst/>
                <a:latin typeface="source-code-pro"/>
              </a:rPr>
              <a:t>)</a:t>
            </a:r>
            <a:br>
              <a:rPr lang="en-US" sz="2800" dirty="0"/>
            </a:br>
            <a:r>
              <a:rPr lang="en-US" sz="2800" b="0" i="0" dirty="0" err="1">
                <a:solidFill>
                  <a:srgbClr val="242424"/>
                </a:solidFill>
                <a:effectLst/>
                <a:latin typeface="source-code-pro"/>
              </a:rPr>
              <a:t>test_labels</a:t>
            </a:r>
            <a:r>
              <a:rPr lang="en-US" sz="2800" b="0" i="0" dirty="0">
                <a:solidFill>
                  <a:srgbClr val="242424"/>
                </a:solidFill>
                <a:effectLst/>
                <a:latin typeface="source-code-pro"/>
              </a:rPr>
              <a:t> = </a:t>
            </a:r>
            <a:r>
              <a:rPr lang="en-US" sz="2800" b="0" i="0" dirty="0" err="1">
                <a:solidFill>
                  <a:srgbClr val="242424"/>
                </a:solidFill>
                <a:effectLst/>
                <a:latin typeface="source-code-pro"/>
              </a:rPr>
              <a:t>to_categorical</a:t>
            </a:r>
            <a:r>
              <a:rPr lang="en-US" sz="2800" b="0" i="0" dirty="0">
                <a:solidFill>
                  <a:srgbClr val="242424"/>
                </a:solidFill>
                <a:effectLst/>
                <a:latin typeface="source-code-pro"/>
              </a:rPr>
              <a:t>(</a:t>
            </a:r>
            <a:r>
              <a:rPr lang="en-US" sz="2800" b="0" i="0" dirty="0" err="1">
                <a:solidFill>
                  <a:srgbClr val="242424"/>
                </a:solidFill>
                <a:effectLst/>
                <a:latin typeface="source-code-pro"/>
              </a:rPr>
              <a:t>test_labels</a:t>
            </a:r>
            <a:r>
              <a:rPr lang="en-US" sz="2800" b="0" i="0" dirty="0">
                <a:solidFill>
                  <a:srgbClr val="242424"/>
                </a:solidFill>
                <a:effectLst/>
                <a:latin typeface="source-code-pro"/>
              </a:rPr>
              <a:t>, </a:t>
            </a:r>
            <a:r>
              <a:rPr lang="en-US" sz="2800" b="0" i="0" dirty="0" err="1">
                <a:solidFill>
                  <a:srgbClr val="242424"/>
                </a:solidFill>
                <a:effectLst/>
                <a:latin typeface="source-code-pro"/>
              </a:rPr>
              <a:t>num_classes</a:t>
            </a:r>
            <a:r>
              <a:rPr lang="en-US" sz="2800" b="0" i="0" dirty="0">
                <a:solidFill>
                  <a:srgbClr val="242424"/>
                </a:solidFill>
                <a:effectLst/>
                <a:latin typeface="source-code-pro"/>
              </a:rPr>
              <a:t>=</a:t>
            </a:r>
            <a:r>
              <a:rPr lang="en-US" sz="2800" b="0" i="0" dirty="0">
                <a:solidFill>
                  <a:srgbClr val="1C00CF"/>
                </a:solidFill>
                <a:effectLst/>
                <a:latin typeface="source-code-pro"/>
              </a:rPr>
              <a:t>10</a:t>
            </a:r>
            <a:r>
              <a:rPr lang="en-US" sz="2800" b="0" i="0" dirty="0">
                <a:solidFill>
                  <a:srgbClr val="242424"/>
                </a:solidFill>
                <a:effectLst/>
                <a:latin typeface="source-code-pro"/>
              </a:rPr>
              <a:t>)</a:t>
            </a:r>
            <a:br>
              <a:rPr lang="en-US" sz="2800" dirty="0"/>
            </a:br>
            <a:br>
              <a:rPr lang="en-US" sz="2800" dirty="0"/>
            </a:br>
            <a:r>
              <a:rPr lang="en-US" sz="2800" b="0" i="0" dirty="0">
                <a:solidFill>
                  <a:srgbClr val="007400"/>
                </a:solidFill>
                <a:effectLst/>
                <a:latin typeface="source-code-pro"/>
              </a:rPr>
              <a:t># Load pre-trained VGG16 model without the top (classification) layer</a:t>
            </a:r>
            <a:br>
              <a:rPr lang="en-US" sz="2800" dirty="0"/>
            </a:br>
            <a:r>
              <a:rPr lang="en-US" sz="2800" b="0" i="0" dirty="0" err="1">
                <a:solidFill>
                  <a:srgbClr val="242424"/>
                </a:solidFill>
                <a:effectLst/>
                <a:latin typeface="source-code-pro"/>
              </a:rPr>
              <a:t>base_model</a:t>
            </a:r>
            <a:r>
              <a:rPr lang="en-US" sz="2800" b="0" i="0" dirty="0">
                <a:solidFill>
                  <a:srgbClr val="242424"/>
                </a:solidFill>
                <a:effectLst/>
                <a:latin typeface="source-code-pro"/>
              </a:rPr>
              <a:t> = VGG16(weights=</a:t>
            </a:r>
            <a:r>
              <a:rPr lang="en-US" sz="2800" b="0" i="0" dirty="0">
                <a:solidFill>
                  <a:srgbClr val="C41A16"/>
                </a:solidFill>
                <a:effectLst/>
                <a:latin typeface="source-code-pro"/>
              </a:rPr>
              <a:t>'</a:t>
            </a:r>
            <a:r>
              <a:rPr lang="en-US" sz="2800" b="0" i="0" dirty="0" err="1">
                <a:solidFill>
                  <a:srgbClr val="C41A16"/>
                </a:solidFill>
                <a:effectLst/>
                <a:latin typeface="source-code-pro"/>
              </a:rPr>
              <a:t>imagenet</a:t>
            </a:r>
            <a:r>
              <a:rPr lang="en-US" sz="2800" b="0" i="0" dirty="0">
                <a:solidFill>
                  <a:srgbClr val="C41A16"/>
                </a:solidFill>
                <a:effectLst/>
                <a:latin typeface="source-code-pro"/>
              </a:rPr>
              <a:t>'</a:t>
            </a:r>
            <a:r>
              <a:rPr lang="en-US" sz="2800" b="0" i="0" dirty="0">
                <a:solidFill>
                  <a:srgbClr val="242424"/>
                </a:solidFill>
                <a:effectLst/>
                <a:latin typeface="source-code-pro"/>
              </a:rPr>
              <a:t>, </a:t>
            </a:r>
            <a:r>
              <a:rPr lang="en-US" sz="2800" b="0" i="0" dirty="0" err="1">
                <a:solidFill>
                  <a:srgbClr val="242424"/>
                </a:solidFill>
                <a:effectLst/>
                <a:latin typeface="source-code-pro"/>
              </a:rPr>
              <a:t>include_top</a:t>
            </a:r>
            <a:r>
              <a:rPr lang="en-US" sz="2800" b="0" i="0" dirty="0">
                <a:solidFill>
                  <a:srgbClr val="242424"/>
                </a:solidFill>
                <a:effectLst/>
                <a:latin typeface="source-code-pro"/>
              </a:rPr>
              <a:t>=</a:t>
            </a:r>
            <a:r>
              <a:rPr lang="en-US" sz="2800" b="0" i="0" dirty="0">
                <a:solidFill>
                  <a:srgbClr val="AA0D91"/>
                </a:solidFill>
                <a:effectLst/>
                <a:latin typeface="source-code-pro"/>
              </a:rPr>
              <a:t>False</a:t>
            </a:r>
            <a:r>
              <a:rPr lang="en-US" sz="2800" b="0" i="0" dirty="0">
                <a:solidFill>
                  <a:srgbClr val="242424"/>
                </a:solidFill>
                <a:effectLst/>
                <a:latin typeface="source-code-pro"/>
              </a:rPr>
              <a:t>, </a:t>
            </a:r>
            <a:r>
              <a:rPr lang="en-US" sz="2800" b="0" i="0" dirty="0" err="1">
                <a:solidFill>
                  <a:srgbClr val="242424"/>
                </a:solidFill>
                <a:effectLst/>
                <a:latin typeface="source-code-pro"/>
              </a:rPr>
              <a:t>input_shape</a:t>
            </a:r>
            <a:r>
              <a:rPr lang="en-US" sz="2800" b="0" i="0" dirty="0">
                <a:solidFill>
                  <a:srgbClr val="242424"/>
                </a:solidFill>
                <a:effectLst/>
                <a:latin typeface="source-code-pro"/>
              </a:rPr>
              <a:t>=(</a:t>
            </a:r>
            <a:r>
              <a:rPr lang="en-US" sz="2800" b="0" i="0" dirty="0">
                <a:solidFill>
                  <a:srgbClr val="1C00CF"/>
                </a:solidFill>
                <a:effectLst/>
                <a:latin typeface="source-code-pro"/>
              </a:rPr>
              <a:t>32</a:t>
            </a:r>
            <a:r>
              <a:rPr lang="en-US" sz="2800" b="0" i="0" dirty="0">
                <a:solidFill>
                  <a:srgbClr val="242424"/>
                </a:solidFill>
                <a:effectLst/>
                <a:latin typeface="source-code-pro"/>
              </a:rPr>
              <a:t>, </a:t>
            </a:r>
            <a:r>
              <a:rPr lang="en-US" sz="2800" b="0" i="0" dirty="0">
                <a:solidFill>
                  <a:srgbClr val="1C00CF"/>
                </a:solidFill>
                <a:effectLst/>
                <a:latin typeface="source-code-pro"/>
              </a:rPr>
              <a:t>32</a:t>
            </a:r>
            <a:r>
              <a:rPr lang="en-US" sz="2800" b="0" i="0" dirty="0">
                <a:solidFill>
                  <a:srgbClr val="242424"/>
                </a:solidFill>
                <a:effectLst/>
                <a:latin typeface="source-code-pro"/>
              </a:rPr>
              <a:t>, </a:t>
            </a:r>
            <a:r>
              <a:rPr lang="en-US" sz="2800" b="0" i="0" dirty="0">
                <a:solidFill>
                  <a:srgbClr val="1C00CF"/>
                </a:solidFill>
                <a:effectLst/>
                <a:latin typeface="source-code-pro"/>
              </a:rPr>
              <a:t>3</a:t>
            </a:r>
            <a:r>
              <a:rPr lang="en-US" sz="2800" b="0" i="0" dirty="0">
                <a:solidFill>
                  <a:srgbClr val="242424"/>
                </a:solidFill>
                <a:effectLst/>
                <a:latin typeface="source-code-pro"/>
              </a:rPr>
              <a:t>))</a:t>
            </a:r>
            <a:br>
              <a:rPr lang="en-US" sz="2800" dirty="0"/>
            </a:br>
            <a:br>
              <a:rPr lang="en-US" sz="2800" dirty="0"/>
            </a:br>
            <a:endParaRPr lang="en-US" sz="2800" dirty="0"/>
          </a:p>
        </p:txBody>
      </p:sp>
    </p:spTree>
    <p:extLst>
      <p:ext uri="{BB962C8B-B14F-4D97-AF65-F5344CB8AC3E}">
        <p14:creationId xmlns:p14="http://schemas.microsoft.com/office/powerpoint/2010/main" val="27727668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A4A11F-BF20-416D-E491-17BB66B82B99}"/>
              </a:ext>
            </a:extLst>
          </p:cNvPr>
          <p:cNvSpPr txBox="1"/>
          <p:nvPr/>
        </p:nvSpPr>
        <p:spPr>
          <a:xfrm>
            <a:off x="1158240" y="582067"/>
            <a:ext cx="9875520" cy="5693866"/>
          </a:xfrm>
          <a:prstGeom prst="rect">
            <a:avLst/>
          </a:prstGeom>
          <a:noFill/>
        </p:spPr>
        <p:txBody>
          <a:bodyPr wrap="square">
            <a:spAutoFit/>
          </a:bodyPr>
          <a:lstStyle/>
          <a:p>
            <a:r>
              <a:rPr lang="en-US" sz="2800" b="0" i="0" dirty="0">
                <a:solidFill>
                  <a:srgbClr val="007400"/>
                </a:solidFill>
                <a:effectLst/>
                <a:latin typeface="source-code-pro"/>
              </a:rPr>
              <a:t># Freeze the first few layers</a:t>
            </a:r>
            <a:br>
              <a:rPr lang="en-US" sz="2800" dirty="0"/>
            </a:br>
            <a:r>
              <a:rPr lang="en-US" sz="2800" b="0" i="0" dirty="0">
                <a:solidFill>
                  <a:srgbClr val="AA0D91"/>
                </a:solidFill>
                <a:effectLst/>
                <a:latin typeface="source-code-pro"/>
              </a:rPr>
              <a:t>for</a:t>
            </a:r>
            <a:r>
              <a:rPr lang="en-US" sz="2800" b="0" i="0" dirty="0">
                <a:solidFill>
                  <a:srgbClr val="242424"/>
                </a:solidFill>
                <a:effectLst/>
                <a:latin typeface="source-code-pro"/>
              </a:rPr>
              <a:t> layer </a:t>
            </a:r>
            <a:r>
              <a:rPr lang="en-US" sz="2800" b="0" i="0" dirty="0">
                <a:solidFill>
                  <a:srgbClr val="AA0D91"/>
                </a:solidFill>
                <a:effectLst/>
                <a:latin typeface="source-code-pro"/>
              </a:rPr>
              <a:t>in</a:t>
            </a:r>
            <a:r>
              <a:rPr lang="en-US" sz="2800" b="0" i="0" dirty="0">
                <a:solidFill>
                  <a:srgbClr val="242424"/>
                </a:solidFill>
                <a:effectLst/>
                <a:latin typeface="source-code-pro"/>
              </a:rPr>
              <a:t> </a:t>
            </a:r>
            <a:r>
              <a:rPr lang="en-US" sz="2800" b="0" i="0" dirty="0" err="1">
                <a:solidFill>
                  <a:srgbClr val="242424"/>
                </a:solidFill>
                <a:effectLst/>
                <a:latin typeface="source-code-pro"/>
              </a:rPr>
              <a:t>base_model.layers</a:t>
            </a:r>
            <a:r>
              <a:rPr lang="en-US" sz="2800" b="0" i="0" dirty="0">
                <a:solidFill>
                  <a:srgbClr val="242424"/>
                </a:solidFill>
                <a:effectLst/>
                <a:latin typeface="source-code-pro"/>
              </a:rPr>
              <a:t>[:-</a:t>
            </a:r>
            <a:r>
              <a:rPr lang="en-US" sz="2800" b="0" i="0" dirty="0">
                <a:solidFill>
                  <a:srgbClr val="1C00CF"/>
                </a:solidFill>
                <a:effectLst/>
                <a:latin typeface="source-code-pro"/>
              </a:rPr>
              <a:t>4</a:t>
            </a:r>
            <a:r>
              <a:rPr lang="en-US" sz="2800" b="0" i="0" dirty="0">
                <a:solidFill>
                  <a:srgbClr val="242424"/>
                </a:solidFill>
                <a:effectLst/>
                <a:latin typeface="source-code-pro"/>
              </a:rPr>
              <a:t>]:</a:t>
            </a:r>
            <a:br>
              <a:rPr lang="en-US" sz="2800" dirty="0"/>
            </a:br>
            <a:r>
              <a:rPr lang="en-US" sz="2800" b="0" i="0" dirty="0" err="1">
                <a:solidFill>
                  <a:srgbClr val="242424"/>
                </a:solidFill>
                <a:effectLst/>
                <a:latin typeface="source-code-pro"/>
              </a:rPr>
              <a:t>layer.trainable</a:t>
            </a:r>
            <a:r>
              <a:rPr lang="en-US" sz="2800" b="0" i="0" dirty="0">
                <a:solidFill>
                  <a:srgbClr val="242424"/>
                </a:solidFill>
                <a:effectLst/>
                <a:latin typeface="source-code-pro"/>
              </a:rPr>
              <a:t> = </a:t>
            </a:r>
            <a:r>
              <a:rPr lang="en-US" sz="2800" b="0" i="0" dirty="0">
                <a:solidFill>
                  <a:srgbClr val="AA0D91"/>
                </a:solidFill>
                <a:effectLst/>
                <a:latin typeface="source-code-pro"/>
              </a:rPr>
              <a:t>False</a:t>
            </a:r>
            <a:br>
              <a:rPr lang="en-US" sz="2800" dirty="0"/>
            </a:br>
            <a:br>
              <a:rPr lang="en-US" sz="2800" dirty="0"/>
            </a:br>
            <a:r>
              <a:rPr lang="en-US" sz="2800" b="0" i="0" dirty="0">
                <a:solidFill>
                  <a:srgbClr val="007400"/>
                </a:solidFill>
                <a:effectLst/>
                <a:latin typeface="source-code-pro"/>
              </a:rPr>
              <a:t># Create a new model on top of the pre-trained base model</a:t>
            </a:r>
            <a:br>
              <a:rPr lang="en-US" sz="2800" dirty="0"/>
            </a:br>
            <a:r>
              <a:rPr lang="en-US" sz="2800" b="0" i="0" dirty="0" err="1">
                <a:solidFill>
                  <a:srgbClr val="242424"/>
                </a:solidFill>
                <a:effectLst/>
                <a:latin typeface="source-code-pro"/>
              </a:rPr>
              <a:t>model</a:t>
            </a:r>
            <a:r>
              <a:rPr lang="en-US" sz="2800" b="0" i="0" dirty="0">
                <a:solidFill>
                  <a:srgbClr val="242424"/>
                </a:solidFill>
                <a:effectLst/>
                <a:latin typeface="source-code-pro"/>
              </a:rPr>
              <a:t> = Sequential([</a:t>
            </a:r>
            <a:br>
              <a:rPr lang="en-US" sz="2800" dirty="0"/>
            </a:br>
            <a:r>
              <a:rPr lang="en-US" sz="2800" b="0" i="0" dirty="0" err="1">
                <a:solidFill>
                  <a:srgbClr val="242424"/>
                </a:solidFill>
                <a:effectLst/>
                <a:latin typeface="source-code-pro"/>
              </a:rPr>
              <a:t>base_model</a:t>
            </a:r>
            <a:r>
              <a:rPr lang="en-US" sz="2800" b="0" i="0" dirty="0">
                <a:solidFill>
                  <a:srgbClr val="242424"/>
                </a:solidFill>
                <a:effectLst/>
                <a:latin typeface="source-code-pro"/>
              </a:rPr>
              <a:t>,</a:t>
            </a:r>
            <a:br>
              <a:rPr lang="en-US" sz="2800" dirty="0"/>
            </a:br>
            <a:r>
              <a:rPr lang="en-US" sz="2800" b="0" i="0" dirty="0">
                <a:solidFill>
                  <a:srgbClr val="242424"/>
                </a:solidFill>
                <a:effectLst/>
                <a:latin typeface="source-code-pro"/>
              </a:rPr>
              <a:t>Flatten(),</a:t>
            </a:r>
            <a:br>
              <a:rPr lang="en-US" sz="2800" dirty="0"/>
            </a:br>
            <a:r>
              <a:rPr lang="en-US" sz="2800" b="0" i="0" dirty="0">
                <a:solidFill>
                  <a:srgbClr val="242424"/>
                </a:solidFill>
                <a:effectLst/>
                <a:latin typeface="source-code-pro"/>
              </a:rPr>
              <a:t>Dense(</a:t>
            </a:r>
            <a:r>
              <a:rPr lang="en-US" sz="2800" b="0" i="0" dirty="0">
                <a:solidFill>
                  <a:srgbClr val="1C00CF"/>
                </a:solidFill>
                <a:effectLst/>
                <a:latin typeface="source-code-pro"/>
              </a:rPr>
              <a:t>256</a:t>
            </a:r>
            <a:r>
              <a:rPr lang="en-US" sz="2800" b="0" i="0" dirty="0">
                <a:solidFill>
                  <a:srgbClr val="242424"/>
                </a:solidFill>
                <a:effectLst/>
                <a:latin typeface="source-code-pro"/>
              </a:rPr>
              <a:t>, activation=</a:t>
            </a:r>
            <a:r>
              <a:rPr lang="en-US" sz="2800" b="0" i="0" dirty="0">
                <a:solidFill>
                  <a:srgbClr val="C41A16"/>
                </a:solidFill>
                <a:effectLst/>
                <a:latin typeface="source-code-pro"/>
              </a:rPr>
              <a:t>'</a:t>
            </a:r>
            <a:r>
              <a:rPr lang="en-US" sz="2800" b="0" i="0" dirty="0" err="1">
                <a:solidFill>
                  <a:srgbClr val="C41A16"/>
                </a:solidFill>
                <a:effectLst/>
                <a:latin typeface="source-code-pro"/>
              </a:rPr>
              <a:t>relu</a:t>
            </a:r>
            <a:r>
              <a:rPr lang="en-US" sz="2800" b="0" i="0" dirty="0">
                <a:solidFill>
                  <a:srgbClr val="C41A16"/>
                </a:solidFill>
                <a:effectLst/>
                <a:latin typeface="source-code-pro"/>
              </a:rPr>
              <a:t>'</a:t>
            </a:r>
            <a:r>
              <a:rPr lang="en-US" sz="2800" b="0" i="0" dirty="0">
                <a:solidFill>
                  <a:srgbClr val="242424"/>
                </a:solidFill>
                <a:effectLst/>
                <a:latin typeface="source-code-pro"/>
              </a:rPr>
              <a:t>),</a:t>
            </a:r>
            <a:br>
              <a:rPr lang="en-US" sz="2800" dirty="0"/>
            </a:br>
            <a:r>
              <a:rPr lang="en-US" sz="2800" b="0" i="0" dirty="0">
                <a:solidFill>
                  <a:srgbClr val="242424"/>
                </a:solidFill>
                <a:effectLst/>
                <a:latin typeface="source-code-pro"/>
              </a:rPr>
              <a:t>Dense(</a:t>
            </a:r>
            <a:r>
              <a:rPr lang="en-US" sz="2800" b="0" i="0" dirty="0">
                <a:solidFill>
                  <a:srgbClr val="1C00CF"/>
                </a:solidFill>
                <a:effectLst/>
                <a:latin typeface="source-code-pro"/>
              </a:rPr>
              <a:t>10</a:t>
            </a:r>
            <a:r>
              <a:rPr lang="en-US" sz="2800" b="0" i="0" dirty="0">
                <a:solidFill>
                  <a:srgbClr val="242424"/>
                </a:solidFill>
                <a:effectLst/>
                <a:latin typeface="source-code-pro"/>
              </a:rPr>
              <a:t>, activation=</a:t>
            </a:r>
            <a:r>
              <a:rPr lang="en-US" sz="2800" b="0" i="0" dirty="0">
                <a:solidFill>
                  <a:srgbClr val="C41A16"/>
                </a:solidFill>
                <a:effectLst/>
                <a:latin typeface="source-code-pro"/>
              </a:rPr>
              <a:t>'</a:t>
            </a:r>
            <a:r>
              <a:rPr lang="en-US" sz="2800" b="0" i="0" dirty="0" err="1">
                <a:solidFill>
                  <a:srgbClr val="C41A16"/>
                </a:solidFill>
                <a:effectLst/>
                <a:latin typeface="source-code-pro"/>
              </a:rPr>
              <a:t>softmax</a:t>
            </a:r>
            <a:r>
              <a:rPr lang="en-US" sz="2800" b="0" i="0" dirty="0">
                <a:solidFill>
                  <a:srgbClr val="C41A16"/>
                </a:solidFill>
                <a:effectLst/>
                <a:latin typeface="source-code-pro"/>
              </a:rPr>
              <a:t>'</a:t>
            </a:r>
            <a:r>
              <a:rPr lang="en-US" sz="2800" b="0" i="0" dirty="0">
                <a:solidFill>
                  <a:srgbClr val="242424"/>
                </a:solidFill>
                <a:effectLst/>
                <a:latin typeface="source-code-pro"/>
              </a:rPr>
              <a:t>) </a:t>
            </a:r>
            <a:r>
              <a:rPr lang="en-US" sz="2800" b="0" i="0" dirty="0">
                <a:solidFill>
                  <a:srgbClr val="007400"/>
                </a:solidFill>
                <a:effectLst/>
                <a:latin typeface="source-code-pro"/>
              </a:rPr>
              <a:t># Output layer with 10 classes</a:t>
            </a:r>
            <a:br>
              <a:rPr lang="en-US" sz="2800" dirty="0"/>
            </a:br>
            <a:r>
              <a:rPr lang="en-US" sz="2800" b="0" i="0" dirty="0">
                <a:solidFill>
                  <a:srgbClr val="242424"/>
                </a:solidFill>
                <a:effectLst/>
                <a:latin typeface="source-code-pro"/>
              </a:rPr>
              <a:t>])</a:t>
            </a:r>
            <a:br>
              <a:rPr lang="en-US" sz="2800" dirty="0"/>
            </a:br>
            <a:br>
              <a:rPr lang="en-US" sz="2800" dirty="0"/>
            </a:br>
            <a:endParaRPr lang="en-US" sz="2800" dirty="0"/>
          </a:p>
        </p:txBody>
      </p:sp>
    </p:spTree>
    <p:extLst>
      <p:ext uri="{BB962C8B-B14F-4D97-AF65-F5344CB8AC3E}">
        <p14:creationId xmlns:p14="http://schemas.microsoft.com/office/powerpoint/2010/main" val="27883404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A92D4B-9BCA-3B4A-7A53-C976B7A3158B}"/>
              </a:ext>
            </a:extLst>
          </p:cNvPr>
          <p:cNvSpPr txBox="1"/>
          <p:nvPr/>
        </p:nvSpPr>
        <p:spPr>
          <a:xfrm>
            <a:off x="238125" y="797510"/>
            <a:ext cx="11715750" cy="5262979"/>
          </a:xfrm>
          <a:prstGeom prst="rect">
            <a:avLst/>
          </a:prstGeom>
          <a:noFill/>
        </p:spPr>
        <p:txBody>
          <a:bodyPr wrap="square">
            <a:spAutoFit/>
          </a:bodyPr>
          <a:lstStyle/>
          <a:p>
            <a:r>
              <a:rPr lang="en-US" sz="2800" b="0" i="0" dirty="0">
                <a:solidFill>
                  <a:srgbClr val="007400"/>
                </a:solidFill>
                <a:effectLst/>
                <a:latin typeface="source-code-pro"/>
              </a:rPr>
              <a:t># Compile the model</a:t>
            </a:r>
            <a:br>
              <a:rPr lang="en-US" sz="2800" dirty="0"/>
            </a:br>
            <a:r>
              <a:rPr lang="en-US" sz="2800" b="0" i="0" dirty="0" err="1">
                <a:solidFill>
                  <a:srgbClr val="242424"/>
                </a:solidFill>
                <a:effectLst/>
                <a:latin typeface="source-code-pro"/>
              </a:rPr>
              <a:t>model.</a:t>
            </a:r>
            <a:r>
              <a:rPr lang="en-US" sz="2800" b="0" i="0" dirty="0" err="1">
                <a:solidFill>
                  <a:srgbClr val="5C2699"/>
                </a:solidFill>
                <a:effectLst/>
                <a:latin typeface="source-code-pro"/>
              </a:rPr>
              <a:t>compile</a:t>
            </a:r>
            <a:r>
              <a:rPr lang="en-US" sz="2800" b="0" i="0" dirty="0">
                <a:solidFill>
                  <a:srgbClr val="242424"/>
                </a:solidFill>
                <a:effectLst/>
                <a:latin typeface="source-code-pro"/>
              </a:rPr>
              <a:t>(optimizer=</a:t>
            </a:r>
            <a:r>
              <a:rPr lang="en-US" sz="2800" b="0" i="0" dirty="0" err="1">
                <a:solidFill>
                  <a:srgbClr val="242424"/>
                </a:solidFill>
                <a:effectLst/>
                <a:latin typeface="source-code-pro"/>
              </a:rPr>
              <a:t>tf.keras.optimizers.Adam</a:t>
            </a:r>
            <a:r>
              <a:rPr lang="en-US" sz="2800" b="0" i="0" dirty="0">
                <a:solidFill>
                  <a:srgbClr val="242424"/>
                </a:solidFill>
                <a:effectLst/>
                <a:latin typeface="source-code-pro"/>
              </a:rPr>
              <a:t>(</a:t>
            </a:r>
            <a:r>
              <a:rPr lang="en-US" sz="2800" b="0" i="0" dirty="0" err="1">
                <a:solidFill>
                  <a:srgbClr val="242424"/>
                </a:solidFill>
                <a:effectLst/>
                <a:latin typeface="source-code-pro"/>
              </a:rPr>
              <a:t>learning_rate</a:t>
            </a:r>
            <a:r>
              <a:rPr lang="en-US" sz="2800" b="0" i="0" dirty="0">
                <a:solidFill>
                  <a:srgbClr val="242424"/>
                </a:solidFill>
                <a:effectLst/>
                <a:latin typeface="source-code-pro"/>
              </a:rPr>
              <a:t>=</a:t>
            </a:r>
            <a:r>
              <a:rPr lang="en-US" sz="2800" b="0" i="0" dirty="0">
                <a:solidFill>
                  <a:srgbClr val="1C00CF"/>
                </a:solidFill>
                <a:effectLst/>
                <a:latin typeface="source-code-pro"/>
              </a:rPr>
              <a:t>1e-4</a:t>
            </a:r>
            <a:r>
              <a:rPr lang="en-US" sz="2800" b="0" i="0" dirty="0">
                <a:solidFill>
                  <a:srgbClr val="242424"/>
                </a:solidFill>
                <a:effectLst/>
                <a:latin typeface="source-code-pro"/>
              </a:rPr>
              <a:t>),</a:t>
            </a:r>
            <a:br>
              <a:rPr lang="en-US" sz="2800" dirty="0"/>
            </a:br>
            <a:r>
              <a:rPr lang="en-US" sz="2800" b="0" i="0" dirty="0">
                <a:solidFill>
                  <a:srgbClr val="242424"/>
                </a:solidFill>
                <a:effectLst/>
                <a:latin typeface="source-code-pro"/>
              </a:rPr>
              <a:t>loss=</a:t>
            </a:r>
            <a:r>
              <a:rPr lang="en-US" sz="2800" b="0" i="0" dirty="0">
                <a:solidFill>
                  <a:srgbClr val="C41A16"/>
                </a:solidFill>
                <a:effectLst/>
                <a:latin typeface="source-code-pro"/>
              </a:rPr>
              <a:t>'</a:t>
            </a:r>
            <a:r>
              <a:rPr lang="en-US" sz="2800" b="0" i="0" dirty="0" err="1">
                <a:solidFill>
                  <a:srgbClr val="C41A16"/>
                </a:solidFill>
                <a:effectLst/>
                <a:latin typeface="source-code-pro"/>
              </a:rPr>
              <a:t>categorical_crossentropy</a:t>
            </a:r>
            <a:r>
              <a:rPr lang="en-US" sz="2800" b="0" i="0" dirty="0">
                <a:solidFill>
                  <a:srgbClr val="C41A16"/>
                </a:solidFill>
                <a:effectLst/>
                <a:latin typeface="source-code-pro"/>
              </a:rPr>
              <a:t>'</a:t>
            </a:r>
            <a:r>
              <a:rPr lang="en-US" sz="2800" b="0" i="0" dirty="0">
                <a:solidFill>
                  <a:srgbClr val="242424"/>
                </a:solidFill>
                <a:effectLst/>
                <a:latin typeface="source-code-pro"/>
              </a:rPr>
              <a:t>,</a:t>
            </a:r>
            <a:br>
              <a:rPr lang="en-US" sz="2800" dirty="0"/>
            </a:br>
            <a:r>
              <a:rPr lang="en-US" sz="2800" b="0" i="0" dirty="0">
                <a:solidFill>
                  <a:srgbClr val="242424"/>
                </a:solidFill>
                <a:effectLst/>
                <a:latin typeface="source-code-pro"/>
              </a:rPr>
              <a:t>metrics=[</a:t>
            </a:r>
            <a:r>
              <a:rPr lang="en-US" sz="2800" b="0" i="0" dirty="0">
                <a:solidFill>
                  <a:srgbClr val="C41A16"/>
                </a:solidFill>
                <a:effectLst/>
                <a:latin typeface="source-code-pro"/>
              </a:rPr>
              <a:t>'accuracy'</a:t>
            </a:r>
            <a:r>
              <a:rPr lang="en-US" sz="2800" b="0" i="0" dirty="0">
                <a:solidFill>
                  <a:srgbClr val="242424"/>
                </a:solidFill>
                <a:effectLst/>
                <a:latin typeface="source-code-pro"/>
              </a:rPr>
              <a:t>])</a:t>
            </a:r>
            <a:br>
              <a:rPr lang="en-US" sz="2800" dirty="0"/>
            </a:br>
            <a:br>
              <a:rPr lang="en-US" sz="2800" dirty="0"/>
            </a:br>
            <a:r>
              <a:rPr lang="en-US" sz="2800" b="0" i="0" dirty="0">
                <a:solidFill>
                  <a:srgbClr val="007400"/>
                </a:solidFill>
                <a:effectLst/>
                <a:latin typeface="source-code-pro"/>
              </a:rPr>
              <a:t># Train the model</a:t>
            </a:r>
            <a:br>
              <a:rPr lang="en-US" sz="2800" dirty="0"/>
            </a:br>
            <a:r>
              <a:rPr lang="en-US" sz="2800" b="0" i="0" dirty="0">
                <a:solidFill>
                  <a:srgbClr val="242424"/>
                </a:solidFill>
                <a:effectLst/>
                <a:latin typeface="source-code-pro"/>
              </a:rPr>
              <a:t>history = </a:t>
            </a:r>
            <a:r>
              <a:rPr lang="en-US" sz="2800" b="0" i="0" dirty="0" err="1">
                <a:solidFill>
                  <a:srgbClr val="242424"/>
                </a:solidFill>
                <a:effectLst/>
                <a:latin typeface="source-code-pro"/>
              </a:rPr>
              <a:t>model.fit</a:t>
            </a:r>
            <a:r>
              <a:rPr lang="en-US" sz="2800" b="0" i="0" dirty="0">
                <a:solidFill>
                  <a:srgbClr val="242424"/>
                </a:solidFill>
                <a:effectLst/>
                <a:latin typeface="source-code-pro"/>
              </a:rPr>
              <a:t>(</a:t>
            </a:r>
            <a:r>
              <a:rPr lang="en-US" sz="2800" b="0" i="0" dirty="0" err="1">
                <a:solidFill>
                  <a:srgbClr val="242424"/>
                </a:solidFill>
                <a:effectLst/>
                <a:latin typeface="source-code-pro"/>
              </a:rPr>
              <a:t>train_images</a:t>
            </a:r>
            <a:r>
              <a:rPr lang="en-US" sz="2800" b="0" i="0" dirty="0">
                <a:solidFill>
                  <a:srgbClr val="242424"/>
                </a:solidFill>
                <a:effectLst/>
                <a:latin typeface="source-code-pro"/>
              </a:rPr>
              <a:t>, </a:t>
            </a:r>
            <a:r>
              <a:rPr lang="en-US" sz="2800" b="0" i="0" dirty="0" err="1">
                <a:solidFill>
                  <a:srgbClr val="242424"/>
                </a:solidFill>
                <a:effectLst/>
                <a:latin typeface="source-code-pro"/>
              </a:rPr>
              <a:t>train_labels</a:t>
            </a:r>
            <a:r>
              <a:rPr lang="en-US" sz="2800" b="0" i="0" dirty="0">
                <a:solidFill>
                  <a:srgbClr val="242424"/>
                </a:solidFill>
                <a:effectLst/>
                <a:latin typeface="source-code-pro"/>
              </a:rPr>
              <a:t>, epochs=</a:t>
            </a:r>
            <a:r>
              <a:rPr lang="en-US" sz="2800" b="0" i="0" dirty="0">
                <a:solidFill>
                  <a:srgbClr val="1C00CF"/>
                </a:solidFill>
                <a:effectLst/>
                <a:latin typeface="source-code-pro"/>
              </a:rPr>
              <a:t>10</a:t>
            </a:r>
            <a:r>
              <a:rPr lang="en-US" sz="2800" b="0" i="0" dirty="0">
                <a:solidFill>
                  <a:srgbClr val="242424"/>
                </a:solidFill>
                <a:effectLst/>
                <a:latin typeface="source-code-pro"/>
              </a:rPr>
              <a:t>, </a:t>
            </a:r>
            <a:r>
              <a:rPr lang="en-US" sz="2800" b="0" i="0" dirty="0" err="1">
                <a:solidFill>
                  <a:srgbClr val="242424"/>
                </a:solidFill>
                <a:effectLst/>
                <a:latin typeface="source-code-pro"/>
              </a:rPr>
              <a:t>batch_size</a:t>
            </a:r>
            <a:r>
              <a:rPr lang="en-US" sz="2800" b="0" i="0" dirty="0">
                <a:solidFill>
                  <a:srgbClr val="242424"/>
                </a:solidFill>
                <a:effectLst/>
                <a:latin typeface="source-code-pro"/>
              </a:rPr>
              <a:t>=</a:t>
            </a:r>
            <a:r>
              <a:rPr lang="en-US" sz="2800" b="0" i="0" dirty="0">
                <a:solidFill>
                  <a:srgbClr val="1C00CF"/>
                </a:solidFill>
                <a:effectLst/>
                <a:latin typeface="source-code-pro"/>
              </a:rPr>
              <a:t>64</a:t>
            </a:r>
            <a:r>
              <a:rPr lang="en-US" sz="2800" b="0" i="0" dirty="0">
                <a:solidFill>
                  <a:srgbClr val="242424"/>
                </a:solidFill>
                <a:effectLst/>
                <a:latin typeface="source-code-pro"/>
              </a:rPr>
              <a:t>, </a:t>
            </a:r>
            <a:r>
              <a:rPr lang="en-US" sz="2800" b="0" i="0" dirty="0" err="1">
                <a:solidFill>
                  <a:srgbClr val="242424"/>
                </a:solidFill>
                <a:effectLst/>
                <a:latin typeface="source-code-pro"/>
              </a:rPr>
              <a:t>validation_data</a:t>
            </a:r>
            <a:r>
              <a:rPr lang="en-US" sz="2800" b="0" i="0" dirty="0">
                <a:solidFill>
                  <a:srgbClr val="242424"/>
                </a:solidFill>
                <a:effectLst/>
                <a:latin typeface="source-code-pro"/>
              </a:rPr>
              <a:t>=(</a:t>
            </a:r>
            <a:r>
              <a:rPr lang="en-US" sz="2800" b="0" i="0" dirty="0" err="1">
                <a:solidFill>
                  <a:srgbClr val="242424"/>
                </a:solidFill>
                <a:effectLst/>
                <a:latin typeface="source-code-pro"/>
              </a:rPr>
              <a:t>test_images</a:t>
            </a:r>
            <a:r>
              <a:rPr lang="en-US" sz="2800" b="0" i="0" dirty="0">
                <a:solidFill>
                  <a:srgbClr val="242424"/>
                </a:solidFill>
                <a:effectLst/>
                <a:latin typeface="source-code-pro"/>
              </a:rPr>
              <a:t>, </a:t>
            </a:r>
            <a:r>
              <a:rPr lang="en-US" sz="2800" b="0" i="0" dirty="0" err="1">
                <a:solidFill>
                  <a:srgbClr val="242424"/>
                </a:solidFill>
                <a:effectLst/>
                <a:latin typeface="source-code-pro"/>
              </a:rPr>
              <a:t>test_labels</a:t>
            </a:r>
            <a:r>
              <a:rPr lang="en-US" sz="2800" b="0" i="0" dirty="0">
                <a:solidFill>
                  <a:srgbClr val="242424"/>
                </a:solidFill>
                <a:effectLst/>
                <a:latin typeface="source-code-pro"/>
              </a:rPr>
              <a:t>))</a:t>
            </a:r>
            <a:br>
              <a:rPr lang="en-US" sz="2800" dirty="0"/>
            </a:br>
            <a:br>
              <a:rPr lang="en-US" sz="2800" dirty="0"/>
            </a:br>
            <a:r>
              <a:rPr lang="en-US" sz="2800" b="0" i="0" dirty="0">
                <a:solidFill>
                  <a:srgbClr val="007400"/>
                </a:solidFill>
                <a:effectLst/>
                <a:latin typeface="source-code-pro"/>
              </a:rPr>
              <a:t># Evaluate the model</a:t>
            </a:r>
            <a:br>
              <a:rPr lang="en-US" sz="2800" dirty="0"/>
            </a:br>
            <a:r>
              <a:rPr lang="en-US" sz="2800" b="0" i="0" dirty="0" err="1">
                <a:solidFill>
                  <a:srgbClr val="242424"/>
                </a:solidFill>
                <a:effectLst/>
                <a:latin typeface="source-code-pro"/>
              </a:rPr>
              <a:t>test_loss</a:t>
            </a:r>
            <a:r>
              <a:rPr lang="en-US" sz="2800" b="0" i="0" dirty="0">
                <a:solidFill>
                  <a:srgbClr val="242424"/>
                </a:solidFill>
                <a:effectLst/>
                <a:latin typeface="source-code-pro"/>
              </a:rPr>
              <a:t>, </a:t>
            </a:r>
            <a:r>
              <a:rPr lang="en-US" sz="2800" b="0" i="0" dirty="0" err="1">
                <a:solidFill>
                  <a:srgbClr val="242424"/>
                </a:solidFill>
                <a:effectLst/>
                <a:latin typeface="source-code-pro"/>
              </a:rPr>
              <a:t>test_acc</a:t>
            </a:r>
            <a:r>
              <a:rPr lang="en-US" sz="2800" b="0" i="0" dirty="0">
                <a:solidFill>
                  <a:srgbClr val="242424"/>
                </a:solidFill>
                <a:effectLst/>
                <a:latin typeface="source-code-pro"/>
              </a:rPr>
              <a:t> = </a:t>
            </a:r>
            <a:r>
              <a:rPr lang="en-US" sz="2800" b="0" i="0" dirty="0" err="1">
                <a:solidFill>
                  <a:srgbClr val="242424"/>
                </a:solidFill>
                <a:effectLst/>
                <a:latin typeface="source-code-pro"/>
              </a:rPr>
              <a:t>model.evaluate</a:t>
            </a:r>
            <a:r>
              <a:rPr lang="en-US" sz="2800" b="0" i="0" dirty="0">
                <a:solidFill>
                  <a:srgbClr val="242424"/>
                </a:solidFill>
                <a:effectLst/>
                <a:latin typeface="source-code-pro"/>
              </a:rPr>
              <a:t>(</a:t>
            </a:r>
            <a:r>
              <a:rPr lang="en-US" sz="2800" b="0" i="0" dirty="0" err="1">
                <a:solidFill>
                  <a:srgbClr val="242424"/>
                </a:solidFill>
                <a:effectLst/>
                <a:latin typeface="source-code-pro"/>
              </a:rPr>
              <a:t>test_images</a:t>
            </a:r>
            <a:r>
              <a:rPr lang="en-US" sz="2800" b="0" i="0" dirty="0">
                <a:solidFill>
                  <a:srgbClr val="242424"/>
                </a:solidFill>
                <a:effectLst/>
                <a:latin typeface="source-code-pro"/>
              </a:rPr>
              <a:t>, </a:t>
            </a:r>
            <a:r>
              <a:rPr lang="en-US" sz="2800" b="0" i="0" dirty="0" err="1">
                <a:solidFill>
                  <a:srgbClr val="242424"/>
                </a:solidFill>
                <a:effectLst/>
                <a:latin typeface="source-code-pro"/>
              </a:rPr>
              <a:t>test_labels</a:t>
            </a:r>
            <a:r>
              <a:rPr lang="en-US" sz="2800" b="0" i="0" dirty="0">
                <a:solidFill>
                  <a:srgbClr val="242424"/>
                </a:solidFill>
                <a:effectLst/>
                <a:latin typeface="source-code-pro"/>
              </a:rPr>
              <a:t>)</a:t>
            </a:r>
            <a:br>
              <a:rPr lang="en-US" sz="2800" dirty="0"/>
            </a:br>
            <a:r>
              <a:rPr lang="en-US" sz="2800" b="0" i="0" dirty="0">
                <a:solidFill>
                  <a:srgbClr val="5C2699"/>
                </a:solidFill>
                <a:effectLst/>
                <a:latin typeface="source-code-pro"/>
              </a:rPr>
              <a:t>print</a:t>
            </a:r>
            <a:r>
              <a:rPr lang="en-US" sz="2800" b="0" i="0" dirty="0">
                <a:solidFill>
                  <a:srgbClr val="242424"/>
                </a:solidFill>
                <a:effectLst/>
                <a:latin typeface="source-code-pro"/>
              </a:rPr>
              <a:t>(</a:t>
            </a:r>
            <a:r>
              <a:rPr lang="en-US" sz="2800" b="0" i="0" dirty="0">
                <a:solidFill>
                  <a:srgbClr val="C41A16"/>
                </a:solidFill>
                <a:effectLst/>
                <a:latin typeface="source-code-pro"/>
              </a:rPr>
              <a:t>"Test Accuracy:"</a:t>
            </a:r>
            <a:r>
              <a:rPr lang="en-US" sz="2800" b="0" i="0" dirty="0">
                <a:solidFill>
                  <a:srgbClr val="242424"/>
                </a:solidFill>
                <a:effectLst/>
                <a:latin typeface="source-code-pro"/>
              </a:rPr>
              <a:t>, </a:t>
            </a:r>
            <a:r>
              <a:rPr lang="en-US" sz="2800" b="0" i="0" dirty="0" err="1">
                <a:solidFill>
                  <a:srgbClr val="242424"/>
                </a:solidFill>
                <a:effectLst/>
                <a:latin typeface="source-code-pro"/>
              </a:rPr>
              <a:t>test_acc</a:t>
            </a:r>
            <a:r>
              <a:rPr lang="en-US" sz="2800" b="0" i="0" dirty="0">
                <a:solidFill>
                  <a:srgbClr val="242424"/>
                </a:solidFill>
                <a:effectLst/>
                <a:latin typeface="source-code-pro"/>
              </a:rPr>
              <a:t>)</a:t>
            </a:r>
            <a:endParaRPr lang="en-US" sz="2800" dirty="0"/>
          </a:p>
        </p:txBody>
      </p:sp>
    </p:spTree>
    <p:extLst>
      <p:ext uri="{BB962C8B-B14F-4D97-AF65-F5344CB8AC3E}">
        <p14:creationId xmlns:p14="http://schemas.microsoft.com/office/powerpoint/2010/main" val="12428005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FAC789-B699-B665-450F-ADB4F80DC518}"/>
              </a:ext>
            </a:extLst>
          </p:cNvPr>
          <p:cNvSpPr txBox="1"/>
          <p:nvPr/>
        </p:nvSpPr>
        <p:spPr>
          <a:xfrm>
            <a:off x="1278255" y="1117015"/>
            <a:ext cx="9635490" cy="369332"/>
          </a:xfrm>
          <a:prstGeom prst="rect">
            <a:avLst/>
          </a:prstGeom>
          <a:noFill/>
        </p:spPr>
        <p:txBody>
          <a:bodyPr wrap="square">
            <a:spAutoFit/>
          </a:bodyPr>
          <a:lstStyle/>
          <a:p>
            <a:r>
              <a:rPr lang="en-US" dirty="0"/>
              <a:t>https://medium.com/munchy-bytes/transfer-learning-and-fine-tuning-363b3f33655d</a:t>
            </a:r>
          </a:p>
        </p:txBody>
      </p:sp>
    </p:spTree>
    <p:extLst>
      <p:ext uri="{BB962C8B-B14F-4D97-AF65-F5344CB8AC3E}">
        <p14:creationId xmlns:p14="http://schemas.microsoft.com/office/powerpoint/2010/main" val="20225642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B46B8FB-F6A2-5F47-A6CD-A7E17E6927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01388" y="0"/>
            <a:ext cx="5990612" cy="6858001"/>
            <a:chOff x="6201388" y="0"/>
            <a:chExt cx="5990612" cy="6858001"/>
          </a:xfrm>
        </p:grpSpPr>
        <p:sp>
          <p:nvSpPr>
            <p:cNvPr id="10" name="Oval 9">
              <a:extLst>
                <a:ext uri="{FF2B5EF4-FFF2-40B4-BE49-F238E27FC236}">
                  <a16:creationId xmlns:a16="http://schemas.microsoft.com/office/drawing/2014/main" id="{419BDE93-3EC2-4E4D-BC0B-417378F49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46">
              <a:extLst>
                <a:ext uri="{FF2B5EF4-FFF2-40B4-BE49-F238E27FC236}">
                  <a16:creationId xmlns:a16="http://schemas.microsoft.com/office/drawing/2014/main" id="{FE21F82F-1EE5-8240-97F8-387DF0253F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48">
              <a:extLst>
                <a:ext uri="{FF2B5EF4-FFF2-40B4-BE49-F238E27FC236}">
                  <a16:creationId xmlns:a16="http://schemas.microsoft.com/office/drawing/2014/main" id="{AE1903E3-6B5F-6B4C-9A1F-62628A050A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Oval 12">
              <a:extLst>
                <a:ext uri="{FF2B5EF4-FFF2-40B4-BE49-F238E27FC236}">
                  <a16:creationId xmlns:a16="http://schemas.microsoft.com/office/drawing/2014/main" id="{F7C55863-3B37-0743-B001-1A970033FB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32B4C24-3A58-924C-B79A-D961EF7C2C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21EF52E0-D2CF-544F-93A6-4D7B45A048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63">
              <a:extLst>
                <a:ext uri="{FF2B5EF4-FFF2-40B4-BE49-F238E27FC236}">
                  <a16:creationId xmlns:a16="http://schemas.microsoft.com/office/drawing/2014/main" id="{6966CFE5-1C8C-2E4F-9B2D-A8438F5A53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64">
              <a:extLst>
                <a:ext uri="{FF2B5EF4-FFF2-40B4-BE49-F238E27FC236}">
                  <a16:creationId xmlns:a16="http://schemas.microsoft.com/office/drawing/2014/main" id="{9FD29EF3-A5B2-554A-A307-6BE1BCE8A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Oval 17">
              <a:extLst>
                <a:ext uri="{FF2B5EF4-FFF2-40B4-BE49-F238E27FC236}">
                  <a16:creationId xmlns:a16="http://schemas.microsoft.com/office/drawing/2014/main" id="{AC1ECAD8-0CF2-934D-AA1E-C108208CDE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B14DED1-3A58-8C4D-902E-2A9F34043F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65D65157-5719-0341-A807-A8956595F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7F23F74-B777-2A4C-8EF9-E798880D5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70">
              <a:extLst>
                <a:ext uri="{FF2B5EF4-FFF2-40B4-BE49-F238E27FC236}">
                  <a16:creationId xmlns:a16="http://schemas.microsoft.com/office/drawing/2014/main" id="{E3B9A050-0AE1-1D4B-A2AC-6EEF64B106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71">
              <a:extLst>
                <a:ext uri="{FF2B5EF4-FFF2-40B4-BE49-F238E27FC236}">
                  <a16:creationId xmlns:a16="http://schemas.microsoft.com/office/drawing/2014/main" id="{C424FE38-F803-8D47-BF56-1B18EC2B1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Oval 23">
              <a:extLst>
                <a:ext uri="{FF2B5EF4-FFF2-40B4-BE49-F238E27FC236}">
                  <a16:creationId xmlns:a16="http://schemas.microsoft.com/office/drawing/2014/main" id="{E37187F2-9212-0641-97D0-1ACD50B748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C760C651-2AC4-564E-BEAA-AB7FAFE7F7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58B0A1B8-5BA3-3548-9511-B4904D0526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75">
              <a:extLst>
                <a:ext uri="{FF2B5EF4-FFF2-40B4-BE49-F238E27FC236}">
                  <a16:creationId xmlns:a16="http://schemas.microsoft.com/office/drawing/2014/main" id="{424CD779-EE9A-214D-9488-767327E373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76">
              <a:extLst>
                <a:ext uri="{FF2B5EF4-FFF2-40B4-BE49-F238E27FC236}">
                  <a16:creationId xmlns:a16="http://schemas.microsoft.com/office/drawing/2014/main" id="{630D08C6-9EFB-8540-875F-2A55DED2A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77">
              <a:extLst>
                <a:ext uri="{FF2B5EF4-FFF2-40B4-BE49-F238E27FC236}">
                  <a16:creationId xmlns:a16="http://schemas.microsoft.com/office/drawing/2014/main" id="{D7E8DA86-1294-4641-9C52-6E15315064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78">
              <a:extLst>
                <a:ext uri="{FF2B5EF4-FFF2-40B4-BE49-F238E27FC236}">
                  <a16:creationId xmlns:a16="http://schemas.microsoft.com/office/drawing/2014/main" id="{011063C9-2A43-3348-A018-F27FACAA77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79">
              <a:extLst>
                <a:ext uri="{FF2B5EF4-FFF2-40B4-BE49-F238E27FC236}">
                  <a16:creationId xmlns:a16="http://schemas.microsoft.com/office/drawing/2014/main" id="{EE85C7DE-D965-244F-BD95-3A05FF4AAC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80">
              <a:extLst>
                <a:ext uri="{FF2B5EF4-FFF2-40B4-BE49-F238E27FC236}">
                  <a16:creationId xmlns:a16="http://schemas.microsoft.com/office/drawing/2014/main" id="{315A1389-149A-3342-A863-637D42FDB2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81">
              <a:extLst>
                <a:ext uri="{FF2B5EF4-FFF2-40B4-BE49-F238E27FC236}">
                  <a16:creationId xmlns:a16="http://schemas.microsoft.com/office/drawing/2014/main" id="{B149CC6F-B6C6-BE46-B451-1BF7D47A89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35" name="Straight Connector 34">
            <a:extLst>
              <a:ext uri="{FF2B5EF4-FFF2-40B4-BE49-F238E27FC236}">
                <a16:creationId xmlns:a16="http://schemas.microsoft.com/office/drawing/2014/main" id="{D33A3282-0389-C547-8CA6-7F3E7F27B3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useBgFill="1">
        <p:nvSpPr>
          <p:cNvPr id="37" name="Rectangle 36">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EBF823-348A-510C-A478-98083A8419E0}"/>
              </a:ext>
            </a:extLst>
          </p:cNvPr>
          <p:cNvSpPr>
            <a:spLocks noGrp="1"/>
          </p:cNvSpPr>
          <p:nvPr>
            <p:ph type="title"/>
          </p:nvPr>
        </p:nvSpPr>
        <p:spPr>
          <a:xfrm>
            <a:off x="566924" y="765768"/>
            <a:ext cx="6402597" cy="1063244"/>
          </a:xfrm>
        </p:spPr>
        <p:txBody>
          <a:bodyPr vert="horz" lIns="91440" tIns="45720" rIns="91440" bIns="45720" rtlCol="0" anchor="t">
            <a:normAutofit/>
          </a:bodyPr>
          <a:lstStyle/>
          <a:p>
            <a:r>
              <a:rPr lang="en-US" sz="4800"/>
              <a:t>Thank You</a:t>
            </a:r>
          </a:p>
        </p:txBody>
      </p:sp>
      <p:grpSp>
        <p:nvGrpSpPr>
          <p:cNvPr id="39" name="Group 38">
            <a:extLst>
              <a:ext uri="{FF2B5EF4-FFF2-40B4-BE49-F238E27FC236}">
                <a16:creationId xmlns:a16="http://schemas.microsoft.com/office/drawing/2014/main" id="{BCFFF971-DAC9-F44B-9F22-4B030B6B61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40" name="Freeform 39">
              <a:extLst>
                <a:ext uri="{FF2B5EF4-FFF2-40B4-BE49-F238E27FC236}">
                  <a16:creationId xmlns:a16="http://schemas.microsoft.com/office/drawing/2014/main" id="{2E3E7145-2B02-8142-A82F-FFCA717D61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41">
              <a:extLst>
                <a:ext uri="{FF2B5EF4-FFF2-40B4-BE49-F238E27FC236}">
                  <a16:creationId xmlns:a16="http://schemas.microsoft.com/office/drawing/2014/main" id="{33EA453D-E925-4C4C-A1E9-D54E82602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3">
              <a:extLst>
                <a:ext uri="{FF2B5EF4-FFF2-40B4-BE49-F238E27FC236}">
                  <a16:creationId xmlns:a16="http://schemas.microsoft.com/office/drawing/2014/main" id="{CBA4AF6C-8831-A34A-91A3-CC6ED3566B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44">
              <a:extLst>
                <a:ext uri="{FF2B5EF4-FFF2-40B4-BE49-F238E27FC236}">
                  <a16:creationId xmlns:a16="http://schemas.microsoft.com/office/drawing/2014/main" id="{8B12A352-6C2B-B94E-82E0-45D881BB7C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6" name="Graphic 5" descr="Smiling Face with No Fill">
            <a:extLst>
              <a:ext uri="{FF2B5EF4-FFF2-40B4-BE49-F238E27FC236}">
                <a16:creationId xmlns:a16="http://schemas.microsoft.com/office/drawing/2014/main" id="{C4A13AC4-EC59-2B3A-9618-133CD7F1DCF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38232" y="2169236"/>
            <a:ext cx="3712134" cy="3712134"/>
          </a:xfrm>
          <a:prstGeom prst="rect">
            <a:avLst/>
          </a:prstGeom>
        </p:spPr>
      </p:pic>
      <p:cxnSp>
        <p:nvCxnSpPr>
          <p:cNvPr id="45" name="Straight Connector 44">
            <a:extLst>
              <a:ext uri="{FF2B5EF4-FFF2-40B4-BE49-F238E27FC236}">
                <a16:creationId xmlns:a16="http://schemas.microsoft.com/office/drawing/2014/main" id="{51D4F49C-5EE1-6C4F-858E-AE02CC2CD5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4917025"/>
      </p:ext>
    </p:extLst>
  </p:cSld>
  <p:clrMapOvr>
    <a:masterClrMapping/>
  </p:clrMapOvr>
</p:sld>
</file>

<file path=ppt/theme/theme1.xml><?xml version="1.0" encoding="utf-8"?>
<a:theme xmlns:a="http://schemas.openxmlformats.org/drawingml/2006/main" name="PunchcardVTI">
  <a:themeElements>
    <a:clrScheme name="Punchcard">
      <a:dk1>
        <a:srgbClr val="000000"/>
      </a:dk1>
      <a:lt1>
        <a:srgbClr val="FFFFFF"/>
      </a:lt1>
      <a:dk2>
        <a:srgbClr val="00224B"/>
      </a:dk2>
      <a:lt2>
        <a:srgbClr val="EFF0EF"/>
      </a:lt2>
      <a:accent1>
        <a:srgbClr val="00B2F3"/>
      </a:accent1>
      <a:accent2>
        <a:srgbClr val="0471CC"/>
      </a:accent2>
      <a:accent3>
        <a:srgbClr val="14BBA9"/>
      </a:accent3>
      <a:accent4>
        <a:srgbClr val="8BB93B"/>
      </a:accent4>
      <a:accent5>
        <a:srgbClr val="EC970C"/>
      </a:accent5>
      <a:accent6>
        <a:srgbClr val="F55822"/>
      </a:accent6>
      <a:hlink>
        <a:srgbClr val="008EE6"/>
      </a:hlink>
      <a:folHlink>
        <a:srgbClr val="808C8E"/>
      </a:folHlink>
    </a:clrScheme>
    <a:fontScheme name="Punchcard">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unchcardVTI" id="{C7262591-AF98-8F48-B56D-6342D2439B1A}" vid="{261D9F73-974A-B14E-9EAF-4871CCA60BB1}"/>
    </a:ext>
  </a:extLst>
</a:theme>
</file>

<file path=docProps/app.xml><?xml version="1.0" encoding="utf-8"?>
<Properties xmlns="http://schemas.openxmlformats.org/officeDocument/2006/extended-properties" xmlns:vt="http://schemas.openxmlformats.org/officeDocument/2006/docPropsVTypes">
  <TotalTime>7685</TotalTime>
  <Words>2358</Words>
  <Application>Microsoft Office PowerPoint</Application>
  <PresentationFormat>Widescreen</PresentationFormat>
  <Paragraphs>99</Paragraphs>
  <Slides>34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Arial</vt:lpstr>
      <vt:lpstr>Avenir Next</vt:lpstr>
      <vt:lpstr>Google Sans</vt:lpstr>
      <vt:lpstr>Neue Haas Grotesk Text Pro</vt:lpstr>
      <vt:lpstr>sohne</vt:lpstr>
      <vt:lpstr>source-code-pro</vt:lpstr>
      <vt:lpstr>source-serif-pro</vt:lpstr>
      <vt:lpstr>PunchcardVTI</vt:lpstr>
      <vt:lpstr>Transfer Learning for LLM</vt:lpstr>
      <vt:lpstr>Agenda</vt:lpstr>
      <vt:lpstr>PowerPoint Presentation</vt:lpstr>
      <vt:lpstr>PowerPoint Presentation</vt:lpstr>
      <vt:lpstr>PowerPoint Presentation</vt:lpstr>
      <vt:lpstr>Introduction </vt:lpstr>
      <vt:lpstr>Transfer learning techniques</vt:lpstr>
      <vt:lpstr>PowerPoint Presentation</vt:lpstr>
      <vt:lpstr>Feature Extraction </vt:lpstr>
      <vt:lpstr>PowerPoint Presentation</vt:lpstr>
      <vt:lpstr>PowerPoint Presentation</vt:lpstr>
      <vt:lpstr>Core Workflow for feature extraction</vt:lpstr>
      <vt:lpstr>When to Use Feature Extraction?</vt:lpstr>
      <vt:lpstr>PowerPoint Presentation</vt:lpstr>
      <vt:lpstr>PowerPoint Presentation</vt:lpstr>
      <vt:lpstr>Code for Transfer learning</vt:lpstr>
      <vt:lpstr>PowerPoint Presentation</vt:lpstr>
      <vt:lpstr>PowerPoint Presentation</vt:lpstr>
      <vt:lpstr>PowerPoint Presentation</vt:lpstr>
      <vt:lpstr>PowerPoint Presentation</vt:lpstr>
      <vt:lpstr>Exercise</vt:lpstr>
      <vt:lpstr>PowerPoint Presentation</vt:lpstr>
      <vt:lpstr>Fine-Tuning  </vt:lpstr>
      <vt:lpstr>PowerPoint Presentation</vt:lpstr>
      <vt:lpstr>PowerPoint Presentation</vt:lpstr>
      <vt:lpstr>PowerPoint Presentation</vt:lpstr>
      <vt:lpstr>Steps for fine tuning</vt:lpstr>
      <vt:lpstr>Fine Tuning</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rakhee chhibber</dc:creator>
  <cp:lastModifiedBy>rakhee chhibber</cp:lastModifiedBy>
  <cp:revision>8</cp:revision>
  <dcterms:created xsi:type="dcterms:W3CDTF">2026-04-14T19:15:24Z</dcterms:created>
  <dcterms:modified xsi:type="dcterms:W3CDTF">2026-04-20T13:59:55Z</dcterms:modified>
</cp:coreProperties>
</file>
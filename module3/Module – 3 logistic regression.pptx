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648" r:id="rId1"/>
  </p:sldMasterIdLst>
  <p:notesMasterIdLst>
    <p:notesMasterId r:id="rId49"/>
  </p:notesMasterIdLst>
  <p:sldIdLst>
    <p:sldId id="256" r:id="rId2"/>
    <p:sldId id="317" r:id="rId3"/>
    <p:sldId id="259" r:id="rId4"/>
    <p:sldId id="261" r:id="rId5"/>
    <p:sldId id="320" r:id="rId6"/>
    <p:sldId id="329" r:id="rId7"/>
    <p:sldId id="332" r:id="rId8"/>
    <p:sldId id="333" r:id="rId9"/>
    <p:sldId id="335" r:id="rId10"/>
    <p:sldId id="336" r:id="rId11"/>
    <p:sldId id="337" r:id="rId12"/>
    <p:sldId id="338" r:id="rId13"/>
    <p:sldId id="339" r:id="rId14"/>
    <p:sldId id="334" r:id="rId15"/>
    <p:sldId id="330" r:id="rId16"/>
    <p:sldId id="340" r:id="rId17"/>
    <p:sldId id="341" r:id="rId18"/>
    <p:sldId id="304" r:id="rId19"/>
    <p:sldId id="342" r:id="rId20"/>
    <p:sldId id="305" r:id="rId21"/>
    <p:sldId id="318" r:id="rId22"/>
    <p:sldId id="346" r:id="rId23"/>
    <p:sldId id="347" r:id="rId24"/>
    <p:sldId id="319" r:id="rId25"/>
    <p:sldId id="310" r:id="rId26"/>
    <p:sldId id="343" r:id="rId27"/>
    <p:sldId id="344" r:id="rId28"/>
    <p:sldId id="293" r:id="rId29"/>
    <p:sldId id="291" r:id="rId30"/>
    <p:sldId id="294" r:id="rId31"/>
    <p:sldId id="300" r:id="rId32"/>
    <p:sldId id="301" r:id="rId33"/>
    <p:sldId id="302" r:id="rId34"/>
    <p:sldId id="295" r:id="rId35"/>
    <p:sldId id="296" r:id="rId36"/>
    <p:sldId id="297" r:id="rId37"/>
    <p:sldId id="298" r:id="rId38"/>
    <p:sldId id="299" r:id="rId39"/>
    <p:sldId id="303" r:id="rId40"/>
    <p:sldId id="348" r:id="rId41"/>
    <p:sldId id="350" r:id="rId42"/>
    <p:sldId id="351" r:id="rId43"/>
    <p:sldId id="352" r:id="rId44"/>
    <p:sldId id="353" r:id="rId45"/>
    <p:sldId id="354" r:id="rId46"/>
    <p:sldId id="349" r:id="rId47"/>
    <p:sldId id="271"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318342-9FBB-4C90-87E8-D8ADD1BA552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3B0A8E-8244-4270-A02D-E7EB12048088}">
      <dgm:prSet/>
      <dgm:spPr/>
      <dgm:t>
        <a:bodyPr/>
        <a:lstStyle/>
        <a:p>
          <a:r>
            <a:rPr lang="en-US"/>
            <a:t>Logistic Regression is a supervised machine learning algorithm used for classification problems. Unlike linear regression which predicts continuous values it predicts the probability that an input belongs to a specific class.</a:t>
          </a:r>
        </a:p>
      </dgm:t>
    </dgm:pt>
    <dgm:pt modelId="{7FA12F20-CB9A-46F7-ABE4-5B252E471004}" type="parTrans" cxnId="{E609A3DC-F98A-4C9A-9E18-7FC6BDC3F248}">
      <dgm:prSet/>
      <dgm:spPr/>
      <dgm:t>
        <a:bodyPr/>
        <a:lstStyle/>
        <a:p>
          <a:endParaRPr lang="en-US"/>
        </a:p>
      </dgm:t>
    </dgm:pt>
    <dgm:pt modelId="{0B5A1004-9B06-4D28-8C35-2F4E2C9065D7}" type="sibTrans" cxnId="{E609A3DC-F98A-4C9A-9E18-7FC6BDC3F248}">
      <dgm:prSet/>
      <dgm:spPr/>
      <dgm:t>
        <a:bodyPr/>
        <a:lstStyle/>
        <a:p>
          <a:endParaRPr lang="en-US"/>
        </a:p>
      </dgm:t>
    </dgm:pt>
    <dgm:pt modelId="{CF13FC70-AA28-433E-90F7-9C81271C8C67}">
      <dgm:prSet/>
      <dgm:spPr/>
      <dgm:t>
        <a:bodyPr/>
        <a:lstStyle/>
        <a:p>
          <a:r>
            <a:rPr lang="en-US" dirty="0"/>
            <a:t>It is used for binary classification where the output can be one of two possible categories such as Yes/No, True/False or 0/1.</a:t>
          </a:r>
        </a:p>
      </dgm:t>
    </dgm:pt>
    <dgm:pt modelId="{A83C97BD-50A1-4057-8E3D-28172CA0EC8E}" type="parTrans" cxnId="{AE7ABC93-24B5-41FD-965F-3E010BC1321B}">
      <dgm:prSet/>
      <dgm:spPr/>
      <dgm:t>
        <a:bodyPr/>
        <a:lstStyle/>
        <a:p>
          <a:endParaRPr lang="en-US"/>
        </a:p>
      </dgm:t>
    </dgm:pt>
    <dgm:pt modelId="{A0E722BC-DE7E-4253-BD90-AB5E7A58279F}" type="sibTrans" cxnId="{AE7ABC93-24B5-41FD-965F-3E010BC1321B}">
      <dgm:prSet/>
      <dgm:spPr/>
      <dgm:t>
        <a:bodyPr/>
        <a:lstStyle/>
        <a:p>
          <a:endParaRPr lang="en-US"/>
        </a:p>
      </dgm:t>
    </dgm:pt>
    <dgm:pt modelId="{E135F4F2-0199-4C66-BCC9-5C1850C57A40}">
      <dgm:prSet/>
      <dgm:spPr/>
      <dgm:t>
        <a:bodyPr/>
        <a:lstStyle/>
        <a:p>
          <a:r>
            <a:rPr lang="en-US"/>
            <a:t>It uses sigmoid function to convert inputs into a probability value between 0 and 1.</a:t>
          </a:r>
        </a:p>
      </dgm:t>
    </dgm:pt>
    <dgm:pt modelId="{9985ED95-3AA1-437A-9B5C-42B5F85E28FE}" type="parTrans" cxnId="{758D9241-F23D-47EF-8BCA-2B40D9D01B93}">
      <dgm:prSet/>
      <dgm:spPr/>
      <dgm:t>
        <a:bodyPr/>
        <a:lstStyle/>
        <a:p>
          <a:endParaRPr lang="en-US"/>
        </a:p>
      </dgm:t>
    </dgm:pt>
    <dgm:pt modelId="{10E8F137-0EF3-4BD2-B45F-B4A5109209E4}" type="sibTrans" cxnId="{758D9241-F23D-47EF-8BCA-2B40D9D01B93}">
      <dgm:prSet/>
      <dgm:spPr/>
      <dgm:t>
        <a:bodyPr/>
        <a:lstStyle/>
        <a:p>
          <a:endParaRPr lang="en-US"/>
        </a:p>
      </dgm:t>
    </dgm:pt>
    <dgm:pt modelId="{449CC5FE-0085-4AEC-A178-6BCE6E6EB947}" type="pres">
      <dgm:prSet presAssocID="{BF318342-9FBB-4C90-87E8-D8ADD1BA5522}" presName="linear" presStyleCnt="0">
        <dgm:presLayoutVars>
          <dgm:animLvl val="lvl"/>
          <dgm:resizeHandles val="exact"/>
        </dgm:presLayoutVars>
      </dgm:prSet>
      <dgm:spPr/>
    </dgm:pt>
    <dgm:pt modelId="{9E93C63B-ED21-4009-AA89-9B2F6EE8F2AE}" type="pres">
      <dgm:prSet presAssocID="{033B0A8E-8244-4270-A02D-E7EB12048088}" presName="parentText" presStyleLbl="node1" presStyleIdx="0" presStyleCnt="3">
        <dgm:presLayoutVars>
          <dgm:chMax val="0"/>
          <dgm:bulletEnabled val="1"/>
        </dgm:presLayoutVars>
      </dgm:prSet>
      <dgm:spPr/>
    </dgm:pt>
    <dgm:pt modelId="{D4259AC6-92EF-441C-8461-6B95619BDB5D}" type="pres">
      <dgm:prSet presAssocID="{0B5A1004-9B06-4D28-8C35-2F4E2C9065D7}" presName="spacer" presStyleCnt="0"/>
      <dgm:spPr/>
    </dgm:pt>
    <dgm:pt modelId="{72CA825C-8838-4469-886E-9FD8C15F6ED0}" type="pres">
      <dgm:prSet presAssocID="{CF13FC70-AA28-433E-90F7-9C81271C8C67}" presName="parentText" presStyleLbl="node1" presStyleIdx="1" presStyleCnt="3">
        <dgm:presLayoutVars>
          <dgm:chMax val="0"/>
          <dgm:bulletEnabled val="1"/>
        </dgm:presLayoutVars>
      </dgm:prSet>
      <dgm:spPr/>
    </dgm:pt>
    <dgm:pt modelId="{7DC1D10B-5B99-427A-BF90-A7FEC4CC2AB3}" type="pres">
      <dgm:prSet presAssocID="{A0E722BC-DE7E-4253-BD90-AB5E7A58279F}" presName="spacer" presStyleCnt="0"/>
      <dgm:spPr/>
    </dgm:pt>
    <dgm:pt modelId="{F27D44F0-37B8-4EEC-9F44-AB8C8F4D6C6E}" type="pres">
      <dgm:prSet presAssocID="{E135F4F2-0199-4C66-BCC9-5C1850C57A40}" presName="parentText" presStyleLbl="node1" presStyleIdx="2" presStyleCnt="3">
        <dgm:presLayoutVars>
          <dgm:chMax val="0"/>
          <dgm:bulletEnabled val="1"/>
        </dgm:presLayoutVars>
      </dgm:prSet>
      <dgm:spPr/>
    </dgm:pt>
  </dgm:ptLst>
  <dgm:cxnLst>
    <dgm:cxn modelId="{758D9241-F23D-47EF-8BCA-2B40D9D01B93}" srcId="{BF318342-9FBB-4C90-87E8-D8ADD1BA5522}" destId="{E135F4F2-0199-4C66-BCC9-5C1850C57A40}" srcOrd="2" destOrd="0" parTransId="{9985ED95-3AA1-437A-9B5C-42B5F85E28FE}" sibTransId="{10E8F137-0EF3-4BD2-B45F-B4A5109209E4}"/>
    <dgm:cxn modelId="{28146658-8418-479A-8EB3-5ADF0D309310}" type="presOf" srcId="{033B0A8E-8244-4270-A02D-E7EB12048088}" destId="{9E93C63B-ED21-4009-AA89-9B2F6EE8F2AE}" srcOrd="0" destOrd="0" presId="urn:microsoft.com/office/officeart/2005/8/layout/vList2"/>
    <dgm:cxn modelId="{D8AF1191-927C-4A8A-BB80-CB78E3056193}" type="presOf" srcId="{E135F4F2-0199-4C66-BCC9-5C1850C57A40}" destId="{F27D44F0-37B8-4EEC-9F44-AB8C8F4D6C6E}" srcOrd="0" destOrd="0" presId="urn:microsoft.com/office/officeart/2005/8/layout/vList2"/>
    <dgm:cxn modelId="{AE7ABC93-24B5-41FD-965F-3E010BC1321B}" srcId="{BF318342-9FBB-4C90-87E8-D8ADD1BA5522}" destId="{CF13FC70-AA28-433E-90F7-9C81271C8C67}" srcOrd="1" destOrd="0" parTransId="{A83C97BD-50A1-4057-8E3D-28172CA0EC8E}" sibTransId="{A0E722BC-DE7E-4253-BD90-AB5E7A58279F}"/>
    <dgm:cxn modelId="{D8C20AB1-6FA6-4601-94BD-D307C1590F15}" type="presOf" srcId="{BF318342-9FBB-4C90-87E8-D8ADD1BA5522}" destId="{449CC5FE-0085-4AEC-A178-6BCE6E6EB947}" srcOrd="0" destOrd="0" presId="urn:microsoft.com/office/officeart/2005/8/layout/vList2"/>
    <dgm:cxn modelId="{723881CC-443E-4894-B999-FDF919BF95B5}" type="presOf" srcId="{CF13FC70-AA28-433E-90F7-9C81271C8C67}" destId="{72CA825C-8838-4469-886E-9FD8C15F6ED0}" srcOrd="0" destOrd="0" presId="urn:microsoft.com/office/officeart/2005/8/layout/vList2"/>
    <dgm:cxn modelId="{E609A3DC-F98A-4C9A-9E18-7FC6BDC3F248}" srcId="{BF318342-9FBB-4C90-87E8-D8ADD1BA5522}" destId="{033B0A8E-8244-4270-A02D-E7EB12048088}" srcOrd="0" destOrd="0" parTransId="{7FA12F20-CB9A-46F7-ABE4-5B252E471004}" sibTransId="{0B5A1004-9B06-4D28-8C35-2F4E2C9065D7}"/>
    <dgm:cxn modelId="{6155B8EE-8CE5-49FC-B00A-7746A0421B3B}" type="presParOf" srcId="{449CC5FE-0085-4AEC-A178-6BCE6E6EB947}" destId="{9E93C63B-ED21-4009-AA89-9B2F6EE8F2AE}" srcOrd="0" destOrd="0" presId="urn:microsoft.com/office/officeart/2005/8/layout/vList2"/>
    <dgm:cxn modelId="{14C7C6FB-6586-447B-8DD2-6B0D3B31332E}" type="presParOf" srcId="{449CC5FE-0085-4AEC-A178-6BCE6E6EB947}" destId="{D4259AC6-92EF-441C-8461-6B95619BDB5D}" srcOrd="1" destOrd="0" presId="urn:microsoft.com/office/officeart/2005/8/layout/vList2"/>
    <dgm:cxn modelId="{BA1D6F92-79D5-4956-842C-2F03C90E775D}" type="presParOf" srcId="{449CC5FE-0085-4AEC-A178-6BCE6E6EB947}" destId="{72CA825C-8838-4469-886E-9FD8C15F6ED0}" srcOrd="2" destOrd="0" presId="urn:microsoft.com/office/officeart/2005/8/layout/vList2"/>
    <dgm:cxn modelId="{A969EAD2-A412-49B3-8227-6ADC466347C7}" type="presParOf" srcId="{449CC5FE-0085-4AEC-A178-6BCE6E6EB947}" destId="{7DC1D10B-5B99-427A-BF90-A7FEC4CC2AB3}" srcOrd="3" destOrd="0" presId="urn:microsoft.com/office/officeart/2005/8/layout/vList2"/>
    <dgm:cxn modelId="{1B917E39-C1E8-45E6-A38F-51AEAC5A30F1}" type="presParOf" srcId="{449CC5FE-0085-4AEC-A178-6BCE6E6EB947}" destId="{F27D44F0-37B8-4EEC-9F44-AB8C8F4D6C6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3B150E-7F0D-416A-9096-0003BB461575}"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1E1DC763-1AD4-44FA-A92D-59530D531AD6}">
      <dgm:prSet/>
      <dgm:spPr/>
      <dgm:t>
        <a:bodyPr/>
        <a:lstStyle/>
        <a:p>
          <a:r>
            <a:rPr lang="en-US" b="1" dirty="0"/>
            <a:t>Binomial Logistic Regression</a:t>
          </a:r>
          <a:r>
            <a:rPr lang="en-US" dirty="0"/>
            <a:t>: DV has only two possible categories. Examples include Yes/No, Pass/Fail or 0/1. It is the most common form of logistic regression and is used for binary classification problems.</a:t>
          </a:r>
        </a:p>
      </dgm:t>
    </dgm:pt>
    <dgm:pt modelId="{08BD2F48-C967-4946-822E-9D497788B9D7}" type="parTrans" cxnId="{5490E083-64B7-40D1-B641-37C8B517DF76}">
      <dgm:prSet/>
      <dgm:spPr/>
      <dgm:t>
        <a:bodyPr/>
        <a:lstStyle/>
        <a:p>
          <a:endParaRPr lang="en-US"/>
        </a:p>
      </dgm:t>
    </dgm:pt>
    <dgm:pt modelId="{E4645A95-8A7F-4EC6-AE94-5610EF5EFB93}" type="sibTrans" cxnId="{5490E083-64B7-40D1-B641-37C8B517DF76}">
      <dgm:prSet/>
      <dgm:spPr/>
      <dgm:t>
        <a:bodyPr/>
        <a:lstStyle/>
        <a:p>
          <a:endParaRPr lang="en-US"/>
        </a:p>
      </dgm:t>
    </dgm:pt>
    <dgm:pt modelId="{C4C5D120-DD22-42E0-8151-57E2B0B3DADA}">
      <dgm:prSet/>
      <dgm:spPr/>
      <dgm:t>
        <a:bodyPr/>
        <a:lstStyle/>
        <a:p>
          <a:r>
            <a:rPr lang="en-US" b="1" dirty="0"/>
            <a:t>Multinomial Logistic Regression</a:t>
          </a:r>
          <a:r>
            <a:rPr lang="en-US" dirty="0"/>
            <a:t>: DV has three or more possible categories that are not ordered. For example, classifying animals into categories like "cat," "dog" or "sheep." It extends the binary logistic regression to handle multiple classes.</a:t>
          </a:r>
        </a:p>
      </dgm:t>
    </dgm:pt>
    <dgm:pt modelId="{5451D6AF-2EEE-4E4B-990B-C969131B8291}" type="parTrans" cxnId="{D5C5EC0A-AFD4-4480-B701-CD25533A04E2}">
      <dgm:prSet/>
      <dgm:spPr/>
      <dgm:t>
        <a:bodyPr/>
        <a:lstStyle/>
        <a:p>
          <a:endParaRPr lang="en-US"/>
        </a:p>
      </dgm:t>
    </dgm:pt>
    <dgm:pt modelId="{C4092353-A1DC-46D9-ABA6-08E25B0BA353}" type="sibTrans" cxnId="{D5C5EC0A-AFD4-4480-B701-CD25533A04E2}">
      <dgm:prSet/>
      <dgm:spPr/>
      <dgm:t>
        <a:bodyPr/>
        <a:lstStyle/>
        <a:p>
          <a:endParaRPr lang="en-US"/>
        </a:p>
      </dgm:t>
    </dgm:pt>
    <dgm:pt modelId="{603070B9-CF32-4E16-B946-532DC00593C3}">
      <dgm:prSet/>
      <dgm:spPr/>
      <dgm:t>
        <a:bodyPr/>
        <a:lstStyle/>
        <a:p>
          <a:r>
            <a:rPr lang="en-US" b="1" dirty="0"/>
            <a:t>Ordinal Logistic Regression</a:t>
          </a:r>
          <a:r>
            <a:rPr lang="en-US" dirty="0"/>
            <a:t>: DV has three or more categories with a natural order or ranking. Examples include ratings like "low," "medium" and "high." It takes the order of the categories into account when modeling.</a:t>
          </a:r>
        </a:p>
      </dgm:t>
    </dgm:pt>
    <dgm:pt modelId="{ABBA2753-7D37-4964-9972-AAC062EAA07F}" type="parTrans" cxnId="{1A3D330E-BD47-4645-83BD-8BCC0C283FF5}">
      <dgm:prSet/>
      <dgm:spPr/>
      <dgm:t>
        <a:bodyPr/>
        <a:lstStyle/>
        <a:p>
          <a:endParaRPr lang="en-US"/>
        </a:p>
      </dgm:t>
    </dgm:pt>
    <dgm:pt modelId="{8CF037B0-61C0-479A-829F-DB9A4A655E15}" type="sibTrans" cxnId="{1A3D330E-BD47-4645-83BD-8BCC0C283FF5}">
      <dgm:prSet/>
      <dgm:spPr/>
      <dgm:t>
        <a:bodyPr/>
        <a:lstStyle/>
        <a:p>
          <a:endParaRPr lang="en-US"/>
        </a:p>
      </dgm:t>
    </dgm:pt>
    <dgm:pt modelId="{2375F365-F099-4FE4-A9E0-8334402FEAB4}" type="pres">
      <dgm:prSet presAssocID="{673B150E-7F0D-416A-9096-0003BB461575}" presName="linear" presStyleCnt="0">
        <dgm:presLayoutVars>
          <dgm:animLvl val="lvl"/>
          <dgm:resizeHandles val="exact"/>
        </dgm:presLayoutVars>
      </dgm:prSet>
      <dgm:spPr/>
    </dgm:pt>
    <dgm:pt modelId="{7BD65A44-5648-44E6-884E-E0604E17727A}" type="pres">
      <dgm:prSet presAssocID="{1E1DC763-1AD4-44FA-A92D-59530D531AD6}" presName="parentText" presStyleLbl="node1" presStyleIdx="0" presStyleCnt="3">
        <dgm:presLayoutVars>
          <dgm:chMax val="0"/>
          <dgm:bulletEnabled val="1"/>
        </dgm:presLayoutVars>
      </dgm:prSet>
      <dgm:spPr/>
    </dgm:pt>
    <dgm:pt modelId="{F983EE39-29C4-4820-A8A3-BE15F2783D4B}" type="pres">
      <dgm:prSet presAssocID="{E4645A95-8A7F-4EC6-AE94-5610EF5EFB93}" presName="spacer" presStyleCnt="0"/>
      <dgm:spPr/>
    </dgm:pt>
    <dgm:pt modelId="{A6B692A9-DB8E-4A44-BFAB-B1BA5CF8907F}" type="pres">
      <dgm:prSet presAssocID="{C4C5D120-DD22-42E0-8151-57E2B0B3DADA}" presName="parentText" presStyleLbl="node1" presStyleIdx="1" presStyleCnt="3">
        <dgm:presLayoutVars>
          <dgm:chMax val="0"/>
          <dgm:bulletEnabled val="1"/>
        </dgm:presLayoutVars>
      </dgm:prSet>
      <dgm:spPr/>
    </dgm:pt>
    <dgm:pt modelId="{16570A49-14C0-4614-A1C4-1C948C324209}" type="pres">
      <dgm:prSet presAssocID="{C4092353-A1DC-46D9-ABA6-08E25B0BA353}" presName="spacer" presStyleCnt="0"/>
      <dgm:spPr/>
    </dgm:pt>
    <dgm:pt modelId="{34BC88BE-A58B-47F3-AB9C-BE664F7B3FA7}" type="pres">
      <dgm:prSet presAssocID="{603070B9-CF32-4E16-B946-532DC00593C3}" presName="parentText" presStyleLbl="node1" presStyleIdx="2" presStyleCnt="3">
        <dgm:presLayoutVars>
          <dgm:chMax val="0"/>
          <dgm:bulletEnabled val="1"/>
        </dgm:presLayoutVars>
      </dgm:prSet>
      <dgm:spPr/>
    </dgm:pt>
  </dgm:ptLst>
  <dgm:cxnLst>
    <dgm:cxn modelId="{D5C5EC0A-AFD4-4480-B701-CD25533A04E2}" srcId="{673B150E-7F0D-416A-9096-0003BB461575}" destId="{C4C5D120-DD22-42E0-8151-57E2B0B3DADA}" srcOrd="1" destOrd="0" parTransId="{5451D6AF-2EEE-4E4B-990B-C969131B8291}" sibTransId="{C4092353-A1DC-46D9-ABA6-08E25B0BA353}"/>
    <dgm:cxn modelId="{1A3D330E-BD47-4645-83BD-8BCC0C283FF5}" srcId="{673B150E-7F0D-416A-9096-0003BB461575}" destId="{603070B9-CF32-4E16-B946-532DC00593C3}" srcOrd="2" destOrd="0" parTransId="{ABBA2753-7D37-4964-9972-AAC062EAA07F}" sibTransId="{8CF037B0-61C0-479A-829F-DB9A4A655E15}"/>
    <dgm:cxn modelId="{F8B3A53D-24F8-46B0-A6B4-7E44A98CC0BB}" type="presOf" srcId="{673B150E-7F0D-416A-9096-0003BB461575}" destId="{2375F365-F099-4FE4-A9E0-8334402FEAB4}" srcOrd="0" destOrd="0" presId="urn:microsoft.com/office/officeart/2005/8/layout/vList2"/>
    <dgm:cxn modelId="{5490E083-64B7-40D1-B641-37C8B517DF76}" srcId="{673B150E-7F0D-416A-9096-0003BB461575}" destId="{1E1DC763-1AD4-44FA-A92D-59530D531AD6}" srcOrd="0" destOrd="0" parTransId="{08BD2F48-C967-4946-822E-9D497788B9D7}" sibTransId="{E4645A95-8A7F-4EC6-AE94-5610EF5EFB93}"/>
    <dgm:cxn modelId="{6D1A1D9A-8B7D-4F43-9557-BCE6C5AA9D1E}" type="presOf" srcId="{603070B9-CF32-4E16-B946-532DC00593C3}" destId="{34BC88BE-A58B-47F3-AB9C-BE664F7B3FA7}" srcOrd="0" destOrd="0" presId="urn:microsoft.com/office/officeart/2005/8/layout/vList2"/>
    <dgm:cxn modelId="{CC67E1B8-0689-480A-937B-A98734753460}" type="presOf" srcId="{1E1DC763-1AD4-44FA-A92D-59530D531AD6}" destId="{7BD65A44-5648-44E6-884E-E0604E17727A}" srcOrd="0" destOrd="0" presId="urn:microsoft.com/office/officeart/2005/8/layout/vList2"/>
    <dgm:cxn modelId="{AF70CEC7-C25C-4E89-AEDE-E390BBB871E6}" type="presOf" srcId="{C4C5D120-DD22-42E0-8151-57E2B0B3DADA}" destId="{A6B692A9-DB8E-4A44-BFAB-B1BA5CF8907F}" srcOrd="0" destOrd="0" presId="urn:microsoft.com/office/officeart/2005/8/layout/vList2"/>
    <dgm:cxn modelId="{566A80EC-0C01-4E78-9D48-CD5EA7C9EE5A}" type="presParOf" srcId="{2375F365-F099-4FE4-A9E0-8334402FEAB4}" destId="{7BD65A44-5648-44E6-884E-E0604E17727A}" srcOrd="0" destOrd="0" presId="urn:microsoft.com/office/officeart/2005/8/layout/vList2"/>
    <dgm:cxn modelId="{ACF3164F-3E42-4B9D-85B1-B29AB421C406}" type="presParOf" srcId="{2375F365-F099-4FE4-A9E0-8334402FEAB4}" destId="{F983EE39-29C4-4820-A8A3-BE15F2783D4B}" srcOrd="1" destOrd="0" presId="urn:microsoft.com/office/officeart/2005/8/layout/vList2"/>
    <dgm:cxn modelId="{9513EF5B-D4AD-4D90-95EA-B9F9C2A2654E}" type="presParOf" srcId="{2375F365-F099-4FE4-A9E0-8334402FEAB4}" destId="{A6B692A9-DB8E-4A44-BFAB-B1BA5CF8907F}" srcOrd="2" destOrd="0" presId="urn:microsoft.com/office/officeart/2005/8/layout/vList2"/>
    <dgm:cxn modelId="{8A3BB1D5-29C7-4BEB-93A7-DFE78D6AE841}" type="presParOf" srcId="{2375F365-F099-4FE4-A9E0-8334402FEAB4}" destId="{16570A49-14C0-4614-A1C4-1C948C324209}" srcOrd="3" destOrd="0" presId="urn:microsoft.com/office/officeart/2005/8/layout/vList2"/>
    <dgm:cxn modelId="{9F50B3FC-2D75-4969-8087-0EA71E414984}" type="presParOf" srcId="{2375F365-F099-4FE4-A9E0-8334402FEAB4}" destId="{34BC88BE-A58B-47F3-AB9C-BE664F7B3FA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3C63B-ED21-4009-AA89-9B2F6EE8F2AE}">
      <dsp:nvSpPr>
        <dsp:cNvPr id="0" name=""/>
        <dsp:cNvSpPr/>
      </dsp:nvSpPr>
      <dsp:spPr>
        <a:xfrm>
          <a:off x="0" y="126909"/>
          <a:ext cx="10515600" cy="1319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Logistic Regression is a supervised machine learning algorithm used for classification problems. Unlike linear regression which predicts continuous values it predicts the probability that an input belongs to a specific class.</a:t>
          </a:r>
        </a:p>
      </dsp:txBody>
      <dsp:txXfrm>
        <a:off x="64425" y="191334"/>
        <a:ext cx="10386750" cy="1190909"/>
      </dsp:txXfrm>
    </dsp:sp>
    <dsp:sp modelId="{72CA825C-8838-4469-886E-9FD8C15F6ED0}">
      <dsp:nvSpPr>
        <dsp:cNvPr id="0" name=""/>
        <dsp:cNvSpPr/>
      </dsp:nvSpPr>
      <dsp:spPr>
        <a:xfrm>
          <a:off x="0" y="1515789"/>
          <a:ext cx="10515600" cy="1319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It is used for binary classification where the output can be one of two possible categories such as Yes/No, True/False or 0/1.</a:t>
          </a:r>
        </a:p>
      </dsp:txBody>
      <dsp:txXfrm>
        <a:off x="64425" y="1580214"/>
        <a:ext cx="10386750" cy="1190909"/>
      </dsp:txXfrm>
    </dsp:sp>
    <dsp:sp modelId="{F27D44F0-37B8-4EEC-9F44-AB8C8F4D6C6E}">
      <dsp:nvSpPr>
        <dsp:cNvPr id="0" name=""/>
        <dsp:cNvSpPr/>
      </dsp:nvSpPr>
      <dsp:spPr>
        <a:xfrm>
          <a:off x="0" y="2904669"/>
          <a:ext cx="10515600" cy="1319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It uses sigmoid function to convert inputs into a probability value between 0 and 1.</a:t>
          </a:r>
        </a:p>
      </dsp:txBody>
      <dsp:txXfrm>
        <a:off x="64425" y="2969094"/>
        <a:ext cx="10386750" cy="11909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65A44-5648-44E6-884E-E0604E17727A}">
      <dsp:nvSpPr>
        <dsp:cNvPr id="0" name=""/>
        <dsp:cNvSpPr/>
      </dsp:nvSpPr>
      <dsp:spPr>
        <a:xfrm>
          <a:off x="0" y="61424"/>
          <a:ext cx="6700470" cy="199134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Binomial Logistic Regression</a:t>
          </a:r>
          <a:r>
            <a:rPr lang="en-US" sz="2300" kern="1200" dirty="0"/>
            <a:t>: DV has only two possible categories. Examples include Yes/No, Pass/Fail or 0/1. It is the most common form of logistic regression and is used for binary classification problems.</a:t>
          </a:r>
        </a:p>
      </dsp:txBody>
      <dsp:txXfrm>
        <a:off x="97209" y="158633"/>
        <a:ext cx="6506052" cy="1796922"/>
      </dsp:txXfrm>
    </dsp:sp>
    <dsp:sp modelId="{A6B692A9-DB8E-4A44-BFAB-B1BA5CF8907F}">
      <dsp:nvSpPr>
        <dsp:cNvPr id="0" name=""/>
        <dsp:cNvSpPr/>
      </dsp:nvSpPr>
      <dsp:spPr>
        <a:xfrm>
          <a:off x="0" y="2119004"/>
          <a:ext cx="6700470" cy="199134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Multinomial Logistic Regression</a:t>
          </a:r>
          <a:r>
            <a:rPr lang="en-US" sz="2300" kern="1200" dirty="0"/>
            <a:t>: DV has three or more possible categories that are not ordered. For example, classifying animals into categories like "cat," "dog" or "sheep." It extends the binary logistic regression to handle multiple classes.</a:t>
          </a:r>
        </a:p>
      </dsp:txBody>
      <dsp:txXfrm>
        <a:off x="97209" y="2216213"/>
        <a:ext cx="6506052" cy="1796922"/>
      </dsp:txXfrm>
    </dsp:sp>
    <dsp:sp modelId="{34BC88BE-A58B-47F3-AB9C-BE664F7B3FA7}">
      <dsp:nvSpPr>
        <dsp:cNvPr id="0" name=""/>
        <dsp:cNvSpPr/>
      </dsp:nvSpPr>
      <dsp:spPr>
        <a:xfrm>
          <a:off x="0" y="4176585"/>
          <a:ext cx="6700470" cy="199134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Ordinal Logistic Regression</a:t>
          </a:r>
          <a:r>
            <a:rPr lang="en-US" sz="2300" kern="1200" dirty="0"/>
            <a:t>: DV has three or more categories with a natural order or ranking. Examples include ratings like "low," "medium" and "high." It takes the order of the categories into account when modeling.</a:t>
          </a:r>
        </a:p>
      </dsp:txBody>
      <dsp:txXfrm>
        <a:off x="97209" y="4273794"/>
        <a:ext cx="6506052" cy="179692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21B84D-EF00-40BD-9492-B4E3910A5E61}"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94F558-22AC-4775-8EB3-0F0C71369A2A}" type="slidenum">
              <a:rPr lang="en-US" smtClean="0"/>
              <a:t>‹#›</a:t>
            </a:fld>
            <a:endParaRPr lang="en-US"/>
          </a:p>
        </p:txBody>
      </p:sp>
    </p:spTree>
    <p:extLst>
      <p:ext uri="{BB962C8B-B14F-4D97-AF65-F5344CB8AC3E}">
        <p14:creationId xmlns:p14="http://schemas.microsoft.com/office/powerpoint/2010/main" val="338949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94F558-22AC-4775-8EB3-0F0C71369A2A}" type="slidenum">
              <a:rPr lang="en-US" smtClean="0"/>
              <a:t>20</a:t>
            </a:fld>
            <a:endParaRPr lang="en-US"/>
          </a:p>
        </p:txBody>
      </p:sp>
    </p:spTree>
    <p:extLst>
      <p:ext uri="{BB962C8B-B14F-4D97-AF65-F5344CB8AC3E}">
        <p14:creationId xmlns:p14="http://schemas.microsoft.com/office/powerpoint/2010/main" val="1241302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4A30F-446B-C620-46D0-1E9E1B872E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4C1DD0-0DE1-7943-8415-C007739B6F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702090-572D-2293-B7D0-47C4B67DA943}"/>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5" name="Footer Placeholder 4">
            <a:extLst>
              <a:ext uri="{FF2B5EF4-FFF2-40B4-BE49-F238E27FC236}">
                <a16:creationId xmlns:a16="http://schemas.microsoft.com/office/drawing/2014/main" id="{68167C73-9F51-9719-7FE2-191B7923E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4A9CE-77FB-9A11-22C9-F48881919C9E}"/>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5018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98CC-CB56-0E96-622A-A50BAB9A85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324459-5B54-F2AF-2B09-ABDB834574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18490-9149-F21B-FC42-11F8C9BD539F}"/>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5" name="Footer Placeholder 4">
            <a:extLst>
              <a:ext uri="{FF2B5EF4-FFF2-40B4-BE49-F238E27FC236}">
                <a16:creationId xmlns:a16="http://schemas.microsoft.com/office/drawing/2014/main" id="{27EA849F-2379-ECCC-7175-7C968FEF0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D2F45-E1A9-7ABD-4495-54BCDD7F62F7}"/>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639899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D2A9-4887-C3B0-BBF7-2920C3355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3F75F2-7B82-3705-6FE6-DE9A5819CF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0BE780-7ECD-3109-8E33-59D80C7FEC50}"/>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5" name="Footer Placeholder 4">
            <a:extLst>
              <a:ext uri="{FF2B5EF4-FFF2-40B4-BE49-F238E27FC236}">
                <a16:creationId xmlns:a16="http://schemas.microsoft.com/office/drawing/2014/main" id="{EC7DEBA0-961D-8EFD-3766-93CD1CCEC2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9128B-6EAA-F78B-F854-F2BDE690B16B}"/>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319111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4832-7CB8-0C14-177D-4E213BF9FF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9389B-CDA3-C547-C6BC-61BE8A93E3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42821-A3C6-90BA-8A3D-537DA4A915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EAF1D1-24DB-111B-5AF9-638B04A74579}"/>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6" name="Footer Placeholder 5">
            <a:extLst>
              <a:ext uri="{FF2B5EF4-FFF2-40B4-BE49-F238E27FC236}">
                <a16:creationId xmlns:a16="http://schemas.microsoft.com/office/drawing/2014/main" id="{A6C8FEC6-4913-ED42-6A88-98C05A04E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04CDB-982A-0074-559D-58DA8E572632}"/>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127936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8356-E3A1-0202-B2F3-4A220CDED2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E9F382-1EA0-535B-726F-D39C86BB08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7E3AAD-9F3D-AF22-19CB-001B72AFFC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CB9D52-6ED8-E996-E59C-0BD88D2DB8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1CFBA3-13F4-34C7-71FB-9512A9A3B7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0C1D42-70E8-D1DD-7BD9-C9B10746ED59}"/>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8" name="Footer Placeholder 7">
            <a:extLst>
              <a:ext uri="{FF2B5EF4-FFF2-40B4-BE49-F238E27FC236}">
                <a16:creationId xmlns:a16="http://schemas.microsoft.com/office/drawing/2014/main" id="{31566623-C348-EB1E-3679-71635C8CD7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9D00F3-37E9-DF92-16D8-5B5BD19DC697}"/>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522980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4A09-533F-1003-3439-B957A7C2D9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1CF882-3643-5110-28A9-69AA00CF57AB}"/>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4" name="Footer Placeholder 3">
            <a:extLst>
              <a:ext uri="{FF2B5EF4-FFF2-40B4-BE49-F238E27FC236}">
                <a16:creationId xmlns:a16="http://schemas.microsoft.com/office/drawing/2014/main" id="{5E2737A1-2424-0625-B650-B81E293240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C95305-B10C-5340-5F79-C2A6614F3CF9}"/>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1973354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6143B-126D-57CA-E612-801370D0349C}"/>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3" name="Footer Placeholder 2">
            <a:extLst>
              <a:ext uri="{FF2B5EF4-FFF2-40B4-BE49-F238E27FC236}">
                <a16:creationId xmlns:a16="http://schemas.microsoft.com/office/drawing/2014/main" id="{F3D27BF3-2EA3-ACBE-D8C4-E86433E42A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494A2E-B3B2-A94D-3C11-106BD5FE08A2}"/>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269478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E842F-FE10-876D-E8DF-CD61D9F27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A6175B-7354-E6E0-7FD7-D269AE29AC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775545-CB5A-4C73-3916-77C4CF8EA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2FB599-496A-A7B3-3FCA-B968BAEB27B7}"/>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6" name="Footer Placeholder 5">
            <a:extLst>
              <a:ext uri="{FF2B5EF4-FFF2-40B4-BE49-F238E27FC236}">
                <a16:creationId xmlns:a16="http://schemas.microsoft.com/office/drawing/2014/main" id="{F27FF444-F80A-982F-46C3-2574C519A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E70175-C923-88B7-2231-C5C2F159766A}"/>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4152702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D0C7-2492-E454-A590-D77DD9456F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B3EFA0-EEC6-DE3D-990F-90F77AAB83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7FCE1A-1473-89FD-670B-6C48409B0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A8861-FACC-1B1D-6989-E2F4A8441360}"/>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6" name="Footer Placeholder 5">
            <a:extLst>
              <a:ext uri="{FF2B5EF4-FFF2-40B4-BE49-F238E27FC236}">
                <a16:creationId xmlns:a16="http://schemas.microsoft.com/office/drawing/2014/main" id="{4B84FB95-D1CC-AF3B-5797-A2476DAFDF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CAB999-234C-D143-5409-12E167F80D1A}"/>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230011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C7EC-BE00-2909-0CCB-D6F803F145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6AD0DE-CD1C-57A2-EB5A-FA76E03020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E48D5-7C0F-5627-C3D6-62F9453FFC3E}"/>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5" name="Footer Placeholder 4">
            <a:extLst>
              <a:ext uri="{FF2B5EF4-FFF2-40B4-BE49-F238E27FC236}">
                <a16:creationId xmlns:a16="http://schemas.microsoft.com/office/drawing/2014/main" id="{4D8B8F76-56F0-09C2-8E69-1E3E925CB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99F0E-E69B-5F12-68D6-64B1573D1274}"/>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1435453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50C0E0-4720-9F4C-0B87-14F7210F74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CEFB07-4BEF-4348-ADA3-0207B41464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10465-8AB7-31E4-FFF6-642977D68A22}"/>
              </a:ext>
            </a:extLst>
          </p:cNvPr>
          <p:cNvSpPr>
            <a:spLocks noGrp="1"/>
          </p:cNvSpPr>
          <p:nvPr>
            <p:ph type="dt" sz="half" idx="10"/>
          </p:nvPr>
        </p:nvSpPr>
        <p:spPr/>
        <p:txBody>
          <a:bodyPr/>
          <a:lstStyle/>
          <a:p>
            <a:fld id="{A8294CBF-409F-42DE-8F68-64B55C98EF72}" type="datetimeFigureOut">
              <a:rPr lang="en-US" smtClean="0"/>
              <a:t>12/17/2025</a:t>
            </a:fld>
            <a:endParaRPr lang="en-US"/>
          </a:p>
        </p:txBody>
      </p:sp>
      <p:sp>
        <p:nvSpPr>
          <p:cNvPr id="5" name="Footer Placeholder 4">
            <a:extLst>
              <a:ext uri="{FF2B5EF4-FFF2-40B4-BE49-F238E27FC236}">
                <a16:creationId xmlns:a16="http://schemas.microsoft.com/office/drawing/2014/main" id="{F8B5E3A9-177F-2E78-9B35-2BE860D8EF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01A4C-E638-7219-3A78-B0BF2D7B9C82}"/>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21108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67D0BF-D842-23F8-29DE-154757A2D2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638929-DFDA-4493-D727-41A37428E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90A615-F29C-2616-267D-8AAA4F020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294CBF-409F-42DE-8F68-64B55C98EF72}" type="datetimeFigureOut">
              <a:rPr lang="en-US" smtClean="0"/>
              <a:t>12/17/2025</a:t>
            </a:fld>
            <a:endParaRPr lang="en-US"/>
          </a:p>
        </p:txBody>
      </p:sp>
      <p:sp>
        <p:nvSpPr>
          <p:cNvPr id="5" name="Footer Placeholder 4">
            <a:extLst>
              <a:ext uri="{FF2B5EF4-FFF2-40B4-BE49-F238E27FC236}">
                <a16:creationId xmlns:a16="http://schemas.microsoft.com/office/drawing/2014/main" id="{D1A8CB55-9CA9-9980-E061-DD11BB612D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8B42E-A844-4C67-57BE-7417324A7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DE91B9-4551-4DFB-9107-D6767DB098BE}" type="slidenum">
              <a:rPr lang="en-US" smtClean="0"/>
              <a:t>‹#›</a:t>
            </a:fld>
            <a:endParaRPr lang="en-US"/>
          </a:p>
        </p:txBody>
      </p:sp>
    </p:spTree>
    <p:extLst>
      <p:ext uri="{BB962C8B-B14F-4D97-AF65-F5344CB8AC3E}">
        <p14:creationId xmlns:p14="http://schemas.microsoft.com/office/powerpoint/2010/main" val="3951196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deep-learning/what-is-softmax-classifi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machine-learning/precision-recall-curve-ml/" TargetMode="External"/><Relationship Id="rId2" Type="http://schemas.openxmlformats.org/officeDocument/2006/relationships/hyperlink" Target="https://www.geeksforgeeks.org/machine-learning/auc-roc-curv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researchgate.net/figure/Confusion-matrix-for-classification-of-A-Normal-and-COVID-19-and-B-Normal-COVID-19_fig2_343094700" TargetMode="External"/><Relationship Id="rId2" Type="http://schemas.openxmlformats.org/officeDocument/2006/relationships/hyperlink" Target="https://www.researchgate.net/figure/Confusion-Matrix-for-Covid-19-Detection-using-CNN-with-actual-data_fig4_341401062" TargetMode="External"/><Relationship Id="rId1" Type="http://schemas.openxmlformats.org/officeDocument/2006/relationships/slideLayout" Target="../slideLayouts/slideLayout7.xml"/><Relationship Id="rId5" Type="http://schemas.openxmlformats.org/officeDocument/2006/relationships/hyperlink" Target="https://pulmonarychronicles.com/index.php/pulmonarychronicles/article/download/1391/2969/" TargetMode="External"/><Relationship Id="rId4" Type="http://schemas.openxmlformats.org/officeDocument/2006/relationships/hyperlink" Target="https://www.researchgate.net/figure/Confusion-matrix-for-COVID-19-performance-evaluation_fig3_389556383"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eksforgeeks.org/machine-learning/understanding-logistic-regression/" TargetMode="External"/><Relationship Id="rId2" Type="http://schemas.openxmlformats.org/officeDocument/2006/relationships/hyperlink" Target="https://www.geeksforgeeks.org/dsa/random-forest-classifier-using-scikit-learn/" TargetMode="Externa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F6F0CF4-74B3-4F08-70BE-B9963800113A}"/>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Module – 3 </a:t>
            </a:r>
            <a:br>
              <a:rPr lang="en-US" sz="4800">
                <a:solidFill>
                  <a:srgbClr val="FFFFFF"/>
                </a:solidFill>
              </a:rPr>
            </a:br>
            <a:r>
              <a:rPr lang="en-US" sz="4800">
                <a:solidFill>
                  <a:srgbClr val="FFFFFF"/>
                </a:solidFill>
              </a:rPr>
              <a:t>ML Concepts, Algorithms &amp; Model Evaluation</a:t>
            </a:r>
          </a:p>
        </p:txBody>
      </p:sp>
      <p:sp>
        <p:nvSpPr>
          <p:cNvPr id="3" name="Subtitle 2">
            <a:extLst>
              <a:ext uri="{FF2B5EF4-FFF2-40B4-BE49-F238E27FC236}">
                <a16:creationId xmlns:a16="http://schemas.microsoft.com/office/drawing/2014/main" id="{2798619A-AE12-E349-4F6A-54072F5755D9}"/>
              </a:ext>
            </a:extLst>
          </p:cNvPr>
          <p:cNvSpPr>
            <a:spLocks noGrp="1"/>
          </p:cNvSpPr>
          <p:nvPr>
            <p:ph type="subTitle" idx="1"/>
          </p:nvPr>
        </p:nvSpPr>
        <p:spPr>
          <a:xfrm>
            <a:off x="1350682" y="4870824"/>
            <a:ext cx="10005951" cy="1458258"/>
          </a:xfrm>
        </p:spPr>
        <p:txBody>
          <a:bodyPr anchor="ctr">
            <a:normAutofit/>
          </a:bodyPr>
          <a:lstStyle/>
          <a:p>
            <a:pPr algn="l"/>
            <a:r>
              <a:rPr lang="en-US" dirty="0"/>
              <a:t>Dr. Rakhee Chhibber</a:t>
            </a:r>
          </a:p>
        </p:txBody>
      </p:sp>
    </p:spTree>
    <p:extLst>
      <p:ext uri="{BB962C8B-B14F-4D97-AF65-F5344CB8AC3E}">
        <p14:creationId xmlns:p14="http://schemas.microsoft.com/office/powerpoint/2010/main" val="2170415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483A1282-D128-43B2-C684-9E2234C31686}"/>
              </a:ext>
            </a:extLst>
          </p:cNvPr>
          <p:cNvGrpSpPr/>
          <p:nvPr/>
        </p:nvGrpSpPr>
        <p:grpSpPr>
          <a:xfrm>
            <a:off x="4533112" y="0"/>
            <a:ext cx="5822468" cy="6857572"/>
            <a:chOff x="3293364" y="1059258"/>
            <a:chExt cx="5462016" cy="5798314"/>
          </a:xfrm>
        </p:grpSpPr>
        <p:pic>
          <p:nvPicPr>
            <p:cNvPr id="5" name="Picture 4" descr="A diagram of a tree with many icons&#10;&#10;AI-generated content may be incorrect.">
              <a:extLst>
                <a:ext uri="{FF2B5EF4-FFF2-40B4-BE49-F238E27FC236}">
                  <a16:creationId xmlns:a16="http://schemas.microsoft.com/office/drawing/2014/main" id="{923304AC-E26B-0321-664E-B1DC0B6F3248}"/>
                </a:ext>
              </a:extLst>
            </p:cNvPr>
            <p:cNvPicPr>
              <a:picLocks noChangeAspect="1"/>
            </p:cNvPicPr>
            <p:nvPr/>
          </p:nvPicPr>
          <p:blipFill>
            <a:blip r:embed="rId2">
              <a:extLst>
                <a:ext uri="{28A0092B-C50C-407E-A947-70E740481C1C}">
                  <a14:useLocalDpi xmlns:a14="http://schemas.microsoft.com/office/drawing/2010/main" val="0"/>
                </a:ext>
              </a:extLst>
            </a:blip>
            <a:srcRect t="14014"/>
            <a:stretch>
              <a:fillRect/>
            </a:stretch>
          </p:blipFill>
          <p:spPr>
            <a:xfrm>
              <a:off x="3293364" y="1059258"/>
              <a:ext cx="5462016" cy="5798314"/>
            </a:xfrm>
            <a:prstGeom prst="rect">
              <a:avLst/>
            </a:prstGeom>
          </p:spPr>
        </p:pic>
        <p:sp>
          <p:nvSpPr>
            <p:cNvPr id="6" name="Rectangle 5">
              <a:extLst>
                <a:ext uri="{FF2B5EF4-FFF2-40B4-BE49-F238E27FC236}">
                  <a16:creationId xmlns:a16="http://schemas.microsoft.com/office/drawing/2014/main" id="{AFCE22DA-D093-1BEC-84F4-B59D22E47234}"/>
                </a:ext>
              </a:extLst>
            </p:cNvPr>
            <p:cNvSpPr/>
            <p:nvPr/>
          </p:nvSpPr>
          <p:spPr>
            <a:xfrm>
              <a:off x="6720840" y="1154430"/>
              <a:ext cx="1748790"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13" name="TextBox 12">
            <a:extLst>
              <a:ext uri="{FF2B5EF4-FFF2-40B4-BE49-F238E27FC236}">
                <a16:creationId xmlns:a16="http://schemas.microsoft.com/office/drawing/2014/main" id="{27EB21C3-39E3-2A0B-3B00-C50A370988A3}"/>
              </a:ext>
            </a:extLst>
          </p:cNvPr>
          <p:cNvSpPr txBox="1"/>
          <p:nvPr/>
        </p:nvSpPr>
        <p:spPr>
          <a:xfrm>
            <a:off x="169899" y="1428750"/>
            <a:ext cx="2980208" cy="3477875"/>
          </a:xfrm>
          <a:prstGeom prst="rect">
            <a:avLst/>
          </a:prstGeom>
          <a:noFill/>
        </p:spPr>
        <p:txBody>
          <a:bodyPr wrap="square" rtlCol="0">
            <a:spAutoFit/>
          </a:bodyPr>
          <a:lstStyle/>
          <a:p>
            <a:r>
              <a:rPr lang="en-US" sz="4400" b="1" dirty="0">
                <a:solidFill>
                  <a:schemeClr val="bg1"/>
                </a:solidFill>
              </a:rPr>
              <a:t>The Skill Tree You need to grow in Gen - AI</a:t>
            </a:r>
          </a:p>
        </p:txBody>
      </p:sp>
    </p:spTree>
    <p:extLst>
      <p:ext uri="{BB962C8B-B14F-4D97-AF65-F5344CB8AC3E}">
        <p14:creationId xmlns:p14="http://schemas.microsoft.com/office/powerpoint/2010/main" val="1714892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0C17-BCD2-6112-12ED-A5BA6A57EEF6}"/>
              </a:ext>
            </a:extLst>
          </p:cNvPr>
          <p:cNvSpPr>
            <a:spLocks noGrp="1"/>
          </p:cNvSpPr>
          <p:nvPr>
            <p:ph type="title"/>
          </p:nvPr>
        </p:nvSpPr>
        <p:spPr>
          <a:xfrm>
            <a:off x="640079" y="109728"/>
            <a:ext cx="10890929" cy="1097280"/>
          </a:xfrm>
        </p:spPr>
        <p:txBody>
          <a:bodyPr>
            <a:normAutofit fontScale="90000"/>
          </a:bodyPr>
          <a:lstStyle/>
          <a:p>
            <a:r>
              <a:rPr lang="en-US" dirty="0"/>
              <a:t>Module 3: Machine Learning</a:t>
            </a:r>
            <a:br>
              <a:rPr lang="en-US" dirty="0"/>
            </a:br>
            <a:endParaRPr lang="en-US" dirty="0"/>
          </a:p>
        </p:txBody>
      </p:sp>
      <p:graphicFrame>
        <p:nvGraphicFramePr>
          <p:cNvPr id="4" name="Table 3">
            <a:extLst>
              <a:ext uri="{FF2B5EF4-FFF2-40B4-BE49-F238E27FC236}">
                <a16:creationId xmlns:a16="http://schemas.microsoft.com/office/drawing/2014/main" id="{13B8FFB1-434E-7EAC-9C24-7A83BF6D74C6}"/>
              </a:ext>
            </a:extLst>
          </p:cNvPr>
          <p:cNvGraphicFramePr>
            <a:graphicFrameLocks noGrp="1"/>
          </p:cNvGraphicFramePr>
          <p:nvPr/>
        </p:nvGraphicFramePr>
        <p:xfrm>
          <a:off x="681905" y="772668"/>
          <a:ext cx="10870016" cy="5852160"/>
        </p:xfrm>
        <a:graphic>
          <a:graphicData uri="http://schemas.openxmlformats.org/drawingml/2006/table">
            <a:tbl>
              <a:tblPr firstRow="1" bandRow="1">
                <a:tableStyleId>{5C22544A-7EE6-4342-B048-85BDC9FD1C3A}</a:tableStyleId>
              </a:tblPr>
              <a:tblGrid>
                <a:gridCol w="5435008">
                  <a:extLst>
                    <a:ext uri="{9D8B030D-6E8A-4147-A177-3AD203B41FA5}">
                      <a16:colId xmlns:a16="http://schemas.microsoft.com/office/drawing/2014/main" val="1829834404"/>
                    </a:ext>
                  </a:extLst>
                </a:gridCol>
                <a:gridCol w="5435008">
                  <a:extLst>
                    <a:ext uri="{9D8B030D-6E8A-4147-A177-3AD203B41FA5}">
                      <a16:colId xmlns:a16="http://schemas.microsoft.com/office/drawing/2014/main" val="1541418356"/>
                    </a:ext>
                  </a:extLst>
                </a:gridCol>
              </a:tblGrid>
              <a:tr h="6103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lt1"/>
                          </a:solidFill>
                          <a:effectLst/>
                          <a:latin typeface="+mn-lt"/>
                          <a:ea typeface="+mn-ea"/>
                          <a:cs typeface="+mn-cs"/>
                        </a:rPr>
                        <a:t>1. ML Concepts</a:t>
                      </a:r>
                    </a:p>
                    <a:p>
                      <a:endParaRPr lang="en-US" sz="20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lt1"/>
                          </a:solidFill>
                          <a:effectLst/>
                          <a:latin typeface="+mn-lt"/>
                          <a:ea typeface="+mn-ea"/>
                          <a:cs typeface="+mn-cs"/>
                        </a:rPr>
                        <a:t>2. ML Algorithms</a:t>
                      </a:r>
                    </a:p>
                    <a:p>
                      <a:endParaRPr lang="en-US" sz="2000" b="1" dirty="0"/>
                    </a:p>
                  </a:txBody>
                  <a:tcPr/>
                </a:tc>
                <a:extLst>
                  <a:ext uri="{0D108BD9-81ED-4DB2-BD59-A6C34878D82A}">
                    <a16:rowId xmlns:a16="http://schemas.microsoft.com/office/drawing/2014/main" val="3118420900"/>
                  </a:ext>
                </a:extLst>
              </a:tr>
              <a:tr h="781812">
                <a:tc>
                  <a:txBody>
                    <a:bodyPr/>
                    <a:lstStyle/>
                    <a:p>
                      <a:pPr lvl="0"/>
                      <a:r>
                        <a:rPr lang="en-US" sz="2000" b="1" kern="1200" dirty="0">
                          <a:solidFill>
                            <a:schemeClr val="dk1"/>
                          </a:solidFill>
                          <a:effectLst/>
                          <a:latin typeface="+mn-lt"/>
                          <a:ea typeface="+mn-ea"/>
                          <a:cs typeface="+mn-cs"/>
                        </a:rPr>
                        <a:t>Supervised vs Unsupervised</a:t>
                      </a:r>
                    </a:p>
                    <a:p>
                      <a:pPr lvl="0"/>
                      <a:r>
                        <a:rPr lang="en-US" sz="2000" b="1" kern="1200" dirty="0">
                          <a:solidFill>
                            <a:schemeClr val="dk1"/>
                          </a:solidFill>
                          <a:effectLst/>
                          <a:latin typeface="+mn-lt"/>
                          <a:ea typeface="+mn-ea"/>
                          <a:cs typeface="+mn-cs"/>
                        </a:rPr>
                        <a:t>Semi-supervised</a:t>
                      </a:r>
                    </a:p>
                    <a:p>
                      <a:pPr lvl="0"/>
                      <a:r>
                        <a:rPr lang="en-US" sz="2000" b="1" kern="1200" dirty="0">
                          <a:solidFill>
                            <a:schemeClr val="dk1"/>
                          </a:solidFill>
                          <a:effectLst/>
                          <a:latin typeface="+mn-lt"/>
                          <a:ea typeface="+mn-ea"/>
                          <a:cs typeface="+mn-cs"/>
                        </a:rPr>
                        <a:t>Reinforcement learning basics</a:t>
                      </a:r>
                    </a:p>
                    <a:p>
                      <a:pPr lvl="0"/>
                      <a:r>
                        <a:rPr lang="en-US" sz="2000" b="1" kern="1200" dirty="0">
                          <a:solidFill>
                            <a:schemeClr val="dk1"/>
                          </a:solidFill>
                          <a:effectLst/>
                          <a:latin typeface="+mn-lt"/>
                          <a:ea typeface="+mn-ea"/>
                          <a:cs typeface="+mn-cs"/>
                        </a:rPr>
                        <a:t>ML workflow</a:t>
                      </a:r>
                    </a:p>
                    <a:p>
                      <a:pPr lvl="0"/>
                      <a:r>
                        <a:rPr lang="en-US" sz="2000" b="1" kern="1200" dirty="0">
                          <a:solidFill>
                            <a:schemeClr val="dk1"/>
                          </a:solidFill>
                          <a:effectLst/>
                          <a:latin typeface="+mn-lt"/>
                          <a:ea typeface="+mn-ea"/>
                          <a:cs typeface="+mn-cs"/>
                        </a:rPr>
                        <a:t>Feature engineering</a:t>
                      </a:r>
                    </a:p>
                    <a:p>
                      <a:pPr lvl="0"/>
                      <a:r>
                        <a:rPr lang="en-US" sz="2000" b="1" kern="1200" dirty="0">
                          <a:solidFill>
                            <a:schemeClr val="dk1"/>
                          </a:solidFill>
                          <a:effectLst/>
                          <a:latin typeface="+mn-lt"/>
                          <a:ea typeface="+mn-ea"/>
                          <a:cs typeface="+mn-cs"/>
                        </a:rPr>
                        <a:t>Model training, validation, testing</a:t>
                      </a:r>
                    </a:p>
                    <a:p>
                      <a:pPr lvl="0"/>
                      <a:r>
                        <a:rPr lang="en-US" sz="2000" b="1" kern="1200" dirty="0">
                          <a:solidFill>
                            <a:schemeClr val="dk1"/>
                          </a:solidFill>
                          <a:effectLst/>
                          <a:latin typeface="+mn-lt"/>
                          <a:ea typeface="+mn-ea"/>
                          <a:cs typeface="+mn-cs"/>
                        </a:rPr>
                        <a:t>Hyperparameter tuning</a:t>
                      </a:r>
                    </a:p>
                    <a:p>
                      <a:endParaRPr lang="en-US" sz="2000" b="1" dirty="0"/>
                    </a:p>
                  </a:txBody>
                  <a:tcPr/>
                </a:tc>
                <a:tc>
                  <a:txBody>
                    <a:bodyPr/>
                    <a:lstStyle/>
                    <a:p>
                      <a:pPr lvl="0"/>
                      <a:r>
                        <a:rPr lang="en-US" sz="2000" b="1" kern="1200" dirty="0">
                          <a:solidFill>
                            <a:schemeClr val="dk1"/>
                          </a:solidFill>
                          <a:effectLst/>
                          <a:latin typeface="+mn-lt"/>
                          <a:ea typeface="+mn-ea"/>
                          <a:cs typeface="+mn-cs"/>
                        </a:rPr>
                        <a:t>Linear &amp; Logistic Regression</a:t>
                      </a:r>
                    </a:p>
                    <a:p>
                      <a:pPr lvl="0"/>
                      <a:r>
                        <a:rPr lang="en-US" sz="2000" b="1" kern="1200" dirty="0">
                          <a:solidFill>
                            <a:schemeClr val="dk1"/>
                          </a:solidFill>
                          <a:effectLst/>
                          <a:latin typeface="+mn-lt"/>
                          <a:ea typeface="+mn-ea"/>
                          <a:cs typeface="+mn-cs"/>
                        </a:rPr>
                        <a:t>KNN</a:t>
                      </a:r>
                    </a:p>
                    <a:p>
                      <a:pPr lvl="0"/>
                      <a:r>
                        <a:rPr lang="en-US" sz="2000" b="1" kern="1200" dirty="0">
                          <a:solidFill>
                            <a:schemeClr val="dk1"/>
                          </a:solidFill>
                          <a:effectLst/>
                          <a:latin typeface="+mn-lt"/>
                          <a:ea typeface="+mn-ea"/>
                          <a:cs typeface="+mn-cs"/>
                        </a:rPr>
                        <a:t>Decision Trees &amp; Random Forest</a:t>
                      </a:r>
                    </a:p>
                    <a:p>
                      <a:pPr lvl="0"/>
                      <a:r>
                        <a:rPr lang="en-US" sz="2000" b="1" kern="1200" dirty="0">
                          <a:solidFill>
                            <a:schemeClr val="dk1"/>
                          </a:solidFill>
                          <a:effectLst/>
                          <a:latin typeface="+mn-lt"/>
                          <a:ea typeface="+mn-ea"/>
                          <a:cs typeface="+mn-cs"/>
                        </a:rPr>
                        <a:t>SVM</a:t>
                      </a:r>
                    </a:p>
                    <a:p>
                      <a:pPr lvl="0"/>
                      <a:r>
                        <a:rPr lang="en-US" sz="2000" b="1" kern="1200" dirty="0">
                          <a:solidFill>
                            <a:schemeClr val="dk1"/>
                          </a:solidFill>
                          <a:effectLst/>
                          <a:latin typeface="+mn-lt"/>
                          <a:ea typeface="+mn-ea"/>
                          <a:cs typeface="+mn-cs"/>
                        </a:rPr>
                        <a:t>Ensemble Learning</a:t>
                      </a:r>
                    </a:p>
                    <a:p>
                      <a:pPr lvl="0"/>
                      <a:r>
                        <a:rPr lang="en-US" sz="2000" b="1" kern="1200" dirty="0" err="1">
                          <a:solidFill>
                            <a:schemeClr val="dk1"/>
                          </a:solidFill>
                          <a:effectLst/>
                          <a:latin typeface="+mn-lt"/>
                          <a:ea typeface="+mn-ea"/>
                          <a:cs typeface="+mn-cs"/>
                        </a:rPr>
                        <a:t>KMeans</a:t>
                      </a:r>
                      <a:r>
                        <a:rPr lang="en-US" sz="2000" b="1" kern="1200" dirty="0">
                          <a:solidFill>
                            <a:schemeClr val="dk1"/>
                          </a:solidFill>
                          <a:effectLst/>
                          <a:latin typeface="+mn-lt"/>
                          <a:ea typeface="+mn-ea"/>
                          <a:cs typeface="+mn-cs"/>
                        </a:rPr>
                        <a:t>, DBSCAN</a:t>
                      </a:r>
                    </a:p>
                    <a:p>
                      <a:pPr lvl="0"/>
                      <a:r>
                        <a:rPr lang="en-US" sz="2000" b="1" kern="1200" dirty="0">
                          <a:solidFill>
                            <a:schemeClr val="dk1"/>
                          </a:solidFill>
                          <a:effectLst/>
                          <a:latin typeface="+mn-lt"/>
                          <a:ea typeface="+mn-ea"/>
                          <a:cs typeface="+mn-cs"/>
                        </a:rPr>
                        <a:t>PCA</a:t>
                      </a:r>
                    </a:p>
                    <a:p>
                      <a:endParaRPr lang="en-US" sz="2000" b="1" dirty="0"/>
                    </a:p>
                  </a:txBody>
                  <a:tcPr/>
                </a:tc>
                <a:extLst>
                  <a:ext uri="{0D108BD9-81ED-4DB2-BD59-A6C34878D82A}">
                    <a16:rowId xmlns:a16="http://schemas.microsoft.com/office/drawing/2014/main" val="100094443"/>
                  </a:ext>
                </a:extLst>
              </a:tr>
              <a:tr h="525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3. Model Evaluation</a:t>
                      </a:r>
                    </a:p>
                    <a:p>
                      <a:endParaRPr lang="en-US" sz="2000" b="1" kern="1200" dirty="0">
                        <a:solidFill>
                          <a:schemeClr val="tx1"/>
                        </a:solidFill>
                        <a:effectLst/>
                        <a:latin typeface="+mn-lt"/>
                        <a:ea typeface="+mn-ea"/>
                        <a:cs typeface="+mn-cs"/>
                      </a:endParaRPr>
                    </a:p>
                  </a:txBody>
                  <a:tcPr/>
                </a:tc>
                <a:tc>
                  <a:txBody>
                    <a:bodyPr/>
                    <a:lstStyle/>
                    <a:p>
                      <a:r>
                        <a:rPr lang="en-US" sz="2000" b="1" kern="1200" dirty="0">
                          <a:solidFill>
                            <a:schemeClr val="tx1"/>
                          </a:solidFill>
                          <a:effectLst/>
                          <a:latin typeface="+mn-lt"/>
                          <a:ea typeface="+mn-ea"/>
                          <a:cs typeface="+mn-cs"/>
                        </a:rPr>
                        <a:t>4. Tools And Assignments</a:t>
                      </a:r>
                    </a:p>
                  </a:txBody>
                  <a:tcPr/>
                </a:tc>
                <a:extLst>
                  <a:ext uri="{0D108BD9-81ED-4DB2-BD59-A6C34878D82A}">
                    <a16:rowId xmlns:a16="http://schemas.microsoft.com/office/drawing/2014/main" val="1803562206"/>
                  </a:ext>
                </a:extLst>
              </a:tr>
              <a:tr h="781812">
                <a:tc>
                  <a:txBody>
                    <a:bodyPr/>
                    <a:lstStyle/>
                    <a:p>
                      <a:pPr lvl="0"/>
                      <a:r>
                        <a:rPr lang="en-US" sz="2000" b="1" kern="1200" dirty="0">
                          <a:solidFill>
                            <a:schemeClr val="dk1"/>
                          </a:solidFill>
                          <a:effectLst/>
                          <a:latin typeface="+mn-lt"/>
                          <a:ea typeface="+mn-ea"/>
                          <a:cs typeface="+mn-cs"/>
                        </a:rPr>
                        <a:t>Classification metrics</a:t>
                      </a:r>
                    </a:p>
                    <a:p>
                      <a:pPr lvl="0"/>
                      <a:r>
                        <a:rPr lang="en-US" sz="2000" b="1" kern="1200" dirty="0">
                          <a:solidFill>
                            <a:schemeClr val="dk1"/>
                          </a:solidFill>
                          <a:effectLst/>
                          <a:latin typeface="+mn-lt"/>
                          <a:ea typeface="+mn-ea"/>
                          <a:cs typeface="+mn-cs"/>
                        </a:rPr>
                        <a:t>Regression metrics</a:t>
                      </a:r>
                    </a:p>
                    <a:p>
                      <a:pPr lvl="0"/>
                      <a:r>
                        <a:rPr lang="en-US" sz="2000" b="1" kern="1200" dirty="0">
                          <a:solidFill>
                            <a:schemeClr val="dk1"/>
                          </a:solidFill>
                          <a:effectLst/>
                          <a:latin typeface="+mn-lt"/>
                          <a:ea typeface="+mn-ea"/>
                          <a:cs typeface="+mn-cs"/>
                        </a:rPr>
                        <a:t>Confusion matrix</a:t>
                      </a:r>
                    </a:p>
                    <a:p>
                      <a:pPr lvl="0"/>
                      <a:r>
                        <a:rPr lang="en-US" sz="2000" b="1" kern="1200" dirty="0">
                          <a:solidFill>
                            <a:schemeClr val="dk1"/>
                          </a:solidFill>
                          <a:effectLst/>
                          <a:latin typeface="+mn-lt"/>
                          <a:ea typeface="+mn-ea"/>
                          <a:cs typeface="+mn-cs"/>
                        </a:rPr>
                        <a:t>ROC/AUC</a:t>
                      </a:r>
                    </a:p>
                    <a:p>
                      <a:endParaRPr lang="en-US" sz="2000" b="1" kern="1200" dirty="0">
                        <a:solidFill>
                          <a:schemeClr val="tx1"/>
                        </a:solidFill>
                        <a:effectLst/>
                        <a:latin typeface="+mn-lt"/>
                        <a:ea typeface="+mn-ea"/>
                        <a:cs typeface="+mn-cs"/>
                      </a:endParaRPr>
                    </a:p>
                  </a:txBody>
                  <a:tcPr/>
                </a:tc>
                <a:tc>
                  <a:txBody>
                    <a:bodyPr/>
                    <a:lstStyle/>
                    <a:p>
                      <a:r>
                        <a:rPr lang="en-US" sz="2000" b="1" kern="1200" dirty="0">
                          <a:solidFill>
                            <a:schemeClr val="dk1"/>
                          </a:solidFill>
                          <a:effectLst/>
                          <a:latin typeface="+mn-lt"/>
                          <a:ea typeface="+mn-ea"/>
                          <a:cs typeface="+mn-cs"/>
                        </a:rPr>
                        <a:t>✔ Scikit-learn, </a:t>
                      </a:r>
                      <a:r>
                        <a:rPr lang="en-US" sz="2000" b="1" kern="1200" dirty="0" err="1">
                          <a:solidFill>
                            <a:schemeClr val="dk1"/>
                          </a:solidFill>
                          <a:effectLst/>
                          <a:latin typeface="+mn-lt"/>
                          <a:ea typeface="+mn-ea"/>
                          <a:cs typeface="+mn-cs"/>
                        </a:rPr>
                        <a:t>Jupyter</a:t>
                      </a:r>
                      <a:endParaRPr lang="en-US" sz="2000" b="1" kern="1200" dirty="0">
                        <a:solidFill>
                          <a:schemeClr val="dk1"/>
                        </a:solidFill>
                        <a:effectLst/>
                        <a:latin typeface="+mn-lt"/>
                        <a:ea typeface="+mn-ea"/>
                        <a:cs typeface="+mn-cs"/>
                      </a:endParaRPr>
                    </a:p>
                    <a:p>
                      <a:r>
                        <a:rPr lang="en-US" sz="2000" b="1" kern="1200" dirty="0">
                          <a:solidFill>
                            <a:schemeClr val="dk1"/>
                          </a:solidFill>
                          <a:effectLst/>
                          <a:latin typeface="+mn-lt"/>
                          <a:ea typeface="+mn-ea"/>
                          <a:cs typeface="+mn-cs"/>
                        </a:rPr>
                        <a:t>Assignments</a:t>
                      </a:r>
                    </a:p>
                    <a:p>
                      <a:pPr lvl="0"/>
                      <a:r>
                        <a:rPr lang="en-US" sz="2000" b="1" kern="1200" dirty="0">
                          <a:solidFill>
                            <a:schemeClr val="dk1"/>
                          </a:solidFill>
                          <a:effectLst/>
                          <a:latin typeface="+mn-lt"/>
                          <a:ea typeface="+mn-ea"/>
                          <a:cs typeface="+mn-cs"/>
                        </a:rPr>
                        <a:t>Build regression &amp; classification models</a:t>
                      </a:r>
                    </a:p>
                    <a:p>
                      <a:pPr lvl="0"/>
                      <a:r>
                        <a:rPr lang="en-US" sz="2000" b="1" kern="1200" dirty="0">
                          <a:solidFill>
                            <a:schemeClr val="dk1"/>
                          </a:solidFill>
                          <a:effectLst/>
                          <a:latin typeface="+mn-lt"/>
                          <a:ea typeface="+mn-ea"/>
                          <a:cs typeface="+mn-cs"/>
                        </a:rPr>
                        <a:t>Fraud detection model</a:t>
                      </a:r>
                    </a:p>
                    <a:p>
                      <a:pPr lvl="0"/>
                      <a:r>
                        <a:rPr lang="en-US" sz="2000" b="1" kern="1200" dirty="0">
                          <a:solidFill>
                            <a:schemeClr val="dk1"/>
                          </a:solidFill>
                          <a:effectLst/>
                          <a:latin typeface="+mn-lt"/>
                          <a:ea typeface="+mn-ea"/>
                          <a:cs typeface="+mn-cs"/>
                        </a:rPr>
                        <a:t>Clustering customer segmentation</a:t>
                      </a:r>
                    </a:p>
                    <a:p>
                      <a:endParaRPr lang="en-US" sz="2000" b="1" kern="1200" dirty="0">
                        <a:solidFill>
                          <a:schemeClr val="tx1"/>
                        </a:solidFill>
                        <a:effectLst/>
                        <a:latin typeface="+mn-lt"/>
                        <a:ea typeface="+mn-ea"/>
                        <a:cs typeface="+mn-cs"/>
                      </a:endParaRPr>
                    </a:p>
                  </a:txBody>
                  <a:tcPr/>
                </a:tc>
                <a:extLst>
                  <a:ext uri="{0D108BD9-81ED-4DB2-BD59-A6C34878D82A}">
                    <a16:rowId xmlns:a16="http://schemas.microsoft.com/office/drawing/2014/main" val="1300179663"/>
                  </a:ext>
                </a:extLst>
              </a:tr>
            </a:tbl>
          </a:graphicData>
        </a:graphic>
      </p:graphicFrame>
    </p:spTree>
    <p:extLst>
      <p:ext uri="{BB962C8B-B14F-4D97-AF65-F5344CB8AC3E}">
        <p14:creationId xmlns:p14="http://schemas.microsoft.com/office/powerpoint/2010/main" val="296925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D866FCD2-AB87-E19F-C2AB-FD7D9BC55B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976122"/>
            <a:ext cx="11277600" cy="490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05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D08F0D-186E-C2FD-F1A2-FA1104019BC1}"/>
              </a:ext>
            </a:extLst>
          </p:cNvPr>
          <p:cNvSpPr>
            <a:spLocks noGrp="1"/>
          </p:cNvSpPr>
          <p:nvPr>
            <p:ph type="ctrTitle"/>
          </p:nvPr>
        </p:nvSpPr>
        <p:spPr>
          <a:xfrm>
            <a:off x="4162567" y="818984"/>
            <a:ext cx="6714699" cy="3178689"/>
          </a:xfrm>
        </p:spPr>
        <p:txBody>
          <a:bodyPr>
            <a:normAutofit/>
          </a:bodyPr>
          <a:lstStyle/>
          <a:p>
            <a:pPr algn="l"/>
            <a:r>
              <a:rPr lang="en-US" sz="4800" dirty="0">
                <a:solidFill>
                  <a:srgbClr val="FFFFFF"/>
                </a:solidFill>
              </a:rPr>
              <a:t>Classification / Logistic Regression</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3FD9F5B-945C-A177-8329-4B609522915F}"/>
              </a:ext>
            </a:extLst>
          </p:cNvPr>
          <p:cNvSpPr>
            <a:spLocks noGrp="1"/>
          </p:cNvSpPr>
          <p:nvPr>
            <p:ph type="subTitle" idx="1"/>
          </p:nvPr>
        </p:nvSpPr>
        <p:spPr>
          <a:xfrm>
            <a:off x="4285397" y="4960961"/>
            <a:ext cx="7055893" cy="1078054"/>
          </a:xfrm>
        </p:spPr>
        <p:txBody>
          <a:bodyPr>
            <a:normAutofit/>
          </a:bodyPr>
          <a:lstStyle/>
          <a:p>
            <a:pPr algn="l"/>
            <a:endParaRPr lang="en-US">
              <a:solidFill>
                <a:srgbClr val="FFFFFF"/>
              </a:solidFill>
            </a:endParaRPr>
          </a:p>
        </p:txBody>
      </p:sp>
    </p:spTree>
    <p:extLst>
      <p:ext uri="{BB962C8B-B14F-4D97-AF65-F5344CB8AC3E}">
        <p14:creationId xmlns:p14="http://schemas.microsoft.com/office/powerpoint/2010/main" val="4161768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1C000-B521-7745-0FD8-9D18C0938795}"/>
              </a:ext>
            </a:extLst>
          </p:cNvPr>
          <p:cNvSpPr>
            <a:spLocks noGrp="1"/>
          </p:cNvSpPr>
          <p:nvPr>
            <p:ph type="title"/>
          </p:nvPr>
        </p:nvSpPr>
        <p:spPr/>
        <p:txBody>
          <a:bodyPr/>
          <a:lstStyle/>
          <a:p>
            <a:r>
              <a:rPr lang="en-US" dirty="0"/>
              <a:t>Introduction </a:t>
            </a:r>
          </a:p>
        </p:txBody>
      </p:sp>
      <p:graphicFrame>
        <p:nvGraphicFramePr>
          <p:cNvPr id="5" name="Content Placeholder 2">
            <a:extLst>
              <a:ext uri="{FF2B5EF4-FFF2-40B4-BE49-F238E27FC236}">
                <a16:creationId xmlns:a16="http://schemas.microsoft.com/office/drawing/2014/main" id="{78284E7F-F5DF-4F59-7413-D5F782D275B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675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C8D9A22-0074-855A-75AD-ECF1E63A239A}"/>
              </a:ext>
            </a:extLst>
          </p:cNvPr>
          <p:cNvPicPr>
            <a:picLocks noChangeAspect="1"/>
          </p:cNvPicPr>
          <p:nvPr/>
        </p:nvPicPr>
        <p:blipFill>
          <a:blip r:embed="rId2"/>
          <a:stretch>
            <a:fillRect/>
          </a:stretch>
        </p:blipFill>
        <p:spPr>
          <a:xfrm>
            <a:off x="457200" y="1018414"/>
            <a:ext cx="11277600" cy="4821172"/>
          </a:xfrm>
          <a:prstGeom prst="rect">
            <a:avLst/>
          </a:prstGeom>
        </p:spPr>
      </p:pic>
    </p:spTree>
    <p:extLst>
      <p:ext uri="{BB962C8B-B14F-4D97-AF65-F5344CB8AC3E}">
        <p14:creationId xmlns:p14="http://schemas.microsoft.com/office/powerpoint/2010/main" val="3091893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A5880E5-806C-F69E-D288-56E9C5EB42F2}"/>
              </a:ext>
            </a:extLst>
          </p:cNvPr>
          <p:cNvPicPr>
            <a:picLocks noChangeAspect="1"/>
          </p:cNvPicPr>
          <p:nvPr/>
        </p:nvPicPr>
        <p:blipFill>
          <a:blip r:embed="rId2"/>
          <a:stretch>
            <a:fillRect/>
          </a:stretch>
        </p:blipFill>
        <p:spPr>
          <a:xfrm>
            <a:off x="457200" y="821055"/>
            <a:ext cx="11277600" cy="5215889"/>
          </a:xfrm>
          <a:prstGeom prst="rect">
            <a:avLst/>
          </a:prstGeom>
        </p:spPr>
      </p:pic>
    </p:spTree>
    <p:extLst>
      <p:ext uri="{BB962C8B-B14F-4D97-AF65-F5344CB8AC3E}">
        <p14:creationId xmlns:p14="http://schemas.microsoft.com/office/powerpoint/2010/main" val="109771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2CF418-5F28-BD77-3156-72D4C78A5B73}"/>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Types of logistic regression	</a:t>
            </a:r>
          </a:p>
        </p:txBody>
      </p:sp>
      <p:graphicFrame>
        <p:nvGraphicFramePr>
          <p:cNvPr id="5" name="Content Placeholder 2">
            <a:extLst>
              <a:ext uri="{FF2B5EF4-FFF2-40B4-BE49-F238E27FC236}">
                <a16:creationId xmlns:a16="http://schemas.microsoft.com/office/drawing/2014/main" id="{92769811-B104-EE0A-9CF1-A95DA65DD731}"/>
              </a:ext>
            </a:extLst>
          </p:cNvPr>
          <p:cNvGraphicFramePr>
            <a:graphicFrameLocks noGrp="1"/>
          </p:cNvGraphicFramePr>
          <p:nvPr>
            <p:ph idx="1"/>
            <p:extLst>
              <p:ext uri="{D42A27DB-BD31-4B8C-83A1-F6EECF244321}">
                <p14:modId xmlns:p14="http://schemas.microsoft.com/office/powerpoint/2010/main" val="2744059801"/>
              </p:ext>
            </p:extLst>
          </p:nvPr>
        </p:nvGraphicFramePr>
        <p:xfrm>
          <a:off x="4905052" y="251460"/>
          <a:ext cx="6700470" cy="6229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699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E0521B-1479-E9FD-C945-E407C63E0F9F}"/>
              </a:ext>
            </a:extLst>
          </p:cNvPr>
          <p:cNvSpPr>
            <a:spLocks noGrp="1"/>
          </p:cNvSpPr>
          <p:nvPr>
            <p:ph type="title"/>
          </p:nvPr>
        </p:nvSpPr>
        <p:spPr>
          <a:xfrm>
            <a:off x="826396" y="586855"/>
            <a:ext cx="4230100" cy="3387497"/>
          </a:xfrm>
        </p:spPr>
        <p:txBody>
          <a:bodyPr anchor="b">
            <a:normAutofit/>
          </a:bodyPr>
          <a:lstStyle/>
          <a:p>
            <a:pPr algn="r"/>
            <a:r>
              <a:rPr lang="en-US" sz="4000" b="1">
                <a:solidFill>
                  <a:srgbClr val="FFFFFF"/>
                </a:solidFill>
              </a:rPr>
              <a:t>Assumptions of Logistic Regression</a:t>
            </a:r>
            <a:endParaRPr lang="en-US" sz="4000">
              <a:solidFill>
                <a:srgbClr val="FFFFFF"/>
              </a:solidFill>
            </a:endParaRPr>
          </a:p>
        </p:txBody>
      </p:sp>
      <p:sp>
        <p:nvSpPr>
          <p:cNvPr id="21" name="Content Placeholder 2">
            <a:extLst>
              <a:ext uri="{FF2B5EF4-FFF2-40B4-BE49-F238E27FC236}">
                <a16:creationId xmlns:a16="http://schemas.microsoft.com/office/drawing/2014/main" id="{EA3397DD-0431-0C0D-E3FC-DC04B1B5AF7D}"/>
              </a:ext>
            </a:extLst>
          </p:cNvPr>
          <p:cNvSpPr>
            <a:spLocks noGrp="1"/>
          </p:cNvSpPr>
          <p:nvPr>
            <p:ph idx="1"/>
          </p:nvPr>
        </p:nvSpPr>
        <p:spPr>
          <a:xfrm>
            <a:off x="5926620" y="194310"/>
            <a:ext cx="6063450" cy="6755130"/>
          </a:xfrm>
        </p:spPr>
        <p:txBody>
          <a:bodyPr anchor="ctr">
            <a:noAutofit/>
          </a:bodyPr>
          <a:lstStyle/>
          <a:p>
            <a:pPr fontAlgn="base"/>
            <a:r>
              <a:rPr lang="en-US" sz="2400" b="1" dirty="0"/>
              <a:t>Independent observations</a:t>
            </a:r>
            <a:r>
              <a:rPr lang="en-US" sz="2400" dirty="0"/>
              <a:t>: Each data point is assumed to be independent of the others. There should be no correlation between the input samples.</a:t>
            </a:r>
          </a:p>
          <a:p>
            <a:pPr fontAlgn="base"/>
            <a:r>
              <a:rPr lang="en-US" sz="2400" b="1" dirty="0"/>
              <a:t>Binary dependent variables</a:t>
            </a:r>
            <a:r>
              <a:rPr lang="en-US" sz="2400" dirty="0"/>
              <a:t>: dependent variable must be binary, means it can take only two values. For more than two categories </a:t>
            </a:r>
            <a:r>
              <a:rPr lang="en-US" sz="2400" u="sng" dirty="0">
                <a:hlinkClick r:id="rId2"/>
              </a:rPr>
              <a:t>SoftMax </a:t>
            </a:r>
            <a:r>
              <a:rPr lang="en-US" sz="2400" dirty="0"/>
              <a:t>functions are used.</a:t>
            </a:r>
          </a:p>
          <a:p>
            <a:pPr fontAlgn="base"/>
            <a:r>
              <a:rPr lang="en-US" sz="2400" b="1" dirty="0"/>
              <a:t>Linearity relationship between independent variables and log odds</a:t>
            </a:r>
            <a:r>
              <a:rPr lang="en-US" sz="2400" dirty="0"/>
              <a:t>: The model assumes a linear relationship between the independent variables and the log odds of the dependent variable which means the predictors affect the log odds in a linear way.</a:t>
            </a:r>
          </a:p>
          <a:p>
            <a:pPr fontAlgn="base"/>
            <a:r>
              <a:rPr lang="en-US" sz="2400" b="1" dirty="0"/>
              <a:t>No outliers</a:t>
            </a:r>
            <a:r>
              <a:rPr lang="en-US" sz="2400" dirty="0"/>
              <a:t>: </a:t>
            </a:r>
          </a:p>
          <a:p>
            <a:pPr fontAlgn="base"/>
            <a:r>
              <a:rPr lang="en-US" sz="2400" b="1" dirty="0"/>
              <a:t>Large sample size</a:t>
            </a:r>
            <a:r>
              <a:rPr lang="en-US" sz="2400" dirty="0"/>
              <a:t>: for stable results.</a:t>
            </a:r>
          </a:p>
        </p:txBody>
      </p:sp>
    </p:spTree>
    <p:extLst>
      <p:ext uri="{BB962C8B-B14F-4D97-AF65-F5344CB8AC3E}">
        <p14:creationId xmlns:p14="http://schemas.microsoft.com/office/powerpoint/2010/main" val="2022736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2F963A-B819-1131-1D55-BB49CDEC6DBA}"/>
              </a:ext>
            </a:extLst>
          </p:cNvPr>
          <p:cNvSpPr>
            <a:spLocks noGrp="1"/>
          </p:cNvSpPr>
          <p:nvPr>
            <p:ph type="title"/>
          </p:nvPr>
        </p:nvSpPr>
        <p:spPr>
          <a:xfrm>
            <a:off x="466722" y="586855"/>
            <a:ext cx="3201366" cy="3387497"/>
          </a:xfrm>
        </p:spPr>
        <p:txBody>
          <a:bodyPr anchor="b">
            <a:normAutofit/>
          </a:bodyPr>
          <a:lstStyle/>
          <a:p>
            <a:pPr algn="r"/>
            <a:r>
              <a:rPr lang="en-US" sz="3700" b="1">
                <a:solidFill>
                  <a:srgbClr val="FFFFFF"/>
                </a:solidFill>
              </a:rPr>
              <a:t>Understanding Sigmoid Function</a:t>
            </a:r>
            <a:endParaRPr lang="en-US" sz="3700">
              <a:solidFill>
                <a:srgbClr val="FFFFFF"/>
              </a:solidFill>
            </a:endParaRPr>
          </a:p>
        </p:txBody>
      </p:sp>
      <p:sp>
        <p:nvSpPr>
          <p:cNvPr id="3" name="Content Placeholder 2">
            <a:extLst>
              <a:ext uri="{FF2B5EF4-FFF2-40B4-BE49-F238E27FC236}">
                <a16:creationId xmlns:a16="http://schemas.microsoft.com/office/drawing/2014/main" id="{43AC5C2A-CB93-77F4-58C9-5FE856216E14}"/>
              </a:ext>
            </a:extLst>
          </p:cNvPr>
          <p:cNvSpPr>
            <a:spLocks noGrp="1"/>
          </p:cNvSpPr>
          <p:nvPr>
            <p:ph idx="1"/>
          </p:nvPr>
        </p:nvSpPr>
        <p:spPr>
          <a:xfrm>
            <a:off x="4263390" y="649480"/>
            <a:ext cx="7303769" cy="5546047"/>
          </a:xfrm>
        </p:spPr>
        <p:txBody>
          <a:bodyPr anchor="ctr">
            <a:normAutofit/>
          </a:bodyPr>
          <a:lstStyle/>
          <a:p>
            <a:pPr marL="0" indent="0" fontAlgn="base">
              <a:buNone/>
            </a:pPr>
            <a:r>
              <a:rPr lang="en-US" sz="2400" dirty="0"/>
              <a:t>1. The sigmoid function is used to convert the raw output of the model into a probability value between 0 and 1.</a:t>
            </a:r>
          </a:p>
          <a:p>
            <a:pPr marL="0" indent="0" fontAlgn="base">
              <a:buNone/>
            </a:pPr>
            <a:r>
              <a:rPr lang="en-US" sz="2400" dirty="0"/>
              <a:t>2. This function takes any real number and maps it into the range 0 to 1 forming an "S" shaped curve called the sigmoid curve or logistic curve. Because probabilities must lie between 0 and 1, the sigmoid function is perfect for this purpose.</a:t>
            </a:r>
          </a:p>
          <a:p>
            <a:pPr marL="0" indent="0" fontAlgn="base">
              <a:buNone/>
            </a:pPr>
            <a:r>
              <a:rPr lang="en-US" sz="2400" dirty="0"/>
              <a:t>3. In logistic regression, we use a threshold value usually 0.5 to decide the class label.</a:t>
            </a:r>
          </a:p>
          <a:p>
            <a:pPr lvl="1" fontAlgn="base"/>
            <a:r>
              <a:rPr lang="en-US" dirty="0"/>
              <a:t>If the sigmoid output is same or above the threshold, the input is classified as Class 1.</a:t>
            </a:r>
          </a:p>
          <a:p>
            <a:pPr lvl="1" fontAlgn="base"/>
            <a:r>
              <a:rPr lang="en-US" dirty="0"/>
              <a:t>If it is below the threshold, the input is classified as Class 0.</a:t>
            </a:r>
          </a:p>
          <a:p>
            <a:endParaRPr lang="en-US" sz="2400" dirty="0"/>
          </a:p>
        </p:txBody>
      </p:sp>
    </p:spTree>
    <p:extLst>
      <p:ext uri="{BB962C8B-B14F-4D97-AF65-F5344CB8AC3E}">
        <p14:creationId xmlns:p14="http://schemas.microsoft.com/office/powerpoint/2010/main" val="1473055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7789-28D6-DFAC-AD5F-B6D8B0340D70}"/>
              </a:ext>
            </a:extLst>
          </p:cNvPr>
          <p:cNvSpPr>
            <a:spLocks noGrp="1"/>
          </p:cNvSpPr>
          <p:nvPr>
            <p:ph type="title"/>
          </p:nvPr>
        </p:nvSpPr>
        <p:spPr/>
        <p:txBody>
          <a:bodyPr/>
          <a:lstStyle/>
          <a:p>
            <a:r>
              <a:rPr lang="en-US" b="1" dirty="0"/>
              <a:t>How does Logistic Regression work?</a:t>
            </a:r>
            <a:br>
              <a:rPr lang="en-US" b="1" dirty="0"/>
            </a:br>
            <a:endParaRPr lang="en-US" dirty="0"/>
          </a:p>
        </p:txBody>
      </p:sp>
      <p:sp>
        <p:nvSpPr>
          <p:cNvPr id="4" name="Content Placeholder 3">
            <a:extLst>
              <a:ext uri="{FF2B5EF4-FFF2-40B4-BE49-F238E27FC236}">
                <a16:creationId xmlns:a16="http://schemas.microsoft.com/office/drawing/2014/main" id="{A239E14A-6684-1F32-3819-05455653BA6E}"/>
              </a:ext>
            </a:extLst>
          </p:cNvPr>
          <p:cNvSpPr>
            <a:spLocks noGrp="1"/>
          </p:cNvSpPr>
          <p:nvPr>
            <p:ph sz="half" idx="1"/>
          </p:nvPr>
        </p:nvSpPr>
        <p:spPr>
          <a:xfrm>
            <a:off x="544830" y="1690688"/>
            <a:ext cx="5810250" cy="4351338"/>
          </a:xfrm>
        </p:spPr>
        <p:txBody>
          <a:bodyPr/>
          <a:lstStyle/>
          <a:p>
            <a:pPr marL="0" indent="0">
              <a:buNone/>
            </a:pPr>
            <a:r>
              <a:rPr lang="en-US" dirty="0"/>
              <a:t>Input Features / independent Variable </a:t>
            </a:r>
          </a:p>
          <a:p>
            <a:endParaRPr lang="en-US" dirty="0"/>
          </a:p>
        </p:txBody>
      </p:sp>
      <p:pic>
        <p:nvPicPr>
          <p:cNvPr id="9" name="Content Placeholder 8">
            <a:extLst>
              <a:ext uri="{FF2B5EF4-FFF2-40B4-BE49-F238E27FC236}">
                <a16:creationId xmlns:a16="http://schemas.microsoft.com/office/drawing/2014/main" id="{A88D0961-7C57-58BD-D07E-C84AF95D125E}"/>
              </a:ext>
            </a:extLst>
          </p:cNvPr>
          <p:cNvPicPr>
            <a:picLocks noGrp="1" noChangeAspect="1"/>
          </p:cNvPicPr>
          <p:nvPr>
            <p:ph sz="half" idx="2"/>
          </p:nvPr>
        </p:nvPicPr>
        <p:blipFill>
          <a:blip r:embed="rId2"/>
          <a:stretch>
            <a:fillRect/>
          </a:stretch>
        </p:blipFill>
        <p:spPr>
          <a:xfrm>
            <a:off x="6644461" y="2645900"/>
            <a:ext cx="4606469" cy="1566200"/>
          </a:xfrm>
          <a:prstGeom prst="rect">
            <a:avLst/>
          </a:prstGeom>
        </p:spPr>
      </p:pic>
      <p:pic>
        <p:nvPicPr>
          <p:cNvPr id="7" name="Picture 6">
            <a:extLst>
              <a:ext uri="{FF2B5EF4-FFF2-40B4-BE49-F238E27FC236}">
                <a16:creationId xmlns:a16="http://schemas.microsoft.com/office/drawing/2014/main" id="{5941D73E-C462-7DC0-E19F-589E97B49897}"/>
              </a:ext>
            </a:extLst>
          </p:cNvPr>
          <p:cNvPicPr>
            <a:picLocks noChangeAspect="1"/>
          </p:cNvPicPr>
          <p:nvPr/>
        </p:nvPicPr>
        <p:blipFill>
          <a:blip r:embed="rId3"/>
          <a:stretch>
            <a:fillRect/>
          </a:stretch>
        </p:blipFill>
        <p:spPr>
          <a:xfrm>
            <a:off x="941070" y="2628610"/>
            <a:ext cx="4065270" cy="2321328"/>
          </a:xfrm>
          <a:prstGeom prst="rect">
            <a:avLst/>
          </a:prstGeom>
        </p:spPr>
      </p:pic>
      <p:sp>
        <p:nvSpPr>
          <p:cNvPr id="11" name="TextBox 10">
            <a:extLst>
              <a:ext uri="{FF2B5EF4-FFF2-40B4-BE49-F238E27FC236}">
                <a16:creationId xmlns:a16="http://schemas.microsoft.com/office/drawing/2014/main" id="{DEF6A105-2F98-4C85-107F-148809801513}"/>
              </a:ext>
            </a:extLst>
          </p:cNvPr>
          <p:cNvSpPr txBox="1"/>
          <p:nvPr/>
        </p:nvSpPr>
        <p:spPr>
          <a:xfrm>
            <a:off x="6465570" y="1825625"/>
            <a:ext cx="5181600" cy="461665"/>
          </a:xfrm>
          <a:prstGeom prst="rect">
            <a:avLst/>
          </a:prstGeom>
          <a:noFill/>
        </p:spPr>
        <p:txBody>
          <a:bodyPr wrap="square">
            <a:spAutoFit/>
          </a:bodyPr>
          <a:lstStyle/>
          <a:p>
            <a:r>
              <a:rPr lang="en-US" sz="2400" dirty="0"/>
              <a:t>Output Variable / Dependent Variable </a:t>
            </a:r>
          </a:p>
        </p:txBody>
      </p:sp>
    </p:spTree>
    <p:extLst>
      <p:ext uri="{BB962C8B-B14F-4D97-AF65-F5344CB8AC3E}">
        <p14:creationId xmlns:p14="http://schemas.microsoft.com/office/powerpoint/2010/main" val="3245352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A37F79-581A-BC22-1B49-63F7CD6C1937}"/>
              </a:ext>
            </a:extLst>
          </p:cNvPr>
          <p:cNvSpPr>
            <a:spLocks noGrp="1"/>
          </p:cNvSpPr>
          <p:nvPr>
            <p:ph type="title"/>
          </p:nvPr>
        </p:nvSpPr>
        <p:spPr>
          <a:xfrm>
            <a:off x="479636" y="58850"/>
            <a:ext cx="10909640" cy="1368614"/>
          </a:xfrm>
        </p:spPr>
        <p:txBody>
          <a:bodyPr vert="horz" lIns="91440" tIns="45720" rIns="91440" bIns="45720" rtlCol="0" anchor="ctr">
            <a:normAutofit/>
          </a:bodyPr>
          <a:lstStyle/>
          <a:p>
            <a:pPr algn="ctr"/>
            <a:r>
              <a:rPr lang="en-US" sz="6600" dirty="0"/>
              <a:t>Sigmoid Curve</a:t>
            </a:r>
          </a:p>
        </p:txBody>
      </p:sp>
      <p:sp>
        <p:nvSpPr>
          <p:cNvPr id="1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43D74A0-3831-F877-068A-3484054DBA5F}"/>
              </a:ext>
            </a:extLst>
          </p:cNvPr>
          <p:cNvPicPr>
            <a:picLocks noChangeAspect="1"/>
          </p:cNvPicPr>
          <p:nvPr/>
        </p:nvPicPr>
        <p:blipFill>
          <a:blip r:embed="rId2"/>
          <a:stretch>
            <a:fillRect/>
          </a:stretch>
        </p:blipFill>
        <p:spPr>
          <a:xfrm>
            <a:off x="174499" y="2039928"/>
            <a:ext cx="5614416" cy="3031784"/>
          </a:xfrm>
          <a:prstGeom prst="rect">
            <a:avLst/>
          </a:prstGeom>
        </p:spPr>
      </p:pic>
      <p:pic>
        <p:nvPicPr>
          <p:cNvPr id="6" name="Picture 5">
            <a:extLst>
              <a:ext uri="{FF2B5EF4-FFF2-40B4-BE49-F238E27FC236}">
                <a16:creationId xmlns:a16="http://schemas.microsoft.com/office/drawing/2014/main" id="{269264D2-581C-2878-77BD-D37CC5505F1B}"/>
              </a:ext>
            </a:extLst>
          </p:cNvPr>
          <p:cNvPicPr>
            <a:picLocks noChangeAspect="1"/>
          </p:cNvPicPr>
          <p:nvPr/>
        </p:nvPicPr>
        <p:blipFill>
          <a:blip r:embed="rId3"/>
          <a:stretch>
            <a:fillRect/>
          </a:stretch>
        </p:blipFill>
        <p:spPr>
          <a:xfrm>
            <a:off x="6254496" y="3131379"/>
            <a:ext cx="5614416" cy="1389568"/>
          </a:xfrm>
          <a:prstGeom prst="rect">
            <a:avLst/>
          </a:prstGeom>
        </p:spPr>
      </p:pic>
      <p:sp>
        <p:nvSpPr>
          <p:cNvPr id="8" name="TextBox 7">
            <a:extLst>
              <a:ext uri="{FF2B5EF4-FFF2-40B4-BE49-F238E27FC236}">
                <a16:creationId xmlns:a16="http://schemas.microsoft.com/office/drawing/2014/main" id="{01B9749E-938B-27EA-5DD5-0FC6AD76EB0B}"/>
              </a:ext>
            </a:extLst>
          </p:cNvPr>
          <p:cNvSpPr txBox="1"/>
          <p:nvPr/>
        </p:nvSpPr>
        <p:spPr>
          <a:xfrm>
            <a:off x="6254495" y="2108508"/>
            <a:ext cx="5763005" cy="923330"/>
          </a:xfrm>
          <a:prstGeom prst="rect">
            <a:avLst/>
          </a:prstGeom>
          <a:noFill/>
        </p:spPr>
        <p:txBody>
          <a:bodyPr wrap="square">
            <a:spAutoFit/>
          </a:bodyPr>
          <a:lstStyle/>
          <a:p>
            <a:r>
              <a:rPr lang="en-US" b="0" i="0" dirty="0">
                <a:solidFill>
                  <a:srgbClr val="273239"/>
                </a:solidFill>
                <a:effectLst/>
                <a:latin typeface="Nunito" pitchFamily="2" charset="0"/>
              </a:rPr>
              <a:t>As shown above the sigmoid function converts the continuous variable data into the probability </a:t>
            </a:r>
            <a:r>
              <a:rPr lang="en-US" b="0" i="0" dirty="0" err="1">
                <a:solidFill>
                  <a:srgbClr val="273239"/>
                </a:solidFill>
                <a:effectLst/>
                <a:latin typeface="Nunito" pitchFamily="2" charset="0"/>
              </a:rPr>
              <a:t>i.e</a:t>
            </a:r>
            <a:r>
              <a:rPr lang="en-US" b="0" i="0" dirty="0">
                <a:solidFill>
                  <a:srgbClr val="273239"/>
                </a:solidFill>
                <a:effectLst/>
                <a:latin typeface="Nunito" pitchFamily="2" charset="0"/>
              </a:rPr>
              <a:t> between 0 and 1. </a:t>
            </a:r>
            <a:endParaRPr lang="en-US" dirty="0"/>
          </a:p>
        </p:txBody>
      </p:sp>
      <p:pic>
        <p:nvPicPr>
          <p:cNvPr id="10" name="Picture 9">
            <a:extLst>
              <a:ext uri="{FF2B5EF4-FFF2-40B4-BE49-F238E27FC236}">
                <a16:creationId xmlns:a16="http://schemas.microsoft.com/office/drawing/2014/main" id="{D8D18B34-9052-4437-3FAA-8FF641956A4E}"/>
              </a:ext>
            </a:extLst>
          </p:cNvPr>
          <p:cNvPicPr>
            <a:picLocks noChangeAspect="1"/>
          </p:cNvPicPr>
          <p:nvPr/>
        </p:nvPicPr>
        <p:blipFill>
          <a:blip r:embed="rId4"/>
          <a:stretch>
            <a:fillRect/>
          </a:stretch>
        </p:blipFill>
        <p:spPr>
          <a:xfrm>
            <a:off x="6757416" y="5438820"/>
            <a:ext cx="3410426" cy="933580"/>
          </a:xfrm>
          <a:prstGeom prst="rect">
            <a:avLst/>
          </a:prstGeom>
        </p:spPr>
      </p:pic>
      <p:sp>
        <p:nvSpPr>
          <p:cNvPr id="14" name="TextBox 13">
            <a:extLst>
              <a:ext uri="{FF2B5EF4-FFF2-40B4-BE49-F238E27FC236}">
                <a16:creationId xmlns:a16="http://schemas.microsoft.com/office/drawing/2014/main" id="{467B5DF7-0A65-FACF-2632-F92701E009C3}"/>
              </a:ext>
            </a:extLst>
          </p:cNvPr>
          <p:cNvSpPr txBox="1"/>
          <p:nvPr/>
        </p:nvSpPr>
        <p:spPr>
          <a:xfrm>
            <a:off x="6403086" y="4656718"/>
            <a:ext cx="5266944" cy="646331"/>
          </a:xfrm>
          <a:prstGeom prst="rect">
            <a:avLst/>
          </a:prstGeom>
          <a:noFill/>
        </p:spPr>
        <p:txBody>
          <a:bodyPr wrap="square">
            <a:spAutoFit/>
          </a:bodyPr>
          <a:lstStyle/>
          <a:p>
            <a:r>
              <a:rPr lang="en-US" b="0" i="0" dirty="0">
                <a:solidFill>
                  <a:srgbClr val="273239"/>
                </a:solidFill>
                <a:effectLst/>
                <a:latin typeface="Nunito" pitchFamily="2" charset="0"/>
              </a:rPr>
              <a:t>where the probability of being a class can be measured as:</a:t>
            </a:r>
            <a:endParaRPr lang="en-US" dirty="0"/>
          </a:p>
        </p:txBody>
      </p:sp>
    </p:spTree>
    <p:extLst>
      <p:ext uri="{BB962C8B-B14F-4D97-AF65-F5344CB8AC3E}">
        <p14:creationId xmlns:p14="http://schemas.microsoft.com/office/powerpoint/2010/main" val="1919435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7289565-B5A2-FB58-C57B-D0E77CD3C98D}"/>
              </a:ext>
            </a:extLst>
          </p:cNvPr>
          <p:cNvPicPr>
            <a:picLocks noChangeAspect="1"/>
          </p:cNvPicPr>
          <p:nvPr/>
        </p:nvPicPr>
        <p:blipFill>
          <a:blip r:embed="rId2"/>
          <a:srcRect b="90"/>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3670743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ACBAF-4232-56C2-A488-FAC2716E6357}"/>
              </a:ext>
            </a:extLst>
          </p:cNvPr>
          <p:cNvSpPr>
            <a:spLocks noGrp="1"/>
          </p:cNvSpPr>
          <p:nvPr>
            <p:ph type="title"/>
          </p:nvPr>
        </p:nvSpPr>
        <p:spPr/>
        <p:txBody>
          <a:bodyPr>
            <a:normAutofit/>
          </a:bodyPr>
          <a:lstStyle/>
          <a:p>
            <a:r>
              <a:rPr lang="en-US" b="1" dirty="0"/>
              <a:t>Terminologies involved in Logistic Regression</a:t>
            </a:r>
            <a:endParaRPr lang="en-US" dirty="0"/>
          </a:p>
        </p:txBody>
      </p:sp>
      <p:sp>
        <p:nvSpPr>
          <p:cNvPr id="3" name="Content Placeholder 2">
            <a:extLst>
              <a:ext uri="{FF2B5EF4-FFF2-40B4-BE49-F238E27FC236}">
                <a16:creationId xmlns:a16="http://schemas.microsoft.com/office/drawing/2014/main" id="{10D3628E-8D40-5FF6-EAD0-42D24D8F16AC}"/>
              </a:ext>
            </a:extLst>
          </p:cNvPr>
          <p:cNvSpPr>
            <a:spLocks noGrp="1"/>
          </p:cNvSpPr>
          <p:nvPr>
            <p:ph idx="1"/>
          </p:nvPr>
        </p:nvSpPr>
        <p:spPr>
          <a:xfrm>
            <a:off x="457200" y="1825624"/>
            <a:ext cx="11167110" cy="4895215"/>
          </a:xfrm>
        </p:spPr>
        <p:txBody>
          <a:bodyPr>
            <a:normAutofit fontScale="92500" lnSpcReduction="10000"/>
          </a:bodyPr>
          <a:lstStyle/>
          <a:p>
            <a:pPr fontAlgn="base"/>
            <a:r>
              <a:rPr lang="en-US" sz="2400" b="1" dirty="0"/>
              <a:t>Independent Variables: </a:t>
            </a:r>
            <a:r>
              <a:rPr lang="en-US" sz="2400" dirty="0"/>
              <a:t>are the input features or predictor variables </a:t>
            </a:r>
          </a:p>
          <a:p>
            <a:pPr fontAlgn="base"/>
            <a:r>
              <a:rPr lang="en-US" sz="2400" b="1" dirty="0"/>
              <a:t>Dependent Variable</a:t>
            </a:r>
            <a:r>
              <a:rPr lang="en-US" sz="2400" dirty="0"/>
              <a:t>: target variable that we aim to predict. This is categorical.</a:t>
            </a:r>
          </a:p>
          <a:p>
            <a:pPr fontAlgn="base"/>
            <a:r>
              <a:rPr lang="en-US" sz="2400" b="1" dirty="0"/>
              <a:t>Logistic Function</a:t>
            </a:r>
            <a:r>
              <a:rPr lang="en-US" sz="2400" dirty="0"/>
              <a:t>: transforms the independent variables into a probability between 0 and 1 which represents the likelihood that the dependent variable is either 0 or 1.</a:t>
            </a:r>
          </a:p>
          <a:p>
            <a:pPr fontAlgn="base"/>
            <a:r>
              <a:rPr lang="en-US" sz="2400" b="1" dirty="0"/>
              <a:t>Odds</a:t>
            </a:r>
            <a:r>
              <a:rPr lang="en-US" sz="2400" dirty="0"/>
              <a:t>: ratio of the probability of an event happening to the probability of it not happening. </a:t>
            </a:r>
          </a:p>
          <a:p>
            <a:pPr fontAlgn="base"/>
            <a:r>
              <a:rPr lang="en-US" sz="2400" b="1" dirty="0"/>
              <a:t>Log-Odds (Logit)</a:t>
            </a:r>
            <a:r>
              <a:rPr lang="en-US" sz="2400" dirty="0"/>
              <a:t>: The natural logarithm of the odds. these are modeled as a linear combination of the independent variables and the intercept.</a:t>
            </a:r>
          </a:p>
          <a:p>
            <a:pPr fontAlgn="base"/>
            <a:r>
              <a:rPr lang="en-US" sz="2400" b="1" dirty="0"/>
              <a:t>Coefficient</a:t>
            </a:r>
            <a:r>
              <a:rPr lang="en-US" sz="2400" dirty="0"/>
              <a:t>: These are the parameters estimated by the logistic regression model which shows how strongly the independent variables affect the dependent variable.</a:t>
            </a:r>
          </a:p>
          <a:p>
            <a:pPr fontAlgn="base"/>
            <a:r>
              <a:rPr lang="en-US" sz="2400" b="1" dirty="0"/>
              <a:t>Intercept</a:t>
            </a:r>
            <a:r>
              <a:rPr lang="en-US" sz="2400" dirty="0"/>
              <a:t>: The constant term in the logistic regression model which represents the log-odds when all independent variables are equal to zero.</a:t>
            </a:r>
          </a:p>
          <a:p>
            <a:pPr fontAlgn="base"/>
            <a:r>
              <a:rPr lang="en-US" sz="2400" b="1" dirty="0"/>
              <a:t>Maximum Likelihood Estimation (MLE)</a:t>
            </a:r>
            <a:r>
              <a:rPr lang="en-US" sz="2400" dirty="0"/>
              <a:t>: This method is used to estimate the coefficients of the logistic regression model by maximizing the likelihood of observing the given data.</a:t>
            </a:r>
          </a:p>
        </p:txBody>
      </p:sp>
    </p:spTree>
    <p:extLst>
      <p:ext uri="{BB962C8B-B14F-4D97-AF65-F5344CB8AC3E}">
        <p14:creationId xmlns:p14="http://schemas.microsoft.com/office/powerpoint/2010/main" val="1438677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CEC2C4-F840-2561-846F-6794FDAAB75E}"/>
              </a:ext>
            </a:extLst>
          </p:cNvPr>
          <p:cNvSpPr>
            <a:spLocks noGrp="1"/>
          </p:cNvSpPr>
          <p:nvPr>
            <p:ph type="title"/>
          </p:nvPr>
        </p:nvSpPr>
        <p:spPr>
          <a:xfrm>
            <a:off x="826396" y="586855"/>
            <a:ext cx="4230100" cy="3387497"/>
          </a:xfrm>
        </p:spPr>
        <p:txBody>
          <a:bodyPr anchor="b">
            <a:normAutofit/>
          </a:bodyPr>
          <a:lstStyle/>
          <a:p>
            <a:pPr algn="r"/>
            <a:r>
              <a:rPr lang="en-US" sz="4000" b="1">
                <a:solidFill>
                  <a:srgbClr val="FFFFFF"/>
                </a:solidFill>
              </a:rPr>
              <a:t>1. Binomial Logistic regression: </a:t>
            </a:r>
            <a:endParaRPr lang="en-US" sz="4000">
              <a:solidFill>
                <a:srgbClr val="FFFFFF"/>
              </a:solidFill>
            </a:endParaRPr>
          </a:p>
        </p:txBody>
      </p:sp>
      <p:sp>
        <p:nvSpPr>
          <p:cNvPr id="3" name="Content Placeholder 2">
            <a:extLst>
              <a:ext uri="{FF2B5EF4-FFF2-40B4-BE49-F238E27FC236}">
                <a16:creationId xmlns:a16="http://schemas.microsoft.com/office/drawing/2014/main" id="{719FC7F0-315B-6E20-EE78-44CBF03778A9}"/>
              </a:ext>
            </a:extLst>
          </p:cNvPr>
          <p:cNvSpPr>
            <a:spLocks noGrp="1"/>
          </p:cNvSpPr>
          <p:nvPr>
            <p:ph idx="1"/>
          </p:nvPr>
        </p:nvSpPr>
        <p:spPr>
          <a:xfrm>
            <a:off x="6096000" y="649480"/>
            <a:ext cx="5269605" cy="5546047"/>
          </a:xfrm>
        </p:spPr>
        <p:txBody>
          <a:bodyPr anchor="ctr">
            <a:normAutofit/>
          </a:bodyPr>
          <a:lstStyle/>
          <a:p>
            <a:pPr marL="0" indent="0">
              <a:buNone/>
            </a:pPr>
            <a:r>
              <a:rPr lang="en-US" dirty="0"/>
              <a:t>In binomial logistic regression, the target variable can only have two possible values such as "0" or "1", "pass" or "fail". The sigmoid function is used for prediction.</a:t>
            </a:r>
          </a:p>
        </p:txBody>
      </p:sp>
    </p:spTree>
    <p:extLst>
      <p:ext uri="{BB962C8B-B14F-4D97-AF65-F5344CB8AC3E}">
        <p14:creationId xmlns:p14="http://schemas.microsoft.com/office/powerpoint/2010/main" val="2863080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162ABF-EE20-EDED-8AEE-D751ADC61D19}"/>
              </a:ext>
            </a:extLst>
          </p:cNvPr>
          <p:cNvSpPr txBox="1"/>
          <p:nvPr/>
        </p:nvSpPr>
        <p:spPr>
          <a:xfrm>
            <a:off x="4284479" y="60958"/>
            <a:ext cx="7907521" cy="5756912"/>
          </a:xfrm>
          <a:prstGeom prst="rect">
            <a:avLst/>
          </a:prstGeom>
        </p:spPr>
        <p:txBody>
          <a:bodyPr vert="horz" lIns="91440" tIns="45720" rIns="91440" bIns="45720" rtlCol="0" anchor="ctr">
            <a:normAutofit/>
          </a:bodyPr>
          <a:lstStyle/>
          <a:p>
            <a:pPr>
              <a:lnSpc>
                <a:spcPct val="90000"/>
              </a:lnSpc>
              <a:spcAft>
                <a:spcPts val="600"/>
              </a:spcAft>
            </a:pPr>
            <a:r>
              <a:rPr lang="en-US" sz="2200" dirty="0"/>
              <a:t>from </a:t>
            </a:r>
            <a:r>
              <a:rPr lang="en-US" sz="2200" dirty="0" err="1"/>
              <a:t>sklearn.datasets</a:t>
            </a:r>
            <a:r>
              <a:rPr lang="en-US" sz="2200" dirty="0"/>
              <a:t> import </a:t>
            </a:r>
            <a:r>
              <a:rPr lang="en-US" sz="2200" dirty="0" err="1"/>
              <a:t>load_breast_cancer</a:t>
            </a:r>
            <a:endParaRPr lang="en-US" sz="2200" dirty="0"/>
          </a:p>
          <a:p>
            <a:pPr>
              <a:lnSpc>
                <a:spcPct val="90000"/>
              </a:lnSpc>
              <a:spcAft>
                <a:spcPts val="600"/>
              </a:spcAft>
            </a:pPr>
            <a:r>
              <a:rPr lang="en-US" sz="2200" dirty="0"/>
              <a:t>from </a:t>
            </a:r>
            <a:r>
              <a:rPr lang="en-US" sz="2200" dirty="0" err="1"/>
              <a:t>sklearn.linear_model</a:t>
            </a:r>
            <a:r>
              <a:rPr lang="en-US" sz="2200" dirty="0"/>
              <a:t> import </a:t>
            </a:r>
            <a:r>
              <a:rPr lang="en-US" sz="2200" dirty="0" err="1"/>
              <a:t>LogisticRegression</a:t>
            </a:r>
            <a:endParaRPr lang="en-US" sz="2200" dirty="0"/>
          </a:p>
          <a:p>
            <a:pPr>
              <a:lnSpc>
                <a:spcPct val="90000"/>
              </a:lnSpc>
              <a:spcAft>
                <a:spcPts val="600"/>
              </a:spcAft>
            </a:pPr>
            <a:r>
              <a:rPr lang="en-US" sz="2200" dirty="0"/>
              <a:t>from </a:t>
            </a:r>
            <a:r>
              <a:rPr lang="en-US" sz="2200" dirty="0" err="1"/>
              <a:t>sklearn.model_selection</a:t>
            </a:r>
            <a:r>
              <a:rPr lang="en-US" sz="2200" dirty="0"/>
              <a:t> import </a:t>
            </a:r>
            <a:r>
              <a:rPr lang="en-US" sz="2200" dirty="0" err="1"/>
              <a:t>train_test_split</a:t>
            </a:r>
            <a:endParaRPr lang="en-US" sz="2200" dirty="0"/>
          </a:p>
          <a:p>
            <a:pPr>
              <a:lnSpc>
                <a:spcPct val="90000"/>
              </a:lnSpc>
              <a:spcAft>
                <a:spcPts val="600"/>
              </a:spcAft>
            </a:pPr>
            <a:r>
              <a:rPr lang="en-US" sz="2200" dirty="0"/>
              <a:t>from </a:t>
            </a:r>
            <a:r>
              <a:rPr lang="en-US" sz="2200" dirty="0" err="1"/>
              <a:t>sklearn.metrics</a:t>
            </a:r>
            <a:r>
              <a:rPr lang="en-US" sz="2200" dirty="0"/>
              <a:t> import </a:t>
            </a:r>
            <a:r>
              <a:rPr lang="en-US" sz="2200" dirty="0" err="1"/>
              <a:t>accuracy_score</a:t>
            </a:r>
            <a:endParaRPr lang="en-US" sz="2200" dirty="0"/>
          </a:p>
          <a:p>
            <a:pPr>
              <a:lnSpc>
                <a:spcPct val="90000"/>
              </a:lnSpc>
              <a:spcAft>
                <a:spcPts val="600"/>
              </a:spcAft>
            </a:pPr>
            <a:endParaRPr lang="en-US" sz="2200" dirty="0"/>
          </a:p>
          <a:p>
            <a:pPr>
              <a:lnSpc>
                <a:spcPct val="90000"/>
              </a:lnSpc>
              <a:spcAft>
                <a:spcPts val="600"/>
              </a:spcAft>
            </a:pPr>
            <a:r>
              <a:rPr lang="en-US" sz="2200" dirty="0"/>
              <a:t>X, y = </a:t>
            </a:r>
            <a:r>
              <a:rPr lang="en-US" sz="2200" dirty="0" err="1"/>
              <a:t>load_breast_cancer</a:t>
            </a:r>
            <a:r>
              <a:rPr lang="en-US" sz="2200" dirty="0"/>
              <a:t>(</a:t>
            </a:r>
            <a:r>
              <a:rPr lang="en-US" sz="2200" dirty="0" err="1"/>
              <a:t>return_X_y</a:t>
            </a:r>
            <a:r>
              <a:rPr lang="en-US" sz="2200" dirty="0"/>
              <a:t>=True)</a:t>
            </a:r>
          </a:p>
          <a:p>
            <a:pPr>
              <a:lnSpc>
                <a:spcPct val="90000"/>
              </a:lnSpc>
              <a:spcAft>
                <a:spcPts val="600"/>
              </a:spcAft>
            </a:pPr>
            <a:endParaRPr lang="en-US" sz="2200" dirty="0"/>
          </a:p>
          <a:p>
            <a:pPr>
              <a:lnSpc>
                <a:spcPct val="90000"/>
              </a:lnSpc>
              <a:spcAft>
                <a:spcPts val="600"/>
              </a:spcAft>
            </a:pPr>
            <a:r>
              <a:rPr lang="en-US" sz="2200" dirty="0" err="1"/>
              <a:t>X_train</a:t>
            </a:r>
            <a:r>
              <a:rPr lang="en-US" sz="2200" dirty="0"/>
              <a:t>, </a:t>
            </a:r>
            <a:r>
              <a:rPr lang="en-US" sz="2200" dirty="0" err="1"/>
              <a:t>X_test</a:t>
            </a:r>
            <a:r>
              <a:rPr lang="en-US" sz="2200" dirty="0"/>
              <a:t>, </a:t>
            </a:r>
            <a:r>
              <a:rPr lang="en-US" sz="2200" dirty="0" err="1"/>
              <a:t>y_train</a:t>
            </a:r>
            <a:r>
              <a:rPr lang="en-US" sz="2200" dirty="0"/>
              <a:t>, </a:t>
            </a:r>
            <a:r>
              <a:rPr lang="en-US" sz="2200" dirty="0" err="1"/>
              <a:t>y_test</a:t>
            </a:r>
            <a:r>
              <a:rPr lang="en-US" sz="2200" dirty="0"/>
              <a:t> = </a:t>
            </a:r>
            <a:r>
              <a:rPr lang="en-US" sz="2200" dirty="0" err="1"/>
              <a:t>train_test_split</a:t>
            </a:r>
            <a:r>
              <a:rPr lang="en-US" sz="2200" dirty="0"/>
              <a:t>(X, y, </a:t>
            </a:r>
            <a:r>
              <a:rPr lang="en-US" sz="2200" dirty="0" err="1"/>
              <a:t>test_size</a:t>
            </a:r>
            <a:r>
              <a:rPr lang="en-US" sz="2200" dirty="0"/>
              <a:t>=0.20, </a:t>
            </a:r>
            <a:r>
              <a:rPr lang="en-US" sz="2200" dirty="0" err="1"/>
              <a:t>random_state</a:t>
            </a:r>
            <a:r>
              <a:rPr lang="en-US" sz="2200" dirty="0"/>
              <a:t>=23)</a:t>
            </a:r>
          </a:p>
          <a:p>
            <a:pPr>
              <a:lnSpc>
                <a:spcPct val="90000"/>
              </a:lnSpc>
              <a:spcAft>
                <a:spcPts val="600"/>
              </a:spcAft>
            </a:pPr>
            <a:endParaRPr lang="en-US" sz="2200" dirty="0"/>
          </a:p>
          <a:p>
            <a:pPr>
              <a:lnSpc>
                <a:spcPct val="90000"/>
              </a:lnSpc>
              <a:spcAft>
                <a:spcPts val="600"/>
              </a:spcAft>
            </a:pPr>
            <a:r>
              <a:rPr lang="en-US" sz="2200" dirty="0" err="1"/>
              <a:t>clf</a:t>
            </a:r>
            <a:r>
              <a:rPr lang="en-US" sz="2200" dirty="0"/>
              <a:t> = </a:t>
            </a:r>
            <a:r>
              <a:rPr lang="en-US" sz="2200" dirty="0" err="1"/>
              <a:t>LogisticRegression</a:t>
            </a:r>
            <a:r>
              <a:rPr lang="en-US" sz="2200" dirty="0"/>
              <a:t>(</a:t>
            </a:r>
            <a:r>
              <a:rPr lang="en-US" sz="2200" dirty="0" err="1"/>
              <a:t>max_iter</a:t>
            </a:r>
            <a:r>
              <a:rPr lang="en-US" sz="2200" dirty="0"/>
              <a:t>=10000, </a:t>
            </a:r>
            <a:r>
              <a:rPr lang="en-US" sz="2200" dirty="0" err="1"/>
              <a:t>random_state</a:t>
            </a:r>
            <a:r>
              <a:rPr lang="en-US" sz="2200" dirty="0"/>
              <a:t>=0)</a:t>
            </a:r>
          </a:p>
          <a:p>
            <a:pPr>
              <a:lnSpc>
                <a:spcPct val="90000"/>
              </a:lnSpc>
              <a:spcAft>
                <a:spcPts val="600"/>
              </a:spcAft>
            </a:pPr>
            <a:r>
              <a:rPr lang="en-US" sz="2200" dirty="0" err="1"/>
              <a:t>clf.fit</a:t>
            </a:r>
            <a:r>
              <a:rPr lang="en-US" sz="2200" dirty="0"/>
              <a:t>(</a:t>
            </a:r>
            <a:r>
              <a:rPr lang="en-US" sz="2200" dirty="0" err="1"/>
              <a:t>X_train</a:t>
            </a:r>
            <a:r>
              <a:rPr lang="en-US" sz="2200" dirty="0"/>
              <a:t>, </a:t>
            </a:r>
            <a:r>
              <a:rPr lang="en-US" sz="2200" dirty="0" err="1"/>
              <a:t>y_train</a:t>
            </a:r>
            <a:r>
              <a:rPr lang="en-US" sz="2200" dirty="0"/>
              <a:t>)</a:t>
            </a:r>
          </a:p>
          <a:p>
            <a:pPr>
              <a:lnSpc>
                <a:spcPct val="90000"/>
              </a:lnSpc>
              <a:spcAft>
                <a:spcPts val="600"/>
              </a:spcAft>
            </a:pPr>
            <a:endParaRPr lang="en-US" sz="2200" dirty="0"/>
          </a:p>
          <a:p>
            <a:pPr>
              <a:lnSpc>
                <a:spcPct val="90000"/>
              </a:lnSpc>
              <a:spcAft>
                <a:spcPts val="600"/>
              </a:spcAft>
            </a:pPr>
            <a:r>
              <a:rPr lang="en-US" sz="2200" dirty="0"/>
              <a:t>acc = </a:t>
            </a:r>
            <a:r>
              <a:rPr lang="en-US" sz="2200" dirty="0" err="1"/>
              <a:t>accuracy_score</a:t>
            </a:r>
            <a:r>
              <a:rPr lang="en-US" sz="2200" dirty="0"/>
              <a:t>(</a:t>
            </a:r>
            <a:r>
              <a:rPr lang="en-US" sz="2200" dirty="0" err="1"/>
              <a:t>y_test</a:t>
            </a:r>
            <a:r>
              <a:rPr lang="en-US" sz="2200" dirty="0"/>
              <a:t>, </a:t>
            </a:r>
            <a:r>
              <a:rPr lang="en-US" sz="2200" dirty="0" err="1"/>
              <a:t>clf.predict</a:t>
            </a:r>
            <a:r>
              <a:rPr lang="en-US" sz="2200" dirty="0"/>
              <a:t>(</a:t>
            </a:r>
            <a:r>
              <a:rPr lang="en-US" sz="2200" dirty="0" err="1"/>
              <a:t>X_test</a:t>
            </a:r>
            <a:r>
              <a:rPr lang="en-US" sz="2200" dirty="0"/>
              <a:t>)) * 100</a:t>
            </a:r>
          </a:p>
          <a:p>
            <a:pPr>
              <a:lnSpc>
                <a:spcPct val="90000"/>
              </a:lnSpc>
              <a:spcAft>
                <a:spcPts val="600"/>
              </a:spcAft>
            </a:pPr>
            <a:r>
              <a:rPr lang="en-US" sz="2200" dirty="0"/>
              <a:t>print(</a:t>
            </a:r>
            <a:r>
              <a:rPr lang="en-US" sz="2200" dirty="0" err="1"/>
              <a:t>f"Logistic</a:t>
            </a:r>
            <a:r>
              <a:rPr lang="en-US" sz="2200" dirty="0"/>
              <a:t> Regression model accuracy: {acc:.2f}%")</a:t>
            </a:r>
          </a:p>
        </p:txBody>
      </p:sp>
      <p:sp>
        <p:nvSpPr>
          <p:cNvPr id="7" name="TextBox 6">
            <a:extLst>
              <a:ext uri="{FF2B5EF4-FFF2-40B4-BE49-F238E27FC236}">
                <a16:creationId xmlns:a16="http://schemas.microsoft.com/office/drawing/2014/main" id="{F60A5A72-9EEF-4FD5-27B2-DC7DDF056995}"/>
              </a:ext>
            </a:extLst>
          </p:cNvPr>
          <p:cNvSpPr txBox="1"/>
          <p:nvPr/>
        </p:nvSpPr>
        <p:spPr>
          <a:xfrm>
            <a:off x="397366" y="797189"/>
            <a:ext cx="3243084" cy="3046988"/>
          </a:xfrm>
          <a:prstGeom prst="rect">
            <a:avLst/>
          </a:prstGeom>
          <a:noFill/>
        </p:spPr>
        <p:txBody>
          <a:bodyPr wrap="square">
            <a:spAutoFit/>
          </a:bodyPr>
          <a:lstStyle/>
          <a:p>
            <a:pPr lvl="0"/>
            <a:r>
              <a:rPr lang="en-US" sz="3200" b="0" i="0" dirty="0">
                <a:solidFill>
                  <a:schemeClr val="bg1"/>
                </a:solidFill>
              </a:rPr>
              <a:t>classify whether a sample from the breast cancer dataset is malignant or benign.</a:t>
            </a:r>
            <a:endParaRPr lang="en-US" sz="3200" dirty="0">
              <a:solidFill>
                <a:schemeClr val="bg1"/>
              </a:solidFill>
            </a:endParaRPr>
          </a:p>
        </p:txBody>
      </p:sp>
      <p:sp>
        <p:nvSpPr>
          <p:cNvPr id="11" name="TextBox 10">
            <a:extLst>
              <a:ext uri="{FF2B5EF4-FFF2-40B4-BE49-F238E27FC236}">
                <a16:creationId xmlns:a16="http://schemas.microsoft.com/office/drawing/2014/main" id="{831A2186-A8C8-5775-BEFC-7B6604888E11}"/>
              </a:ext>
            </a:extLst>
          </p:cNvPr>
          <p:cNvSpPr txBox="1"/>
          <p:nvPr/>
        </p:nvSpPr>
        <p:spPr>
          <a:xfrm>
            <a:off x="4284479" y="6052021"/>
            <a:ext cx="6172200" cy="646331"/>
          </a:xfrm>
          <a:prstGeom prst="rect">
            <a:avLst/>
          </a:prstGeom>
          <a:noFill/>
        </p:spPr>
        <p:txBody>
          <a:bodyPr wrap="square">
            <a:spAutoFit/>
          </a:bodyPr>
          <a:lstStyle/>
          <a:p>
            <a:pPr lvl="0"/>
            <a:r>
              <a:rPr lang="en-US" b="1" i="1" dirty="0"/>
              <a:t>Output</a:t>
            </a:r>
          </a:p>
          <a:p>
            <a:pPr lvl="0"/>
            <a:r>
              <a:rPr lang="en-US" b="1" i="1" dirty="0"/>
              <a:t>Logistic Regression model accuracy (in %): 96.49%</a:t>
            </a:r>
            <a:endParaRPr lang="en-US" b="1" dirty="0"/>
          </a:p>
        </p:txBody>
      </p:sp>
    </p:spTree>
    <p:extLst>
      <p:ext uri="{BB962C8B-B14F-4D97-AF65-F5344CB8AC3E}">
        <p14:creationId xmlns:p14="http://schemas.microsoft.com/office/powerpoint/2010/main" val="1055211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CEBE-09C4-5D1B-6445-E8E7830FD8ED}"/>
              </a:ext>
            </a:extLst>
          </p:cNvPr>
          <p:cNvSpPr>
            <a:spLocks noGrp="1"/>
          </p:cNvSpPr>
          <p:nvPr>
            <p:ph type="ctrTitle"/>
          </p:nvPr>
        </p:nvSpPr>
        <p:spPr>
          <a:xfrm>
            <a:off x="823442" y="921715"/>
            <a:ext cx="5163022" cy="2635993"/>
          </a:xfrm>
        </p:spPr>
        <p:txBody>
          <a:bodyPr anchor="b">
            <a:normAutofit/>
          </a:bodyPr>
          <a:lstStyle/>
          <a:p>
            <a:pPr algn="l"/>
            <a:r>
              <a:rPr lang="en-US" sz="4800"/>
              <a:t>Evaluation Metrics </a:t>
            </a:r>
          </a:p>
        </p:txBody>
      </p:sp>
      <p:sp>
        <p:nvSpPr>
          <p:cNvPr id="3" name="Subtitle 2">
            <a:extLst>
              <a:ext uri="{FF2B5EF4-FFF2-40B4-BE49-F238E27FC236}">
                <a16:creationId xmlns:a16="http://schemas.microsoft.com/office/drawing/2014/main" id="{B76A7D23-5BCF-E012-A087-86022B8CCDA9}"/>
              </a:ext>
            </a:extLst>
          </p:cNvPr>
          <p:cNvSpPr>
            <a:spLocks noGrp="1"/>
          </p:cNvSpPr>
          <p:nvPr>
            <p:ph type="subTitle" idx="1"/>
          </p:nvPr>
        </p:nvSpPr>
        <p:spPr>
          <a:xfrm>
            <a:off x="823442" y="4541263"/>
            <a:ext cx="4662957" cy="1395022"/>
          </a:xfrm>
        </p:spPr>
        <p:txBody>
          <a:bodyPr anchor="t">
            <a:normAutofit/>
          </a:bodyPr>
          <a:lstStyle/>
          <a:p>
            <a:pPr algn="l"/>
            <a:r>
              <a:rPr lang="en-US">
                <a:solidFill>
                  <a:srgbClr val="FFFFFF"/>
                </a:solidFill>
              </a:rPr>
              <a:t>For Different ML Algorithm </a:t>
            </a:r>
          </a:p>
        </p:txBody>
      </p:sp>
      <p:pic>
        <p:nvPicPr>
          <p:cNvPr id="5" name="Picture 4" descr="Black pen against a sheet with shaded numbers">
            <a:extLst>
              <a:ext uri="{FF2B5EF4-FFF2-40B4-BE49-F238E27FC236}">
                <a16:creationId xmlns:a16="http://schemas.microsoft.com/office/drawing/2014/main" id="{95EB2D93-A773-2046-8B26-BB1090848C55}"/>
              </a:ext>
            </a:extLst>
          </p:cNvPr>
          <p:cNvPicPr>
            <a:picLocks noChangeAspect="1"/>
          </p:cNvPicPr>
          <p:nvPr/>
        </p:nvPicPr>
        <p:blipFill>
          <a:blip r:embed="rId2"/>
          <a:srcRect l="65018" r="238" b="-1"/>
          <a:stretch>
            <a:fillRect/>
          </a:stretch>
        </p:blipFill>
        <p:spPr>
          <a:xfrm>
            <a:off x="7710187" y="463404"/>
            <a:ext cx="2890461" cy="5553193"/>
          </a:xfrm>
          <a:prstGeom prst="rect">
            <a:avLst/>
          </a:prstGeom>
        </p:spPr>
      </p:pic>
    </p:spTree>
    <p:extLst>
      <p:ext uri="{BB962C8B-B14F-4D97-AF65-F5344CB8AC3E}">
        <p14:creationId xmlns:p14="http://schemas.microsoft.com/office/powerpoint/2010/main" val="1325903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AAE6-362B-B558-EF4B-FBBBEBF01D00}"/>
              </a:ext>
            </a:extLst>
          </p:cNvPr>
          <p:cNvSpPr>
            <a:spLocks noGrp="1"/>
          </p:cNvSpPr>
          <p:nvPr>
            <p:ph type="title"/>
          </p:nvPr>
        </p:nvSpPr>
        <p:spPr>
          <a:xfrm>
            <a:off x="838200" y="0"/>
            <a:ext cx="10515600" cy="1325563"/>
          </a:xfrm>
        </p:spPr>
        <p:txBody>
          <a:bodyPr/>
          <a:lstStyle/>
          <a:p>
            <a:r>
              <a:rPr lang="en-US" dirty="0"/>
              <a:t>Metrics</a:t>
            </a:r>
          </a:p>
        </p:txBody>
      </p:sp>
      <p:sp>
        <p:nvSpPr>
          <p:cNvPr id="3" name="Content Placeholder 2">
            <a:extLst>
              <a:ext uri="{FF2B5EF4-FFF2-40B4-BE49-F238E27FC236}">
                <a16:creationId xmlns:a16="http://schemas.microsoft.com/office/drawing/2014/main" id="{F6BA6024-CA0F-F73C-D8AF-D9658946C4DA}"/>
              </a:ext>
            </a:extLst>
          </p:cNvPr>
          <p:cNvSpPr>
            <a:spLocks noGrp="1"/>
          </p:cNvSpPr>
          <p:nvPr>
            <p:ph idx="1"/>
          </p:nvPr>
        </p:nvSpPr>
        <p:spPr>
          <a:xfrm>
            <a:off x="838200" y="1143000"/>
            <a:ext cx="10728960" cy="5349876"/>
          </a:xfrm>
        </p:spPr>
        <p:txBody>
          <a:bodyPr>
            <a:normAutofit fontScale="92500" lnSpcReduction="10000"/>
          </a:bodyPr>
          <a:lstStyle/>
          <a:p>
            <a:pPr marL="514350" indent="-514350" fontAlgn="base">
              <a:buAutoNum type="arabicPeriod"/>
            </a:pPr>
            <a:r>
              <a:rPr lang="en-US" b="1" dirty="0">
                <a:latin typeface="+mj-lt"/>
              </a:rPr>
              <a:t>Accuracy:</a:t>
            </a:r>
            <a:r>
              <a:rPr lang="en-US" b="1" u="sng" dirty="0">
                <a:latin typeface="+mj-lt"/>
              </a:rPr>
              <a:t> </a:t>
            </a:r>
            <a:r>
              <a:rPr lang="en-US" dirty="0">
                <a:latin typeface="+mj-lt"/>
              </a:rPr>
              <a:t>provides the proportion of correctly classified instance</a:t>
            </a:r>
          </a:p>
          <a:p>
            <a:pPr marL="514350" indent="-514350" fontAlgn="base">
              <a:buAutoNum type="arabicPeriod"/>
            </a:pPr>
            <a:r>
              <a:rPr lang="en-US" b="1" dirty="0">
                <a:latin typeface="+mj-lt"/>
              </a:rPr>
              <a:t>Precision:</a:t>
            </a:r>
            <a:r>
              <a:rPr lang="en-US" dirty="0">
                <a:latin typeface="+mj-lt"/>
              </a:rPr>
              <a:t> focuses on the accuracy of positive predictions.</a:t>
            </a:r>
          </a:p>
          <a:p>
            <a:pPr marL="514350" indent="-514350" fontAlgn="base">
              <a:buNone/>
            </a:pPr>
            <a:r>
              <a:rPr lang="en-US" b="1" dirty="0">
                <a:latin typeface="+mj-lt"/>
              </a:rPr>
              <a:t>3.     Recall (Sensitivity or True Positive Rate):</a:t>
            </a:r>
            <a:r>
              <a:rPr lang="en-US" dirty="0">
                <a:latin typeface="+mj-lt"/>
              </a:rPr>
              <a:t> measures the proportion of       correctly predicted positive instances among all actual positive instances.</a:t>
            </a:r>
            <a:endParaRPr lang="ar-AE" i="1" dirty="0">
              <a:latin typeface="+mj-lt"/>
            </a:endParaRPr>
          </a:p>
          <a:p>
            <a:pPr marL="514350" indent="-514350" fontAlgn="base">
              <a:buNone/>
            </a:pPr>
            <a:r>
              <a:rPr lang="ar-AE" b="1" dirty="0">
                <a:latin typeface="+mj-lt"/>
              </a:rPr>
              <a:t>4</a:t>
            </a:r>
            <a:r>
              <a:rPr lang="en-US" b="1" dirty="0">
                <a:latin typeface="+mj-lt"/>
              </a:rPr>
              <a:t>.    F1 Score: </a:t>
            </a:r>
            <a:r>
              <a:rPr lang="en-US" dirty="0">
                <a:latin typeface="+mj-lt"/>
              </a:rPr>
              <a:t> is the harmonic mean of precision and recall.</a:t>
            </a:r>
          </a:p>
          <a:p>
            <a:pPr marL="514350" indent="-514350" fontAlgn="base">
              <a:buNone/>
            </a:pPr>
            <a:r>
              <a:rPr lang="en-US" b="1" dirty="0">
                <a:latin typeface="+mj-lt"/>
              </a:rPr>
              <a:t>5.    Under the Receiver Operating Characteristic Curve (AUC-ROC):</a:t>
            </a:r>
            <a:r>
              <a:rPr lang="en-US" dirty="0">
                <a:latin typeface="+mj-lt"/>
              </a:rPr>
              <a:t> The ROC curve plots the true positive rate against the false positive rate at various thresholds. </a:t>
            </a:r>
            <a:r>
              <a:rPr lang="en-US" u="sng" dirty="0">
                <a:latin typeface="+mj-lt"/>
                <a:hlinkClick r:id="rId2"/>
              </a:rPr>
              <a:t>AUC-ROC</a:t>
            </a:r>
            <a:r>
              <a:rPr lang="en-US" dirty="0">
                <a:latin typeface="+mj-lt"/>
              </a:rPr>
              <a:t> measures the area under this curve which provides an aggregate measure of a model's performance across different classification thresholds.</a:t>
            </a:r>
          </a:p>
          <a:p>
            <a:pPr marL="571500" indent="-571500" fontAlgn="base">
              <a:buNone/>
            </a:pPr>
            <a:r>
              <a:rPr lang="en-US" b="1" dirty="0">
                <a:latin typeface="+mj-lt"/>
              </a:rPr>
              <a:t>6.     Area Under the Precision-Recall Curve (AUC-PR):</a:t>
            </a:r>
            <a:r>
              <a:rPr lang="en-US" dirty="0">
                <a:latin typeface="+mj-lt"/>
              </a:rPr>
              <a:t> Similar to AUC-ROC, </a:t>
            </a:r>
            <a:r>
              <a:rPr lang="en-US" u="sng" dirty="0">
                <a:latin typeface="+mj-lt"/>
                <a:hlinkClick r:id="rId3"/>
              </a:rPr>
              <a:t>AUC-PR</a:t>
            </a:r>
            <a:r>
              <a:rPr lang="en-US" dirty="0">
                <a:latin typeface="+mj-lt"/>
              </a:rPr>
              <a:t> measures the area under the precision-recall curve helps in providing a summary of a model's performance across different precision-recall trade-offs.</a:t>
            </a:r>
          </a:p>
          <a:p>
            <a:endParaRPr lang="en-US" dirty="0"/>
          </a:p>
        </p:txBody>
      </p:sp>
    </p:spTree>
    <p:extLst>
      <p:ext uri="{BB962C8B-B14F-4D97-AF65-F5344CB8AC3E}">
        <p14:creationId xmlns:p14="http://schemas.microsoft.com/office/powerpoint/2010/main" val="1268244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657F-EFCE-3E4E-AFDB-9589C1321176}"/>
              </a:ext>
            </a:extLst>
          </p:cNvPr>
          <p:cNvSpPr>
            <a:spLocks noGrp="1"/>
          </p:cNvSpPr>
          <p:nvPr>
            <p:ph type="title"/>
          </p:nvPr>
        </p:nvSpPr>
        <p:spPr>
          <a:xfrm>
            <a:off x="794385" y="141446"/>
            <a:ext cx="10515600" cy="1325563"/>
          </a:xfrm>
        </p:spPr>
        <p:txBody>
          <a:bodyPr/>
          <a:lstStyle/>
          <a:p>
            <a:r>
              <a:rPr lang="en-US" dirty="0"/>
              <a:t>Classification Metrics</a:t>
            </a:r>
          </a:p>
        </p:txBody>
      </p:sp>
      <p:sp>
        <p:nvSpPr>
          <p:cNvPr id="3" name="Content Placeholder 2">
            <a:extLst>
              <a:ext uri="{FF2B5EF4-FFF2-40B4-BE49-F238E27FC236}">
                <a16:creationId xmlns:a16="http://schemas.microsoft.com/office/drawing/2014/main" id="{E9C490B0-1993-11F2-51A5-2ABDF6C1CEB3}"/>
              </a:ext>
            </a:extLst>
          </p:cNvPr>
          <p:cNvSpPr>
            <a:spLocks noGrp="1"/>
          </p:cNvSpPr>
          <p:nvPr>
            <p:ph idx="1"/>
          </p:nvPr>
        </p:nvSpPr>
        <p:spPr>
          <a:xfrm>
            <a:off x="952500" y="1467009"/>
            <a:ext cx="10515600" cy="1097280"/>
          </a:xfrm>
        </p:spPr>
        <p:txBody>
          <a:bodyPr/>
          <a:lstStyle/>
          <a:p>
            <a:pPr marL="0" indent="0">
              <a:buNone/>
            </a:pPr>
            <a:r>
              <a:rPr lang="en-US" b="1" dirty="0"/>
              <a:t>Confusion Metrics - </a:t>
            </a:r>
            <a:r>
              <a:rPr lang="en-US" dirty="0"/>
              <a:t>(Used in Logistic Regression, Decision Tree, Random Forest, </a:t>
            </a:r>
            <a:r>
              <a:rPr lang="en-US" dirty="0" err="1"/>
              <a:t>XGBoost</a:t>
            </a:r>
            <a:r>
              <a:rPr lang="en-US" dirty="0"/>
              <a:t>, SVM, Naive Bayes, Neural Networks)</a:t>
            </a:r>
          </a:p>
        </p:txBody>
      </p:sp>
      <p:graphicFrame>
        <p:nvGraphicFramePr>
          <p:cNvPr id="4" name="Table 3">
            <a:extLst>
              <a:ext uri="{FF2B5EF4-FFF2-40B4-BE49-F238E27FC236}">
                <a16:creationId xmlns:a16="http://schemas.microsoft.com/office/drawing/2014/main" id="{9C1F859C-B15F-87D5-6B55-CE3C76F9F020}"/>
              </a:ext>
            </a:extLst>
          </p:cNvPr>
          <p:cNvGraphicFramePr>
            <a:graphicFrameLocks noGrp="1"/>
          </p:cNvGraphicFramePr>
          <p:nvPr/>
        </p:nvGraphicFramePr>
        <p:xfrm>
          <a:off x="1832610" y="2518252"/>
          <a:ext cx="7974330" cy="1371600"/>
        </p:xfrm>
        <a:graphic>
          <a:graphicData uri="http://schemas.openxmlformats.org/drawingml/2006/table">
            <a:tbl>
              <a:tblPr/>
              <a:tblGrid>
                <a:gridCol w="2658110">
                  <a:extLst>
                    <a:ext uri="{9D8B030D-6E8A-4147-A177-3AD203B41FA5}">
                      <a16:colId xmlns:a16="http://schemas.microsoft.com/office/drawing/2014/main" val="4082091918"/>
                    </a:ext>
                  </a:extLst>
                </a:gridCol>
                <a:gridCol w="2658110">
                  <a:extLst>
                    <a:ext uri="{9D8B030D-6E8A-4147-A177-3AD203B41FA5}">
                      <a16:colId xmlns:a16="http://schemas.microsoft.com/office/drawing/2014/main" val="2538556835"/>
                    </a:ext>
                  </a:extLst>
                </a:gridCol>
                <a:gridCol w="2658110">
                  <a:extLst>
                    <a:ext uri="{9D8B030D-6E8A-4147-A177-3AD203B41FA5}">
                      <a16:colId xmlns:a16="http://schemas.microsoft.com/office/drawing/2014/main" val="3931299490"/>
                    </a:ext>
                  </a:extLst>
                </a:gridCol>
              </a:tblGrid>
              <a:tr h="0">
                <a:tc>
                  <a:txBody>
                    <a:bodyPr/>
                    <a:lstStyle/>
                    <a:p>
                      <a:pPr>
                        <a:buNone/>
                      </a:pPr>
                      <a:r>
                        <a:rPr lang="en-US" sz="2400"/>
                        <a:t>Actual \ 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2626677"/>
                  </a:ext>
                </a:extLst>
              </a:tr>
              <a:tr h="0">
                <a:tc>
                  <a:txBody>
                    <a:bodyPr/>
                    <a:lstStyle/>
                    <a:p>
                      <a:pPr>
                        <a:buNone/>
                      </a:pPr>
                      <a:r>
                        <a:rPr lang="en-US" sz="2400"/>
                        <a:t>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5359145"/>
                  </a:ext>
                </a:extLst>
              </a:tr>
              <a:tr h="0">
                <a:tc>
                  <a:txBody>
                    <a:bodyPr/>
                    <a:lstStyle/>
                    <a:p>
                      <a:pPr>
                        <a:buNone/>
                      </a:pPr>
                      <a:r>
                        <a:rPr lang="en-US" sz="2400" dirty="0"/>
                        <a:t>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FP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dirty="0"/>
                        <a:t>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2870539"/>
                  </a:ext>
                </a:extLst>
              </a:tr>
            </a:tbl>
          </a:graphicData>
        </a:graphic>
      </p:graphicFrame>
      <p:sp>
        <p:nvSpPr>
          <p:cNvPr id="6" name="TextBox 5">
            <a:extLst>
              <a:ext uri="{FF2B5EF4-FFF2-40B4-BE49-F238E27FC236}">
                <a16:creationId xmlns:a16="http://schemas.microsoft.com/office/drawing/2014/main" id="{09DBFF9C-2794-481A-D60E-9BC6EA6DF2C6}"/>
              </a:ext>
            </a:extLst>
          </p:cNvPr>
          <p:cNvSpPr txBox="1"/>
          <p:nvPr/>
        </p:nvSpPr>
        <p:spPr>
          <a:xfrm>
            <a:off x="2645093" y="4482943"/>
            <a:ext cx="6097904" cy="2246769"/>
          </a:xfrm>
          <a:prstGeom prst="rect">
            <a:avLst/>
          </a:prstGeom>
          <a:noFill/>
        </p:spPr>
        <p:txBody>
          <a:bodyPr wrap="square">
            <a:spAutoFit/>
          </a:bodyPr>
          <a:lstStyle/>
          <a:p>
            <a:pPr>
              <a:buNone/>
            </a:pPr>
            <a:r>
              <a:rPr lang="en-US" sz="2800" dirty="0"/>
              <a:t>📌 Example (Spam detection):</a:t>
            </a:r>
          </a:p>
          <a:p>
            <a:pPr>
              <a:buFont typeface="Arial" panose="020B0604020202020204" pitchFamily="34" charset="0"/>
              <a:buChar char="•"/>
            </a:pPr>
            <a:r>
              <a:rPr lang="en-US" sz="2800" dirty="0"/>
              <a:t>TP = Spam correctly detected</a:t>
            </a:r>
          </a:p>
          <a:p>
            <a:pPr>
              <a:buFont typeface="Arial" panose="020B0604020202020204" pitchFamily="34" charset="0"/>
              <a:buChar char="•"/>
            </a:pPr>
            <a:r>
              <a:rPr lang="en-US" sz="2800" dirty="0"/>
              <a:t>FP = Email wrongly marked as spam</a:t>
            </a:r>
          </a:p>
          <a:p>
            <a:pPr>
              <a:buFont typeface="Arial" panose="020B0604020202020204" pitchFamily="34" charset="0"/>
              <a:buChar char="•"/>
            </a:pPr>
            <a:r>
              <a:rPr lang="en-US" sz="2800" dirty="0"/>
              <a:t>FN = Spam missed</a:t>
            </a:r>
          </a:p>
          <a:p>
            <a:pPr>
              <a:buFont typeface="Arial" panose="020B0604020202020204" pitchFamily="34" charset="0"/>
              <a:buChar char="•"/>
            </a:pPr>
            <a:r>
              <a:rPr lang="en-US" sz="2800" dirty="0"/>
              <a:t>TN = Legit email correctly classified</a:t>
            </a:r>
          </a:p>
        </p:txBody>
      </p:sp>
    </p:spTree>
    <p:extLst>
      <p:ext uri="{BB962C8B-B14F-4D97-AF65-F5344CB8AC3E}">
        <p14:creationId xmlns:p14="http://schemas.microsoft.com/office/powerpoint/2010/main" val="2101130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67D4BC5-D8AD-833E-3324-B94100DA0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1617"/>
          <a:stretch>
            <a:fillRect/>
          </a:stretch>
        </p:blipFill>
        <p:spPr bwMode="auto">
          <a:xfrm>
            <a:off x="-1504" y="1282"/>
            <a:ext cx="12191980" cy="685671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F66A839-A794-FF15-BF24-E77D57E291CA}"/>
              </a:ext>
            </a:extLst>
          </p:cNvPr>
          <p:cNvPicPr>
            <a:picLocks noChangeAspect="1"/>
          </p:cNvPicPr>
          <p:nvPr/>
        </p:nvPicPr>
        <p:blipFill>
          <a:blip r:embed="rId3"/>
          <a:stretch>
            <a:fillRect/>
          </a:stretch>
        </p:blipFill>
        <p:spPr>
          <a:xfrm>
            <a:off x="8531802" y="1174151"/>
            <a:ext cx="3286818" cy="826099"/>
          </a:xfrm>
          <a:prstGeom prst="rect">
            <a:avLst/>
          </a:prstGeom>
        </p:spPr>
      </p:pic>
    </p:spTree>
    <p:extLst>
      <p:ext uri="{BB962C8B-B14F-4D97-AF65-F5344CB8AC3E}">
        <p14:creationId xmlns:p14="http://schemas.microsoft.com/office/powerpoint/2010/main" val="2575873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C78E27-706D-5F58-376D-DCE68225E9CD}"/>
              </a:ext>
            </a:extLst>
          </p:cNvPr>
          <p:cNvPicPr>
            <a:picLocks noChangeAspect="1"/>
          </p:cNvPicPr>
          <p:nvPr/>
        </p:nvPicPr>
        <p:blipFill>
          <a:blip r:embed="rId2"/>
          <a:stretch>
            <a:fillRect/>
          </a:stretch>
        </p:blipFill>
        <p:spPr>
          <a:xfrm>
            <a:off x="2880864" y="1023602"/>
            <a:ext cx="6430272" cy="4810796"/>
          </a:xfrm>
          <a:prstGeom prst="rect">
            <a:avLst/>
          </a:prstGeom>
        </p:spPr>
      </p:pic>
    </p:spTree>
    <p:extLst>
      <p:ext uri="{BB962C8B-B14F-4D97-AF65-F5344CB8AC3E}">
        <p14:creationId xmlns:p14="http://schemas.microsoft.com/office/powerpoint/2010/main" val="733066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FF82B1-0A8F-F32E-D298-6BD8A46512DC}"/>
              </a:ext>
            </a:extLst>
          </p:cNvPr>
          <p:cNvPicPr>
            <a:picLocks noChangeAspect="1"/>
          </p:cNvPicPr>
          <p:nvPr/>
        </p:nvPicPr>
        <p:blipFill>
          <a:blip r:embed="rId2"/>
          <a:stretch>
            <a:fillRect/>
          </a:stretch>
        </p:blipFill>
        <p:spPr>
          <a:xfrm>
            <a:off x="2914206" y="923575"/>
            <a:ext cx="6363588" cy="5010849"/>
          </a:xfrm>
          <a:prstGeom prst="rect">
            <a:avLst/>
          </a:prstGeom>
        </p:spPr>
      </p:pic>
    </p:spTree>
    <p:extLst>
      <p:ext uri="{BB962C8B-B14F-4D97-AF65-F5344CB8AC3E}">
        <p14:creationId xmlns:p14="http://schemas.microsoft.com/office/powerpoint/2010/main" val="2176525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076D13A3-C496-E383-DEB6-402EA9E832D3}"/>
              </a:ext>
            </a:extLst>
          </p:cNvPr>
          <p:cNvSpPr>
            <a:spLocks noChangeArrowheads="1"/>
          </p:cNvSpPr>
          <p:nvPr/>
        </p:nvSpPr>
        <p:spPr bwMode="auto">
          <a:xfrm>
            <a:off x="596704" y="169505"/>
            <a:ext cx="10175630" cy="76790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algn="ctr" fontAlgn="base">
              <a:lnSpc>
                <a:spcPct val="90000"/>
              </a:lnSpc>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effectLst/>
              </a:rPr>
              <a:t>Consider a study where a new diagnostic model (e.g., using chest X-rays) is tested on 1000 patients. [</a:t>
            </a:r>
            <a:r>
              <a:rPr kumimoji="0" lang="en-US" altLang="en-US" sz="2000" b="1" i="0" u="none" strike="noStrike" cap="none" normalizeH="0" baseline="0" dirty="0">
                <a:ln>
                  <a:noFill/>
                </a:ln>
                <a:effectLst/>
                <a:hlinkClick r:id="rId2"/>
              </a:rPr>
              <a:t>3</a:t>
            </a:r>
            <a:r>
              <a:rPr kumimoji="0" lang="en-US" altLang="en-US" sz="2000" b="1" i="0" u="none" strike="noStrike" cap="none" normalizeH="0" baseline="0" dirty="0">
                <a:ln>
                  <a:noFill/>
                </a:ln>
                <a:effectLst/>
              </a:rPr>
              <a:t>, </a:t>
            </a:r>
            <a:r>
              <a:rPr kumimoji="0" lang="en-US" altLang="en-US" sz="2000" b="1" i="0" u="none" strike="noStrike" cap="none" normalizeH="0" baseline="0" dirty="0">
                <a:ln>
                  <a:noFill/>
                </a:ln>
                <a:effectLst/>
                <a:hlinkClick r:id="rId3"/>
              </a:rPr>
              <a:t>4</a:t>
            </a:r>
            <a:r>
              <a:rPr kumimoji="0" lang="en-US" altLang="en-US" sz="2000" b="1" i="0" u="none" strike="noStrike" cap="none" normalizeH="0" baseline="0" dirty="0">
                <a:ln>
                  <a:noFill/>
                </a:ln>
                <a:effectLst/>
              </a:rPr>
              <a:t>, </a:t>
            </a:r>
            <a:r>
              <a:rPr kumimoji="0" lang="en-US" altLang="en-US" sz="2000" b="1" i="0" u="none" strike="noStrike" cap="none" normalizeH="0" baseline="0" dirty="0">
                <a:ln>
                  <a:noFill/>
                </a:ln>
                <a:effectLst/>
                <a:hlinkClick r:id="rId4"/>
              </a:rPr>
              <a:t>5</a:t>
            </a:r>
            <a:r>
              <a:rPr kumimoji="0" lang="en-US" altLang="en-US" sz="2000" b="1" i="0" u="none" strike="noStrike" cap="none" normalizeH="0" baseline="0" dirty="0">
                <a:ln>
                  <a:noFill/>
                </a:ln>
                <a:effectLst/>
              </a:rPr>
              <a:t>, </a:t>
            </a:r>
            <a:r>
              <a:rPr kumimoji="0" lang="en-US" altLang="en-US" sz="2000" b="1" i="0" u="none" strike="noStrike" cap="none" normalizeH="0" baseline="0" dirty="0">
                <a:ln>
                  <a:noFill/>
                </a:ln>
                <a:effectLst/>
                <a:hlinkClick r:id="rId5"/>
              </a:rPr>
              <a:t>6</a:t>
            </a:r>
            <a:r>
              <a:rPr kumimoji="0" lang="en-US" altLang="en-US" sz="2000" b="1" i="0" u="none" strike="noStrike" cap="none" normalizeH="0" baseline="0" dirty="0">
                <a:ln>
                  <a:noFill/>
                </a:ln>
                <a:effectLst/>
              </a:rPr>
              <a:t>] </a:t>
            </a:r>
            <a:endParaRPr kumimoji="0" lang="en-US" altLang="en-US" sz="2000" b="0" i="0" u="none" strike="noStrike" cap="none" normalizeH="0" baseline="0" dirty="0">
              <a:ln>
                <a:noFill/>
              </a:ln>
              <a:effectLst/>
            </a:endParaRPr>
          </a:p>
          <a:p>
            <a:pPr marL="0" marR="0" lvl="0" indent="-228600" algn="ctr" fontAlgn="base">
              <a:lnSpc>
                <a:spcPct val="90000"/>
              </a:lnSpc>
              <a:spcBef>
                <a:spcPct val="0"/>
              </a:spcBef>
              <a:spcAft>
                <a:spcPts val="600"/>
              </a:spcAft>
              <a:buClrTx/>
              <a:buSzTx/>
              <a:buFont typeface="Arial" panose="020B0604020202020204" pitchFamily="34" charset="0"/>
              <a:buChar char="•"/>
              <a:tabLst/>
            </a:pPr>
            <a:endParaRPr kumimoji="0" lang="en-US" altLang="en-US" sz="2000" b="0" i="0" u="none" strike="noStrike" cap="none" normalizeH="0" baseline="0" dirty="0">
              <a:ln>
                <a:noFill/>
              </a:ln>
              <a:effectLst/>
            </a:endParaRPr>
          </a:p>
        </p:txBody>
      </p:sp>
      <p:graphicFrame>
        <p:nvGraphicFramePr>
          <p:cNvPr id="2" name="Table 1">
            <a:extLst>
              <a:ext uri="{FF2B5EF4-FFF2-40B4-BE49-F238E27FC236}">
                <a16:creationId xmlns:a16="http://schemas.microsoft.com/office/drawing/2014/main" id="{8EF083CB-84F3-05AD-0BE5-11C73987DC37}"/>
              </a:ext>
            </a:extLst>
          </p:cNvPr>
          <p:cNvGraphicFramePr>
            <a:graphicFrameLocks noGrp="1"/>
          </p:cNvGraphicFramePr>
          <p:nvPr/>
        </p:nvGraphicFramePr>
        <p:xfrm>
          <a:off x="190501" y="937409"/>
          <a:ext cx="4758689" cy="3394387"/>
        </p:xfrm>
        <a:graphic>
          <a:graphicData uri="http://schemas.openxmlformats.org/drawingml/2006/table">
            <a:tbl>
              <a:tblPr firstRow="1" firstCol="1" bandRow="1">
                <a:tableStyleId>{5C22544A-7EE6-4342-B048-85BDC9FD1C3A}</a:tableStyleId>
              </a:tblPr>
              <a:tblGrid>
                <a:gridCol w="1489709">
                  <a:extLst>
                    <a:ext uri="{9D8B030D-6E8A-4147-A177-3AD203B41FA5}">
                      <a16:colId xmlns:a16="http://schemas.microsoft.com/office/drawing/2014/main" val="1677678498"/>
                    </a:ext>
                  </a:extLst>
                </a:gridCol>
                <a:gridCol w="1623060">
                  <a:extLst>
                    <a:ext uri="{9D8B030D-6E8A-4147-A177-3AD203B41FA5}">
                      <a16:colId xmlns:a16="http://schemas.microsoft.com/office/drawing/2014/main" val="1661955430"/>
                    </a:ext>
                  </a:extLst>
                </a:gridCol>
                <a:gridCol w="1645920">
                  <a:extLst>
                    <a:ext uri="{9D8B030D-6E8A-4147-A177-3AD203B41FA5}">
                      <a16:colId xmlns:a16="http://schemas.microsoft.com/office/drawing/2014/main" val="3637584921"/>
                    </a:ext>
                  </a:extLst>
                </a:gridCol>
              </a:tblGrid>
              <a:tr h="847463">
                <a:tc>
                  <a:txBody>
                    <a:bodyPr/>
                    <a:lstStyle/>
                    <a:p>
                      <a:pPr>
                        <a:lnSpc>
                          <a:spcPct val="107000"/>
                        </a:lnSpc>
                        <a:buNone/>
                      </a:pPr>
                      <a:endParaRPr lang="en-US" sz="1800" kern="100">
                        <a:effectLst/>
                        <a:latin typeface="Aptos" panose="020B0004020202020204" pitchFamily="34" charset="0"/>
                      </a:endParaRPr>
                    </a:p>
                  </a:txBody>
                  <a:tcPr marL="219259" marR="219259" marT="219259" marB="219259"/>
                </a:tc>
                <a:tc>
                  <a:txBody>
                    <a:bodyPr/>
                    <a:lstStyle/>
                    <a:p>
                      <a:pPr marL="0" marR="0">
                        <a:lnSpc>
                          <a:spcPct val="107000"/>
                        </a:lnSpc>
                        <a:spcAft>
                          <a:spcPts val="800"/>
                        </a:spcAft>
                        <a:buNone/>
                      </a:pPr>
                      <a:r>
                        <a:rPr lang="en-US" sz="1800" kern="100" dirty="0">
                          <a:effectLst/>
                        </a:rPr>
                        <a:t>Actual COVID-19 Positive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tc>
                  <a:txBody>
                    <a:bodyPr/>
                    <a:lstStyle/>
                    <a:p>
                      <a:pPr marL="0" marR="0">
                        <a:lnSpc>
                          <a:spcPct val="107000"/>
                        </a:lnSpc>
                        <a:spcAft>
                          <a:spcPts val="800"/>
                        </a:spcAft>
                        <a:buNone/>
                      </a:pPr>
                      <a:r>
                        <a:rPr lang="en-US" sz="1800" kern="100" dirty="0">
                          <a:effectLst/>
                        </a:rPr>
                        <a:t>Actual COVID-19 Negative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extLst>
                  <a:ext uri="{0D108BD9-81ED-4DB2-BD59-A6C34878D82A}">
                    <a16:rowId xmlns:a16="http://schemas.microsoft.com/office/drawing/2014/main" val="93022625"/>
                  </a:ext>
                </a:extLst>
              </a:tr>
              <a:tr h="999735">
                <a:tc>
                  <a:txBody>
                    <a:bodyPr/>
                    <a:lstStyle/>
                    <a:p>
                      <a:pPr marL="0" marR="0">
                        <a:lnSpc>
                          <a:spcPct val="107000"/>
                        </a:lnSpc>
                        <a:spcAft>
                          <a:spcPts val="800"/>
                        </a:spcAft>
                        <a:buNone/>
                      </a:pPr>
                      <a:r>
                        <a:rPr lang="en-US" sz="1800" kern="100">
                          <a:effectLst/>
                        </a:rPr>
                        <a:t>Predicted Positive </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tc>
                  <a:txBody>
                    <a:bodyPr/>
                    <a:lstStyle/>
                    <a:p>
                      <a:pPr marL="0" marR="0">
                        <a:lnSpc>
                          <a:spcPct val="107000"/>
                        </a:lnSpc>
                        <a:spcAft>
                          <a:spcPts val="800"/>
                        </a:spcAft>
                        <a:buNone/>
                      </a:pPr>
                      <a:r>
                        <a:rPr lang="en-US" sz="1800" kern="100">
                          <a:effectLst/>
                        </a:rPr>
                        <a:t>70 (True Positive) </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tc>
                  <a:txBody>
                    <a:bodyPr/>
                    <a:lstStyle/>
                    <a:p>
                      <a:pPr marL="0" marR="0">
                        <a:lnSpc>
                          <a:spcPct val="107000"/>
                        </a:lnSpc>
                        <a:spcAft>
                          <a:spcPts val="800"/>
                        </a:spcAft>
                        <a:buNone/>
                      </a:pPr>
                      <a:r>
                        <a:rPr lang="en-US" sz="1800" kern="100" dirty="0">
                          <a:effectLst/>
                        </a:rPr>
                        <a:t>30 (False Positive)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extLst>
                  <a:ext uri="{0D108BD9-81ED-4DB2-BD59-A6C34878D82A}">
                    <a16:rowId xmlns:a16="http://schemas.microsoft.com/office/drawing/2014/main" val="2211774193"/>
                  </a:ext>
                </a:extLst>
              </a:tr>
              <a:tr h="1069932">
                <a:tc>
                  <a:txBody>
                    <a:bodyPr/>
                    <a:lstStyle/>
                    <a:p>
                      <a:pPr marL="0" marR="0">
                        <a:lnSpc>
                          <a:spcPct val="107000"/>
                        </a:lnSpc>
                        <a:spcAft>
                          <a:spcPts val="800"/>
                        </a:spcAft>
                        <a:buNone/>
                      </a:pPr>
                      <a:r>
                        <a:rPr lang="en-US" sz="1800" kern="100">
                          <a:effectLst/>
                        </a:rPr>
                        <a:t>Predicted Negative </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tc>
                  <a:txBody>
                    <a:bodyPr/>
                    <a:lstStyle/>
                    <a:p>
                      <a:pPr marL="0" marR="0">
                        <a:lnSpc>
                          <a:spcPct val="107000"/>
                        </a:lnSpc>
                        <a:spcAft>
                          <a:spcPts val="800"/>
                        </a:spcAft>
                        <a:buNone/>
                      </a:pPr>
                      <a:r>
                        <a:rPr lang="en-US" sz="1800" kern="100">
                          <a:effectLst/>
                        </a:rPr>
                        <a:t>10 (False Negative) </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tc>
                  <a:txBody>
                    <a:bodyPr/>
                    <a:lstStyle/>
                    <a:p>
                      <a:pPr marL="0" marR="0">
                        <a:lnSpc>
                          <a:spcPct val="107000"/>
                        </a:lnSpc>
                        <a:spcAft>
                          <a:spcPts val="800"/>
                        </a:spcAft>
                        <a:buNone/>
                      </a:pPr>
                      <a:r>
                        <a:rPr lang="en-US" sz="1800" kern="100" dirty="0">
                          <a:effectLst/>
                        </a:rPr>
                        <a:t>890 (True Negative)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19259" marR="219259" marT="219259" marB="219259"/>
                </a:tc>
                <a:extLst>
                  <a:ext uri="{0D108BD9-81ED-4DB2-BD59-A6C34878D82A}">
                    <a16:rowId xmlns:a16="http://schemas.microsoft.com/office/drawing/2014/main" val="115292958"/>
                  </a:ext>
                </a:extLst>
              </a:tr>
            </a:tbl>
          </a:graphicData>
        </a:graphic>
      </p:graphicFrame>
      <p:sp>
        <p:nvSpPr>
          <p:cNvPr id="4" name="Rectangle 2">
            <a:extLst>
              <a:ext uri="{FF2B5EF4-FFF2-40B4-BE49-F238E27FC236}">
                <a16:creationId xmlns:a16="http://schemas.microsoft.com/office/drawing/2014/main" id="{7E703F88-E2AF-4B32-E25D-89D89648D23E}"/>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EA26354-EC41-6EC6-4520-A83906F51822}"/>
              </a:ext>
            </a:extLst>
          </p:cNvPr>
          <p:cNvSpPr txBox="1"/>
          <p:nvPr/>
        </p:nvSpPr>
        <p:spPr>
          <a:xfrm>
            <a:off x="5355393" y="937409"/>
            <a:ext cx="6646106" cy="37856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1D35"/>
                </a:solidFill>
                <a:effectLst/>
                <a:latin typeface="Google Sans"/>
              </a:rPr>
              <a:t>Interpretation of Results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A0A0A"/>
                </a:solidFill>
                <a:effectLst/>
                <a:latin typeface="Google Sans"/>
              </a:rPr>
              <a:t>False Positives (FP): 30</a:t>
            </a:r>
            <a:endParaRPr kumimoji="0" lang="en-US" altLang="en-US" sz="2400"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A0A0A"/>
                </a:solidFill>
                <a:effectLst/>
                <a:latin typeface="Google Sans"/>
              </a:rPr>
              <a:t>The model incorrectly predicted that 30 healthy people had COVID-19 (Type I error).</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A0A0A"/>
                </a:solidFill>
                <a:effectLst/>
                <a:latin typeface="Google Sans"/>
              </a:rPr>
              <a:t>False Negatives (FN): 10</a:t>
            </a:r>
            <a:endParaRPr kumimoji="0" lang="en-US" altLang="en-US" sz="2400"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A0A0A"/>
                </a:solidFill>
                <a:effectLst/>
                <a:latin typeface="Google Sans"/>
              </a:rPr>
              <a:t>The model incorrectly predicted that 10 people with COVID-19 were healthy (Type II error). This is often considered the most problematic error in a pandemic, as these individuals might unknowingly spread the virus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D8D05543-6893-6F71-67A6-4A4D4E8E0BD5}"/>
              </a:ext>
            </a:extLst>
          </p:cNvPr>
          <p:cNvSpPr txBox="1"/>
          <p:nvPr/>
        </p:nvSpPr>
        <p:spPr>
          <a:xfrm>
            <a:off x="2050730" y="4813860"/>
            <a:ext cx="7842885" cy="1693220"/>
          </a:xfrm>
          <a:prstGeom prst="rect">
            <a:avLst/>
          </a:prstGeom>
          <a:noFill/>
        </p:spPr>
        <p:txBody>
          <a:bodyPr wrap="square">
            <a:spAutoFit/>
          </a:bodyPr>
          <a:lstStyle/>
          <a:p>
            <a:pPr algn="l">
              <a:lnSpc>
                <a:spcPts val="1800"/>
              </a:lnSpc>
              <a:spcBef>
                <a:spcPts val="750"/>
              </a:spcBef>
              <a:spcAft>
                <a:spcPts val="900"/>
              </a:spcAft>
              <a:buFont typeface="Arial" panose="020B0604020202020204" pitchFamily="34" charset="0"/>
              <a:buChar char="•"/>
            </a:pPr>
            <a:r>
              <a:rPr lang="en-US" sz="2400" b="1" i="0" dirty="0">
                <a:solidFill>
                  <a:srgbClr val="0A0A0A"/>
                </a:solidFill>
                <a:effectLst/>
                <a:latin typeface="Google Sans"/>
              </a:rPr>
              <a:t>Accuracy:</a:t>
            </a:r>
            <a:r>
              <a:rPr lang="en-US" sz="2400" b="0" i="0" dirty="0">
                <a:solidFill>
                  <a:srgbClr val="0A0A0A"/>
                </a:solidFill>
                <a:effectLst/>
                <a:latin typeface="Google Sans"/>
              </a:rPr>
              <a:t> (TP + TN) / Total = (70 + 890) / 1000 = </a:t>
            </a:r>
            <a:r>
              <a:rPr lang="en-US" sz="2400" b="1" i="0" dirty="0">
                <a:solidFill>
                  <a:srgbClr val="0A0A0A"/>
                </a:solidFill>
                <a:effectLst/>
                <a:latin typeface="Google Sans"/>
              </a:rPr>
              <a:t>96%</a:t>
            </a:r>
            <a:endParaRPr lang="en-US" sz="2400" b="0" i="0" dirty="0">
              <a:solidFill>
                <a:srgbClr val="0A0A0A"/>
              </a:solidFill>
              <a:effectLst/>
              <a:latin typeface="Google Sans"/>
            </a:endParaRPr>
          </a:p>
          <a:p>
            <a:pPr algn="l">
              <a:lnSpc>
                <a:spcPts val="1800"/>
              </a:lnSpc>
              <a:spcBef>
                <a:spcPts val="750"/>
              </a:spcBef>
              <a:spcAft>
                <a:spcPts val="900"/>
              </a:spcAft>
              <a:buFont typeface="Arial" panose="020B0604020202020204" pitchFamily="34" charset="0"/>
              <a:buChar char="•"/>
            </a:pPr>
            <a:r>
              <a:rPr lang="en-US" sz="2400" b="1" i="0" dirty="0">
                <a:solidFill>
                  <a:srgbClr val="0A0A0A"/>
                </a:solidFill>
                <a:effectLst/>
                <a:latin typeface="Google Sans"/>
              </a:rPr>
              <a:t>Sensitivity (Recall):</a:t>
            </a:r>
            <a:r>
              <a:rPr lang="en-US" sz="2400" b="0" i="0" dirty="0">
                <a:solidFill>
                  <a:srgbClr val="0A0A0A"/>
                </a:solidFill>
                <a:effectLst/>
                <a:latin typeface="Google Sans"/>
              </a:rPr>
              <a:t> TP / (TP + FN) = 70 / (70 + 10) = </a:t>
            </a:r>
            <a:r>
              <a:rPr lang="en-US" sz="2400" b="1" i="0" dirty="0">
                <a:solidFill>
                  <a:srgbClr val="0A0A0A"/>
                </a:solidFill>
                <a:effectLst/>
                <a:latin typeface="Google Sans"/>
              </a:rPr>
              <a:t>87.5%</a:t>
            </a:r>
            <a:endParaRPr lang="en-US" sz="2400" b="0" i="0" dirty="0">
              <a:solidFill>
                <a:srgbClr val="0A0A0A"/>
              </a:solidFill>
              <a:effectLst/>
              <a:latin typeface="Google Sans"/>
            </a:endParaRPr>
          </a:p>
          <a:p>
            <a:pPr algn="l">
              <a:lnSpc>
                <a:spcPts val="1800"/>
              </a:lnSpc>
              <a:spcBef>
                <a:spcPts val="750"/>
              </a:spcBef>
              <a:spcAft>
                <a:spcPts val="900"/>
              </a:spcAft>
              <a:buFont typeface="Arial" panose="020B0604020202020204" pitchFamily="34" charset="0"/>
              <a:buChar char="•"/>
            </a:pPr>
            <a:r>
              <a:rPr lang="en-US" sz="2400" b="1" i="0" dirty="0">
                <a:solidFill>
                  <a:srgbClr val="0A0A0A"/>
                </a:solidFill>
                <a:effectLst/>
                <a:latin typeface="Google Sans"/>
              </a:rPr>
              <a:t>Specificity:</a:t>
            </a:r>
            <a:r>
              <a:rPr lang="en-US" sz="2400" b="0" i="0" dirty="0">
                <a:solidFill>
                  <a:srgbClr val="0A0A0A"/>
                </a:solidFill>
                <a:effectLst/>
                <a:latin typeface="Google Sans"/>
              </a:rPr>
              <a:t> TN / (TN + FP) = 890 / (890 + 30) = </a:t>
            </a:r>
            <a:r>
              <a:rPr lang="en-US" sz="2400" b="1" i="0" dirty="0">
                <a:solidFill>
                  <a:srgbClr val="0A0A0A"/>
                </a:solidFill>
                <a:effectLst/>
                <a:latin typeface="Google Sans"/>
              </a:rPr>
              <a:t>96.7%</a:t>
            </a:r>
            <a:endParaRPr lang="en-US" sz="2400" b="0" i="0" dirty="0">
              <a:solidFill>
                <a:srgbClr val="0A0A0A"/>
              </a:solidFill>
              <a:effectLst/>
              <a:latin typeface="Google Sans"/>
            </a:endParaRPr>
          </a:p>
          <a:p>
            <a:pPr algn="l">
              <a:lnSpc>
                <a:spcPts val="1800"/>
              </a:lnSpc>
              <a:spcBef>
                <a:spcPts val="750"/>
              </a:spcBef>
              <a:spcAft>
                <a:spcPts val="900"/>
              </a:spcAft>
              <a:buFont typeface="Arial" panose="020B0604020202020204" pitchFamily="34" charset="0"/>
              <a:buChar char="•"/>
            </a:pPr>
            <a:r>
              <a:rPr lang="en-US" sz="2400" b="1" i="0" dirty="0">
                <a:solidFill>
                  <a:srgbClr val="0A0A0A"/>
                </a:solidFill>
                <a:effectLst/>
                <a:latin typeface="Google Sans"/>
              </a:rPr>
              <a:t>Precision:</a:t>
            </a:r>
            <a:r>
              <a:rPr lang="en-US" sz="2400" b="0" i="0" dirty="0">
                <a:solidFill>
                  <a:srgbClr val="0A0A0A"/>
                </a:solidFill>
                <a:effectLst/>
                <a:latin typeface="Google Sans"/>
              </a:rPr>
              <a:t> TP / (TP + FP) = 70 / (70 + 30) = </a:t>
            </a:r>
            <a:r>
              <a:rPr lang="en-US" sz="2400" b="1" i="0" dirty="0">
                <a:solidFill>
                  <a:srgbClr val="0A0A0A"/>
                </a:solidFill>
                <a:effectLst/>
                <a:latin typeface="Google Sans"/>
              </a:rPr>
              <a:t>70%</a:t>
            </a:r>
            <a:r>
              <a:rPr lang="en-US" sz="2400" b="0" i="0" dirty="0">
                <a:solidFill>
                  <a:srgbClr val="0A0A0A"/>
                </a:solidFill>
                <a:effectLst/>
                <a:latin typeface="Google Sans"/>
              </a:rPr>
              <a:t> </a:t>
            </a:r>
          </a:p>
        </p:txBody>
      </p:sp>
    </p:spTree>
    <p:extLst>
      <p:ext uri="{BB962C8B-B14F-4D97-AF65-F5344CB8AC3E}">
        <p14:creationId xmlns:p14="http://schemas.microsoft.com/office/powerpoint/2010/main" val="1258946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387F29-BC83-37FC-0331-A7A8B2447027}"/>
              </a:ext>
            </a:extLst>
          </p:cNvPr>
          <p:cNvPicPr>
            <a:picLocks noChangeAspect="1"/>
          </p:cNvPicPr>
          <p:nvPr/>
        </p:nvPicPr>
        <p:blipFill>
          <a:blip r:embed="rId2"/>
          <a:stretch>
            <a:fillRect/>
          </a:stretch>
        </p:blipFill>
        <p:spPr>
          <a:xfrm>
            <a:off x="3504958" y="909365"/>
            <a:ext cx="3467584" cy="3896269"/>
          </a:xfrm>
          <a:prstGeom prst="rect">
            <a:avLst/>
          </a:prstGeom>
        </p:spPr>
      </p:pic>
      <p:sp>
        <p:nvSpPr>
          <p:cNvPr id="4" name="TextBox 3">
            <a:extLst>
              <a:ext uri="{FF2B5EF4-FFF2-40B4-BE49-F238E27FC236}">
                <a16:creationId xmlns:a16="http://schemas.microsoft.com/office/drawing/2014/main" id="{CC2A8263-2255-7E20-AD0C-6DF2C50B79BC}"/>
              </a:ext>
            </a:extLst>
          </p:cNvPr>
          <p:cNvSpPr txBox="1"/>
          <p:nvPr/>
        </p:nvSpPr>
        <p:spPr>
          <a:xfrm>
            <a:off x="1334453" y="272534"/>
            <a:ext cx="6097904" cy="369332"/>
          </a:xfrm>
          <a:prstGeom prst="rect">
            <a:avLst/>
          </a:prstGeom>
          <a:noFill/>
        </p:spPr>
        <p:txBody>
          <a:bodyPr wrap="square">
            <a:spAutoFit/>
          </a:bodyPr>
          <a:lstStyle/>
          <a:p>
            <a:pPr algn="l" fontAlgn="base">
              <a:buNone/>
            </a:pPr>
            <a:r>
              <a:rPr lang="en-US" b="1" i="0" dirty="0">
                <a:solidFill>
                  <a:srgbClr val="273239"/>
                </a:solidFill>
                <a:effectLst/>
                <a:latin typeface="Source Sans 3"/>
              </a:rPr>
              <a:t>AUC ROC Curve</a:t>
            </a:r>
          </a:p>
        </p:txBody>
      </p:sp>
    </p:spTree>
    <p:extLst>
      <p:ext uri="{BB962C8B-B14F-4D97-AF65-F5344CB8AC3E}">
        <p14:creationId xmlns:p14="http://schemas.microsoft.com/office/powerpoint/2010/main" val="1542567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1EEDA-5B9A-86C5-D49F-5E671D807C7C}"/>
              </a:ext>
            </a:extLst>
          </p:cNvPr>
          <p:cNvSpPr>
            <a:spLocks noGrp="1"/>
          </p:cNvSpPr>
          <p:nvPr>
            <p:ph type="title"/>
          </p:nvPr>
        </p:nvSpPr>
        <p:spPr/>
        <p:txBody>
          <a:bodyPr/>
          <a:lstStyle/>
          <a:p>
            <a:r>
              <a:rPr lang="en-US" b="1" dirty="0"/>
              <a:t>AUC ROC Curve</a:t>
            </a:r>
            <a:endParaRPr lang="en-US" dirty="0"/>
          </a:p>
        </p:txBody>
      </p:sp>
      <p:sp>
        <p:nvSpPr>
          <p:cNvPr id="3" name="Content Placeholder 2">
            <a:extLst>
              <a:ext uri="{FF2B5EF4-FFF2-40B4-BE49-F238E27FC236}">
                <a16:creationId xmlns:a16="http://schemas.microsoft.com/office/drawing/2014/main" id="{68556D97-AFC6-E921-A3AC-DD29CD3A68BE}"/>
              </a:ext>
            </a:extLst>
          </p:cNvPr>
          <p:cNvSpPr>
            <a:spLocks noGrp="1"/>
          </p:cNvSpPr>
          <p:nvPr>
            <p:ph idx="1"/>
          </p:nvPr>
        </p:nvSpPr>
        <p:spPr>
          <a:xfrm>
            <a:off x="594360" y="1508760"/>
            <a:ext cx="10759440" cy="4984115"/>
          </a:xfrm>
        </p:spPr>
        <p:txBody>
          <a:bodyPr>
            <a:normAutofit lnSpcReduction="10000"/>
          </a:bodyPr>
          <a:lstStyle/>
          <a:p>
            <a:pPr marL="0" indent="0" fontAlgn="base">
              <a:buNone/>
            </a:pPr>
            <a:r>
              <a:rPr lang="en-US" dirty="0"/>
              <a:t>It checks how well a binary classification model works and also helps  to understand how well the model separates the positive cases like people with a disease from the negative cases like people without the disease at different threshold level. </a:t>
            </a:r>
          </a:p>
          <a:p>
            <a:pPr fontAlgn="base"/>
            <a:r>
              <a:rPr lang="en-US" b="1" dirty="0"/>
              <a:t>True Positive Rate (TPR):</a:t>
            </a:r>
            <a:r>
              <a:rPr lang="en-US" dirty="0"/>
              <a:t> how often the model correctly predicts the positive cases also known as Sensitivity or Recall.</a:t>
            </a:r>
          </a:p>
          <a:p>
            <a:pPr fontAlgn="base"/>
            <a:r>
              <a:rPr lang="en-US" b="1" dirty="0"/>
              <a:t>False Positive Rate (FPR):</a:t>
            </a:r>
            <a:r>
              <a:rPr lang="en-US" dirty="0"/>
              <a:t> how often the model incorrectly predicts a negative case as positive.</a:t>
            </a:r>
          </a:p>
          <a:p>
            <a:pPr fontAlgn="base"/>
            <a:r>
              <a:rPr lang="en-US" b="1" dirty="0"/>
              <a:t>Specificity:</a:t>
            </a:r>
            <a:r>
              <a:rPr lang="en-US" dirty="0"/>
              <a:t> measures the proportion of actual negatives that the model correctly identifies. It is calculated as 1 - FPR.</a:t>
            </a:r>
          </a:p>
          <a:p>
            <a:pPr marL="0" indent="0" fontAlgn="base">
              <a:buNone/>
            </a:pPr>
            <a:r>
              <a:rPr lang="en-US" dirty="0"/>
              <a:t>The higher the curve the better the model is at making correct predictions.</a:t>
            </a:r>
          </a:p>
          <a:p>
            <a:endParaRPr lang="en-US" dirty="0"/>
          </a:p>
        </p:txBody>
      </p:sp>
    </p:spTree>
    <p:extLst>
      <p:ext uri="{BB962C8B-B14F-4D97-AF65-F5344CB8AC3E}">
        <p14:creationId xmlns:p14="http://schemas.microsoft.com/office/powerpoint/2010/main" val="3084746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4F1142-69CF-EC8B-D583-573A995C1E50}"/>
              </a:ext>
            </a:extLst>
          </p:cNvPr>
          <p:cNvPicPr>
            <a:picLocks noChangeAspect="1"/>
          </p:cNvPicPr>
          <p:nvPr/>
        </p:nvPicPr>
        <p:blipFill>
          <a:blip r:embed="rId2"/>
          <a:stretch>
            <a:fillRect/>
          </a:stretch>
        </p:blipFill>
        <p:spPr>
          <a:xfrm>
            <a:off x="194310" y="671926"/>
            <a:ext cx="7106642" cy="5153744"/>
          </a:xfrm>
          <a:prstGeom prst="rect">
            <a:avLst/>
          </a:prstGeom>
        </p:spPr>
      </p:pic>
      <p:sp>
        <p:nvSpPr>
          <p:cNvPr id="6" name="TextBox 5">
            <a:extLst>
              <a:ext uri="{FF2B5EF4-FFF2-40B4-BE49-F238E27FC236}">
                <a16:creationId xmlns:a16="http://schemas.microsoft.com/office/drawing/2014/main" id="{78AAC4EF-A158-31C0-5860-D32B6826A361}"/>
              </a:ext>
            </a:extLst>
          </p:cNvPr>
          <p:cNvSpPr txBox="1"/>
          <p:nvPr/>
        </p:nvSpPr>
        <p:spPr>
          <a:xfrm>
            <a:off x="7475221" y="1840230"/>
            <a:ext cx="4522469" cy="3000821"/>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True Positive (TP)</a:t>
            </a:r>
            <a:r>
              <a:rPr lang="en-US" b="0" i="0" dirty="0">
                <a:solidFill>
                  <a:srgbClr val="273239"/>
                </a:solidFill>
                <a:effectLst/>
                <a:latin typeface="Nunito" pitchFamily="2" charset="0"/>
              </a:rPr>
              <a:t>: Correctly predicted positive instances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True Negative (TN)</a:t>
            </a:r>
            <a:r>
              <a:rPr lang="en-US" b="0" i="0" dirty="0">
                <a:solidFill>
                  <a:srgbClr val="273239"/>
                </a:solidFill>
                <a:effectLst/>
                <a:latin typeface="Nunito" pitchFamily="2" charset="0"/>
              </a:rPr>
              <a:t>: Correctly predicted negative instances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False Positive (FP)</a:t>
            </a:r>
            <a:r>
              <a:rPr lang="en-US" b="0" i="0" dirty="0">
                <a:solidFill>
                  <a:srgbClr val="273239"/>
                </a:solidFill>
                <a:effectLst/>
                <a:latin typeface="Nunito" pitchFamily="2" charset="0"/>
              </a:rPr>
              <a:t>: Incorrectly predicted as positive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False Negative (FN)</a:t>
            </a:r>
            <a:r>
              <a:rPr lang="en-US" b="0" i="0" dirty="0">
                <a:solidFill>
                  <a:srgbClr val="273239"/>
                </a:solidFill>
                <a:effectLst/>
                <a:latin typeface="Nunito" pitchFamily="2" charset="0"/>
              </a:rPr>
              <a:t>: Incorrectly predicted as negative</a:t>
            </a:r>
          </a:p>
        </p:txBody>
      </p:sp>
    </p:spTree>
    <p:extLst>
      <p:ext uri="{BB962C8B-B14F-4D97-AF65-F5344CB8AC3E}">
        <p14:creationId xmlns:p14="http://schemas.microsoft.com/office/powerpoint/2010/main" val="3404722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D9C88E9-4541-C945-F6A9-4E4C6959C941}"/>
              </a:ext>
            </a:extLst>
          </p:cNvPr>
          <p:cNvSpPr>
            <a:spLocks noGrp="1"/>
          </p:cNvSpPr>
          <p:nvPr>
            <p:ph type="ctrTitle"/>
          </p:nvPr>
        </p:nvSpPr>
        <p:spPr>
          <a:xfrm>
            <a:off x="1314824" y="735106"/>
            <a:ext cx="10053763" cy="2928470"/>
          </a:xfrm>
        </p:spPr>
        <p:txBody>
          <a:bodyPr anchor="b">
            <a:normAutofit/>
          </a:bodyPr>
          <a:lstStyle/>
          <a:p>
            <a:pPr algn="l"/>
            <a:r>
              <a:rPr lang="en-US" sz="4800" b="1">
                <a:solidFill>
                  <a:srgbClr val="FFFFFF"/>
                </a:solidFill>
              </a:rPr>
              <a:t>Problem</a:t>
            </a:r>
            <a:br>
              <a:rPr lang="en-US" sz="4800">
                <a:solidFill>
                  <a:srgbClr val="FFFFFF"/>
                </a:solidFill>
              </a:rPr>
            </a:br>
            <a:br>
              <a:rPr lang="en-US" sz="4800">
                <a:solidFill>
                  <a:srgbClr val="FFFFFF"/>
                </a:solidFill>
              </a:rPr>
            </a:br>
            <a:endParaRPr lang="en-US" sz="4800">
              <a:solidFill>
                <a:srgbClr val="FFFFFF"/>
              </a:solidFill>
            </a:endParaRPr>
          </a:p>
        </p:txBody>
      </p:sp>
      <p:sp>
        <p:nvSpPr>
          <p:cNvPr id="3" name="Subtitle 2">
            <a:extLst>
              <a:ext uri="{FF2B5EF4-FFF2-40B4-BE49-F238E27FC236}">
                <a16:creationId xmlns:a16="http://schemas.microsoft.com/office/drawing/2014/main" id="{7EB10422-18B3-A6F0-1C2F-77A8AD9E5908}"/>
              </a:ext>
            </a:extLst>
          </p:cNvPr>
          <p:cNvSpPr>
            <a:spLocks noGrp="1"/>
          </p:cNvSpPr>
          <p:nvPr>
            <p:ph type="subTitle" idx="1"/>
          </p:nvPr>
        </p:nvSpPr>
        <p:spPr>
          <a:xfrm>
            <a:off x="971550" y="4398682"/>
            <a:ext cx="10385083" cy="1930400"/>
          </a:xfrm>
        </p:spPr>
        <p:txBody>
          <a:bodyPr anchor="ctr">
            <a:normAutofit/>
          </a:bodyPr>
          <a:lstStyle/>
          <a:p>
            <a:pPr algn="l"/>
            <a:r>
              <a:rPr lang="en-US" sz="4000" b="1" dirty="0"/>
              <a:t>Predict whether a customer will buy a product (Yes/No)</a:t>
            </a:r>
            <a:r>
              <a:rPr lang="en-US" sz="4000" dirty="0"/>
              <a:t> based on age and income.</a:t>
            </a:r>
          </a:p>
        </p:txBody>
      </p:sp>
    </p:spTree>
    <p:extLst>
      <p:ext uri="{BB962C8B-B14F-4D97-AF65-F5344CB8AC3E}">
        <p14:creationId xmlns:p14="http://schemas.microsoft.com/office/powerpoint/2010/main" val="1842775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1B54DB-509B-AED3-5FC2-D83B5426D02F}"/>
              </a:ext>
            </a:extLst>
          </p:cNvPr>
          <p:cNvSpPr>
            <a:spLocks noGrp="1"/>
          </p:cNvSpPr>
          <p:nvPr>
            <p:ph type="title"/>
          </p:nvPr>
        </p:nvSpPr>
        <p:spPr>
          <a:xfrm>
            <a:off x="826396" y="586855"/>
            <a:ext cx="4230100" cy="3387497"/>
          </a:xfrm>
        </p:spPr>
        <p:txBody>
          <a:bodyPr anchor="b">
            <a:normAutofit/>
          </a:bodyPr>
          <a:lstStyle/>
          <a:p>
            <a:pPr algn="r"/>
            <a:r>
              <a:rPr lang="en-US" sz="4000" b="1">
                <a:solidFill>
                  <a:srgbClr val="FFFFFF"/>
                </a:solidFill>
              </a:rPr>
              <a:t>Problem Understanding</a:t>
            </a:r>
            <a:endParaRPr lang="en-US" sz="4000">
              <a:solidFill>
                <a:srgbClr val="FFFFFF"/>
              </a:solidFill>
            </a:endParaRPr>
          </a:p>
        </p:txBody>
      </p:sp>
      <p:sp>
        <p:nvSpPr>
          <p:cNvPr id="3" name="Content Placeholder 2">
            <a:extLst>
              <a:ext uri="{FF2B5EF4-FFF2-40B4-BE49-F238E27FC236}">
                <a16:creationId xmlns:a16="http://schemas.microsoft.com/office/drawing/2014/main" id="{36171F63-A06A-FB98-96CB-E0744B191511}"/>
              </a:ext>
            </a:extLst>
          </p:cNvPr>
          <p:cNvSpPr>
            <a:spLocks noGrp="1"/>
          </p:cNvSpPr>
          <p:nvPr>
            <p:ph idx="1"/>
          </p:nvPr>
        </p:nvSpPr>
        <p:spPr>
          <a:xfrm>
            <a:off x="5926620" y="649480"/>
            <a:ext cx="5438986" cy="5546047"/>
          </a:xfrm>
        </p:spPr>
        <p:txBody>
          <a:bodyPr anchor="ctr">
            <a:normAutofit/>
          </a:bodyPr>
          <a:lstStyle/>
          <a:p>
            <a:r>
              <a:rPr lang="en-US" sz="3200" b="1" dirty="0"/>
              <a:t>Business Question:</a:t>
            </a:r>
            <a:br>
              <a:rPr lang="en-US" sz="3200" dirty="0"/>
            </a:br>
            <a:r>
              <a:rPr lang="en-US" sz="3200" dirty="0"/>
              <a:t>Can we predict if a customer will purchase a product?</a:t>
            </a:r>
          </a:p>
          <a:p>
            <a:r>
              <a:rPr lang="en-US" sz="3200" b="1" dirty="0"/>
              <a:t>ML Type:</a:t>
            </a:r>
            <a:br>
              <a:rPr lang="en-US" sz="3200" dirty="0"/>
            </a:br>
            <a:r>
              <a:rPr lang="en-US" sz="3200" dirty="0"/>
              <a:t>✔ Supervised Learning</a:t>
            </a:r>
            <a:br>
              <a:rPr lang="en-US" sz="3200" dirty="0"/>
            </a:br>
            <a:r>
              <a:rPr lang="en-US" sz="3200" dirty="0"/>
              <a:t>✔ Classification Problem</a:t>
            </a:r>
          </a:p>
          <a:p>
            <a:endParaRPr lang="en-US" sz="2000" dirty="0"/>
          </a:p>
        </p:txBody>
      </p:sp>
    </p:spTree>
    <p:extLst>
      <p:ext uri="{BB962C8B-B14F-4D97-AF65-F5344CB8AC3E}">
        <p14:creationId xmlns:p14="http://schemas.microsoft.com/office/powerpoint/2010/main" val="160548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4824BB-2A61-C31A-14DE-65A0D1B7778C}"/>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Data Collection</a:t>
            </a:r>
            <a:endParaRPr lang="en-US" sz="4000">
              <a:solidFill>
                <a:srgbClr val="FFFFFF"/>
              </a:solidFill>
            </a:endParaRPr>
          </a:p>
        </p:txBody>
      </p:sp>
      <p:sp>
        <p:nvSpPr>
          <p:cNvPr id="3" name="Content Placeholder 2">
            <a:extLst>
              <a:ext uri="{FF2B5EF4-FFF2-40B4-BE49-F238E27FC236}">
                <a16:creationId xmlns:a16="http://schemas.microsoft.com/office/drawing/2014/main" id="{1651B284-0133-52C8-F619-BC749EE4B162}"/>
              </a:ext>
            </a:extLst>
          </p:cNvPr>
          <p:cNvSpPr>
            <a:spLocks noGrp="1"/>
          </p:cNvSpPr>
          <p:nvPr>
            <p:ph idx="1"/>
          </p:nvPr>
        </p:nvSpPr>
        <p:spPr>
          <a:xfrm>
            <a:off x="4251960" y="649480"/>
            <a:ext cx="7772399" cy="5546047"/>
          </a:xfrm>
        </p:spPr>
        <p:txBody>
          <a:bodyPr anchor="ctr">
            <a:normAutofit/>
          </a:bodyPr>
          <a:lstStyle/>
          <a:p>
            <a:pPr marL="0" indent="0">
              <a:buNone/>
            </a:pPr>
            <a:r>
              <a:rPr lang="en-US" dirty="0"/>
              <a:t>import pandas as pd</a:t>
            </a:r>
          </a:p>
          <a:p>
            <a:pPr marL="0" indent="0">
              <a:buNone/>
            </a:pPr>
            <a:r>
              <a:rPr lang="en-US" dirty="0"/>
              <a:t> </a:t>
            </a:r>
          </a:p>
          <a:p>
            <a:pPr marL="0" indent="0">
              <a:buNone/>
            </a:pPr>
            <a:r>
              <a:rPr lang="en-US" dirty="0"/>
              <a:t>data = {</a:t>
            </a:r>
          </a:p>
          <a:p>
            <a:pPr marL="0" indent="0">
              <a:buNone/>
            </a:pPr>
            <a:r>
              <a:rPr lang="en-US" dirty="0"/>
              <a:t>    "Age": [22, 25, 47, 52, 46, 56, 30],</a:t>
            </a:r>
          </a:p>
          <a:p>
            <a:pPr marL="0" indent="0">
              <a:buNone/>
            </a:pPr>
            <a:r>
              <a:rPr lang="en-US" dirty="0"/>
              <a:t>    "Income": [15000, 30000, 120000, 110000, 80000, 150000, 40000],</a:t>
            </a:r>
          </a:p>
          <a:p>
            <a:pPr marL="0" indent="0">
              <a:buNone/>
            </a:pPr>
            <a:r>
              <a:rPr lang="en-US" dirty="0"/>
              <a:t>    "Purchased": [0, 0, 1, 1, 1, 1, 0]</a:t>
            </a:r>
          </a:p>
          <a:p>
            <a:pPr marL="0" indent="0">
              <a:buNone/>
            </a:pPr>
            <a:r>
              <a:rPr lang="en-US" dirty="0"/>
              <a:t>}</a:t>
            </a:r>
          </a:p>
          <a:p>
            <a:pPr marL="0" indent="0">
              <a:buNone/>
            </a:pPr>
            <a:r>
              <a:rPr lang="en-US" dirty="0"/>
              <a:t> </a:t>
            </a:r>
          </a:p>
          <a:p>
            <a:pPr marL="0" indent="0">
              <a:buNone/>
            </a:pPr>
            <a:r>
              <a:rPr lang="en-US" dirty="0" err="1"/>
              <a:t>df</a:t>
            </a:r>
            <a:r>
              <a:rPr lang="en-US" dirty="0"/>
              <a:t> = </a:t>
            </a:r>
            <a:r>
              <a:rPr lang="en-US" dirty="0" err="1"/>
              <a:t>pd.DataFrame</a:t>
            </a:r>
            <a:r>
              <a:rPr lang="en-US" dirty="0"/>
              <a:t>(data)</a:t>
            </a:r>
          </a:p>
          <a:p>
            <a:pPr marL="0" indent="0">
              <a:buNone/>
            </a:pPr>
            <a:r>
              <a:rPr lang="en-US" dirty="0" err="1"/>
              <a:t>df</a:t>
            </a:r>
            <a:endParaRPr lang="en-US" dirty="0"/>
          </a:p>
          <a:p>
            <a:pPr marL="0" indent="0">
              <a:buNone/>
            </a:pPr>
            <a:endParaRPr lang="en-US" sz="2000" dirty="0"/>
          </a:p>
        </p:txBody>
      </p:sp>
    </p:spTree>
    <p:extLst>
      <p:ext uri="{BB962C8B-B14F-4D97-AF65-F5344CB8AC3E}">
        <p14:creationId xmlns:p14="http://schemas.microsoft.com/office/powerpoint/2010/main" val="2906313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A5B938-34C2-931A-9EBA-B068544B82A8}"/>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Data Cleaning</a:t>
            </a:r>
            <a:endParaRPr lang="en-US" sz="4000">
              <a:solidFill>
                <a:srgbClr val="FFFFFF"/>
              </a:solidFill>
            </a:endParaRPr>
          </a:p>
        </p:txBody>
      </p:sp>
      <p:sp>
        <p:nvSpPr>
          <p:cNvPr id="3" name="Content Placeholder 2">
            <a:extLst>
              <a:ext uri="{FF2B5EF4-FFF2-40B4-BE49-F238E27FC236}">
                <a16:creationId xmlns:a16="http://schemas.microsoft.com/office/drawing/2014/main" id="{1E6965AD-49E6-06AB-6B3C-01EE7982A266}"/>
              </a:ext>
            </a:extLst>
          </p:cNvPr>
          <p:cNvSpPr>
            <a:spLocks noGrp="1"/>
          </p:cNvSpPr>
          <p:nvPr>
            <p:ph idx="1"/>
          </p:nvPr>
        </p:nvSpPr>
        <p:spPr>
          <a:xfrm>
            <a:off x="4810259" y="649480"/>
            <a:ext cx="6555347" cy="5546047"/>
          </a:xfrm>
        </p:spPr>
        <p:txBody>
          <a:bodyPr anchor="ctr">
            <a:normAutofit/>
          </a:bodyPr>
          <a:lstStyle/>
          <a:p>
            <a:pPr marL="0" indent="0">
              <a:buNone/>
            </a:pPr>
            <a:r>
              <a:rPr lang="en-US" dirty="0"/>
              <a:t>✔ Check missing values</a:t>
            </a:r>
            <a:br>
              <a:rPr lang="en-US" dirty="0"/>
            </a:br>
            <a:r>
              <a:rPr lang="en-US" dirty="0"/>
              <a:t>✔ Check data types</a:t>
            </a:r>
          </a:p>
          <a:p>
            <a:pPr marL="0" indent="0">
              <a:buNone/>
            </a:pPr>
            <a:endParaRPr lang="en-US" dirty="0"/>
          </a:p>
          <a:p>
            <a:pPr marL="0" indent="0">
              <a:buNone/>
            </a:pPr>
            <a:r>
              <a:rPr lang="en-US" dirty="0"/>
              <a:t>df.info()</a:t>
            </a:r>
          </a:p>
          <a:p>
            <a:pPr marL="0" indent="0">
              <a:buNone/>
            </a:pPr>
            <a:r>
              <a:rPr lang="en-US" dirty="0" err="1"/>
              <a:t>df.isnull</a:t>
            </a:r>
            <a:r>
              <a:rPr lang="en-US" dirty="0"/>
              <a:t>().sum()</a:t>
            </a:r>
          </a:p>
          <a:p>
            <a:pPr marL="0" indent="0">
              <a:buNone/>
            </a:pPr>
            <a:endParaRPr lang="en-US" dirty="0"/>
          </a:p>
          <a:p>
            <a:pPr marL="0" indent="0">
              <a:buNone/>
            </a:pPr>
            <a:r>
              <a:rPr lang="en-US" dirty="0"/>
              <a:t>👉 No missing values → no cleaning needed here</a:t>
            </a:r>
            <a:br>
              <a:rPr lang="en-US" dirty="0"/>
            </a:br>
            <a:r>
              <a:rPr lang="en-US" dirty="0"/>
              <a:t>(Real datasets often need </a:t>
            </a:r>
            <a:r>
              <a:rPr lang="en-US" b="1" dirty="0"/>
              <a:t>imputation, duplicates removal, format fixing</a:t>
            </a:r>
            <a:r>
              <a:rPr lang="en-US" dirty="0"/>
              <a:t>)</a:t>
            </a:r>
          </a:p>
          <a:p>
            <a:endParaRPr lang="en-US" dirty="0"/>
          </a:p>
        </p:txBody>
      </p:sp>
    </p:spTree>
    <p:extLst>
      <p:ext uri="{BB962C8B-B14F-4D97-AF65-F5344CB8AC3E}">
        <p14:creationId xmlns:p14="http://schemas.microsoft.com/office/powerpoint/2010/main" val="3899460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1778B7-5C18-84EA-1840-D8187DFA4E75}"/>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Exploratory Data Analysis (EDA)</a:t>
            </a:r>
            <a:endParaRPr lang="en-US" sz="4000">
              <a:solidFill>
                <a:srgbClr val="FFFFFF"/>
              </a:solidFill>
            </a:endParaRPr>
          </a:p>
        </p:txBody>
      </p:sp>
      <p:sp>
        <p:nvSpPr>
          <p:cNvPr id="3" name="Content Placeholder 2">
            <a:extLst>
              <a:ext uri="{FF2B5EF4-FFF2-40B4-BE49-F238E27FC236}">
                <a16:creationId xmlns:a16="http://schemas.microsoft.com/office/drawing/2014/main" id="{2C9EFCE9-91ED-4AF6-6386-02FF4B3BA21C}"/>
              </a:ext>
            </a:extLst>
          </p:cNvPr>
          <p:cNvSpPr>
            <a:spLocks noGrp="1"/>
          </p:cNvSpPr>
          <p:nvPr>
            <p:ph idx="1"/>
          </p:nvPr>
        </p:nvSpPr>
        <p:spPr>
          <a:xfrm>
            <a:off x="4504549" y="649480"/>
            <a:ext cx="6861058" cy="5625590"/>
          </a:xfrm>
        </p:spPr>
        <p:txBody>
          <a:bodyPr anchor="ctr">
            <a:normAutofit/>
          </a:bodyPr>
          <a:lstStyle/>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 </a:t>
            </a:r>
            <a:r>
              <a:rPr lang="en-US" dirty="0" err="1"/>
              <a:t>plt.scatter</a:t>
            </a:r>
            <a:r>
              <a:rPr lang="en-US" dirty="0"/>
              <a:t>(</a:t>
            </a:r>
            <a:r>
              <a:rPr lang="en-US" dirty="0" err="1"/>
              <a:t>df</a:t>
            </a:r>
            <a:r>
              <a:rPr lang="en-US" dirty="0"/>
              <a:t>["Age"], </a:t>
            </a:r>
            <a:r>
              <a:rPr lang="en-US" dirty="0" err="1"/>
              <a:t>df</a:t>
            </a:r>
            <a:r>
              <a:rPr lang="en-US" dirty="0"/>
              <a:t>["Income"])</a:t>
            </a:r>
          </a:p>
          <a:p>
            <a:pPr marL="0" indent="0">
              <a:buNone/>
            </a:pPr>
            <a:r>
              <a:rPr lang="en-US" dirty="0" err="1"/>
              <a:t>plt.xlabel</a:t>
            </a:r>
            <a:r>
              <a:rPr lang="en-US" dirty="0"/>
              <a:t>("Age")</a:t>
            </a:r>
          </a:p>
          <a:p>
            <a:pPr marL="0" indent="0">
              <a:buNone/>
            </a:pPr>
            <a:r>
              <a:rPr lang="en-US" dirty="0" err="1"/>
              <a:t>plt.ylabel</a:t>
            </a:r>
            <a:r>
              <a:rPr lang="en-US" dirty="0"/>
              <a:t>("Income")</a:t>
            </a:r>
          </a:p>
          <a:p>
            <a:pPr marL="0" indent="0">
              <a:buNone/>
            </a:pPr>
            <a:r>
              <a:rPr lang="en-US" dirty="0" err="1"/>
              <a:t>plt.show</a:t>
            </a:r>
            <a:r>
              <a:rPr lang="en-US" dirty="0"/>
              <a:t>()</a:t>
            </a:r>
          </a:p>
          <a:p>
            <a:pPr marL="0" indent="0">
              <a:buNone/>
            </a:pPr>
            <a:endParaRPr lang="en-US" dirty="0"/>
          </a:p>
          <a:p>
            <a:pPr marL="0" indent="0">
              <a:buNone/>
            </a:pPr>
            <a:r>
              <a:rPr lang="en-US" b="1" dirty="0"/>
              <a:t>Insights</a:t>
            </a:r>
            <a:endParaRPr lang="en-US" dirty="0"/>
          </a:p>
          <a:p>
            <a:pPr lvl="0"/>
            <a:r>
              <a:rPr lang="en-US" dirty="0"/>
              <a:t>Higher income → higher chance of purchase</a:t>
            </a:r>
          </a:p>
          <a:p>
            <a:pPr lvl="0"/>
            <a:r>
              <a:rPr lang="en-US" dirty="0"/>
              <a:t>Age also influences buying behavior</a:t>
            </a:r>
          </a:p>
          <a:p>
            <a:endParaRPr lang="en-US" sz="2000" dirty="0"/>
          </a:p>
        </p:txBody>
      </p:sp>
    </p:spTree>
    <p:extLst>
      <p:ext uri="{BB962C8B-B14F-4D97-AF65-F5344CB8AC3E}">
        <p14:creationId xmlns:p14="http://schemas.microsoft.com/office/powerpoint/2010/main" val="2357599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8CDD0F-1319-15B8-E2C0-4B59C2358062}"/>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Feature Engineering</a:t>
            </a:r>
            <a:endParaRPr lang="en-US" sz="4000">
              <a:solidFill>
                <a:srgbClr val="FFFFFF"/>
              </a:solidFill>
            </a:endParaRPr>
          </a:p>
        </p:txBody>
      </p:sp>
      <p:sp>
        <p:nvSpPr>
          <p:cNvPr id="3" name="Content Placeholder 2">
            <a:extLst>
              <a:ext uri="{FF2B5EF4-FFF2-40B4-BE49-F238E27FC236}">
                <a16:creationId xmlns:a16="http://schemas.microsoft.com/office/drawing/2014/main" id="{41AC1142-BACB-1987-ADB2-9FF3DCE122B7}"/>
              </a:ext>
            </a:extLst>
          </p:cNvPr>
          <p:cNvSpPr>
            <a:spLocks noGrp="1"/>
          </p:cNvSpPr>
          <p:nvPr>
            <p:ph idx="1"/>
          </p:nvPr>
        </p:nvSpPr>
        <p:spPr>
          <a:xfrm>
            <a:off x="4367695" y="365760"/>
            <a:ext cx="7256615" cy="5897880"/>
          </a:xfrm>
        </p:spPr>
        <p:txBody>
          <a:bodyPr anchor="ctr">
            <a:normAutofit/>
          </a:bodyPr>
          <a:lstStyle/>
          <a:p>
            <a:pPr marL="0" indent="0">
              <a:buNone/>
            </a:pPr>
            <a:r>
              <a:rPr lang="en-US" b="1" dirty="0"/>
              <a:t>Split features &amp; target</a:t>
            </a:r>
          </a:p>
          <a:p>
            <a:pPr marL="0" indent="0">
              <a:buNone/>
            </a:pPr>
            <a:r>
              <a:rPr lang="en-US" dirty="0"/>
              <a:t>X = </a:t>
            </a:r>
            <a:r>
              <a:rPr lang="en-US" dirty="0" err="1"/>
              <a:t>df</a:t>
            </a:r>
            <a:r>
              <a:rPr lang="en-US" dirty="0"/>
              <a:t>[["Age", "Income"]]</a:t>
            </a:r>
          </a:p>
          <a:p>
            <a:pPr marL="0" indent="0">
              <a:buNone/>
            </a:pPr>
            <a:r>
              <a:rPr lang="en-US" dirty="0"/>
              <a:t>y = </a:t>
            </a:r>
            <a:r>
              <a:rPr lang="en-US" dirty="0" err="1"/>
              <a:t>df</a:t>
            </a:r>
            <a:r>
              <a:rPr lang="en-US" dirty="0"/>
              <a:t>["Purchased"]</a:t>
            </a:r>
          </a:p>
          <a:p>
            <a:pPr marL="0" indent="0">
              <a:buNone/>
            </a:pPr>
            <a:endParaRPr lang="en-US" dirty="0"/>
          </a:p>
          <a:p>
            <a:pPr marL="0" indent="0">
              <a:buNone/>
            </a:pPr>
            <a:r>
              <a:rPr lang="en-US" b="1" dirty="0"/>
              <a:t>Feature Scaling (important for ML models)</a:t>
            </a:r>
          </a:p>
          <a:p>
            <a:pPr marL="0" indent="0">
              <a:buNone/>
            </a:pPr>
            <a:endParaRPr lang="en-US" b="1" dirty="0"/>
          </a:p>
          <a:p>
            <a:pPr marL="0" indent="0">
              <a:buNone/>
            </a:pPr>
            <a:r>
              <a:rPr lang="en-US" dirty="0"/>
              <a:t>from </a:t>
            </a:r>
            <a:r>
              <a:rPr lang="en-US" dirty="0" err="1"/>
              <a:t>sklearn.preprocessing</a:t>
            </a:r>
            <a:r>
              <a:rPr lang="en-US" dirty="0"/>
              <a:t> import StandardScaler</a:t>
            </a:r>
          </a:p>
          <a:p>
            <a:pPr marL="0" indent="0">
              <a:buNone/>
            </a:pPr>
            <a:r>
              <a:rPr lang="en-US" dirty="0"/>
              <a:t> </a:t>
            </a:r>
          </a:p>
          <a:p>
            <a:pPr marL="0" indent="0">
              <a:buNone/>
            </a:pPr>
            <a:r>
              <a:rPr lang="en-US" dirty="0"/>
              <a:t>scaler = StandardScaler()</a:t>
            </a:r>
          </a:p>
          <a:p>
            <a:pPr marL="0" indent="0">
              <a:buNone/>
            </a:pPr>
            <a:r>
              <a:rPr lang="en-US" dirty="0" err="1"/>
              <a:t>X_scaled</a:t>
            </a:r>
            <a:r>
              <a:rPr lang="en-US" dirty="0"/>
              <a:t> = </a:t>
            </a:r>
            <a:r>
              <a:rPr lang="en-US" dirty="0" err="1"/>
              <a:t>scaler.fit_transform</a:t>
            </a:r>
            <a:r>
              <a:rPr lang="en-US" dirty="0"/>
              <a:t>(X)</a:t>
            </a:r>
          </a:p>
          <a:p>
            <a:endParaRPr lang="en-US" sz="2000" dirty="0"/>
          </a:p>
        </p:txBody>
      </p:sp>
    </p:spTree>
    <p:extLst>
      <p:ext uri="{BB962C8B-B14F-4D97-AF65-F5344CB8AC3E}">
        <p14:creationId xmlns:p14="http://schemas.microsoft.com/office/powerpoint/2010/main" val="1274450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AF870B-9EC8-BF7B-83EB-A3AC57574532}"/>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Model Selection</a:t>
            </a:r>
            <a:endParaRPr lang="en-US" sz="4000">
              <a:solidFill>
                <a:srgbClr val="FFFFFF"/>
              </a:solidFill>
            </a:endParaRPr>
          </a:p>
        </p:txBody>
      </p:sp>
      <p:sp>
        <p:nvSpPr>
          <p:cNvPr id="3" name="Content Placeholder 2">
            <a:extLst>
              <a:ext uri="{FF2B5EF4-FFF2-40B4-BE49-F238E27FC236}">
                <a16:creationId xmlns:a16="http://schemas.microsoft.com/office/drawing/2014/main" id="{C63B0AA7-9211-075B-805C-F58806F890BE}"/>
              </a:ext>
            </a:extLst>
          </p:cNvPr>
          <p:cNvSpPr>
            <a:spLocks noGrp="1"/>
          </p:cNvSpPr>
          <p:nvPr>
            <p:ph idx="1"/>
          </p:nvPr>
        </p:nvSpPr>
        <p:spPr>
          <a:xfrm>
            <a:off x="4810259" y="649480"/>
            <a:ext cx="6555347" cy="5546047"/>
          </a:xfrm>
        </p:spPr>
        <p:txBody>
          <a:bodyPr anchor="ctr">
            <a:normAutofit/>
          </a:bodyPr>
          <a:lstStyle/>
          <a:p>
            <a:pPr marL="0" indent="0">
              <a:buNone/>
            </a:pPr>
            <a:endParaRPr lang="en-US" dirty="0"/>
          </a:p>
          <a:p>
            <a:pPr marL="0" indent="0">
              <a:buNone/>
            </a:pPr>
            <a:r>
              <a:rPr lang="en-US" dirty="0"/>
              <a:t>We choose:</a:t>
            </a:r>
          </a:p>
          <a:p>
            <a:pPr marL="0" indent="0">
              <a:buNone/>
            </a:pPr>
            <a:endParaRPr lang="en-US" dirty="0"/>
          </a:p>
          <a:p>
            <a:pPr marL="0" indent="0">
              <a:buNone/>
            </a:pPr>
            <a:br>
              <a:rPr lang="en-US" dirty="0"/>
            </a:br>
            <a:r>
              <a:rPr lang="en-US" dirty="0"/>
              <a:t>✔ </a:t>
            </a:r>
            <a:r>
              <a:rPr lang="en-US" b="1" dirty="0"/>
              <a:t>Logistic Regression</a:t>
            </a:r>
            <a:br>
              <a:rPr lang="en-US" dirty="0"/>
            </a:br>
            <a:r>
              <a:rPr lang="en-US" dirty="0"/>
              <a:t>(Simple, interpretable, good for binary classification)</a:t>
            </a:r>
          </a:p>
          <a:p>
            <a:endParaRPr lang="en-US" sz="2000" dirty="0"/>
          </a:p>
        </p:txBody>
      </p:sp>
    </p:spTree>
    <p:extLst>
      <p:ext uri="{BB962C8B-B14F-4D97-AF65-F5344CB8AC3E}">
        <p14:creationId xmlns:p14="http://schemas.microsoft.com/office/powerpoint/2010/main" val="4022004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FF8754-3205-FBF1-A169-CD7DB0E8FD8C}"/>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Model Training</a:t>
            </a:r>
            <a:endParaRPr lang="en-US" sz="4000">
              <a:solidFill>
                <a:srgbClr val="FFFFFF"/>
              </a:solidFill>
            </a:endParaRPr>
          </a:p>
        </p:txBody>
      </p:sp>
      <p:sp>
        <p:nvSpPr>
          <p:cNvPr id="3" name="Content Placeholder 2">
            <a:extLst>
              <a:ext uri="{FF2B5EF4-FFF2-40B4-BE49-F238E27FC236}">
                <a16:creationId xmlns:a16="http://schemas.microsoft.com/office/drawing/2014/main" id="{25D1E270-4ECF-7D4D-359A-4FDDD38A0A05}"/>
              </a:ext>
            </a:extLst>
          </p:cNvPr>
          <p:cNvSpPr>
            <a:spLocks noGrp="1"/>
          </p:cNvSpPr>
          <p:nvPr>
            <p:ph idx="1"/>
          </p:nvPr>
        </p:nvSpPr>
        <p:spPr>
          <a:xfrm>
            <a:off x="4367695" y="649480"/>
            <a:ext cx="7576655" cy="5546047"/>
          </a:xfrm>
        </p:spPr>
        <p:txBody>
          <a:bodyPr anchor="ctr">
            <a:normAutofit/>
          </a:bodyPr>
          <a:lstStyle/>
          <a:p>
            <a:pPr marL="0" indent="0">
              <a:buNone/>
            </a:pPr>
            <a:r>
              <a:rPr lang="en-US" dirty="0"/>
              <a:t>from </a:t>
            </a:r>
            <a:r>
              <a:rPr lang="en-US" dirty="0" err="1"/>
              <a:t>sklearn.model_selection</a:t>
            </a:r>
            <a:r>
              <a:rPr lang="en-US" dirty="0"/>
              <a:t> import </a:t>
            </a:r>
            <a:r>
              <a:rPr lang="en-US" dirty="0" err="1"/>
              <a:t>train_test_split</a:t>
            </a:r>
            <a:endParaRPr lang="en-US" dirty="0"/>
          </a:p>
          <a:p>
            <a:pPr marL="0" indent="0">
              <a:buNone/>
            </a:pPr>
            <a:r>
              <a:rPr lang="en-US" dirty="0"/>
              <a:t>from </a:t>
            </a:r>
            <a:r>
              <a:rPr lang="en-US" dirty="0" err="1"/>
              <a:t>sklearn.linear_model</a:t>
            </a:r>
            <a:r>
              <a:rPr lang="en-US" dirty="0"/>
              <a:t> import </a:t>
            </a:r>
            <a:r>
              <a:rPr lang="en-US" dirty="0" err="1"/>
              <a:t>LogisticRegression</a:t>
            </a:r>
            <a:endParaRPr lang="en-US" dirty="0"/>
          </a:p>
          <a:p>
            <a:pPr marL="0" indent="0">
              <a:buNone/>
            </a:pPr>
            <a:r>
              <a:rPr lang="en-US" dirty="0"/>
              <a:t> </a:t>
            </a:r>
          </a:p>
          <a:p>
            <a:pPr marL="0" indent="0">
              <a:buNone/>
            </a:pPr>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a:t>
            </a:r>
          </a:p>
          <a:p>
            <a:pPr marL="0" indent="0">
              <a:buNone/>
            </a:pPr>
            <a:r>
              <a:rPr lang="en-US" dirty="0"/>
              <a:t>    </a:t>
            </a:r>
            <a:r>
              <a:rPr lang="en-US" dirty="0" err="1"/>
              <a:t>X_scaled</a:t>
            </a:r>
            <a:r>
              <a:rPr lang="en-US" dirty="0"/>
              <a:t>, y, </a:t>
            </a:r>
            <a:r>
              <a:rPr lang="en-US" dirty="0" err="1"/>
              <a:t>test_size</a:t>
            </a:r>
            <a:r>
              <a:rPr lang="en-US" dirty="0"/>
              <a:t>=0.2, </a:t>
            </a:r>
            <a:r>
              <a:rPr lang="en-US" dirty="0" err="1"/>
              <a:t>random_state</a:t>
            </a:r>
            <a:r>
              <a:rPr lang="en-US" dirty="0"/>
              <a:t>=42</a:t>
            </a:r>
          </a:p>
          <a:p>
            <a:pPr marL="0" indent="0">
              <a:buNone/>
            </a:pPr>
            <a:r>
              <a:rPr lang="en-US" dirty="0"/>
              <a:t>)</a:t>
            </a:r>
          </a:p>
          <a:p>
            <a:pPr marL="0" indent="0">
              <a:buNone/>
            </a:pPr>
            <a:r>
              <a:rPr lang="en-US" dirty="0"/>
              <a:t> </a:t>
            </a:r>
          </a:p>
          <a:p>
            <a:pPr marL="0" indent="0">
              <a:buNone/>
            </a:pPr>
            <a:r>
              <a:rPr lang="en-US" dirty="0"/>
              <a:t>model = </a:t>
            </a:r>
            <a:r>
              <a:rPr lang="en-US" dirty="0" err="1"/>
              <a:t>LogisticRegression</a:t>
            </a:r>
            <a:r>
              <a:rPr lang="en-US" dirty="0"/>
              <a:t>()</a:t>
            </a:r>
          </a:p>
          <a:p>
            <a:pPr marL="0" indent="0">
              <a:buNone/>
            </a:pPr>
            <a:r>
              <a:rPr lang="en-US" dirty="0" err="1"/>
              <a:t>model.fit</a:t>
            </a:r>
            <a:r>
              <a:rPr lang="en-US" dirty="0"/>
              <a:t>(</a:t>
            </a:r>
            <a:r>
              <a:rPr lang="en-US" dirty="0" err="1"/>
              <a:t>X_train</a:t>
            </a:r>
            <a:r>
              <a:rPr lang="en-US" dirty="0"/>
              <a:t>, </a:t>
            </a:r>
            <a:r>
              <a:rPr lang="en-US" dirty="0" err="1"/>
              <a:t>y_train</a:t>
            </a:r>
            <a:r>
              <a:rPr lang="en-US" dirty="0"/>
              <a:t>)</a:t>
            </a:r>
          </a:p>
          <a:p>
            <a:pPr marL="0" indent="0">
              <a:buNone/>
            </a:pPr>
            <a:endParaRPr lang="en-US" sz="2000" dirty="0"/>
          </a:p>
        </p:txBody>
      </p:sp>
    </p:spTree>
    <p:extLst>
      <p:ext uri="{BB962C8B-B14F-4D97-AF65-F5344CB8AC3E}">
        <p14:creationId xmlns:p14="http://schemas.microsoft.com/office/powerpoint/2010/main" val="2955751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A8D4D8-6AA1-315A-B5C1-45BE7B87321C}"/>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Validation &amp; Testing</a:t>
            </a:r>
            <a:endParaRPr lang="en-US" sz="4000">
              <a:solidFill>
                <a:srgbClr val="FFFFFF"/>
              </a:solidFill>
            </a:endParaRPr>
          </a:p>
        </p:txBody>
      </p:sp>
      <p:sp>
        <p:nvSpPr>
          <p:cNvPr id="3" name="Content Placeholder 2">
            <a:extLst>
              <a:ext uri="{FF2B5EF4-FFF2-40B4-BE49-F238E27FC236}">
                <a16:creationId xmlns:a16="http://schemas.microsoft.com/office/drawing/2014/main" id="{E94753D3-1EE8-4357-6719-575172BDCF53}"/>
              </a:ext>
            </a:extLst>
          </p:cNvPr>
          <p:cNvSpPr>
            <a:spLocks noGrp="1"/>
          </p:cNvSpPr>
          <p:nvPr>
            <p:ph idx="1"/>
          </p:nvPr>
        </p:nvSpPr>
        <p:spPr>
          <a:xfrm>
            <a:off x="4274820" y="342900"/>
            <a:ext cx="7258049" cy="5852627"/>
          </a:xfrm>
        </p:spPr>
        <p:txBody>
          <a:bodyPr anchor="ctr">
            <a:normAutofit/>
          </a:bodyPr>
          <a:lstStyle/>
          <a:p>
            <a:pPr marL="0" indent="0">
              <a:buNone/>
            </a:pPr>
            <a:r>
              <a:rPr lang="en-US" dirty="0"/>
              <a:t>from </a:t>
            </a:r>
            <a:r>
              <a:rPr lang="en-US" dirty="0" err="1"/>
              <a:t>sklearn.metrics</a:t>
            </a:r>
            <a:r>
              <a:rPr lang="en-US" dirty="0"/>
              <a:t> import </a:t>
            </a:r>
            <a:r>
              <a:rPr lang="en-US" dirty="0" err="1"/>
              <a:t>accuracy_score</a:t>
            </a:r>
            <a:r>
              <a:rPr lang="en-US" dirty="0"/>
              <a:t>, </a:t>
            </a:r>
            <a:r>
              <a:rPr lang="en-US" dirty="0" err="1"/>
              <a:t>classification_report</a:t>
            </a:r>
            <a:endParaRPr lang="en-US" dirty="0"/>
          </a:p>
          <a:p>
            <a:pPr marL="0" indent="0">
              <a:buNone/>
            </a:pPr>
            <a:r>
              <a:rPr lang="en-US" dirty="0" err="1"/>
              <a:t>y_pred</a:t>
            </a:r>
            <a:r>
              <a:rPr lang="en-US" dirty="0"/>
              <a:t> = </a:t>
            </a:r>
            <a:r>
              <a:rPr lang="en-US" dirty="0" err="1"/>
              <a:t>model.predict</a:t>
            </a:r>
            <a:r>
              <a:rPr lang="en-US" dirty="0"/>
              <a:t>(</a:t>
            </a:r>
            <a:r>
              <a:rPr lang="en-US" dirty="0" err="1"/>
              <a:t>X_test</a:t>
            </a:r>
            <a:r>
              <a:rPr lang="en-US" dirty="0"/>
              <a:t>)</a:t>
            </a:r>
          </a:p>
          <a:p>
            <a:pPr marL="0" indent="0">
              <a:buNone/>
            </a:pPr>
            <a:r>
              <a:rPr lang="en-US" dirty="0"/>
              <a:t>print("Accuracy:", </a:t>
            </a:r>
            <a:r>
              <a:rPr lang="en-US" dirty="0" err="1"/>
              <a:t>accuracy_score</a:t>
            </a:r>
            <a:r>
              <a:rPr lang="en-US" dirty="0"/>
              <a:t>(</a:t>
            </a:r>
            <a:r>
              <a:rPr lang="en-US" dirty="0" err="1"/>
              <a:t>y_test</a:t>
            </a:r>
            <a:r>
              <a:rPr lang="en-US" dirty="0"/>
              <a:t>, </a:t>
            </a:r>
            <a:r>
              <a:rPr lang="en-US" dirty="0" err="1"/>
              <a:t>y_pred</a:t>
            </a:r>
            <a:r>
              <a:rPr lang="en-US" dirty="0"/>
              <a:t>))</a:t>
            </a:r>
          </a:p>
          <a:p>
            <a:pPr marL="0" indent="0">
              <a:buNone/>
            </a:pPr>
            <a:r>
              <a:rPr lang="en-US" dirty="0"/>
              <a:t>print(</a:t>
            </a:r>
            <a:r>
              <a:rPr lang="en-US" dirty="0" err="1"/>
              <a:t>classification_report</a:t>
            </a:r>
            <a:r>
              <a:rPr lang="en-US" dirty="0"/>
              <a:t>(</a:t>
            </a:r>
            <a:r>
              <a:rPr lang="en-US" dirty="0" err="1"/>
              <a:t>y_test</a:t>
            </a:r>
            <a:r>
              <a:rPr lang="en-US" dirty="0"/>
              <a:t>, </a:t>
            </a:r>
            <a:r>
              <a:rPr lang="en-US" dirty="0" err="1"/>
              <a:t>y_pred</a:t>
            </a:r>
            <a:r>
              <a:rPr lang="en-US" dirty="0"/>
              <a:t>))</a:t>
            </a:r>
          </a:p>
          <a:p>
            <a:pPr marL="0" indent="0">
              <a:buNone/>
            </a:pPr>
            <a:endParaRPr lang="en-US" dirty="0"/>
          </a:p>
          <a:p>
            <a:pPr marL="0" indent="0">
              <a:buNone/>
            </a:pPr>
            <a:endParaRPr lang="en-US" dirty="0"/>
          </a:p>
          <a:p>
            <a:pPr marL="0" indent="0">
              <a:buNone/>
            </a:pPr>
            <a:endParaRPr lang="en-US" dirty="0"/>
          </a:p>
          <a:p>
            <a:pPr marL="0" indent="0">
              <a:buNone/>
            </a:pPr>
            <a:r>
              <a:rPr lang="en-US" dirty="0"/>
              <a:t>✔ Evaluates how well model performs on unseen data</a:t>
            </a:r>
          </a:p>
          <a:p>
            <a:pPr marL="0" indent="0">
              <a:buNone/>
            </a:pPr>
            <a:endParaRPr lang="en-US" sz="2000" dirty="0"/>
          </a:p>
        </p:txBody>
      </p:sp>
    </p:spTree>
    <p:extLst>
      <p:ext uri="{BB962C8B-B14F-4D97-AF65-F5344CB8AC3E}">
        <p14:creationId xmlns:p14="http://schemas.microsoft.com/office/powerpoint/2010/main" val="4026969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FD7090-9135-9BC6-D31C-AC031642B6F7}"/>
              </a:ext>
            </a:extLst>
          </p:cNvPr>
          <p:cNvSpPr>
            <a:spLocks noGrp="1"/>
          </p:cNvSpPr>
          <p:nvPr>
            <p:ph type="title"/>
          </p:nvPr>
        </p:nvSpPr>
        <p:spPr>
          <a:xfrm>
            <a:off x="466722" y="586855"/>
            <a:ext cx="3201366" cy="3387497"/>
          </a:xfrm>
        </p:spPr>
        <p:txBody>
          <a:bodyPr anchor="b">
            <a:normAutofit/>
          </a:bodyPr>
          <a:lstStyle/>
          <a:p>
            <a:pPr algn="r"/>
            <a:r>
              <a:rPr lang="en-US" sz="3400" b="1">
                <a:solidFill>
                  <a:srgbClr val="FFFFFF"/>
                </a:solidFill>
              </a:rPr>
              <a:t>Hyperparameter Tuning</a:t>
            </a:r>
            <a:endParaRPr lang="en-US" sz="3400">
              <a:solidFill>
                <a:srgbClr val="FFFFFF"/>
              </a:solidFill>
            </a:endParaRPr>
          </a:p>
        </p:txBody>
      </p:sp>
      <p:sp>
        <p:nvSpPr>
          <p:cNvPr id="3" name="Content Placeholder 2">
            <a:extLst>
              <a:ext uri="{FF2B5EF4-FFF2-40B4-BE49-F238E27FC236}">
                <a16:creationId xmlns:a16="http://schemas.microsoft.com/office/drawing/2014/main" id="{9B096F59-DFDA-2CC9-99CD-5272C8D6AD9C}"/>
              </a:ext>
            </a:extLst>
          </p:cNvPr>
          <p:cNvSpPr>
            <a:spLocks noGrp="1"/>
          </p:cNvSpPr>
          <p:nvPr>
            <p:ph idx="1"/>
          </p:nvPr>
        </p:nvSpPr>
        <p:spPr>
          <a:xfrm>
            <a:off x="4229100" y="649480"/>
            <a:ext cx="7669529" cy="5694170"/>
          </a:xfrm>
        </p:spPr>
        <p:txBody>
          <a:bodyPr anchor="ctr">
            <a:normAutofit/>
          </a:bodyPr>
          <a:lstStyle/>
          <a:p>
            <a:pPr marL="0" indent="0">
              <a:buNone/>
            </a:pPr>
            <a:r>
              <a:rPr lang="en-US" dirty="0"/>
              <a:t>from </a:t>
            </a:r>
            <a:r>
              <a:rPr lang="en-US" dirty="0" err="1"/>
              <a:t>sklearn.model_selection</a:t>
            </a:r>
            <a:r>
              <a:rPr lang="en-US" dirty="0"/>
              <a:t> import </a:t>
            </a:r>
            <a:r>
              <a:rPr lang="en-US" dirty="0" err="1"/>
              <a:t>GridSearchCV</a:t>
            </a:r>
            <a:endParaRPr lang="en-US" dirty="0"/>
          </a:p>
          <a:p>
            <a:pPr marL="0" indent="0">
              <a:buNone/>
            </a:pPr>
            <a:r>
              <a:rPr lang="en-US" dirty="0"/>
              <a:t> params = { "C": [0.01, 0.1, 1, 10]}</a:t>
            </a:r>
          </a:p>
          <a:p>
            <a:pPr marL="0" indent="0">
              <a:buNone/>
            </a:pPr>
            <a:r>
              <a:rPr lang="en-US" dirty="0"/>
              <a:t> grid = </a:t>
            </a:r>
            <a:r>
              <a:rPr lang="en-US" dirty="0" err="1"/>
              <a:t>GridSearchCV</a:t>
            </a:r>
            <a:r>
              <a:rPr lang="en-US" dirty="0"/>
              <a:t>(</a:t>
            </a:r>
            <a:r>
              <a:rPr lang="en-US" dirty="0" err="1"/>
              <a:t>LogisticRegression</a:t>
            </a:r>
            <a:r>
              <a:rPr lang="en-US" dirty="0"/>
              <a:t>(), params, cv=3)</a:t>
            </a:r>
          </a:p>
          <a:p>
            <a:pPr marL="0" indent="0">
              <a:buNone/>
            </a:pPr>
            <a:r>
              <a:rPr lang="en-US" dirty="0" err="1"/>
              <a:t>grid.fit</a:t>
            </a:r>
            <a:r>
              <a:rPr lang="en-US" dirty="0"/>
              <a:t>(</a:t>
            </a:r>
            <a:r>
              <a:rPr lang="en-US" dirty="0" err="1"/>
              <a:t>X_train</a:t>
            </a:r>
            <a:r>
              <a:rPr lang="en-US" dirty="0"/>
              <a:t>, </a:t>
            </a:r>
            <a:r>
              <a:rPr lang="en-US" dirty="0" err="1"/>
              <a:t>y_train</a:t>
            </a:r>
            <a:r>
              <a:rPr lang="en-US" dirty="0"/>
              <a:t>)</a:t>
            </a:r>
          </a:p>
          <a:p>
            <a:pPr marL="0" indent="0">
              <a:buNone/>
            </a:pPr>
            <a:r>
              <a:rPr lang="en-US" dirty="0"/>
              <a:t> </a:t>
            </a:r>
          </a:p>
          <a:p>
            <a:pPr marL="0" indent="0">
              <a:buNone/>
            </a:pPr>
            <a:r>
              <a:rPr lang="en-US" dirty="0"/>
              <a:t>print("Best Parameter:", </a:t>
            </a:r>
            <a:r>
              <a:rPr lang="en-US" dirty="0" err="1"/>
              <a:t>grid.best_params</a:t>
            </a:r>
            <a:r>
              <a:rPr lang="en-US" dirty="0"/>
              <a:t>_)</a:t>
            </a:r>
          </a:p>
          <a:p>
            <a:pPr marL="0" indent="0">
              <a:buNone/>
            </a:pPr>
            <a:endParaRPr lang="en-US" dirty="0"/>
          </a:p>
          <a:p>
            <a:pPr marL="0" indent="0">
              <a:buNone/>
            </a:pPr>
            <a:r>
              <a:rPr lang="en-US" dirty="0"/>
              <a:t>✔ Finds best regularization strength</a:t>
            </a:r>
            <a:br>
              <a:rPr lang="en-US" dirty="0"/>
            </a:br>
            <a:r>
              <a:rPr lang="en-US" dirty="0"/>
              <a:t>✔ Improves model performance</a:t>
            </a:r>
          </a:p>
          <a:p>
            <a:endParaRPr lang="en-US" sz="2000" dirty="0"/>
          </a:p>
        </p:txBody>
      </p:sp>
    </p:spTree>
    <p:extLst>
      <p:ext uri="{BB962C8B-B14F-4D97-AF65-F5344CB8AC3E}">
        <p14:creationId xmlns:p14="http://schemas.microsoft.com/office/powerpoint/2010/main" val="702335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47B181-BD75-974D-3A50-46B64901B26B}"/>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Deployment &amp; Monitoring (Basic Example)</a:t>
            </a:r>
            <a:endParaRPr lang="en-US" sz="4000">
              <a:solidFill>
                <a:srgbClr val="FFFFFF"/>
              </a:solidFill>
            </a:endParaRPr>
          </a:p>
        </p:txBody>
      </p:sp>
      <p:sp>
        <p:nvSpPr>
          <p:cNvPr id="3" name="Content Placeholder 2">
            <a:extLst>
              <a:ext uri="{FF2B5EF4-FFF2-40B4-BE49-F238E27FC236}">
                <a16:creationId xmlns:a16="http://schemas.microsoft.com/office/drawing/2014/main" id="{F6715743-BEFF-5D72-DF06-EFFAE0483FB1}"/>
              </a:ext>
            </a:extLst>
          </p:cNvPr>
          <p:cNvSpPr>
            <a:spLocks noGrp="1"/>
          </p:cNvSpPr>
          <p:nvPr>
            <p:ph idx="1"/>
          </p:nvPr>
        </p:nvSpPr>
        <p:spPr>
          <a:xfrm>
            <a:off x="4810259" y="649480"/>
            <a:ext cx="6555347" cy="5546047"/>
          </a:xfrm>
        </p:spPr>
        <p:txBody>
          <a:bodyPr anchor="ctr">
            <a:normAutofit/>
          </a:bodyPr>
          <a:lstStyle/>
          <a:p>
            <a:pPr marL="0" indent="0">
              <a:buNone/>
            </a:pPr>
            <a:r>
              <a:rPr lang="en-US" b="1" dirty="0"/>
              <a:t>Save Model</a:t>
            </a:r>
          </a:p>
          <a:p>
            <a:pPr marL="0" indent="0">
              <a:buNone/>
            </a:pPr>
            <a:endParaRPr lang="en-US" dirty="0"/>
          </a:p>
          <a:p>
            <a:pPr marL="0" indent="0">
              <a:buNone/>
            </a:pPr>
            <a:r>
              <a:rPr lang="en-US" dirty="0"/>
              <a:t>import </a:t>
            </a:r>
            <a:r>
              <a:rPr lang="en-US" dirty="0" err="1"/>
              <a:t>joblib</a:t>
            </a:r>
            <a:endParaRPr lang="en-US" dirty="0"/>
          </a:p>
          <a:p>
            <a:pPr marL="0" indent="0">
              <a:buNone/>
            </a:pPr>
            <a:r>
              <a:rPr lang="en-US" dirty="0"/>
              <a:t> </a:t>
            </a:r>
          </a:p>
          <a:p>
            <a:pPr marL="0" indent="0">
              <a:buNone/>
            </a:pPr>
            <a:r>
              <a:rPr lang="en-US" dirty="0" err="1"/>
              <a:t>joblib.dump</a:t>
            </a:r>
            <a:r>
              <a:rPr lang="en-US" dirty="0"/>
              <a:t>(model, "</a:t>
            </a:r>
            <a:r>
              <a:rPr lang="en-US" dirty="0" err="1"/>
              <a:t>purchase_model.pkl</a:t>
            </a:r>
            <a:r>
              <a:rPr lang="en-US" dirty="0"/>
              <a:t>")</a:t>
            </a:r>
          </a:p>
          <a:p>
            <a:pPr marL="0" indent="0">
              <a:buNone/>
            </a:pPr>
            <a:r>
              <a:rPr lang="en-US" dirty="0" err="1"/>
              <a:t>joblib.dump</a:t>
            </a:r>
            <a:r>
              <a:rPr lang="en-US" dirty="0"/>
              <a:t>(scaler, "</a:t>
            </a:r>
            <a:r>
              <a:rPr lang="en-US" dirty="0" err="1"/>
              <a:t>scaler.pkl</a:t>
            </a:r>
            <a:r>
              <a:rPr lang="en-US" dirty="0"/>
              <a:t>")</a:t>
            </a:r>
          </a:p>
          <a:p>
            <a:endParaRPr lang="en-US" sz="2000" dirty="0"/>
          </a:p>
        </p:txBody>
      </p:sp>
    </p:spTree>
    <p:extLst>
      <p:ext uri="{BB962C8B-B14F-4D97-AF65-F5344CB8AC3E}">
        <p14:creationId xmlns:p14="http://schemas.microsoft.com/office/powerpoint/2010/main" val="2807682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9465F-C11D-623E-3539-F64F0FCF4D20}"/>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Load &amp; Predict (Deployment Simulation)</a:t>
            </a:r>
            <a:endParaRPr lang="en-US" sz="4000">
              <a:solidFill>
                <a:srgbClr val="FFFFFF"/>
              </a:solidFill>
            </a:endParaRPr>
          </a:p>
        </p:txBody>
      </p:sp>
      <p:sp>
        <p:nvSpPr>
          <p:cNvPr id="3" name="Content Placeholder 2">
            <a:extLst>
              <a:ext uri="{FF2B5EF4-FFF2-40B4-BE49-F238E27FC236}">
                <a16:creationId xmlns:a16="http://schemas.microsoft.com/office/drawing/2014/main" id="{F01440E1-ECC6-C2D8-F804-96EC16AEB70A}"/>
              </a:ext>
            </a:extLst>
          </p:cNvPr>
          <p:cNvSpPr>
            <a:spLocks noGrp="1"/>
          </p:cNvSpPr>
          <p:nvPr>
            <p:ph idx="1"/>
          </p:nvPr>
        </p:nvSpPr>
        <p:spPr>
          <a:xfrm>
            <a:off x="4617720" y="274320"/>
            <a:ext cx="6960869" cy="5921207"/>
          </a:xfrm>
        </p:spPr>
        <p:txBody>
          <a:bodyPr anchor="ctr">
            <a:normAutofit/>
          </a:bodyPr>
          <a:lstStyle/>
          <a:p>
            <a:pPr marL="0" indent="0">
              <a:buNone/>
            </a:pPr>
            <a:r>
              <a:rPr lang="en-US" sz="2400" dirty="0"/>
              <a:t>model = </a:t>
            </a:r>
            <a:r>
              <a:rPr lang="en-US" sz="2400" dirty="0" err="1"/>
              <a:t>joblib.load</a:t>
            </a:r>
            <a:r>
              <a:rPr lang="en-US" sz="2400" dirty="0"/>
              <a:t>("</a:t>
            </a:r>
            <a:r>
              <a:rPr lang="en-US" sz="2400" dirty="0" err="1"/>
              <a:t>purchase_model.pkl</a:t>
            </a:r>
            <a:r>
              <a:rPr lang="en-US" sz="2400" dirty="0"/>
              <a:t>")</a:t>
            </a:r>
          </a:p>
          <a:p>
            <a:pPr marL="0" indent="0">
              <a:buNone/>
            </a:pPr>
            <a:r>
              <a:rPr lang="en-US" sz="2400" dirty="0"/>
              <a:t>scaler = </a:t>
            </a:r>
            <a:r>
              <a:rPr lang="en-US" sz="2400" dirty="0" err="1"/>
              <a:t>joblib.load</a:t>
            </a:r>
            <a:r>
              <a:rPr lang="en-US" sz="2400" dirty="0"/>
              <a:t>("</a:t>
            </a:r>
            <a:r>
              <a:rPr lang="en-US" sz="2400" dirty="0" err="1"/>
              <a:t>scaler.pkl</a:t>
            </a:r>
            <a:r>
              <a:rPr lang="en-US" sz="2400" dirty="0"/>
              <a:t>")</a:t>
            </a:r>
          </a:p>
          <a:p>
            <a:pPr marL="0" indent="0">
              <a:buNone/>
            </a:pPr>
            <a:r>
              <a:rPr lang="en-US" sz="2400" dirty="0"/>
              <a:t> </a:t>
            </a:r>
          </a:p>
          <a:p>
            <a:pPr marL="0" indent="0">
              <a:buNone/>
            </a:pPr>
            <a:r>
              <a:rPr lang="en-US" sz="2400" dirty="0" err="1"/>
              <a:t>new_customer</a:t>
            </a:r>
            <a:r>
              <a:rPr lang="en-US" sz="2400" dirty="0"/>
              <a:t> = [[35, 60000]]</a:t>
            </a:r>
          </a:p>
          <a:p>
            <a:pPr marL="0" indent="0">
              <a:buNone/>
            </a:pPr>
            <a:r>
              <a:rPr lang="en-US" sz="2400" dirty="0" err="1"/>
              <a:t>new_customer_scaled</a:t>
            </a:r>
            <a:r>
              <a:rPr lang="en-US" sz="2400" dirty="0"/>
              <a:t> = </a:t>
            </a:r>
            <a:r>
              <a:rPr lang="en-US" sz="2400" dirty="0" err="1"/>
              <a:t>scaler.transform</a:t>
            </a:r>
            <a:r>
              <a:rPr lang="en-US" sz="2400" dirty="0"/>
              <a:t>(</a:t>
            </a:r>
            <a:r>
              <a:rPr lang="en-US" sz="2400" dirty="0" err="1"/>
              <a:t>new_customer</a:t>
            </a:r>
            <a:r>
              <a:rPr lang="en-US" sz="2400" dirty="0"/>
              <a:t>)</a:t>
            </a:r>
          </a:p>
          <a:p>
            <a:pPr marL="0" indent="0">
              <a:buNone/>
            </a:pPr>
            <a:r>
              <a:rPr lang="en-US" sz="2400" dirty="0"/>
              <a:t> prediction = </a:t>
            </a:r>
            <a:r>
              <a:rPr lang="en-US" sz="2400" dirty="0" err="1"/>
              <a:t>model.predict</a:t>
            </a:r>
            <a:r>
              <a:rPr lang="en-US" sz="2400" dirty="0"/>
              <a:t>(</a:t>
            </a:r>
            <a:r>
              <a:rPr lang="en-US" sz="2400" dirty="0" err="1"/>
              <a:t>new_customer_scaled</a:t>
            </a:r>
            <a:r>
              <a:rPr lang="en-US" sz="2400" dirty="0"/>
              <a:t>)</a:t>
            </a:r>
          </a:p>
          <a:p>
            <a:pPr marL="0" indent="0">
              <a:buNone/>
            </a:pPr>
            <a:r>
              <a:rPr lang="en-US" sz="2400" dirty="0"/>
              <a:t>print("Purchased?" , prediction)</a:t>
            </a:r>
          </a:p>
          <a:p>
            <a:pPr marL="0" indent="0">
              <a:buNone/>
            </a:pPr>
            <a:endParaRPr lang="en-US" sz="2400" dirty="0"/>
          </a:p>
          <a:p>
            <a:pPr marL="0" indent="0">
              <a:buNone/>
            </a:pPr>
            <a:r>
              <a:rPr lang="en-US" sz="2400" b="1" dirty="0"/>
              <a:t>Output -  Purchased? [1]</a:t>
            </a:r>
          </a:p>
          <a:p>
            <a:pPr marL="0" indent="0">
              <a:buNone/>
            </a:pPr>
            <a:endParaRPr lang="en-US" sz="2000" dirty="0"/>
          </a:p>
          <a:p>
            <a:pPr marL="0" indent="0">
              <a:buNone/>
            </a:pPr>
            <a:r>
              <a:rPr lang="en-US" sz="2000" dirty="0"/>
              <a:t>✔ In real life → Flask / </a:t>
            </a:r>
            <a:r>
              <a:rPr lang="en-US" sz="2000" dirty="0" err="1"/>
              <a:t>FastAPI</a:t>
            </a:r>
            <a:r>
              <a:rPr lang="en-US" sz="2000" dirty="0"/>
              <a:t> / Cloud</a:t>
            </a:r>
            <a:br>
              <a:rPr lang="en-US" sz="2000" dirty="0"/>
            </a:br>
            <a:r>
              <a:rPr lang="en-US" sz="2000" dirty="0"/>
              <a:t>✔ Monitoring → accuracy drift, data drift</a:t>
            </a:r>
          </a:p>
          <a:p>
            <a:endParaRPr lang="en-US" sz="2000" dirty="0"/>
          </a:p>
        </p:txBody>
      </p:sp>
    </p:spTree>
    <p:extLst>
      <p:ext uri="{BB962C8B-B14F-4D97-AF65-F5344CB8AC3E}">
        <p14:creationId xmlns:p14="http://schemas.microsoft.com/office/powerpoint/2010/main" val="24115112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EDCD84-8D04-83AA-B650-EF810A35D5B1}"/>
              </a:ext>
            </a:extLst>
          </p:cNvPr>
          <p:cNvSpPr txBox="1"/>
          <p:nvPr/>
        </p:nvSpPr>
        <p:spPr>
          <a:xfrm>
            <a:off x="1531620" y="306824"/>
            <a:ext cx="9532620" cy="646331"/>
          </a:xfrm>
          <a:prstGeom prst="rect">
            <a:avLst/>
          </a:prstGeom>
          <a:noFill/>
        </p:spPr>
        <p:txBody>
          <a:bodyPr wrap="square">
            <a:spAutoFit/>
          </a:bodyPr>
          <a:lstStyle/>
          <a:p>
            <a:pPr algn="l" fontAlgn="base">
              <a:buNone/>
            </a:pPr>
            <a:r>
              <a:rPr lang="en-US" sz="3600" b="1" i="0" dirty="0">
                <a:solidFill>
                  <a:srgbClr val="273239"/>
                </a:solidFill>
                <a:effectLst/>
                <a:latin typeface="Nunito" pitchFamily="2" charset="0"/>
              </a:rPr>
              <a:t>Implementation using two different models</a:t>
            </a:r>
          </a:p>
        </p:txBody>
      </p:sp>
      <p:sp>
        <p:nvSpPr>
          <p:cNvPr id="5" name="TextBox 4">
            <a:extLst>
              <a:ext uri="{FF2B5EF4-FFF2-40B4-BE49-F238E27FC236}">
                <a16:creationId xmlns:a16="http://schemas.microsoft.com/office/drawing/2014/main" id="{742BC34F-2304-2BE6-A51E-75FFFDD805F1}"/>
              </a:ext>
            </a:extLst>
          </p:cNvPr>
          <p:cNvSpPr txBox="1"/>
          <p:nvPr/>
        </p:nvSpPr>
        <p:spPr>
          <a:xfrm>
            <a:off x="1871662" y="1406158"/>
            <a:ext cx="8563927" cy="3046988"/>
          </a:xfrm>
          <a:prstGeom prst="rect">
            <a:avLst/>
          </a:prstGeom>
          <a:noFill/>
        </p:spPr>
        <p:txBody>
          <a:bodyPr wrap="square">
            <a:spAutoFit/>
          </a:bodyPr>
          <a:lstStyle/>
          <a:p>
            <a:r>
              <a:rPr lang="en-US" sz="2400" dirty="0"/>
              <a:t>import </a:t>
            </a:r>
            <a:r>
              <a:rPr lang="en-US" sz="2400" dirty="0" err="1"/>
              <a:t>numpy</a:t>
            </a:r>
            <a:r>
              <a:rPr lang="en-US" sz="2400" dirty="0"/>
              <a:t> as np</a:t>
            </a:r>
          </a:p>
          <a:p>
            <a:r>
              <a:rPr lang="en-US" sz="2400" dirty="0"/>
              <a:t>import pandas as pd</a:t>
            </a:r>
          </a:p>
          <a:p>
            <a:r>
              <a:rPr lang="en-US" sz="2400" dirty="0"/>
              <a:t>import </a:t>
            </a:r>
            <a:r>
              <a:rPr lang="en-US" sz="2400" dirty="0" err="1"/>
              <a:t>matplotlib.pyplot</a:t>
            </a:r>
            <a:r>
              <a:rPr lang="en-US" sz="2400" dirty="0"/>
              <a:t> as </a:t>
            </a:r>
            <a:r>
              <a:rPr lang="en-US" sz="2400" dirty="0" err="1"/>
              <a:t>plt</a:t>
            </a:r>
            <a:endParaRPr lang="en-US" sz="2400" dirty="0"/>
          </a:p>
          <a:p>
            <a:r>
              <a:rPr lang="en-US" sz="2400" dirty="0"/>
              <a:t>from </a:t>
            </a:r>
            <a:r>
              <a:rPr lang="en-US" sz="2400" dirty="0" err="1"/>
              <a:t>sklearn.datasets</a:t>
            </a:r>
            <a:r>
              <a:rPr lang="en-US" sz="2400" dirty="0"/>
              <a:t> import </a:t>
            </a:r>
            <a:r>
              <a:rPr lang="en-US" sz="2400" dirty="0" err="1"/>
              <a:t>make_classification</a:t>
            </a:r>
            <a:endParaRPr lang="en-US" sz="2400" dirty="0"/>
          </a:p>
          <a:p>
            <a:r>
              <a:rPr lang="en-US" sz="2400" dirty="0"/>
              <a:t>from </a:t>
            </a:r>
            <a:r>
              <a:rPr lang="en-US" sz="2400" dirty="0" err="1"/>
              <a:t>sklearn.model_selection</a:t>
            </a:r>
            <a:r>
              <a:rPr lang="en-US" sz="2400" dirty="0"/>
              <a:t> import </a:t>
            </a:r>
            <a:r>
              <a:rPr lang="en-US" sz="2400" dirty="0" err="1"/>
              <a:t>train_test_split</a:t>
            </a:r>
            <a:endParaRPr lang="en-US" sz="2400" dirty="0"/>
          </a:p>
          <a:p>
            <a:r>
              <a:rPr lang="en-US" sz="2400" dirty="0"/>
              <a:t>from </a:t>
            </a:r>
            <a:r>
              <a:rPr lang="en-US" sz="2400" dirty="0" err="1"/>
              <a:t>sklearn.linear_model</a:t>
            </a:r>
            <a:r>
              <a:rPr lang="en-US" sz="2400" dirty="0"/>
              <a:t> import </a:t>
            </a:r>
            <a:r>
              <a:rPr lang="en-US" sz="2400" dirty="0" err="1"/>
              <a:t>LogisticRegression</a:t>
            </a:r>
            <a:endParaRPr lang="en-US" sz="2400" dirty="0"/>
          </a:p>
          <a:p>
            <a:r>
              <a:rPr lang="en-US" sz="2400" dirty="0"/>
              <a:t>from </a:t>
            </a:r>
            <a:r>
              <a:rPr lang="en-US" sz="2400" dirty="0" err="1"/>
              <a:t>sklearn.ensemble</a:t>
            </a:r>
            <a:r>
              <a:rPr lang="en-US" sz="2400" dirty="0"/>
              <a:t> import </a:t>
            </a:r>
            <a:r>
              <a:rPr lang="en-US" sz="2400" dirty="0" err="1"/>
              <a:t>RandomForestClassifier</a:t>
            </a:r>
            <a:endParaRPr lang="en-US" sz="2400" dirty="0"/>
          </a:p>
          <a:p>
            <a:r>
              <a:rPr lang="en-US" sz="2400" dirty="0"/>
              <a:t>from </a:t>
            </a:r>
            <a:r>
              <a:rPr lang="en-US" sz="2400" dirty="0" err="1"/>
              <a:t>sklearn.metrics</a:t>
            </a:r>
            <a:r>
              <a:rPr lang="en-US" sz="2400" dirty="0"/>
              <a:t> import </a:t>
            </a:r>
            <a:r>
              <a:rPr lang="en-US" sz="2400" dirty="0" err="1"/>
              <a:t>roc_curve</a:t>
            </a:r>
            <a:r>
              <a:rPr lang="en-US" sz="2400" dirty="0"/>
              <a:t>, </a:t>
            </a:r>
            <a:r>
              <a:rPr lang="en-US" sz="2400" dirty="0" err="1"/>
              <a:t>auc</a:t>
            </a:r>
            <a:endParaRPr lang="en-US" sz="2400" dirty="0"/>
          </a:p>
        </p:txBody>
      </p:sp>
    </p:spTree>
    <p:extLst>
      <p:ext uri="{BB962C8B-B14F-4D97-AF65-F5344CB8AC3E}">
        <p14:creationId xmlns:p14="http://schemas.microsoft.com/office/powerpoint/2010/main" val="867767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FB9C-FF7B-6145-2CD5-16836C872D6A}"/>
              </a:ext>
            </a:extLst>
          </p:cNvPr>
          <p:cNvSpPr>
            <a:spLocks noGrp="1"/>
          </p:cNvSpPr>
          <p:nvPr>
            <p:ph type="title"/>
          </p:nvPr>
        </p:nvSpPr>
        <p:spPr/>
        <p:txBody>
          <a:bodyPr/>
          <a:lstStyle/>
          <a:p>
            <a:r>
              <a:rPr lang="en-US" b="1" dirty="0"/>
              <a:t>2. Generating data and splitting data</a:t>
            </a:r>
            <a:endParaRPr lang="en-US" dirty="0"/>
          </a:p>
        </p:txBody>
      </p:sp>
      <p:sp>
        <p:nvSpPr>
          <p:cNvPr id="4" name="TextBox 3">
            <a:extLst>
              <a:ext uri="{FF2B5EF4-FFF2-40B4-BE49-F238E27FC236}">
                <a16:creationId xmlns:a16="http://schemas.microsoft.com/office/drawing/2014/main" id="{45F5681C-2632-78BE-EDCA-A3C05279432D}"/>
              </a:ext>
            </a:extLst>
          </p:cNvPr>
          <p:cNvSpPr txBox="1"/>
          <p:nvPr/>
        </p:nvSpPr>
        <p:spPr>
          <a:xfrm>
            <a:off x="1460182" y="2311806"/>
            <a:ext cx="10312717" cy="1938992"/>
          </a:xfrm>
          <a:prstGeom prst="rect">
            <a:avLst/>
          </a:prstGeom>
          <a:noFill/>
        </p:spPr>
        <p:txBody>
          <a:bodyPr wrap="square">
            <a:spAutoFit/>
          </a:bodyPr>
          <a:lstStyle/>
          <a:p>
            <a:r>
              <a:rPr lang="en-US" sz="2400" dirty="0"/>
              <a:t>X, y = </a:t>
            </a:r>
            <a:r>
              <a:rPr lang="en-US" sz="2400" dirty="0" err="1"/>
              <a:t>make_classification</a:t>
            </a:r>
            <a:r>
              <a:rPr lang="en-US" sz="2400" dirty="0"/>
              <a:t>(</a:t>
            </a:r>
          </a:p>
          <a:p>
            <a:r>
              <a:rPr lang="en-US" sz="2400" dirty="0"/>
              <a:t>    </a:t>
            </a:r>
            <a:r>
              <a:rPr lang="en-US" sz="2400" dirty="0" err="1"/>
              <a:t>n_samples</a:t>
            </a:r>
            <a:r>
              <a:rPr lang="en-US" sz="2400" dirty="0"/>
              <a:t>=1000, </a:t>
            </a:r>
            <a:r>
              <a:rPr lang="en-US" sz="2400" dirty="0" err="1"/>
              <a:t>n_features</a:t>
            </a:r>
            <a:r>
              <a:rPr lang="en-US" sz="2400" dirty="0"/>
              <a:t>=20, </a:t>
            </a:r>
            <a:r>
              <a:rPr lang="en-US" sz="2400" dirty="0" err="1"/>
              <a:t>n_classes</a:t>
            </a:r>
            <a:r>
              <a:rPr lang="en-US" sz="2400" dirty="0"/>
              <a:t>=2, </a:t>
            </a:r>
            <a:r>
              <a:rPr lang="en-US" sz="2400" dirty="0" err="1"/>
              <a:t>random_state</a:t>
            </a:r>
            <a:r>
              <a:rPr lang="en-US" sz="2400" dirty="0"/>
              <a:t>=42)</a:t>
            </a:r>
          </a:p>
          <a:p>
            <a:endParaRPr lang="en-US" sz="2400" dirty="0"/>
          </a:p>
          <a:p>
            <a:r>
              <a:rPr lang="en-US" sz="2400" dirty="0" err="1"/>
              <a:t>X_train</a:t>
            </a:r>
            <a:r>
              <a:rPr lang="en-US" sz="2400" dirty="0"/>
              <a:t>, </a:t>
            </a:r>
            <a:r>
              <a:rPr lang="en-US" sz="2400" dirty="0" err="1"/>
              <a:t>X_test</a:t>
            </a:r>
            <a:r>
              <a:rPr lang="en-US" sz="2400" dirty="0"/>
              <a:t>, </a:t>
            </a:r>
            <a:r>
              <a:rPr lang="en-US" sz="2400" dirty="0" err="1"/>
              <a:t>y_train</a:t>
            </a:r>
            <a:r>
              <a:rPr lang="en-US" sz="2400" dirty="0"/>
              <a:t>, </a:t>
            </a:r>
            <a:r>
              <a:rPr lang="en-US" sz="2400" dirty="0" err="1"/>
              <a:t>y_test</a:t>
            </a:r>
            <a:r>
              <a:rPr lang="en-US" sz="2400" dirty="0"/>
              <a:t> = </a:t>
            </a:r>
            <a:r>
              <a:rPr lang="en-US" sz="2400" dirty="0" err="1"/>
              <a:t>train_test_split</a:t>
            </a:r>
            <a:r>
              <a:rPr lang="en-US" sz="2400" dirty="0"/>
              <a:t>(</a:t>
            </a:r>
          </a:p>
          <a:p>
            <a:r>
              <a:rPr lang="en-US" sz="2400" dirty="0"/>
              <a:t>    X, y, </a:t>
            </a:r>
            <a:r>
              <a:rPr lang="en-US" sz="2400" dirty="0" err="1"/>
              <a:t>test_size</a:t>
            </a:r>
            <a:r>
              <a:rPr lang="en-US" sz="2400" dirty="0"/>
              <a:t>=0.2, </a:t>
            </a:r>
            <a:r>
              <a:rPr lang="en-US" sz="2400" dirty="0" err="1"/>
              <a:t>random_state</a:t>
            </a:r>
            <a:r>
              <a:rPr lang="en-US" sz="2400" dirty="0"/>
              <a:t>=42)</a:t>
            </a:r>
          </a:p>
        </p:txBody>
      </p:sp>
    </p:spTree>
    <p:extLst>
      <p:ext uri="{BB962C8B-B14F-4D97-AF65-F5344CB8AC3E}">
        <p14:creationId xmlns:p14="http://schemas.microsoft.com/office/powerpoint/2010/main" val="1967964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400CD-B2D6-CDE9-396C-B8494D607748}"/>
              </a:ext>
            </a:extLst>
          </p:cNvPr>
          <p:cNvSpPr>
            <a:spLocks noGrp="1"/>
          </p:cNvSpPr>
          <p:nvPr>
            <p:ph type="title"/>
          </p:nvPr>
        </p:nvSpPr>
        <p:spPr/>
        <p:txBody>
          <a:bodyPr/>
          <a:lstStyle/>
          <a:p>
            <a:r>
              <a:rPr lang="en-US" b="1" dirty="0"/>
              <a:t>3. Training the different models</a:t>
            </a:r>
            <a:br>
              <a:rPr lang="en-US" b="1" dirty="0"/>
            </a:br>
            <a:endParaRPr lang="en-US" dirty="0"/>
          </a:p>
        </p:txBody>
      </p:sp>
      <p:sp>
        <p:nvSpPr>
          <p:cNvPr id="4" name="TextBox 3">
            <a:extLst>
              <a:ext uri="{FF2B5EF4-FFF2-40B4-BE49-F238E27FC236}">
                <a16:creationId xmlns:a16="http://schemas.microsoft.com/office/drawing/2014/main" id="{3AD9CD2B-87B8-5DF2-C00C-ACA38A3B291C}"/>
              </a:ext>
            </a:extLst>
          </p:cNvPr>
          <p:cNvSpPr txBox="1"/>
          <p:nvPr/>
        </p:nvSpPr>
        <p:spPr>
          <a:xfrm>
            <a:off x="1002982" y="1225957"/>
            <a:ext cx="10621327" cy="5262979"/>
          </a:xfrm>
          <a:prstGeom prst="rect">
            <a:avLst/>
          </a:prstGeom>
          <a:noFill/>
        </p:spPr>
        <p:txBody>
          <a:bodyPr wrap="square">
            <a:spAutoFit/>
          </a:bodyPr>
          <a:lstStyle/>
          <a:p>
            <a:r>
              <a:rPr lang="en-US" sz="2800" b="0" i="0" dirty="0">
                <a:solidFill>
                  <a:srgbClr val="273239"/>
                </a:solidFill>
                <a:effectLst/>
                <a:latin typeface="Nunito" pitchFamily="2" charset="0"/>
              </a:rPr>
              <a:t>To train the</a:t>
            </a:r>
            <a:r>
              <a:rPr lang="en-US" sz="2800" b="0" i="0" u="sng" dirty="0">
                <a:solidFill>
                  <a:srgbClr val="357960"/>
                </a:solidFill>
                <a:effectLst/>
                <a:latin typeface="Nunito" pitchFamily="2" charset="0"/>
                <a:hlinkClick r:id="rId2"/>
              </a:rPr>
              <a:t> Random Forest</a:t>
            </a:r>
            <a:r>
              <a:rPr lang="en-US" sz="2800" b="0" i="0" dirty="0">
                <a:solidFill>
                  <a:srgbClr val="273239"/>
                </a:solidFill>
                <a:effectLst/>
                <a:latin typeface="Nunito" pitchFamily="2" charset="0"/>
              </a:rPr>
              <a:t> and </a:t>
            </a:r>
            <a:r>
              <a:rPr lang="en-US" sz="2800" b="0" i="0" u="sng" dirty="0">
                <a:solidFill>
                  <a:srgbClr val="357960"/>
                </a:solidFill>
                <a:effectLst/>
                <a:latin typeface="Nunito" pitchFamily="2" charset="0"/>
                <a:hlinkClick r:id="rId3"/>
              </a:rPr>
              <a:t>Logistic Regression</a:t>
            </a:r>
            <a:r>
              <a:rPr lang="en-US" sz="2800" b="0" i="0" dirty="0">
                <a:solidFill>
                  <a:srgbClr val="273239"/>
                </a:solidFill>
                <a:effectLst/>
                <a:latin typeface="Nunito" pitchFamily="2" charset="0"/>
              </a:rPr>
              <a:t> models we use a fixed random seed to get the same results every time we run the code. First we train a logistic regression model using the training data. Then use the same training data and random seed we train a Random Forest model with 100 trees.</a:t>
            </a:r>
          </a:p>
          <a:p>
            <a:endParaRPr lang="en-US" sz="2800" dirty="0">
              <a:solidFill>
                <a:srgbClr val="273239"/>
              </a:solidFill>
              <a:latin typeface="Nunito" pitchFamily="2" charset="0"/>
            </a:endParaRPr>
          </a:p>
          <a:p>
            <a:r>
              <a:rPr lang="en-US" sz="2800" dirty="0" err="1"/>
              <a:t>logistic_model</a:t>
            </a:r>
            <a:r>
              <a:rPr lang="en-US" sz="2800" dirty="0"/>
              <a:t> = </a:t>
            </a:r>
            <a:r>
              <a:rPr lang="en-US" sz="2800" dirty="0" err="1"/>
              <a:t>LogisticRegression</a:t>
            </a:r>
            <a:r>
              <a:rPr lang="en-US" sz="2800" dirty="0"/>
              <a:t>(</a:t>
            </a:r>
            <a:r>
              <a:rPr lang="en-US" sz="2800" dirty="0" err="1"/>
              <a:t>random_state</a:t>
            </a:r>
            <a:r>
              <a:rPr lang="en-US" sz="2800" dirty="0"/>
              <a:t>=42)</a:t>
            </a:r>
          </a:p>
          <a:p>
            <a:r>
              <a:rPr lang="en-US" sz="2800" dirty="0" err="1"/>
              <a:t>logistic_model.fit</a:t>
            </a:r>
            <a:r>
              <a:rPr lang="en-US" sz="2800" dirty="0"/>
              <a:t>(</a:t>
            </a:r>
            <a:r>
              <a:rPr lang="en-US" sz="2800" dirty="0" err="1"/>
              <a:t>X_train</a:t>
            </a:r>
            <a:r>
              <a:rPr lang="en-US" sz="2800" dirty="0"/>
              <a:t>, </a:t>
            </a:r>
            <a:r>
              <a:rPr lang="en-US" sz="2800" dirty="0" err="1"/>
              <a:t>y_train</a:t>
            </a:r>
            <a:r>
              <a:rPr lang="en-US" sz="2800" dirty="0"/>
              <a:t>)</a:t>
            </a:r>
          </a:p>
          <a:p>
            <a:endParaRPr lang="en-US" sz="2800" dirty="0"/>
          </a:p>
          <a:p>
            <a:r>
              <a:rPr lang="en-US" sz="2800" dirty="0" err="1"/>
              <a:t>random_forest_model</a:t>
            </a:r>
            <a:r>
              <a:rPr lang="en-US" sz="2800" dirty="0"/>
              <a:t> = </a:t>
            </a:r>
            <a:r>
              <a:rPr lang="en-US" sz="2800" dirty="0" err="1"/>
              <a:t>RandomForestClassifier</a:t>
            </a:r>
            <a:r>
              <a:rPr lang="en-US" sz="2800" dirty="0"/>
              <a:t>(</a:t>
            </a:r>
            <a:r>
              <a:rPr lang="en-US" sz="2800" dirty="0" err="1"/>
              <a:t>n_estimators</a:t>
            </a:r>
            <a:r>
              <a:rPr lang="en-US" sz="2800" dirty="0"/>
              <a:t>=100, </a:t>
            </a:r>
            <a:r>
              <a:rPr lang="en-US" sz="2800" dirty="0" err="1"/>
              <a:t>random_state</a:t>
            </a:r>
            <a:r>
              <a:rPr lang="en-US" sz="2800" dirty="0"/>
              <a:t>=42)</a:t>
            </a:r>
          </a:p>
          <a:p>
            <a:r>
              <a:rPr lang="en-US" sz="2800" dirty="0" err="1"/>
              <a:t>random_forest_model.fit</a:t>
            </a:r>
            <a:r>
              <a:rPr lang="en-US" sz="2800" dirty="0"/>
              <a:t>(</a:t>
            </a:r>
            <a:r>
              <a:rPr lang="en-US" sz="2800" dirty="0" err="1"/>
              <a:t>X_train</a:t>
            </a:r>
            <a:r>
              <a:rPr lang="en-US" sz="2800" dirty="0"/>
              <a:t>, </a:t>
            </a:r>
            <a:r>
              <a:rPr lang="en-US" sz="2800" dirty="0" err="1"/>
              <a:t>y_train</a:t>
            </a:r>
            <a:r>
              <a:rPr lang="en-US" sz="2800" dirty="0"/>
              <a:t>)</a:t>
            </a:r>
          </a:p>
        </p:txBody>
      </p:sp>
    </p:spTree>
    <p:extLst>
      <p:ext uri="{BB962C8B-B14F-4D97-AF65-F5344CB8AC3E}">
        <p14:creationId xmlns:p14="http://schemas.microsoft.com/office/powerpoint/2010/main" val="1687971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D4D95-5740-9309-FA18-B0E7F57D6F50}"/>
              </a:ext>
            </a:extLst>
          </p:cNvPr>
          <p:cNvSpPr>
            <a:spLocks noGrp="1"/>
          </p:cNvSpPr>
          <p:nvPr>
            <p:ph type="title"/>
          </p:nvPr>
        </p:nvSpPr>
        <p:spPr/>
        <p:txBody>
          <a:bodyPr/>
          <a:lstStyle/>
          <a:p>
            <a:r>
              <a:rPr lang="en-US" b="1" dirty="0"/>
              <a:t>4. Predictions</a:t>
            </a:r>
            <a:endParaRPr lang="en-US" dirty="0"/>
          </a:p>
        </p:txBody>
      </p:sp>
      <p:sp>
        <p:nvSpPr>
          <p:cNvPr id="4" name="TextBox 3">
            <a:extLst>
              <a:ext uri="{FF2B5EF4-FFF2-40B4-BE49-F238E27FC236}">
                <a16:creationId xmlns:a16="http://schemas.microsoft.com/office/drawing/2014/main" id="{98FAB726-FB0C-1F10-6473-7D24A4D58451}"/>
              </a:ext>
            </a:extLst>
          </p:cNvPr>
          <p:cNvSpPr txBox="1"/>
          <p:nvPr/>
        </p:nvSpPr>
        <p:spPr>
          <a:xfrm>
            <a:off x="548640" y="1581626"/>
            <a:ext cx="11464290" cy="2677656"/>
          </a:xfrm>
          <a:prstGeom prst="rect">
            <a:avLst/>
          </a:prstGeom>
          <a:noFill/>
        </p:spPr>
        <p:txBody>
          <a:bodyPr wrap="square">
            <a:spAutoFit/>
          </a:bodyPr>
          <a:lstStyle/>
          <a:p>
            <a:r>
              <a:rPr lang="en-US" sz="2400" b="0" i="0" dirty="0">
                <a:solidFill>
                  <a:srgbClr val="273239"/>
                </a:solidFill>
                <a:effectLst/>
                <a:latin typeface="Nunito" pitchFamily="2" charset="0"/>
              </a:rPr>
              <a:t>Using the test data and a trained Logistic Regression model the code predicts the positive class's probability. In a similar manner, using the test data, it uses the trained Random Forest model to produce projected probabilities for the positive class.</a:t>
            </a:r>
          </a:p>
          <a:p>
            <a:endParaRPr lang="en-US" sz="2400" dirty="0">
              <a:solidFill>
                <a:srgbClr val="273239"/>
              </a:solidFill>
              <a:latin typeface="Nunito" pitchFamily="2" charset="0"/>
            </a:endParaRPr>
          </a:p>
          <a:p>
            <a:r>
              <a:rPr lang="en-US" sz="2400" dirty="0" err="1"/>
              <a:t>y_pred_logistic</a:t>
            </a:r>
            <a:r>
              <a:rPr lang="en-US" sz="2400" dirty="0"/>
              <a:t> = </a:t>
            </a:r>
            <a:r>
              <a:rPr lang="en-US" sz="2400" dirty="0" err="1"/>
              <a:t>logistic_model.predict_proba</a:t>
            </a:r>
            <a:r>
              <a:rPr lang="en-US" sz="2400" dirty="0"/>
              <a:t>(</a:t>
            </a:r>
            <a:r>
              <a:rPr lang="en-US" sz="2400" dirty="0" err="1"/>
              <a:t>X_test</a:t>
            </a:r>
            <a:r>
              <a:rPr lang="en-US" sz="2400" dirty="0"/>
              <a:t>)[:, 1]</a:t>
            </a:r>
          </a:p>
          <a:p>
            <a:r>
              <a:rPr lang="en-US" sz="2400" dirty="0" err="1"/>
              <a:t>y_pred_rf</a:t>
            </a:r>
            <a:r>
              <a:rPr lang="en-US" sz="2400" dirty="0"/>
              <a:t> = </a:t>
            </a:r>
            <a:r>
              <a:rPr lang="en-US" sz="2400" dirty="0" err="1"/>
              <a:t>random_forest_model.predict_proba</a:t>
            </a:r>
            <a:r>
              <a:rPr lang="en-US" sz="2400" dirty="0"/>
              <a:t>(</a:t>
            </a:r>
            <a:r>
              <a:rPr lang="en-US" sz="2400" dirty="0" err="1"/>
              <a:t>X_test</a:t>
            </a:r>
            <a:r>
              <a:rPr lang="en-US" sz="2400" dirty="0"/>
              <a:t>)[:, 1]</a:t>
            </a:r>
          </a:p>
        </p:txBody>
      </p:sp>
    </p:spTree>
    <p:extLst>
      <p:ext uri="{BB962C8B-B14F-4D97-AF65-F5344CB8AC3E}">
        <p14:creationId xmlns:p14="http://schemas.microsoft.com/office/powerpoint/2010/main" val="22386869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75FD7-919A-3DDA-AA19-734A3958FBFC}"/>
              </a:ext>
            </a:extLst>
          </p:cNvPr>
          <p:cNvSpPr>
            <a:spLocks noGrp="1"/>
          </p:cNvSpPr>
          <p:nvPr>
            <p:ph type="title"/>
          </p:nvPr>
        </p:nvSpPr>
        <p:spPr/>
        <p:txBody>
          <a:bodyPr/>
          <a:lstStyle/>
          <a:p>
            <a:r>
              <a:rPr lang="en-US" b="1" dirty="0"/>
              <a:t>5. Creating a </a:t>
            </a:r>
            <a:r>
              <a:rPr lang="en-US" b="1" dirty="0" err="1"/>
              <a:t>dataframe</a:t>
            </a:r>
            <a:br>
              <a:rPr lang="en-US" b="1" dirty="0"/>
            </a:br>
            <a:endParaRPr lang="en-US" dirty="0"/>
          </a:p>
        </p:txBody>
      </p:sp>
      <p:sp>
        <p:nvSpPr>
          <p:cNvPr id="4" name="TextBox 3">
            <a:extLst>
              <a:ext uri="{FF2B5EF4-FFF2-40B4-BE49-F238E27FC236}">
                <a16:creationId xmlns:a16="http://schemas.microsoft.com/office/drawing/2014/main" id="{92624018-5E05-3AFF-D43D-D3C496FC16E8}"/>
              </a:ext>
            </a:extLst>
          </p:cNvPr>
          <p:cNvSpPr txBox="1"/>
          <p:nvPr/>
        </p:nvSpPr>
        <p:spPr>
          <a:xfrm>
            <a:off x="838200" y="1433036"/>
            <a:ext cx="10618470" cy="2308324"/>
          </a:xfrm>
          <a:prstGeom prst="rect">
            <a:avLst/>
          </a:prstGeom>
          <a:noFill/>
        </p:spPr>
        <p:txBody>
          <a:bodyPr wrap="square">
            <a:spAutoFit/>
          </a:bodyPr>
          <a:lstStyle/>
          <a:p>
            <a:r>
              <a:rPr lang="en-US" sz="2400" b="0" i="0" dirty="0">
                <a:solidFill>
                  <a:srgbClr val="273239"/>
                </a:solidFill>
                <a:effectLst/>
                <a:latin typeface="Nunito" pitchFamily="2" charset="0"/>
              </a:rPr>
              <a:t>Using the test data the code creates a </a:t>
            </a:r>
            <a:r>
              <a:rPr lang="en-US" sz="2400" b="0" i="0" dirty="0" err="1">
                <a:solidFill>
                  <a:srgbClr val="273239"/>
                </a:solidFill>
                <a:effectLst/>
                <a:latin typeface="Nunito" pitchFamily="2" charset="0"/>
              </a:rPr>
              <a:t>DataFrame</a:t>
            </a:r>
            <a:r>
              <a:rPr lang="en-US" sz="2400" b="0" i="0" dirty="0">
                <a:solidFill>
                  <a:srgbClr val="273239"/>
                </a:solidFill>
                <a:effectLst/>
                <a:latin typeface="Nunito" pitchFamily="2" charset="0"/>
              </a:rPr>
              <a:t> called </a:t>
            </a:r>
            <a:r>
              <a:rPr lang="en-US" sz="2400" b="0" i="0" dirty="0" err="1">
                <a:solidFill>
                  <a:srgbClr val="273239"/>
                </a:solidFill>
                <a:effectLst/>
                <a:latin typeface="Nunito" pitchFamily="2" charset="0"/>
              </a:rPr>
              <a:t>test_df</a:t>
            </a:r>
            <a:r>
              <a:rPr lang="en-US" sz="2400" b="0" i="0" dirty="0">
                <a:solidFill>
                  <a:srgbClr val="273239"/>
                </a:solidFill>
                <a:effectLst/>
                <a:latin typeface="Nunito" pitchFamily="2" charset="0"/>
              </a:rPr>
              <a:t> with columns labeled "True," "Logistic" and "</a:t>
            </a:r>
            <a:r>
              <a:rPr lang="en-US" sz="2400" b="0" i="0" dirty="0" err="1">
                <a:solidFill>
                  <a:srgbClr val="273239"/>
                </a:solidFill>
                <a:effectLst/>
                <a:latin typeface="Nunito" pitchFamily="2" charset="0"/>
              </a:rPr>
              <a:t>RandomForest</a:t>
            </a:r>
            <a:r>
              <a:rPr lang="en-US" sz="2400" b="0" i="0" dirty="0">
                <a:solidFill>
                  <a:srgbClr val="273239"/>
                </a:solidFill>
                <a:effectLst/>
                <a:latin typeface="Nunito" pitchFamily="2" charset="0"/>
              </a:rPr>
              <a:t>," add true labels and predicted probabilities from Random Forest and Logistic Regression models.</a:t>
            </a:r>
          </a:p>
          <a:p>
            <a:endParaRPr lang="en-US" sz="2400" dirty="0">
              <a:solidFill>
                <a:srgbClr val="273239"/>
              </a:solidFill>
              <a:latin typeface="Nunito" pitchFamily="2" charset="0"/>
            </a:endParaRPr>
          </a:p>
          <a:p>
            <a:r>
              <a:rPr lang="en-US" sz="2400" dirty="0" err="1"/>
              <a:t>test_df</a:t>
            </a:r>
            <a:r>
              <a:rPr lang="en-US" sz="2400" dirty="0"/>
              <a:t> = </a:t>
            </a:r>
            <a:r>
              <a:rPr lang="en-US" sz="2400" dirty="0" err="1"/>
              <a:t>pd.DataFrame</a:t>
            </a:r>
            <a:r>
              <a:rPr lang="en-US" sz="2400" dirty="0"/>
              <a:t>(</a:t>
            </a:r>
          </a:p>
          <a:p>
            <a:r>
              <a:rPr lang="en-US" sz="2400" dirty="0"/>
              <a:t>    {'True': </a:t>
            </a:r>
            <a:r>
              <a:rPr lang="en-US" sz="2400" dirty="0" err="1"/>
              <a:t>y_test</a:t>
            </a:r>
            <a:r>
              <a:rPr lang="en-US" sz="2400" dirty="0"/>
              <a:t>, 'Logistic': </a:t>
            </a:r>
            <a:r>
              <a:rPr lang="en-US" sz="2400" dirty="0" err="1"/>
              <a:t>y_pred_logistic</a:t>
            </a:r>
            <a:r>
              <a:rPr lang="en-US" sz="2400" dirty="0"/>
              <a:t>, '</a:t>
            </a:r>
            <a:r>
              <a:rPr lang="en-US" sz="2400" dirty="0" err="1"/>
              <a:t>RandomForest</a:t>
            </a:r>
            <a:r>
              <a:rPr lang="en-US" sz="2400" dirty="0"/>
              <a:t>': </a:t>
            </a:r>
            <a:r>
              <a:rPr lang="en-US" sz="2400" dirty="0" err="1"/>
              <a:t>y_pred_rf</a:t>
            </a:r>
            <a:r>
              <a:rPr lang="en-US" sz="2400" dirty="0"/>
              <a:t>})</a:t>
            </a:r>
          </a:p>
        </p:txBody>
      </p:sp>
    </p:spTree>
    <p:extLst>
      <p:ext uri="{BB962C8B-B14F-4D97-AF65-F5344CB8AC3E}">
        <p14:creationId xmlns:p14="http://schemas.microsoft.com/office/powerpoint/2010/main" val="1186518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EE3BB-E631-C9B2-3E5F-DF1AFACA20EB}"/>
              </a:ext>
            </a:extLst>
          </p:cNvPr>
          <p:cNvSpPr>
            <a:spLocks noGrp="1"/>
          </p:cNvSpPr>
          <p:nvPr>
            <p:ph type="title"/>
          </p:nvPr>
        </p:nvSpPr>
        <p:spPr/>
        <p:txBody>
          <a:bodyPr/>
          <a:lstStyle/>
          <a:p>
            <a:r>
              <a:rPr lang="en-US" b="1" dirty="0"/>
              <a:t>6. Plotting ROC Curve for models</a:t>
            </a:r>
            <a:br>
              <a:rPr lang="en-US" b="1" dirty="0"/>
            </a:br>
            <a:endParaRPr lang="en-US" dirty="0"/>
          </a:p>
        </p:txBody>
      </p:sp>
      <p:sp>
        <p:nvSpPr>
          <p:cNvPr id="4" name="TextBox 3">
            <a:extLst>
              <a:ext uri="{FF2B5EF4-FFF2-40B4-BE49-F238E27FC236}">
                <a16:creationId xmlns:a16="http://schemas.microsoft.com/office/drawing/2014/main" id="{01AF22C0-E8BA-86D5-FE81-E3DE4FAB4496}"/>
              </a:ext>
            </a:extLst>
          </p:cNvPr>
          <p:cNvSpPr txBox="1"/>
          <p:nvPr/>
        </p:nvSpPr>
        <p:spPr>
          <a:xfrm>
            <a:off x="720090" y="1225689"/>
            <a:ext cx="11304270" cy="5632311"/>
          </a:xfrm>
          <a:prstGeom prst="rect">
            <a:avLst/>
          </a:prstGeom>
          <a:noFill/>
        </p:spPr>
        <p:txBody>
          <a:bodyPr wrap="square">
            <a:spAutoFit/>
          </a:bodyPr>
          <a:lstStyle/>
          <a:p>
            <a:r>
              <a:rPr lang="en-US" sz="2000" b="0" i="0" dirty="0">
                <a:solidFill>
                  <a:srgbClr val="273239"/>
                </a:solidFill>
                <a:effectLst/>
                <a:latin typeface="Nunito" pitchFamily="2" charset="0"/>
              </a:rPr>
              <a:t>Plot the ROC curve and compute the AUC for both Logistic Regression and Random Forest. The ROC curve compares models based on True Positive Rate vs False Positive Rate, while the red dashed line shows random guessing</a:t>
            </a:r>
          </a:p>
          <a:p>
            <a:endParaRPr lang="en-US" sz="2000" b="0" i="0" dirty="0">
              <a:solidFill>
                <a:srgbClr val="273239"/>
              </a:solidFill>
              <a:effectLst/>
              <a:latin typeface="Nunito" pitchFamily="2" charset="0"/>
            </a:endParaRPr>
          </a:p>
          <a:p>
            <a:r>
              <a:rPr lang="en-US" sz="2000" dirty="0" err="1"/>
              <a:t>plt.figure</a:t>
            </a:r>
            <a:r>
              <a:rPr lang="en-US" sz="2000" dirty="0"/>
              <a:t>(</a:t>
            </a:r>
            <a:r>
              <a:rPr lang="en-US" sz="2000" dirty="0" err="1"/>
              <a:t>figsize</a:t>
            </a:r>
            <a:r>
              <a:rPr lang="en-US" sz="2000" dirty="0"/>
              <a:t>=(7, 5))</a:t>
            </a:r>
          </a:p>
          <a:p>
            <a:endParaRPr lang="en-US" sz="2000" dirty="0"/>
          </a:p>
          <a:p>
            <a:r>
              <a:rPr lang="en-US" sz="2000" dirty="0"/>
              <a:t>for model in ['Logistic', '</a:t>
            </a:r>
            <a:r>
              <a:rPr lang="en-US" sz="2000" dirty="0" err="1"/>
              <a:t>RandomForest</a:t>
            </a:r>
            <a:r>
              <a:rPr lang="en-US" sz="2000" dirty="0"/>
              <a:t>']:</a:t>
            </a:r>
          </a:p>
          <a:p>
            <a:r>
              <a:rPr lang="en-US" sz="2000" dirty="0"/>
              <a:t>    </a:t>
            </a:r>
            <a:r>
              <a:rPr lang="en-US" sz="2000" dirty="0" err="1"/>
              <a:t>fpr</a:t>
            </a:r>
            <a:r>
              <a:rPr lang="en-US" sz="2000" dirty="0"/>
              <a:t>, </a:t>
            </a:r>
            <a:r>
              <a:rPr lang="en-US" sz="2000" dirty="0" err="1"/>
              <a:t>tpr</a:t>
            </a:r>
            <a:r>
              <a:rPr lang="en-US" sz="2000" dirty="0"/>
              <a:t>, _ = </a:t>
            </a:r>
            <a:r>
              <a:rPr lang="en-US" sz="2000" dirty="0" err="1"/>
              <a:t>roc_curve</a:t>
            </a:r>
            <a:r>
              <a:rPr lang="en-US" sz="2000" dirty="0"/>
              <a:t>(</a:t>
            </a:r>
            <a:r>
              <a:rPr lang="en-US" sz="2000" dirty="0" err="1"/>
              <a:t>test_df</a:t>
            </a:r>
            <a:r>
              <a:rPr lang="en-US" sz="2000" dirty="0"/>
              <a:t>['True'], </a:t>
            </a:r>
            <a:r>
              <a:rPr lang="en-US" sz="2000" dirty="0" err="1"/>
              <a:t>test_df</a:t>
            </a:r>
            <a:r>
              <a:rPr lang="en-US" sz="2000" dirty="0"/>
              <a:t>[model])</a:t>
            </a:r>
          </a:p>
          <a:p>
            <a:r>
              <a:rPr lang="en-US" sz="2000" dirty="0"/>
              <a:t>    </a:t>
            </a:r>
            <a:r>
              <a:rPr lang="en-US" sz="2000" dirty="0" err="1"/>
              <a:t>roc_auc</a:t>
            </a:r>
            <a:r>
              <a:rPr lang="en-US" sz="2000" dirty="0"/>
              <a:t> = </a:t>
            </a:r>
            <a:r>
              <a:rPr lang="en-US" sz="2000" dirty="0" err="1"/>
              <a:t>auc</a:t>
            </a:r>
            <a:r>
              <a:rPr lang="en-US" sz="2000" dirty="0"/>
              <a:t>(</a:t>
            </a:r>
            <a:r>
              <a:rPr lang="en-US" sz="2000" dirty="0" err="1"/>
              <a:t>fpr</a:t>
            </a:r>
            <a:r>
              <a:rPr lang="en-US" sz="2000" dirty="0"/>
              <a:t>, </a:t>
            </a:r>
            <a:r>
              <a:rPr lang="en-US" sz="2000" dirty="0" err="1"/>
              <a:t>tpr</a:t>
            </a:r>
            <a:r>
              <a:rPr lang="en-US" sz="2000" dirty="0"/>
              <a:t>)</a:t>
            </a:r>
          </a:p>
          <a:p>
            <a:r>
              <a:rPr lang="en-US" sz="2000" dirty="0"/>
              <a:t>    </a:t>
            </a:r>
            <a:r>
              <a:rPr lang="en-US" sz="2000" dirty="0" err="1"/>
              <a:t>plt.plot</a:t>
            </a:r>
            <a:r>
              <a:rPr lang="en-US" sz="2000" dirty="0"/>
              <a:t>(</a:t>
            </a:r>
            <a:r>
              <a:rPr lang="en-US" sz="2000" dirty="0" err="1"/>
              <a:t>fpr</a:t>
            </a:r>
            <a:r>
              <a:rPr lang="en-US" sz="2000" dirty="0"/>
              <a:t>, </a:t>
            </a:r>
            <a:r>
              <a:rPr lang="en-US" sz="2000" dirty="0" err="1"/>
              <a:t>tpr</a:t>
            </a:r>
            <a:r>
              <a:rPr lang="en-US" sz="2000" dirty="0"/>
              <a:t>, label=f'{model} (AUC = {roc_auc:.2f})')</a:t>
            </a:r>
          </a:p>
          <a:p>
            <a:endParaRPr lang="en-US" sz="2000" dirty="0"/>
          </a:p>
          <a:p>
            <a:r>
              <a:rPr lang="en-US" sz="2000" dirty="0" err="1"/>
              <a:t>plt.plot</a:t>
            </a:r>
            <a:r>
              <a:rPr lang="en-US" sz="2000" dirty="0"/>
              <a:t>([0, 1], [0, 1], 'r--', label='Random Guess')</a:t>
            </a:r>
          </a:p>
          <a:p>
            <a:endParaRPr lang="en-US" sz="2000" dirty="0"/>
          </a:p>
          <a:p>
            <a:r>
              <a:rPr lang="en-US" sz="2000" dirty="0" err="1"/>
              <a:t>plt.xlabel</a:t>
            </a:r>
            <a:r>
              <a:rPr lang="en-US" sz="2000" dirty="0"/>
              <a:t>('False Positive Rate')</a:t>
            </a:r>
          </a:p>
          <a:p>
            <a:r>
              <a:rPr lang="en-US" sz="2000" dirty="0" err="1"/>
              <a:t>plt.ylabel</a:t>
            </a:r>
            <a:r>
              <a:rPr lang="en-US" sz="2000" dirty="0"/>
              <a:t>('True Positive Rate')</a:t>
            </a:r>
          </a:p>
          <a:p>
            <a:r>
              <a:rPr lang="en-US" sz="2000" dirty="0" err="1"/>
              <a:t>plt.title</a:t>
            </a:r>
            <a:r>
              <a:rPr lang="en-US" sz="2000" dirty="0"/>
              <a:t>('ROC Curves for Two Models')</a:t>
            </a:r>
          </a:p>
          <a:p>
            <a:r>
              <a:rPr lang="en-US" sz="2000" dirty="0" err="1"/>
              <a:t>plt.legend</a:t>
            </a:r>
            <a:r>
              <a:rPr lang="en-US" sz="2000" dirty="0"/>
              <a:t>()</a:t>
            </a:r>
          </a:p>
          <a:p>
            <a:r>
              <a:rPr lang="en-US" sz="2000" dirty="0" err="1"/>
              <a:t>plt.show</a:t>
            </a:r>
            <a:r>
              <a:rPr lang="en-US" sz="2000" dirty="0"/>
              <a:t>()</a:t>
            </a:r>
          </a:p>
        </p:txBody>
      </p:sp>
    </p:spTree>
    <p:extLst>
      <p:ext uri="{BB962C8B-B14F-4D97-AF65-F5344CB8AC3E}">
        <p14:creationId xmlns:p14="http://schemas.microsoft.com/office/powerpoint/2010/main" val="10979366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210E5E-6F3E-228E-B359-869C401F6DC0}"/>
              </a:ext>
            </a:extLst>
          </p:cNvPr>
          <p:cNvPicPr>
            <a:picLocks noChangeAspect="1"/>
          </p:cNvPicPr>
          <p:nvPr/>
        </p:nvPicPr>
        <p:blipFill>
          <a:blip r:embed="rId2"/>
          <a:stretch>
            <a:fillRect/>
          </a:stretch>
        </p:blipFill>
        <p:spPr>
          <a:xfrm>
            <a:off x="2180678" y="366285"/>
            <a:ext cx="7830643" cy="6125430"/>
          </a:xfrm>
          <a:prstGeom prst="rect">
            <a:avLst/>
          </a:prstGeom>
        </p:spPr>
      </p:pic>
    </p:spTree>
    <p:extLst>
      <p:ext uri="{BB962C8B-B14F-4D97-AF65-F5344CB8AC3E}">
        <p14:creationId xmlns:p14="http://schemas.microsoft.com/office/powerpoint/2010/main" val="42428141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15CFEF-7988-90B1-5581-304E71856AE6}"/>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br>
              <a:rPr lang="en-US" sz="4800" kern="1200">
                <a:solidFill>
                  <a:srgbClr val="FFFFFF"/>
                </a:solidFill>
                <a:latin typeface="+mj-lt"/>
                <a:ea typeface="+mj-ea"/>
                <a:cs typeface="+mj-cs"/>
              </a:rPr>
            </a:br>
            <a:r>
              <a:rPr lang="en-US" sz="4800" kern="1200">
                <a:solidFill>
                  <a:srgbClr val="FFFFFF"/>
                </a:solidFill>
                <a:latin typeface="+mj-lt"/>
                <a:ea typeface="+mj-ea"/>
                <a:cs typeface="+mj-cs"/>
              </a:rPr>
              <a:t>Thank you</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7356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2793</TotalTime>
  <Words>2873</Words>
  <Application>Microsoft Office PowerPoint</Application>
  <PresentationFormat>Widescreen</PresentationFormat>
  <Paragraphs>288</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Aptos</vt:lpstr>
      <vt:lpstr>Aptos Display</vt:lpstr>
      <vt:lpstr>Arial</vt:lpstr>
      <vt:lpstr>Google Sans</vt:lpstr>
      <vt:lpstr>Nunito</vt:lpstr>
      <vt:lpstr>Source Sans 3</vt:lpstr>
      <vt:lpstr>Office Theme</vt:lpstr>
      <vt:lpstr>Module – 3  ML Concepts, Algorithms &amp; Model Evaluation</vt:lpstr>
      <vt:lpstr>PowerPoint Presentation</vt:lpstr>
      <vt:lpstr>Module 3: Machine Learning </vt:lpstr>
      <vt:lpstr>PowerPoint Presentation</vt:lpstr>
      <vt:lpstr>Classification / Logistic Regression</vt:lpstr>
      <vt:lpstr>Introduction </vt:lpstr>
      <vt:lpstr>PowerPoint Presentation</vt:lpstr>
      <vt:lpstr>PowerPoint Presentation</vt:lpstr>
      <vt:lpstr>Types of logistic regression </vt:lpstr>
      <vt:lpstr>Assumptions of Logistic Regression</vt:lpstr>
      <vt:lpstr>Understanding Sigmoid Function</vt:lpstr>
      <vt:lpstr>How does Logistic Regression work? </vt:lpstr>
      <vt:lpstr>Sigmoid Curve</vt:lpstr>
      <vt:lpstr>PowerPoint Presentation</vt:lpstr>
      <vt:lpstr>Terminologies involved in Logistic Regression</vt:lpstr>
      <vt:lpstr>1. Binomial Logistic regression: </vt:lpstr>
      <vt:lpstr>PowerPoint Presentation</vt:lpstr>
      <vt:lpstr>Evaluation Metrics </vt:lpstr>
      <vt:lpstr>Metrics</vt:lpstr>
      <vt:lpstr>Classification Metrics</vt:lpstr>
      <vt:lpstr>PowerPoint Presentation</vt:lpstr>
      <vt:lpstr>PowerPoint Presentation</vt:lpstr>
      <vt:lpstr>PowerPoint Presentation</vt:lpstr>
      <vt:lpstr>PowerPoint Presentation</vt:lpstr>
      <vt:lpstr>PowerPoint Presentation</vt:lpstr>
      <vt:lpstr>AUC ROC Curve</vt:lpstr>
      <vt:lpstr>PowerPoint Presentation</vt:lpstr>
      <vt:lpstr>Problem  </vt:lpstr>
      <vt:lpstr>Problem Understanding</vt:lpstr>
      <vt:lpstr>Data Collection</vt:lpstr>
      <vt:lpstr>Data Cleaning</vt:lpstr>
      <vt:lpstr>Exploratory Data Analysis (EDA)</vt:lpstr>
      <vt:lpstr>Feature Engineering</vt:lpstr>
      <vt:lpstr>Model Selection</vt:lpstr>
      <vt:lpstr>Model Training</vt:lpstr>
      <vt:lpstr>Validation &amp; Testing</vt:lpstr>
      <vt:lpstr>Hyperparameter Tuning</vt:lpstr>
      <vt:lpstr>Deployment &amp; Monitoring (Basic Example)</vt:lpstr>
      <vt:lpstr>Load &amp; Predict (Deployment Simulation)</vt:lpstr>
      <vt:lpstr>PowerPoint Presentation</vt:lpstr>
      <vt:lpstr>2. Generating data and splitting data</vt:lpstr>
      <vt:lpstr>3. Training the different models </vt:lpstr>
      <vt:lpstr>4. Predictions</vt:lpstr>
      <vt:lpstr>5. Creating a dataframe </vt:lpstr>
      <vt:lpstr>6. Plotting ROC Curve for models </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9</cp:revision>
  <dcterms:created xsi:type="dcterms:W3CDTF">2025-12-13T12:31:17Z</dcterms:created>
  <dcterms:modified xsi:type="dcterms:W3CDTF">2025-12-19T09:30:52Z</dcterms:modified>
</cp:coreProperties>
</file>
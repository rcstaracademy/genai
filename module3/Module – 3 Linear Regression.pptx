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9">
  <p:sldMasterIdLst>
    <p:sldMasterId id="2147483648" r:id="rId1"/>
  </p:sldMasterIdLst>
  <p:notesMasterIdLst>
    <p:notesMasterId r:id="rId44"/>
  </p:notesMasterIdLst>
  <p:sldIdLst>
    <p:sldId id="256" r:id="rId2"/>
    <p:sldId id="317" r:id="rId3"/>
    <p:sldId id="259" r:id="rId4"/>
    <p:sldId id="261" r:id="rId5"/>
    <p:sldId id="260" r:id="rId6"/>
    <p:sldId id="262" r:id="rId7"/>
    <p:sldId id="263" r:id="rId8"/>
    <p:sldId id="264" r:id="rId9"/>
    <p:sldId id="265" r:id="rId10"/>
    <p:sldId id="267" r:id="rId11"/>
    <p:sldId id="268" r:id="rId12"/>
    <p:sldId id="266" r:id="rId13"/>
    <p:sldId id="269" r:id="rId14"/>
    <p:sldId id="270" r:id="rId15"/>
    <p:sldId id="272" r:id="rId16"/>
    <p:sldId id="273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2" r:id="rId34"/>
    <p:sldId id="325" r:id="rId35"/>
    <p:sldId id="322" r:id="rId36"/>
    <p:sldId id="323" r:id="rId37"/>
    <p:sldId id="324" r:id="rId38"/>
    <p:sldId id="326" r:id="rId39"/>
    <p:sldId id="327" r:id="rId40"/>
    <p:sldId id="328" r:id="rId41"/>
    <p:sldId id="321" r:id="rId42"/>
    <p:sldId id="271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61D1B2-FE9D-4A68-8F85-B191516F3E49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CD0B373-DFC3-450C-9F65-D38DB170A972}">
      <dgm:prSet/>
      <dgm:spPr/>
      <dgm:t>
        <a:bodyPr/>
        <a:lstStyle/>
        <a:p>
          <a:r>
            <a:rPr lang="en-US" b="1"/>
            <a:t>Business Question:</a:t>
          </a:r>
          <a:br>
            <a:rPr lang="en-US"/>
          </a:br>
          <a:r>
            <a:rPr lang="en-US"/>
            <a:t>Can we estimate house prices from basic property features?</a:t>
          </a:r>
        </a:p>
      </dgm:t>
    </dgm:pt>
    <dgm:pt modelId="{2FC19998-C857-4E87-AA5B-D1327E3C0835}" type="parTrans" cxnId="{6BB8F30C-1995-4D2A-85AC-1952C66BB884}">
      <dgm:prSet/>
      <dgm:spPr/>
      <dgm:t>
        <a:bodyPr/>
        <a:lstStyle/>
        <a:p>
          <a:endParaRPr lang="en-US"/>
        </a:p>
      </dgm:t>
    </dgm:pt>
    <dgm:pt modelId="{CB10706F-378F-45A6-89B3-A828433B9FE5}" type="sibTrans" cxnId="{6BB8F30C-1995-4D2A-85AC-1952C66BB884}">
      <dgm:prSet/>
      <dgm:spPr/>
      <dgm:t>
        <a:bodyPr/>
        <a:lstStyle/>
        <a:p>
          <a:endParaRPr lang="en-US"/>
        </a:p>
      </dgm:t>
    </dgm:pt>
    <dgm:pt modelId="{0489B8BE-BA2F-4A03-A39C-27CFCA2BCE3B}">
      <dgm:prSet/>
      <dgm:spPr/>
      <dgm:t>
        <a:bodyPr/>
        <a:lstStyle/>
        <a:p>
          <a:r>
            <a:rPr lang="en-US" b="1"/>
            <a:t>ML Type:</a:t>
          </a:r>
          <a:br>
            <a:rPr lang="en-US"/>
          </a:br>
          <a:r>
            <a:rPr lang="en-US"/>
            <a:t>✔ Supervised Learning</a:t>
          </a:r>
          <a:br>
            <a:rPr lang="en-US"/>
          </a:br>
          <a:r>
            <a:rPr lang="en-US"/>
            <a:t>✔ </a:t>
          </a:r>
          <a:r>
            <a:rPr lang="en-US" b="1"/>
            <a:t>Regression</a:t>
          </a:r>
          <a:endParaRPr lang="en-US"/>
        </a:p>
      </dgm:t>
    </dgm:pt>
    <dgm:pt modelId="{BDA7C1E5-4FC3-4E1D-BDF7-AD79FCC5D43F}" type="parTrans" cxnId="{E86A0781-F2C2-4740-AFC9-AB57E51E2846}">
      <dgm:prSet/>
      <dgm:spPr/>
      <dgm:t>
        <a:bodyPr/>
        <a:lstStyle/>
        <a:p>
          <a:endParaRPr lang="en-US"/>
        </a:p>
      </dgm:t>
    </dgm:pt>
    <dgm:pt modelId="{40D34BDE-D62B-4C26-9D59-732424303A4B}" type="sibTrans" cxnId="{E86A0781-F2C2-4740-AFC9-AB57E51E2846}">
      <dgm:prSet/>
      <dgm:spPr/>
      <dgm:t>
        <a:bodyPr/>
        <a:lstStyle/>
        <a:p>
          <a:endParaRPr lang="en-US"/>
        </a:p>
      </dgm:t>
    </dgm:pt>
    <dgm:pt modelId="{B8AAFF2E-1F39-432A-AA3F-BF1BCCF931D2}" type="pres">
      <dgm:prSet presAssocID="{BB61D1B2-FE9D-4A68-8F85-B191516F3E49}" presName="linear" presStyleCnt="0">
        <dgm:presLayoutVars>
          <dgm:animLvl val="lvl"/>
          <dgm:resizeHandles val="exact"/>
        </dgm:presLayoutVars>
      </dgm:prSet>
      <dgm:spPr/>
    </dgm:pt>
    <dgm:pt modelId="{DB8DDE41-B35B-483D-8902-1CA166B4FB06}" type="pres">
      <dgm:prSet presAssocID="{7CD0B373-DFC3-450C-9F65-D38DB170A97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A72EE0A-3726-469C-835F-88E41A23DEB4}" type="pres">
      <dgm:prSet presAssocID="{CB10706F-378F-45A6-89B3-A828433B9FE5}" presName="spacer" presStyleCnt="0"/>
      <dgm:spPr/>
    </dgm:pt>
    <dgm:pt modelId="{78799D57-F378-484A-9B66-A4534F75578B}" type="pres">
      <dgm:prSet presAssocID="{0489B8BE-BA2F-4A03-A39C-27CFCA2BCE3B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6BB8F30C-1995-4D2A-85AC-1952C66BB884}" srcId="{BB61D1B2-FE9D-4A68-8F85-B191516F3E49}" destId="{7CD0B373-DFC3-450C-9F65-D38DB170A972}" srcOrd="0" destOrd="0" parTransId="{2FC19998-C857-4E87-AA5B-D1327E3C0835}" sibTransId="{CB10706F-378F-45A6-89B3-A828433B9FE5}"/>
    <dgm:cxn modelId="{D852D910-B9F8-418C-88C7-5B8C46DCB50E}" type="presOf" srcId="{BB61D1B2-FE9D-4A68-8F85-B191516F3E49}" destId="{B8AAFF2E-1F39-432A-AA3F-BF1BCCF931D2}" srcOrd="0" destOrd="0" presId="urn:microsoft.com/office/officeart/2005/8/layout/vList2"/>
    <dgm:cxn modelId="{7B294329-C06D-476D-A2D3-208096E548B2}" type="presOf" srcId="{0489B8BE-BA2F-4A03-A39C-27CFCA2BCE3B}" destId="{78799D57-F378-484A-9B66-A4534F75578B}" srcOrd="0" destOrd="0" presId="urn:microsoft.com/office/officeart/2005/8/layout/vList2"/>
    <dgm:cxn modelId="{E86A0781-F2C2-4740-AFC9-AB57E51E2846}" srcId="{BB61D1B2-FE9D-4A68-8F85-B191516F3E49}" destId="{0489B8BE-BA2F-4A03-A39C-27CFCA2BCE3B}" srcOrd="1" destOrd="0" parTransId="{BDA7C1E5-4FC3-4E1D-BDF7-AD79FCC5D43F}" sibTransId="{40D34BDE-D62B-4C26-9D59-732424303A4B}"/>
    <dgm:cxn modelId="{564A459A-49F3-453E-972E-6DCA6CBE1F4D}" type="presOf" srcId="{7CD0B373-DFC3-450C-9F65-D38DB170A972}" destId="{DB8DDE41-B35B-483D-8902-1CA166B4FB06}" srcOrd="0" destOrd="0" presId="urn:microsoft.com/office/officeart/2005/8/layout/vList2"/>
    <dgm:cxn modelId="{0DA5290C-A63E-459B-B98F-5912DD89F54B}" type="presParOf" srcId="{B8AAFF2E-1F39-432A-AA3F-BF1BCCF931D2}" destId="{DB8DDE41-B35B-483D-8902-1CA166B4FB06}" srcOrd="0" destOrd="0" presId="urn:microsoft.com/office/officeart/2005/8/layout/vList2"/>
    <dgm:cxn modelId="{818E69E2-74FE-472A-91B3-ECB67E619B1F}" type="presParOf" srcId="{B8AAFF2E-1F39-432A-AA3F-BF1BCCF931D2}" destId="{AA72EE0A-3726-469C-835F-88E41A23DEB4}" srcOrd="1" destOrd="0" presId="urn:microsoft.com/office/officeart/2005/8/layout/vList2"/>
    <dgm:cxn modelId="{55E9778F-E43E-413B-8B91-62E9FAD91EBA}" type="presParOf" srcId="{B8AAFF2E-1F39-432A-AA3F-BF1BCCF931D2}" destId="{78799D57-F378-484A-9B66-A4534F75578B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8DDE41-B35B-483D-8902-1CA166B4FB06}">
      <dsp:nvSpPr>
        <dsp:cNvPr id="0" name=""/>
        <dsp:cNvSpPr/>
      </dsp:nvSpPr>
      <dsp:spPr>
        <a:xfrm>
          <a:off x="0" y="511885"/>
          <a:ext cx="6666833" cy="2161794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1" kern="1200"/>
            <a:t>Business Question:</a:t>
          </a:r>
          <a:br>
            <a:rPr lang="en-US" sz="3700" kern="1200"/>
          </a:br>
          <a:r>
            <a:rPr lang="en-US" sz="3700" kern="1200"/>
            <a:t>Can we estimate house prices from basic property features?</a:t>
          </a:r>
        </a:p>
      </dsp:txBody>
      <dsp:txXfrm>
        <a:off x="105530" y="617415"/>
        <a:ext cx="6455773" cy="1950734"/>
      </dsp:txXfrm>
    </dsp:sp>
    <dsp:sp modelId="{78799D57-F378-484A-9B66-A4534F75578B}">
      <dsp:nvSpPr>
        <dsp:cNvPr id="0" name=""/>
        <dsp:cNvSpPr/>
      </dsp:nvSpPr>
      <dsp:spPr>
        <a:xfrm>
          <a:off x="0" y="2780240"/>
          <a:ext cx="6666833" cy="2161794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b="1" kern="1200"/>
            <a:t>ML Type:</a:t>
          </a:r>
          <a:br>
            <a:rPr lang="en-US" sz="3700" kern="1200"/>
          </a:br>
          <a:r>
            <a:rPr lang="en-US" sz="3700" kern="1200"/>
            <a:t>✔ Supervised Learning</a:t>
          </a:r>
          <a:br>
            <a:rPr lang="en-US" sz="3700" kern="1200"/>
          </a:br>
          <a:r>
            <a:rPr lang="en-US" sz="3700" kern="1200"/>
            <a:t>✔ </a:t>
          </a:r>
          <a:r>
            <a:rPr lang="en-US" sz="3700" b="1" kern="1200"/>
            <a:t>Regression</a:t>
          </a:r>
          <a:endParaRPr lang="en-US" sz="3700" kern="1200"/>
        </a:p>
      </dsp:txBody>
      <dsp:txXfrm>
        <a:off x="105530" y="2885770"/>
        <a:ext cx="6455773" cy="19507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21B84D-EF00-40BD-9492-B4E3910A5E61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94F558-22AC-4775-8EB3-0F0C71369A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496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94F558-22AC-4775-8EB3-0F0C71369A2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7536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94F558-22AC-4775-8EB3-0F0C71369A2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6580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94F558-22AC-4775-8EB3-0F0C71369A2A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1770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FA6A5-A550-8056-2711-7CE293EE3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2E7CFC-5279-3C2B-8F3C-54F8E629EF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BDA32D-8A02-AA3B-9A40-9F03E489C7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021667-CC82-39E6-4F3A-FE61D5296A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94F558-22AC-4775-8EB3-0F0C71369A2A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2428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F95E2-EE77-532C-FA6D-DEE92987A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DF66CC-AE33-8B74-804E-57B639955E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99F2BB-EC94-61E2-C32F-9664E22F21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D748A9-6A41-7A6B-C8E2-1B757EEC71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94F558-22AC-4775-8EB3-0F0C71369A2A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7402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C20E3-C68C-C989-4954-0BE514148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D433B7-EBA3-D087-7776-05E497149A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D5AB7A-94FF-E971-AE3B-CF167D2DFD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E8C726-C11B-56B4-4B08-A46E222E70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94F558-22AC-4775-8EB3-0F0C71369A2A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5377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0E1AF-DD4E-7934-E2B0-DD2365A90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4ACD8F-229B-04EE-3F2C-AF94E25EBD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66D37F-99B3-6F73-518B-48C3F81688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AC5F0D-C5D1-FCEC-0F80-1125487C4A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94F558-22AC-4775-8EB3-0F0C71369A2A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0247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86BF0-F8A1-2ABF-BF45-B35695F79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08AD12-A2A9-6B57-BFF4-B327F246D0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2FB46F-401D-D2D8-2CA4-B7794F4B0F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7D549B-368D-A344-21BB-93EFF55BF6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94F558-22AC-4775-8EB3-0F0C71369A2A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470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4A30F-446B-C620-46D0-1E9E1B872E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4C1DD0-0DE1-7943-8415-C007739B6F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702090-572D-2293-B7D0-47C4B67DA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94CBF-409F-42DE-8F68-64B55C98EF72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167C73-9F51-9719-7FE2-191B7923E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A9CE-77FB-9A11-22C9-F48881919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E91B9-4551-4DFB-9107-D6767DB09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89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A98CC-CB56-0E96-622A-A50BAB9A8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24459-5B54-F2AF-2B09-ABDB83457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18490-9149-F21B-FC42-11F8C9BD5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94CBF-409F-42DE-8F68-64B55C98EF72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A849F-2379-ECCC-7175-7C968FEF0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D2F45-E1A9-7ABD-4495-54BCDD7F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E91B9-4551-4DFB-9107-D6767DB09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899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AD2A9-4887-C3B0-BBF7-2920C3355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3F75F2-7B82-3705-6FE6-DE9A5819CF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0BE780-7ECD-3109-8E33-59D80C7FE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94CBF-409F-42DE-8F68-64B55C98EF72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7DEBA0-961D-8EFD-3766-93CD1CCEC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9128B-6EAA-F78B-F854-F2BDE690B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E91B9-4551-4DFB-9107-D6767DB09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111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54832-7CB8-0C14-177D-4E213BF9F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9389B-CDA3-C547-C6BC-61BE8A93E3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42821-A3C6-90BA-8A3D-537DA4A915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EAF1D1-24DB-111B-5AF9-638B04A74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94CBF-409F-42DE-8F68-64B55C98EF72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C8FEC6-4913-ED42-6A88-98C05A04E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04CDB-982A-0074-559D-58DA8E572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E91B9-4551-4DFB-9107-D6767DB09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360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98356-E3A1-0202-B2F3-4A220CDED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E9F382-1EA0-535B-726F-D39C86BB0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7E3AAD-9F3D-AF22-19CB-001B72AFFC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CB9D52-6ED8-E996-E59C-0BD88D2DB8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1CFBA3-13F4-34C7-71FB-9512A9A3B7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0C1D42-70E8-D1DD-7BD9-C9B10746E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94CBF-409F-42DE-8F68-64B55C98EF72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66623-C348-EB1E-3679-71635C8CD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9D00F3-37E9-DF92-16D8-5B5BD19DC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E91B9-4551-4DFB-9107-D6767DB09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980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D4A09-533F-1003-3439-B957A7C2D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1CF882-3643-5110-28A9-69AA00CF5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94CBF-409F-42DE-8F68-64B55C98EF72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2737A1-2424-0625-B650-B81E29324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C95305-B10C-5340-5F79-C2A6614F3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E91B9-4551-4DFB-9107-D6767DB09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354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56143B-126D-57CA-E612-801370D03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94CBF-409F-42DE-8F68-64B55C98EF72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D27BF3-2EA3-ACBE-D8C4-E86433E42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494A2E-B3B2-A94D-3C11-106BD5FE0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E91B9-4551-4DFB-9107-D6767DB09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780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E842F-FE10-876D-E8DF-CD61D9F2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175B-7354-E6E0-7FD7-D269AE29AC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775545-CB5A-4C73-3916-77C4CF8EAE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2FB599-496A-A7B3-3FCA-B968BAEB2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94CBF-409F-42DE-8F68-64B55C98EF72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7FF444-F80A-982F-46C3-2574C519A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E70175-C923-88B7-2231-C5C2F1597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E91B9-4551-4DFB-9107-D6767DB09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702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ED0C7-2492-E454-A590-D77DD9456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B3EFA0-EEC6-DE3D-990F-90F77AAB83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7FCE1A-1473-89FD-670B-6C48409B00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A8861-FACC-1B1D-6989-E2F4A8441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94CBF-409F-42DE-8F68-64B55C98EF72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84FB95-D1CC-AF3B-5797-A2476DAFD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CAB999-234C-D143-5409-12E167F80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E91B9-4551-4DFB-9107-D6767DB09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11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1C7EC-BE00-2909-0CCB-D6F803F14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6AD0DE-CD1C-57A2-EB5A-FA76E03020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E48D5-7C0F-5627-C3D6-62F9453FF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94CBF-409F-42DE-8F68-64B55C98EF72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B8F76-56F0-09C2-8E69-1E3E925CB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99F0E-E69B-5F12-68D6-64B1573D1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E91B9-4551-4DFB-9107-D6767DB09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453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50C0E0-4720-9F4C-0B87-14F7210F74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CEFB07-4BEF-4348-ADA3-0207B41464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10465-8AB7-31E4-FFF6-642977D68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94CBF-409F-42DE-8F68-64B55C98EF72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5E3A9-177F-2E78-9B35-2BE860D8E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001A4C-E638-7219-3A78-B0BF2D7B9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E91B9-4551-4DFB-9107-D6767DB09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088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67D0BF-D842-23F8-29DE-154757A2D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638929-DFDA-4493-D727-41A37428E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90A615-F29C-2616-267D-8AAA4F0209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294CBF-409F-42DE-8F68-64B55C98EF72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8CB55-9CA9-9980-E061-DD11BB612D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8B42E-A844-4C67-57BE-7417324A75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DE91B9-4551-4DFB-9107-D6767DB09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196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6F0CF4-74B3-4F08-70BE-B996380011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Module – 3 </a:t>
            </a:r>
            <a:br>
              <a:rPr lang="en-US" sz="4800">
                <a:solidFill>
                  <a:srgbClr val="FFFFFF"/>
                </a:solidFill>
              </a:rPr>
            </a:br>
            <a:r>
              <a:rPr lang="en-US" sz="4800">
                <a:solidFill>
                  <a:srgbClr val="FFFFFF"/>
                </a:solidFill>
              </a:rPr>
              <a:t>ML Concepts, Algorithms &amp; Model Evaluation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98619A-AE12-E349-4F6A-54072F5755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Dr. Rakhee Chhibber</a:t>
            </a:r>
          </a:p>
        </p:txBody>
      </p:sp>
    </p:spTree>
    <p:extLst>
      <p:ext uri="{BB962C8B-B14F-4D97-AF65-F5344CB8AC3E}">
        <p14:creationId xmlns:p14="http://schemas.microsoft.com/office/powerpoint/2010/main" val="2170415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83A1282-D128-43B2-C684-9E2234C31686}"/>
              </a:ext>
            </a:extLst>
          </p:cNvPr>
          <p:cNvGrpSpPr/>
          <p:nvPr/>
        </p:nvGrpSpPr>
        <p:grpSpPr>
          <a:xfrm>
            <a:off x="4533112" y="0"/>
            <a:ext cx="5822468" cy="6857572"/>
            <a:chOff x="3293364" y="1059258"/>
            <a:chExt cx="5462016" cy="5798314"/>
          </a:xfrm>
        </p:grpSpPr>
        <p:pic>
          <p:nvPicPr>
            <p:cNvPr id="5" name="Picture 4" descr="A diagram of a tree with many icons&#10;&#10;AI-generated content may be incorrect.">
              <a:extLst>
                <a:ext uri="{FF2B5EF4-FFF2-40B4-BE49-F238E27FC236}">
                  <a16:creationId xmlns:a16="http://schemas.microsoft.com/office/drawing/2014/main" id="{923304AC-E26B-0321-664E-B1DC0B6F32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014"/>
            <a:stretch>
              <a:fillRect/>
            </a:stretch>
          </p:blipFill>
          <p:spPr>
            <a:xfrm>
              <a:off x="3293364" y="1059258"/>
              <a:ext cx="5462016" cy="5798314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CE22DA-D093-1BEC-84F4-B59D22E47234}"/>
                </a:ext>
              </a:extLst>
            </p:cNvPr>
            <p:cNvSpPr/>
            <p:nvPr/>
          </p:nvSpPr>
          <p:spPr>
            <a:xfrm>
              <a:off x="6720840" y="1154430"/>
              <a:ext cx="1748790" cy="54864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7EB21C3-39E3-2A0B-3B00-C50A370988A3}"/>
              </a:ext>
            </a:extLst>
          </p:cNvPr>
          <p:cNvSpPr txBox="1"/>
          <p:nvPr/>
        </p:nvSpPr>
        <p:spPr>
          <a:xfrm>
            <a:off x="169899" y="1428750"/>
            <a:ext cx="298020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The Skill Tree You need to grow in Gen - AI</a:t>
            </a:r>
          </a:p>
        </p:txBody>
      </p:sp>
    </p:spTree>
    <p:extLst>
      <p:ext uri="{BB962C8B-B14F-4D97-AF65-F5344CB8AC3E}">
        <p14:creationId xmlns:p14="http://schemas.microsoft.com/office/powerpoint/2010/main" val="1714892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20C17-BCD2-6112-12ED-A5BA6A57E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09728"/>
            <a:ext cx="10890929" cy="1097280"/>
          </a:xfrm>
        </p:spPr>
        <p:txBody>
          <a:bodyPr>
            <a:normAutofit fontScale="90000"/>
          </a:bodyPr>
          <a:lstStyle/>
          <a:p>
            <a:r>
              <a:rPr lang="en-US" dirty="0"/>
              <a:t>Module 3: Machine Learning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3B8FFB1-434E-7EAC-9C24-7A83BF6D74C6}"/>
              </a:ext>
            </a:extLst>
          </p:cNvPr>
          <p:cNvGraphicFramePr>
            <a:graphicFrameLocks noGrp="1"/>
          </p:cNvGraphicFramePr>
          <p:nvPr/>
        </p:nvGraphicFramePr>
        <p:xfrm>
          <a:off x="681905" y="772668"/>
          <a:ext cx="10870016" cy="585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35008">
                  <a:extLst>
                    <a:ext uri="{9D8B030D-6E8A-4147-A177-3AD203B41FA5}">
                      <a16:colId xmlns:a16="http://schemas.microsoft.com/office/drawing/2014/main" val="1829834404"/>
                    </a:ext>
                  </a:extLst>
                </a:gridCol>
                <a:gridCol w="5435008">
                  <a:extLst>
                    <a:ext uri="{9D8B030D-6E8A-4147-A177-3AD203B41FA5}">
                      <a16:colId xmlns:a16="http://schemas.microsoft.com/office/drawing/2014/main" val="1541418356"/>
                    </a:ext>
                  </a:extLst>
                </a:gridCol>
              </a:tblGrid>
              <a:tr h="61036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ML Concepts</a:t>
                      </a:r>
                    </a:p>
                    <a:p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ML Algorithms</a:t>
                      </a:r>
                    </a:p>
                    <a:p>
                      <a:endParaRPr 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8420900"/>
                  </a:ext>
                </a:extLst>
              </a:tr>
              <a:tr h="781812">
                <a:tc>
                  <a:txBody>
                    <a:bodyPr/>
                    <a:lstStyle/>
                    <a:p>
                      <a:pPr lvl="0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Supervised vs Unsupervised</a:t>
                      </a:r>
                    </a:p>
                    <a:p>
                      <a:pPr lvl="0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Semi-supervised</a:t>
                      </a:r>
                    </a:p>
                    <a:p>
                      <a:pPr lvl="0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Reinforcement learning basics</a:t>
                      </a:r>
                    </a:p>
                    <a:p>
                      <a:pPr lvl="0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ML workflow</a:t>
                      </a:r>
                    </a:p>
                    <a:p>
                      <a:pPr lvl="0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Feature engineering</a:t>
                      </a:r>
                    </a:p>
                    <a:p>
                      <a:pPr lvl="0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Model training, validation, testing</a:t>
                      </a:r>
                    </a:p>
                    <a:p>
                      <a:pPr lvl="0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Hyperparameter tuning</a:t>
                      </a:r>
                    </a:p>
                    <a:p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Linear &amp; Logistic Regression</a:t>
                      </a:r>
                    </a:p>
                    <a:p>
                      <a:pPr lvl="0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KNN</a:t>
                      </a:r>
                    </a:p>
                    <a:p>
                      <a:pPr lvl="0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Decision Trees &amp; Random Forest</a:t>
                      </a:r>
                    </a:p>
                    <a:p>
                      <a:pPr lvl="0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SVM</a:t>
                      </a:r>
                    </a:p>
                    <a:p>
                      <a:pPr lvl="0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Ensemble Learning</a:t>
                      </a:r>
                    </a:p>
                    <a:p>
                      <a:pPr lvl="0"/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KMeans</a:t>
                      </a:r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DBSCAN</a:t>
                      </a:r>
                    </a:p>
                    <a:p>
                      <a:pPr lvl="0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PCA</a:t>
                      </a:r>
                    </a:p>
                    <a:p>
                      <a:endParaRPr 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4443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Model Evaluation</a:t>
                      </a:r>
                    </a:p>
                    <a:p>
                      <a:endParaRPr lang="en-US" sz="20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 Tools And Assignments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3562206"/>
                  </a:ext>
                </a:extLst>
              </a:tr>
              <a:tr h="781812">
                <a:tc>
                  <a:txBody>
                    <a:bodyPr/>
                    <a:lstStyle/>
                    <a:p>
                      <a:pPr lvl="0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Classification metrics</a:t>
                      </a:r>
                    </a:p>
                    <a:p>
                      <a:pPr lvl="0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Regression metrics</a:t>
                      </a:r>
                    </a:p>
                    <a:p>
                      <a:pPr lvl="0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Confusion matrix</a:t>
                      </a:r>
                    </a:p>
                    <a:p>
                      <a:pPr lvl="0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ROC/AUC</a:t>
                      </a:r>
                    </a:p>
                    <a:p>
                      <a:endParaRPr lang="en-US" sz="20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✔ Scikit-learn, </a:t>
                      </a:r>
                      <a:r>
                        <a:rPr lang="en-US" sz="20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Jupyter</a:t>
                      </a:r>
                      <a:endParaRPr lang="en-US" sz="20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Assignments</a:t>
                      </a:r>
                    </a:p>
                    <a:p>
                      <a:pPr lvl="0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Build regression &amp; classification models</a:t>
                      </a:r>
                    </a:p>
                    <a:p>
                      <a:pPr lvl="0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Fraud detection model</a:t>
                      </a:r>
                    </a:p>
                    <a:p>
                      <a:pPr lvl="0"/>
                      <a:r>
                        <a:rPr lang="en-US" sz="2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Clustering customer segmentation</a:t>
                      </a:r>
                    </a:p>
                    <a:p>
                      <a:endParaRPr lang="en-US" sz="20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1796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925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66FCD2-AB87-E19F-C2AB-FD7D9BC55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200" y="976122"/>
            <a:ext cx="11277600" cy="4905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8057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9DB180-5DB0-7CCE-C9E2-B35609B1A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C1EB1-5029-B23C-7F01-71AAF06BF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6618" y="194310"/>
            <a:ext cx="5994871" cy="617321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b="1" dirty="0"/>
              <a:t>Definition:</a:t>
            </a:r>
            <a:r>
              <a:rPr lang="en-US" dirty="0"/>
              <a:t> Supervised learning is an ML approach where the model is trained on </a:t>
            </a:r>
            <a:r>
              <a:rPr lang="en-US" b="1" dirty="0"/>
              <a:t>labeled data</a:t>
            </a:r>
            <a:r>
              <a:rPr lang="en-US" dirty="0"/>
              <a:t>, meaning each input has a known output.</a:t>
            </a:r>
          </a:p>
          <a:p>
            <a:pPr marL="0" indent="0">
              <a:buNone/>
            </a:pPr>
            <a:r>
              <a:rPr lang="en-US" b="1" dirty="0"/>
              <a:t>Goal:</a:t>
            </a:r>
            <a:r>
              <a:rPr lang="en-US" dirty="0"/>
              <a:t> Learn a mapping function:</a:t>
            </a:r>
          </a:p>
          <a:p>
            <a:pPr marL="0" indent="0" latinLnBrk="1">
              <a:buNone/>
            </a:pPr>
            <a:r>
              <a:rPr lang="en-US" dirty="0"/>
              <a:t>X (input features) → Y (target/label)</a:t>
            </a:r>
          </a:p>
          <a:p>
            <a:pPr marL="0" indent="0" latinLnBrk="1">
              <a:buNone/>
            </a:pPr>
            <a:r>
              <a:rPr lang="en-US" b="1" dirty="0"/>
              <a:t>Model - </a:t>
            </a:r>
            <a:r>
              <a:rPr lang="en-US" dirty="0"/>
              <a:t>Predictive</a:t>
            </a:r>
          </a:p>
          <a:p>
            <a:pPr marL="0" indent="0">
              <a:buNone/>
            </a:pPr>
            <a:r>
              <a:rPr lang="en-US" b="1" dirty="0"/>
              <a:t>Types of Supervised Learning</a:t>
            </a:r>
          </a:p>
          <a:p>
            <a:pPr marL="0" indent="0">
              <a:buNone/>
            </a:pPr>
            <a:r>
              <a:rPr lang="en-US" b="1" i="1" dirty="0"/>
              <a:t>(a) Regression</a:t>
            </a:r>
          </a:p>
          <a:p>
            <a:pPr marL="0" indent="0">
              <a:buNone/>
            </a:pPr>
            <a:r>
              <a:rPr lang="en-US" b="1" i="1" dirty="0"/>
              <a:t>(b) Classification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89958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D366D8-CB15-CF12-D39B-7D6A07CD5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 i="1">
                <a:solidFill>
                  <a:srgbClr val="FFFFFF"/>
                </a:solidFill>
              </a:rPr>
              <a:t>(a)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82256-4ABE-4E84-705E-FFE169F50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649480"/>
            <a:ext cx="5269605" cy="5546047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en-US" b="1" dirty="0"/>
              <a:t>Output</a:t>
            </a:r>
            <a:r>
              <a:rPr lang="en-US" dirty="0"/>
              <a:t> is </a:t>
            </a:r>
            <a:r>
              <a:rPr lang="en-US" b="1" dirty="0"/>
              <a:t>continuous</a:t>
            </a:r>
            <a:endParaRPr lang="en-US" dirty="0"/>
          </a:p>
          <a:p>
            <a:pPr marL="0" lvl="0" indent="0">
              <a:buNone/>
            </a:pPr>
            <a:r>
              <a:rPr lang="en-US" b="1" dirty="0"/>
              <a:t>Examples:</a:t>
            </a:r>
          </a:p>
          <a:p>
            <a:pPr marL="457200" lvl="1" indent="0">
              <a:buNone/>
            </a:pPr>
            <a:r>
              <a:rPr lang="en-US" sz="2800" dirty="0"/>
              <a:t>House price prediction</a:t>
            </a:r>
          </a:p>
          <a:p>
            <a:pPr marL="457200" lvl="1" indent="0">
              <a:buNone/>
            </a:pPr>
            <a:r>
              <a:rPr lang="en-US" sz="2800" dirty="0"/>
              <a:t>Salary prediction</a:t>
            </a:r>
          </a:p>
          <a:p>
            <a:pPr marL="0" indent="0">
              <a:buNone/>
            </a:pPr>
            <a:r>
              <a:rPr lang="en-US" b="1" dirty="0"/>
              <a:t>Algorithms:</a:t>
            </a:r>
            <a:r>
              <a:rPr lang="en-US" dirty="0"/>
              <a:t> </a:t>
            </a:r>
          </a:p>
          <a:p>
            <a:pPr>
              <a:buFontTx/>
              <a:buChar char="-"/>
            </a:pPr>
            <a:r>
              <a:rPr lang="en-US" dirty="0"/>
              <a:t>Linear Regression </a:t>
            </a:r>
          </a:p>
          <a:p>
            <a:pPr>
              <a:buFontTx/>
              <a:buChar char="-"/>
            </a:pPr>
            <a:r>
              <a:rPr lang="en-US" dirty="0"/>
              <a:t>Ridge / Lasso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111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55AD56-7895-0016-45B1-DBD95A9E0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 i="1">
                <a:solidFill>
                  <a:srgbClr val="FFFFFF"/>
                </a:solidFill>
              </a:rPr>
              <a:t>(b) Classification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CDDDE-C245-F60C-6877-1966487C2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en-US" dirty="0"/>
              <a:t>Output is </a:t>
            </a:r>
            <a:r>
              <a:rPr lang="en-US" b="1" dirty="0"/>
              <a:t>categorical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Examples:</a:t>
            </a:r>
          </a:p>
          <a:p>
            <a:pPr lvl="1"/>
            <a:r>
              <a:rPr lang="en-US" sz="2800" dirty="0"/>
              <a:t>Spam vs Not Spam</a:t>
            </a:r>
          </a:p>
          <a:p>
            <a:pPr lvl="1"/>
            <a:r>
              <a:rPr lang="en-US" sz="2800" dirty="0"/>
              <a:t>Fraud detection</a:t>
            </a:r>
          </a:p>
          <a:p>
            <a:r>
              <a:rPr lang="en-US" b="1" dirty="0"/>
              <a:t>Algorithms:</a:t>
            </a:r>
            <a:r>
              <a:rPr lang="en-US" dirty="0"/>
              <a:t> </a:t>
            </a:r>
          </a:p>
          <a:p>
            <a:pPr>
              <a:buFontTx/>
              <a:buChar char="-"/>
            </a:pPr>
            <a:r>
              <a:rPr lang="en-US" dirty="0"/>
              <a:t>Logistic Regression </a:t>
            </a:r>
          </a:p>
          <a:p>
            <a:pPr>
              <a:buFontTx/>
              <a:buChar char="-"/>
            </a:pPr>
            <a:r>
              <a:rPr lang="en-US" dirty="0"/>
              <a:t>KNN </a:t>
            </a:r>
          </a:p>
          <a:p>
            <a:pPr>
              <a:buFontTx/>
              <a:buChar char="-"/>
            </a:pPr>
            <a:r>
              <a:rPr lang="en-US" dirty="0"/>
              <a:t>SVM </a:t>
            </a:r>
          </a:p>
          <a:p>
            <a:pPr>
              <a:buFontTx/>
              <a:buChar char="-"/>
            </a:pPr>
            <a:r>
              <a:rPr lang="en-US" dirty="0"/>
              <a:t>Naive Bayes </a:t>
            </a:r>
          </a:p>
          <a:p>
            <a:pPr>
              <a:buFontTx/>
              <a:buChar char="-"/>
            </a:pPr>
            <a:r>
              <a:rPr lang="en-US" dirty="0"/>
              <a:t>Decision Tree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974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0E2276-1180-F4D0-9A20-293FF429D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br>
              <a:rPr lang="en-US" sz="4000">
                <a:solidFill>
                  <a:srgbClr val="FFFFFF"/>
                </a:solidFill>
              </a:rPr>
            </a:br>
            <a:r>
              <a:rPr lang="en-US" sz="4000">
                <a:solidFill>
                  <a:srgbClr val="FFFFFF"/>
                </a:solidFill>
              </a:rPr>
              <a:t>Advantages and Disadvantages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0A845-A175-9657-93EC-164F81DC0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b="1" dirty="0"/>
              <a:t>Advantages: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- High accuracy when enough labeled data is available </a:t>
            </a:r>
          </a:p>
          <a:p>
            <a:pPr marL="0" indent="0">
              <a:buNone/>
            </a:pPr>
            <a:r>
              <a:rPr lang="en-US" dirty="0"/>
              <a:t>- Easy evaluation using metrics</a:t>
            </a:r>
          </a:p>
          <a:p>
            <a:r>
              <a:rPr lang="en-US" b="1" dirty="0"/>
              <a:t>Disadvantages:</a:t>
            </a:r>
            <a:r>
              <a:rPr lang="en-US" dirty="0"/>
              <a:t> </a:t>
            </a:r>
          </a:p>
          <a:p>
            <a:pPr>
              <a:buFontTx/>
              <a:buChar char="-"/>
            </a:pPr>
            <a:r>
              <a:rPr lang="en-US" dirty="0"/>
              <a:t>Requires large labeled datasets </a:t>
            </a:r>
          </a:p>
          <a:p>
            <a:pPr>
              <a:buFontTx/>
              <a:buChar char="-"/>
            </a:pPr>
            <a:r>
              <a:rPr lang="en-US" dirty="0"/>
              <a:t>Labeling is expensive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9072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83E65A-6B82-3CBF-DF7E-EA24DC8B4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Unsupervised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F5CFD-6E17-7487-4CC1-A2B61BE05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6618" y="410222"/>
            <a:ext cx="5926291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b="1" dirty="0"/>
              <a:t>Definition:</a:t>
            </a:r>
            <a:r>
              <a:rPr lang="en-US" dirty="0"/>
              <a:t> Unsupervised learning works with </a:t>
            </a:r>
            <a:r>
              <a:rPr lang="en-US" b="1" dirty="0"/>
              <a:t>unlabeled data</a:t>
            </a:r>
            <a:r>
              <a:rPr lang="en-US" dirty="0"/>
              <a:t>. The model finds hidden patterns or structures.</a:t>
            </a:r>
          </a:p>
          <a:p>
            <a:pPr marL="0" indent="0">
              <a:buNone/>
            </a:pPr>
            <a:r>
              <a:rPr lang="en-US" b="1" dirty="0"/>
              <a:t>Goal:</a:t>
            </a:r>
            <a:r>
              <a:rPr lang="en-US" dirty="0"/>
              <a:t> Discover intrinsic structure in data.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Types of Unsupervised Learning</a:t>
            </a:r>
          </a:p>
          <a:p>
            <a:pPr marL="0" indent="0">
              <a:buNone/>
            </a:pPr>
            <a:r>
              <a:rPr lang="en-US" b="1" i="1" dirty="0"/>
              <a:t>(a) Clustering</a:t>
            </a:r>
          </a:p>
          <a:p>
            <a:pPr marL="0" indent="0">
              <a:buNone/>
            </a:pPr>
            <a:r>
              <a:rPr lang="en-US" b="1" i="1" dirty="0"/>
              <a:t>(b) Dimensionality Reduction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89794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6D7255-2E92-75F2-29EB-0694513DE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 i="1" dirty="0">
                <a:solidFill>
                  <a:srgbClr val="FFFFFF"/>
                </a:solidFill>
              </a:rPr>
              <a:t>a) Clustering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A6C01-B880-46DB-780C-FA3B625815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6620" y="649480"/>
            <a:ext cx="5438986" cy="5546047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en-US" dirty="0"/>
              <a:t>Groups similar data points</a:t>
            </a:r>
          </a:p>
          <a:p>
            <a:pPr marL="0" lvl="0" indent="0">
              <a:buNone/>
            </a:pPr>
            <a:r>
              <a:rPr lang="en-US" dirty="0"/>
              <a:t>Examples:</a:t>
            </a:r>
          </a:p>
          <a:p>
            <a:pPr marL="457200" lvl="1" indent="0">
              <a:buNone/>
            </a:pPr>
            <a:r>
              <a:rPr lang="en-US" sz="2800" dirty="0"/>
              <a:t>Customer segmentation</a:t>
            </a:r>
          </a:p>
          <a:p>
            <a:pPr marL="457200" lvl="1" indent="0">
              <a:buNone/>
            </a:pPr>
            <a:r>
              <a:rPr lang="en-US" sz="2800" dirty="0"/>
              <a:t>Image grouping</a:t>
            </a:r>
          </a:p>
          <a:p>
            <a:pPr marL="0" indent="0">
              <a:buNone/>
            </a:pPr>
            <a:r>
              <a:rPr lang="en-US" b="1" dirty="0"/>
              <a:t>Algorithms:</a:t>
            </a:r>
            <a:r>
              <a:rPr lang="en-US" dirty="0"/>
              <a:t> </a:t>
            </a:r>
          </a:p>
          <a:p>
            <a:pPr>
              <a:buFontTx/>
              <a:buChar char="-"/>
            </a:pPr>
            <a:r>
              <a:rPr lang="en-US" dirty="0"/>
              <a:t>K-Means </a:t>
            </a:r>
          </a:p>
          <a:p>
            <a:pPr>
              <a:buFontTx/>
              <a:buChar char="-"/>
            </a:pPr>
            <a:r>
              <a:rPr lang="en-US" dirty="0"/>
              <a:t>Hierarchical Clustering 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37999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DA0C2E-7706-B911-A2AB-734B8849C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 i="1">
                <a:solidFill>
                  <a:srgbClr val="FFFFFF"/>
                </a:solidFill>
              </a:rPr>
              <a:t>(b) Dimensionality Reduction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CE822-47B8-C632-0B38-08F01CFF7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7232" y="586855"/>
            <a:ext cx="5915096" cy="5909777"/>
          </a:xfrm>
        </p:spPr>
        <p:txBody>
          <a:bodyPr anchor="ctr">
            <a:normAutofit lnSpcReduction="10000"/>
          </a:bodyPr>
          <a:lstStyle/>
          <a:p>
            <a:pPr marL="0" lvl="0" indent="0">
              <a:buNone/>
            </a:pPr>
            <a:r>
              <a:rPr lang="en-US" dirty="0"/>
              <a:t>Reduce number of features while retaining information</a:t>
            </a:r>
          </a:p>
          <a:p>
            <a:pPr marL="0" lv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Algorithms:</a:t>
            </a:r>
            <a:r>
              <a:rPr lang="en-US" dirty="0"/>
              <a:t> </a:t>
            </a:r>
          </a:p>
          <a:p>
            <a:pPr>
              <a:buFontTx/>
              <a:buChar char="-"/>
            </a:pPr>
            <a:r>
              <a:rPr lang="en-US" b="1" dirty="0"/>
              <a:t>PCA </a:t>
            </a:r>
            <a:r>
              <a:rPr lang="en-US" dirty="0"/>
              <a:t> </a:t>
            </a:r>
            <a:r>
              <a:rPr lang="en-US" altLang="en-US" dirty="0">
                <a:latin typeface="Arial" panose="020B0604020202020204" pitchFamily="34" charset="0"/>
              </a:rPr>
              <a:t> → Principal Component Analysis – used in </a:t>
            </a:r>
            <a:r>
              <a:rPr lang="en-US" dirty="0"/>
              <a:t>Dimensionality Reduction like image compression, noise Reduction 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Arial" panose="020B0604020202020204" pitchFamily="34" charset="0"/>
              </a:rPr>
              <a:t>- LDA</a:t>
            </a:r>
            <a:r>
              <a:rPr lang="en-US" altLang="en-US" dirty="0">
                <a:latin typeface="Arial" panose="020B0604020202020204" pitchFamily="34" charset="0"/>
              </a:rPr>
              <a:t> → Linear Discriminant Analysis – used in face recognition, spam detection, document classification, medical diagnosis as diabetes detection and cancer detection etc.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163026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FFA2E7-5AC9-430C-BF95-8404B7E95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Advantages and Disadvantages</a:t>
            </a:r>
            <a:br>
              <a:rPr lang="en-US" sz="4000">
                <a:solidFill>
                  <a:srgbClr val="FFFFFF"/>
                </a:solidFill>
              </a:rPr>
            </a:b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9F7A4-13F7-CDB7-E745-68D604946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7232" y="649480"/>
            <a:ext cx="5358373" cy="5546047"/>
          </a:xfrm>
        </p:spPr>
        <p:txBody>
          <a:bodyPr anchor="ctr">
            <a:normAutofit/>
          </a:bodyPr>
          <a:lstStyle/>
          <a:p>
            <a:r>
              <a:rPr lang="en-US" b="1" dirty="0"/>
              <a:t>Advantages:</a:t>
            </a:r>
            <a:r>
              <a:rPr lang="en-US" dirty="0"/>
              <a:t> </a:t>
            </a:r>
          </a:p>
          <a:p>
            <a:pPr>
              <a:buFontTx/>
              <a:buChar char="-"/>
            </a:pPr>
            <a:r>
              <a:rPr lang="en-US" dirty="0"/>
              <a:t>No labeling required </a:t>
            </a:r>
          </a:p>
          <a:p>
            <a:pPr marL="0" indent="0">
              <a:buNone/>
            </a:pPr>
            <a:r>
              <a:rPr lang="en-US" dirty="0"/>
              <a:t>- Useful for exploration</a:t>
            </a:r>
          </a:p>
          <a:p>
            <a:r>
              <a:rPr lang="en-US" b="1" dirty="0"/>
              <a:t>Disadvantages:</a:t>
            </a:r>
            <a:r>
              <a:rPr lang="en-US" dirty="0"/>
              <a:t> </a:t>
            </a:r>
          </a:p>
          <a:p>
            <a:pPr>
              <a:buFontTx/>
              <a:buChar char="-"/>
            </a:pPr>
            <a:r>
              <a:rPr lang="en-US" dirty="0"/>
              <a:t>No direct accuracy metric </a:t>
            </a:r>
          </a:p>
          <a:p>
            <a:pPr>
              <a:buFontTx/>
              <a:buChar char="-"/>
            </a:pPr>
            <a:r>
              <a:rPr lang="en-US" dirty="0"/>
              <a:t>Interpretation can be difficult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51622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80EDBE-3708-C6E1-B99F-608658009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Semi-Supervised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E26A3-7709-EE9B-726E-B499991739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0" y="114300"/>
            <a:ext cx="6297930" cy="649224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b="1" dirty="0"/>
              <a:t>Definition:</a:t>
            </a:r>
            <a:r>
              <a:rPr lang="en-US" sz="2400" dirty="0"/>
              <a:t> Uses </a:t>
            </a:r>
            <a:r>
              <a:rPr lang="en-US" sz="2400" b="1" dirty="0"/>
              <a:t>small labeled data + large unlabeled data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b="1" dirty="0"/>
              <a:t>Why needed?</a:t>
            </a:r>
            <a:r>
              <a:rPr lang="en-US" sz="2400" dirty="0"/>
              <a:t> </a:t>
            </a:r>
          </a:p>
          <a:p>
            <a:pPr>
              <a:buFontTx/>
              <a:buChar char="-"/>
            </a:pPr>
            <a:r>
              <a:rPr lang="en-US" sz="2400" dirty="0"/>
              <a:t>Labeling is costly </a:t>
            </a:r>
          </a:p>
          <a:p>
            <a:pPr>
              <a:buFontTx/>
              <a:buChar char="-"/>
            </a:pPr>
            <a:r>
              <a:rPr lang="en-US" sz="2400" dirty="0"/>
              <a:t>Unlabeled data is abundant</a:t>
            </a:r>
          </a:p>
          <a:p>
            <a:pPr marL="0" indent="0">
              <a:buNone/>
            </a:pPr>
            <a:r>
              <a:rPr lang="en-US" sz="2400" b="1" dirty="0"/>
              <a:t>Approach:</a:t>
            </a:r>
            <a:r>
              <a:rPr lang="en-US" sz="2400" dirty="0"/>
              <a:t> 1. Train model on labeled data 2. Predict labels for unlabeled data 3. Retrain using confident predictions</a:t>
            </a:r>
          </a:p>
          <a:p>
            <a:pPr marL="0" indent="0">
              <a:buNone/>
            </a:pPr>
            <a:r>
              <a:rPr lang="en-US" sz="2400" b="1" dirty="0"/>
              <a:t>Examples:</a:t>
            </a:r>
            <a:r>
              <a:rPr lang="en-US" sz="2400" dirty="0"/>
              <a:t> </a:t>
            </a:r>
          </a:p>
          <a:p>
            <a:pPr>
              <a:buFontTx/>
              <a:buChar char="-"/>
            </a:pPr>
            <a:r>
              <a:rPr lang="en-US" sz="2400" dirty="0"/>
              <a:t>Text classification </a:t>
            </a:r>
          </a:p>
          <a:p>
            <a:pPr>
              <a:buFontTx/>
              <a:buChar char="-"/>
            </a:pPr>
            <a:r>
              <a:rPr lang="en-US" sz="2400" dirty="0"/>
              <a:t>Medical image analysis</a:t>
            </a:r>
          </a:p>
          <a:p>
            <a:pPr marL="0" indent="0">
              <a:buNone/>
            </a:pPr>
            <a:r>
              <a:rPr lang="en-US" sz="2400" b="1" dirty="0"/>
              <a:t>Techniques:</a:t>
            </a:r>
            <a:r>
              <a:rPr lang="en-US" sz="2400" dirty="0"/>
              <a:t> </a:t>
            </a:r>
          </a:p>
          <a:p>
            <a:pPr>
              <a:buFontTx/>
              <a:buChar char="-"/>
            </a:pPr>
            <a:r>
              <a:rPr lang="en-US" sz="2400" dirty="0"/>
              <a:t>Self-training </a:t>
            </a:r>
          </a:p>
          <a:p>
            <a:pPr>
              <a:buFontTx/>
              <a:buChar char="-"/>
            </a:pPr>
            <a:r>
              <a:rPr lang="en-US" sz="2400" dirty="0"/>
              <a:t>Co-training </a:t>
            </a:r>
          </a:p>
          <a:p>
            <a:pPr>
              <a:buFontTx/>
              <a:buChar char="-"/>
            </a:pPr>
            <a:r>
              <a:rPr lang="en-US" sz="2400" dirty="0"/>
              <a:t>Pseudo-labeling</a:t>
            </a:r>
          </a:p>
        </p:txBody>
      </p:sp>
    </p:spTree>
    <p:extLst>
      <p:ext uri="{BB962C8B-B14F-4D97-AF65-F5344CB8AC3E}">
        <p14:creationId xmlns:p14="http://schemas.microsoft.com/office/powerpoint/2010/main" val="42424251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3754AB-E0D4-80CA-A304-12796BE53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Reinforcement Learning (RL)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95AB2-2B02-F193-286A-A41E2D257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6440" y="274320"/>
            <a:ext cx="6046470" cy="642366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b="1" dirty="0"/>
              <a:t>Definition:</a:t>
            </a:r>
            <a:r>
              <a:rPr lang="en-US" sz="2400" dirty="0"/>
              <a:t> Learning by </a:t>
            </a:r>
            <a:r>
              <a:rPr lang="en-US" sz="2400" b="1" dirty="0"/>
              <a:t>interaction with an environment</a:t>
            </a:r>
            <a:r>
              <a:rPr lang="en-US" sz="2400" dirty="0"/>
              <a:t> using rewards and penalties.</a:t>
            </a:r>
          </a:p>
          <a:p>
            <a:pPr marL="0" indent="0">
              <a:buNone/>
            </a:pPr>
            <a:r>
              <a:rPr lang="en-US" sz="2400" b="1" dirty="0"/>
              <a:t>Objective</a:t>
            </a:r>
          </a:p>
          <a:p>
            <a:pPr marL="0" indent="0">
              <a:buNone/>
            </a:pPr>
            <a:r>
              <a:rPr lang="en-US" sz="2400" dirty="0"/>
              <a:t>Maximize </a:t>
            </a:r>
            <a:r>
              <a:rPr lang="en-US" sz="2400" b="1" dirty="0"/>
              <a:t>cumulative reward</a:t>
            </a:r>
            <a:r>
              <a:rPr lang="en-US" sz="2400" dirty="0"/>
              <a:t>.</a:t>
            </a:r>
          </a:p>
          <a:p>
            <a:pPr marL="0" indent="0" latinLnBrk="1">
              <a:buNone/>
            </a:pPr>
            <a:r>
              <a:rPr lang="en-US" sz="2400" dirty="0"/>
              <a:t>Return = r1 + r2 + r3 + ...</a:t>
            </a:r>
          </a:p>
          <a:p>
            <a:pPr marL="0" indent="0">
              <a:buNone/>
            </a:pPr>
            <a:r>
              <a:rPr lang="en-US" sz="2400" b="1" dirty="0"/>
              <a:t>Examples</a:t>
            </a:r>
          </a:p>
          <a:p>
            <a:pPr marL="0" lvl="0" indent="0">
              <a:buNone/>
            </a:pPr>
            <a:r>
              <a:rPr lang="en-US" sz="2400" dirty="0"/>
              <a:t>Game playing (Chess, Go)</a:t>
            </a:r>
          </a:p>
          <a:p>
            <a:pPr marL="0" lvl="0" indent="0">
              <a:buNone/>
            </a:pPr>
            <a:r>
              <a:rPr lang="en-US" sz="2400" dirty="0"/>
              <a:t>Robotics</a:t>
            </a:r>
          </a:p>
          <a:p>
            <a:pPr marL="0" lvl="0" indent="0">
              <a:buNone/>
            </a:pPr>
            <a:r>
              <a:rPr lang="en-US" sz="2400" dirty="0"/>
              <a:t>Recommendation systems</a:t>
            </a:r>
          </a:p>
          <a:p>
            <a:pPr marL="0" indent="0">
              <a:buNone/>
            </a:pPr>
            <a:r>
              <a:rPr lang="en-US" sz="2400" b="1" dirty="0"/>
              <a:t>Algorithms</a:t>
            </a:r>
          </a:p>
          <a:p>
            <a:pPr marL="0" lvl="0" indent="0">
              <a:buNone/>
            </a:pPr>
            <a:r>
              <a:rPr lang="en-US" sz="2400" dirty="0"/>
              <a:t>Q-Learning</a:t>
            </a:r>
          </a:p>
          <a:p>
            <a:pPr marL="0" lvl="0" indent="0">
              <a:buNone/>
            </a:pPr>
            <a:r>
              <a:rPr lang="en-US" sz="2400" dirty="0"/>
              <a:t>SARSA</a:t>
            </a:r>
          </a:p>
          <a:p>
            <a:pPr marL="0" lvl="0" indent="0">
              <a:buNone/>
            </a:pPr>
            <a:r>
              <a:rPr lang="en-US" sz="2400" dirty="0"/>
              <a:t>Deep Q Networks (DQN)</a:t>
            </a:r>
          </a:p>
        </p:txBody>
      </p:sp>
    </p:spTree>
    <p:extLst>
      <p:ext uri="{BB962C8B-B14F-4D97-AF65-F5344CB8AC3E}">
        <p14:creationId xmlns:p14="http://schemas.microsoft.com/office/powerpoint/2010/main" val="27333964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555755-D5CC-66D9-79E7-9FC74D44B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Machine Learning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F3313-FE89-62D6-4DC6-81304693F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b="1" dirty="0"/>
              <a:t>End-to-End ML Pipeline</a:t>
            </a:r>
          </a:p>
          <a:p>
            <a:pPr lvl="1"/>
            <a:r>
              <a:rPr lang="en-US" sz="2800" dirty="0"/>
              <a:t>Problem Understanding</a:t>
            </a:r>
          </a:p>
          <a:p>
            <a:pPr lvl="1"/>
            <a:r>
              <a:rPr lang="en-US" sz="2800" dirty="0"/>
              <a:t>Data Collection</a:t>
            </a:r>
          </a:p>
          <a:p>
            <a:pPr lvl="1"/>
            <a:r>
              <a:rPr lang="en-US" sz="2800" dirty="0"/>
              <a:t>Data Cleaning</a:t>
            </a:r>
          </a:p>
          <a:p>
            <a:pPr lvl="1"/>
            <a:r>
              <a:rPr lang="en-US" sz="2800" dirty="0"/>
              <a:t>Exploratory Data Analysis (EDA)</a:t>
            </a:r>
          </a:p>
          <a:p>
            <a:pPr lvl="1"/>
            <a:r>
              <a:rPr lang="en-US" sz="2800" dirty="0"/>
              <a:t>Feature Engineering</a:t>
            </a:r>
          </a:p>
          <a:p>
            <a:pPr lvl="1"/>
            <a:r>
              <a:rPr lang="en-US" sz="2800" dirty="0"/>
              <a:t>Model Selection</a:t>
            </a:r>
          </a:p>
          <a:p>
            <a:pPr lvl="1"/>
            <a:r>
              <a:rPr lang="en-US" sz="2800" dirty="0"/>
              <a:t>Model Training</a:t>
            </a:r>
          </a:p>
          <a:p>
            <a:pPr lvl="1"/>
            <a:r>
              <a:rPr lang="en-US" sz="2800" dirty="0"/>
              <a:t>Validation &amp; Testing</a:t>
            </a:r>
          </a:p>
          <a:p>
            <a:pPr lvl="1"/>
            <a:r>
              <a:rPr lang="en-US" sz="2800" dirty="0"/>
              <a:t>Hyperparameter Tuning</a:t>
            </a:r>
          </a:p>
          <a:p>
            <a:pPr lvl="1"/>
            <a:r>
              <a:rPr lang="en-US" sz="2800" dirty="0"/>
              <a:t>Deployment &amp; Monitoring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29307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41941A-0B4B-6026-1AD9-E30CCA7FD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37795"/>
            <a:ext cx="11277600" cy="558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9760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E25ACF-742C-1F51-6C74-BC12D3460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8D737-AE24-7611-2059-8F91CE6F8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4810" y="137160"/>
            <a:ext cx="7590467" cy="636651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dirty="0"/>
              <a:t>Definition:</a:t>
            </a:r>
            <a:r>
              <a:rPr lang="en-US" sz="2000" dirty="0"/>
              <a:t> Transforming raw data into meaningful features to improve model performance.</a:t>
            </a:r>
          </a:p>
          <a:p>
            <a:pPr marL="0" indent="0">
              <a:buNone/>
            </a:pPr>
            <a:r>
              <a:rPr lang="en-US" sz="2000" b="1" dirty="0"/>
              <a:t>Common Techniques</a:t>
            </a:r>
          </a:p>
          <a:p>
            <a:pPr marL="0" indent="0">
              <a:buNone/>
            </a:pPr>
            <a:r>
              <a:rPr lang="en-US" sz="2000" b="1" i="1" dirty="0"/>
              <a:t>(a) Handling Missing Values - </a:t>
            </a:r>
            <a:r>
              <a:rPr lang="en-US" sz="2000" dirty="0"/>
              <a:t>Mean / Median / Mode or KNN Imputation</a:t>
            </a:r>
          </a:p>
          <a:p>
            <a:pPr marL="0" indent="0">
              <a:buNone/>
            </a:pPr>
            <a:r>
              <a:rPr lang="en-US" sz="2000" b="1" i="1" dirty="0"/>
              <a:t>(b) Encoding Categorical Variables - </a:t>
            </a:r>
            <a:r>
              <a:rPr lang="en-US" sz="2000" dirty="0"/>
              <a:t>Label Encoding (Ordinal), One-Hot Encoding (Nominal)</a:t>
            </a:r>
          </a:p>
          <a:p>
            <a:pPr marL="0" indent="0">
              <a:buNone/>
            </a:pPr>
            <a:r>
              <a:rPr lang="en-US" sz="2000" b="1" i="1" dirty="0"/>
              <a:t>(c) Feature Scaling - </a:t>
            </a:r>
            <a:r>
              <a:rPr lang="en-US" sz="2000" dirty="0"/>
              <a:t>Standardization (Z-score), Min-Max Scaling</a:t>
            </a:r>
          </a:p>
          <a:p>
            <a:pPr marL="0" indent="0">
              <a:buNone/>
            </a:pPr>
            <a:r>
              <a:rPr lang="en-US" sz="2000" b="1" i="1" dirty="0"/>
              <a:t>(d) Feature Creation - </a:t>
            </a:r>
            <a:r>
              <a:rPr lang="en-US" sz="2000" dirty="0"/>
              <a:t>Date features (Year, Month), Interaction features</a:t>
            </a:r>
          </a:p>
          <a:p>
            <a:pPr marL="0" indent="0">
              <a:buNone/>
            </a:pPr>
            <a:r>
              <a:rPr lang="en-US" sz="2000" b="1" i="1" dirty="0"/>
              <a:t>(e) Feature Selection - </a:t>
            </a:r>
            <a:r>
              <a:rPr lang="en-US" sz="2000" dirty="0"/>
              <a:t>Correlation analysis, Recursive Feature Elimination, Feature importance</a:t>
            </a:r>
          </a:p>
          <a:p>
            <a:pPr marL="0" indent="0">
              <a:buNone/>
            </a:pPr>
            <a:r>
              <a:rPr lang="en-US" sz="2000" b="1" dirty="0"/>
              <a:t>Impact:</a:t>
            </a:r>
            <a:r>
              <a:rPr lang="en-US" sz="2000" dirty="0"/>
              <a:t> &gt; Good features can outperform complex models.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325633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8F90C-AC96-0888-8A56-45E9F2406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570" y="331471"/>
            <a:ext cx="5536136" cy="4181884"/>
          </a:xfrm>
        </p:spPr>
        <p:txBody>
          <a:bodyPr anchor="t">
            <a:normAutofit/>
          </a:bodyPr>
          <a:lstStyle/>
          <a:p>
            <a:r>
              <a:rPr lang="en-US" sz="2400" b="1" dirty="0"/>
              <a:t>Dataset Split - </a:t>
            </a:r>
            <a:r>
              <a:rPr lang="en-US" sz="2400" dirty="0"/>
              <a:t>Training set: 70%, Validation set: 15%, Test set: 15%</a:t>
            </a:r>
          </a:p>
          <a:p>
            <a:r>
              <a:rPr lang="en-US" sz="2400" b="1" dirty="0"/>
              <a:t>Training - </a:t>
            </a:r>
            <a:r>
              <a:rPr lang="en-US" sz="2400" dirty="0"/>
              <a:t>Model learns patterns</a:t>
            </a:r>
          </a:p>
          <a:p>
            <a:r>
              <a:rPr lang="en-US" sz="2400" b="1" dirty="0"/>
              <a:t>Validation - </a:t>
            </a:r>
            <a:r>
              <a:rPr lang="en-US" sz="2400" dirty="0"/>
              <a:t>Used to tune model, Prevents overfitting</a:t>
            </a:r>
          </a:p>
          <a:p>
            <a:r>
              <a:rPr lang="en-US" sz="2400" b="1" dirty="0"/>
              <a:t>Testing - </a:t>
            </a:r>
            <a:r>
              <a:rPr lang="en-US" sz="2400" dirty="0"/>
              <a:t>Final unbiased evaluation</a:t>
            </a:r>
          </a:p>
          <a:p>
            <a:r>
              <a:rPr lang="en-US" sz="2400" b="1" dirty="0"/>
              <a:t>Overfitting vs Underfitting</a:t>
            </a:r>
            <a:endParaRPr lang="en-US" sz="2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0C19666-75EF-9206-6A23-C4006FFCFA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3295800"/>
              </p:ext>
            </p:extLst>
          </p:nvPr>
        </p:nvGraphicFramePr>
        <p:xfrm>
          <a:off x="580307" y="4381038"/>
          <a:ext cx="5727457" cy="1846861"/>
        </p:xfrm>
        <a:graphic>
          <a:graphicData uri="http://schemas.openxmlformats.org/drawingml/2006/table">
            <a:tbl>
              <a:tblPr firstRow="1" bandRow="1" bandCol="1">
                <a:tableStyleId>{5C22544A-7EE6-4342-B048-85BDC9FD1C3A}</a:tableStyleId>
              </a:tblPr>
              <a:tblGrid>
                <a:gridCol w="1921187">
                  <a:extLst>
                    <a:ext uri="{9D8B030D-6E8A-4147-A177-3AD203B41FA5}">
                      <a16:colId xmlns:a16="http://schemas.microsoft.com/office/drawing/2014/main" val="3524575244"/>
                    </a:ext>
                  </a:extLst>
                </a:gridCol>
                <a:gridCol w="1521064">
                  <a:extLst>
                    <a:ext uri="{9D8B030D-6E8A-4147-A177-3AD203B41FA5}">
                      <a16:colId xmlns:a16="http://schemas.microsoft.com/office/drawing/2014/main" val="4200946895"/>
                    </a:ext>
                  </a:extLst>
                </a:gridCol>
                <a:gridCol w="2285206">
                  <a:extLst>
                    <a:ext uri="{9D8B030D-6E8A-4147-A177-3AD203B41FA5}">
                      <a16:colId xmlns:a16="http://schemas.microsoft.com/office/drawing/2014/main" val="1799657092"/>
                    </a:ext>
                  </a:extLst>
                </a:gridCol>
              </a:tblGrid>
              <a:tr h="383821"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Problem</a:t>
                      </a:r>
                      <a:endParaRPr lang="en-US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4635" marR="94635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Cause</a:t>
                      </a:r>
                      <a:endParaRPr lang="en-US" sz="2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4635" marR="94635" marT="0" marB="0" anchor="b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Solution</a:t>
                      </a:r>
                      <a:endParaRPr lang="en-US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4635" marR="94635" marT="0" marB="0" anchor="b"/>
                </a:tc>
                <a:extLst>
                  <a:ext uri="{0D108BD9-81ED-4DB2-BD59-A6C34878D82A}">
                    <a16:rowId xmlns:a16="http://schemas.microsoft.com/office/drawing/2014/main" val="2095558644"/>
                  </a:ext>
                </a:extLst>
              </a:tr>
              <a:tr h="703671"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Overfitting</a:t>
                      </a:r>
                      <a:endParaRPr lang="en-US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4635" marR="946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Too complex</a:t>
                      </a:r>
                      <a:endParaRPr lang="en-US" sz="2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4635" marR="946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Regularization</a:t>
                      </a:r>
                      <a:endParaRPr lang="en-US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4635" marR="94635" marT="0" marB="0"/>
                </a:tc>
                <a:extLst>
                  <a:ext uri="{0D108BD9-81ED-4DB2-BD59-A6C34878D82A}">
                    <a16:rowId xmlns:a16="http://schemas.microsoft.com/office/drawing/2014/main" val="853502930"/>
                  </a:ext>
                </a:extLst>
              </a:tr>
              <a:tr h="703671"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Underfitting</a:t>
                      </a:r>
                      <a:endParaRPr lang="en-US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4635" marR="946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Too simple</a:t>
                      </a:r>
                      <a:endParaRPr lang="en-US" sz="24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4635" marR="946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More features</a:t>
                      </a:r>
                      <a:endParaRPr lang="en-US" sz="24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4635" marR="94635" marT="0" marB="0"/>
                </a:tc>
                <a:extLst>
                  <a:ext uri="{0D108BD9-81ED-4DB2-BD59-A6C34878D82A}">
                    <a16:rowId xmlns:a16="http://schemas.microsoft.com/office/drawing/2014/main" val="49779926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27F7F71-C758-322D-D7F8-54087E866662}"/>
              </a:ext>
            </a:extLst>
          </p:cNvPr>
          <p:cNvSpPr txBox="1"/>
          <p:nvPr/>
        </p:nvSpPr>
        <p:spPr>
          <a:xfrm>
            <a:off x="8796843" y="2240280"/>
            <a:ext cx="264458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Model Training, Validation, and Testing</a:t>
            </a:r>
          </a:p>
        </p:txBody>
      </p:sp>
    </p:spTree>
    <p:extLst>
      <p:ext uri="{BB962C8B-B14F-4D97-AF65-F5344CB8AC3E}">
        <p14:creationId xmlns:p14="http://schemas.microsoft.com/office/powerpoint/2010/main" val="23711918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F10325-79CF-3E89-372D-4B5EB3723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Hyperparameter 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9B75D-78A5-4894-C886-24EF1EC6A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622744"/>
            <a:ext cx="9724031" cy="494071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b="1" dirty="0"/>
              <a:t>Definition:</a:t>
            </a:r>
            <a:r>
              <a:rPr lang="en-US" sz="2400" dirty="0"/>
              <a:t> Optimizing </a:t>
            </a:r>
            <a:r>
              <a:rPr lang="en-US" sz="2400" b="1" dirty="0"/>
              <a:t>parameters not learned by the model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b="1" dirty="0"/>
              <a:t>Examples - </a:t>
            </a:r>
            <a:r>
              <a:rPr lang="en-US" sz="2400" dirty="0"/>
              <a:t>Learning rate, Number of trees, Max depth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Techniques</a:t>
            </a:r>
          </a:p>
          <a:p>
            <a:pPr marL="0" indent="0">
              <a:buNone/>
            </a:pPr>
            <a:r>
              <a:rPr lang="en-US" sz="2400" b="1" i="1" dirty="0"/>
              <a:t>(a) Grid Search - </a:t>
            </a:r>
            <a:r>
              <a:rPr lang="en-US" sz="2400" dirty="0"/>
              <a:t>Tries all combinations, Accurate but slow</a:t>
            </a:r>
          </a:p>
          <a:p>
            <a:pPr marL="0" indent="0">
              <a:buNone/>
            </a:pPr>
            <a:r>
              <a:rPr lang="en-US" sz="2400" b="1" i="1" dirty="0"/>
              <a:t>(b) Random Search - </a:t>
            </a:r>
            <a:r>
              <a:rPr lang="en-US" sz="2400" dirty="0"/>
              <a:t>Random sampling, Faster </a:t>
            </a:r>
          </a:p>
          <a:p>
            <a:pPr marL="0" indent="0">
              <a:buNone/>
            </a:pPr>
            <a:r>
              <a:rPr lang="en-US" sz="2400" b="1" i="1" dirty="0"/>
              <a:t>(c) Bayesian Optimization - </a:t>
            </a:r>
            <a:r>
              <a:rPr lang="en-US" sz="2400" dirty="0"/>
              <a:t>Intelligent search, Efficient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Cross-Validation</a:t>
            </a:r>
          </a:p>
          <a:p>
            <a:pPr marL="0" indent="0" latinLnBrk="1">
              <a:buNone/>
            </a:pPr>
            <a:r>
              <a:rPr lang="en-US" sz="2400" dirty="0"/>
              <a:t>K-Fold CV → robust performance estimate</a:t>
            </a:r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6200441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B8DC86-BA58-A9FC-97EE-5F4BAC349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Summary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2A7ED92-0EB0-C41D-1C3D-9E39A30688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5045482"/>
              </p:ext>
            </p:extLst>
          </p:nvPr>
        </p:nvGraphicFramePr>
        <p:xfrm>
          <a:off x="4502428" y="1763469"/>
          <a:ext cx="7225749" cy="3331069"/>
        </p:xfrm>
        <a:graphic>
          <a:graphicData uri="http://schemas.openxmlformats.org/drawingml/2006/table">
            <a:tbl>
              <a:tblPr firstRow="1" bandRow="1" bandCol="1"/>
              <a:tblGrid>
                <a:gridCol w="3746489">
                  <a:extLst>
                    <a:ext uri="{9D8B030D-6E8A-4147-A177-3AD203B41FA5}">
                      <a16:colId xmlns:a16="http://schemas.microsoft.com/office/drawing/2014/main" val="1899340613"/>
                    </a:ext>
                  </a:extLst>
                </a:gridCol>
                <a:gridCol w="3479260">
                  <a:extLst>
                    <a:ext uri="{9D8B030D-6E8A-4147-A177-3AD203B41FA5}">
                      <a16:colId xmlns:a16="http://schemas.microsoft.com/office/drawing/2014/main" val="1067134544"/>
                    </a:ext>
                  </a:extLst>
                </a:gridCol>
              </a:tblGrid>
              <a:tr h="475867">
                <a:tc>
                  <a:txBody>
                    <a:bodyPr/>
                    <a:lstStyle/>
                    <a:p>
                      <a:pPr marL="0" marR="0" algn="l" fontAlgn="b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500" b="0" i="0" u="none" strike="noStrike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Concept</a:t>
                      </a:r>
                      <a:endParaRPr lang="en-US" sz="3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22" marR="142522" marT="1979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b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500" b="0" i="0" u="none" strike="noStrike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Purpose</a:t>
                      </a:r>
                      <a:endParaRPr lang="en-US" sz="3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22" marR="142522" marT="1979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070796"/>
                  </a:ext>
                </a:extLst>
              </a:tr>
              <a:tr h="475867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500" b="0" i="0" u="none" strike="noStrike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Supervised</a:t>
                      </a:r>
                      <a:endParaRPr lang="en-US" sz="3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22" marR="142522" marT="1979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500" b="0" i="0" u="none" strike="noStrike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Prediction</a:t>
                      </a:r>
                      <a:endParaRPr lang="en-US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22" marR="142522" marT="1979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632348"/>
                  </a:ext>
                </a:extLst>
              </a:tr>
              <a:tr h="475867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500" b="0" i="0" u="none" strike="noStrike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Unsupervised</a:t>
                      </a:r>
                      <a:endParaRPr lang="en-US" sz="3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22" marR="142522" marT="1979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500" b="0" i="0" u="none" strike="noStrike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Pattern discovery</a:t>
                      </a:r>
                      <a:endParaRPr lang="en-US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22" marR="142522" marT="1979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7239681"/>
                  </a:ext>
                </a:extLst>
              </a:tr>
              <a:tr h="475867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500" b="0" i="0" u="none" strike="noStrike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Semi-supervised</a:t>
                      </a:r>
                      <a:endParaRPr lang="en-US" sz="3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22" marR="142522" marT="1979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500" b="0" i="0" u="none" strike="noStrike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Reduce labeling cost</a:t>
                      </a:r>
                      <a:endParaRPr lang="en-US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22" marR="142522" marT="1979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5704"/>
                  </a:ext>
                </a:extLst>
              </a:tr>
              <a:tr h="475867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500" b="0" i="0" u="none" strike="noStrike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Reinforcement</a:t>
                      </a:r>
                      <a:endParaRPr lang="en-US" sz="3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22" marR="142522" marT="1979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500" b="0" i="0" u="none" strike="noStrike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Decision making</a:t>
                      </a:r>
                      <a:endParaRPr lang="en-US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22" marR="142522" marT="1979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503527"/>
                  </a:ext>
                </a:extLst>
              </a:tr>
              <a:tr h="475867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500" b="0" i="0" u="none" strike="noStrike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Feature Engineering</a:t>
                      </a:r>
                      <a:endParaRPr lang="en-US" sz="3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22" marR="142522" marT="1979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500" b="0" i="0" u="none" strike="noStrike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Improve performance</a:t>
                      </a:r>
                      <a:endParaRPr lang="en-US" sz="37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22" marR="142522" marT="1979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023568"/>
                  </a:ext>
                </a:extLst>
              </a:tr>
              <a:tr h="475867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500" b="0" i="0" u="none" strike="noStrike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Hyperparameter Tuning</a:t>
                      </a:r>
                      <a:endParaRPr lang="en-US" sz="3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22" marR="142522" marT="1979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2500" b="0" i="0" u="none" strike="noStrike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Optimize model</a:t>
                      </a:r>
                      <a:endParaRPr lang="en-US" sz="3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2522" marR="142522" marT="1979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6906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04078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3D77D8-B70C-99E9-EBD5-C2E71A610C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1030406"/>
            <a:ext cx="8147713" cy="3081242"/>
          </a:xfrm>
        </p:spPr>
        <p:txBody>
          <a:bodyPr anchor="ctr">
            <a:normAutofit/>
          </a:bodyPr>
          <a:lstStyle/>
          <a:p>
            <a:r>
              <a:rPr lang="en-US" sz="7200" dirty="0">
                <a:solidFill>
                  <a:srgbClr val="FFFFFF"/>
                </a:solidFill>
              </a:rPr>
              <a:t>Supervised Learning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5A37B0-DA69-B6FF-5D51-06A1864C5C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61235" y="3478739"/>
            <a:ext cx="9078628" cy="860620"/>
          </a:xfrm>
        </p:spPr>
        <p:txBody>
          <a:bodyPr anchor="ctr">
            <a:normAutofit/>
          </a:bodyPr>
          <a:lstStyle/>
          <a:p>
            <a:r>
              <a:rPr lang="en-US" sz="4800" dirty="0">
                <a:solidFill>
                  <a:srgbClr val="FFFFFF"/>
                </a:solidFill>
              </a:rPr>
              <a:t>Regression Analysis</a:t>
            </a:r>
          </a:p>
        </p:txBody>
      </p:sp>
    </p:spTree>
    <p:extLst>
      <p:ext uri="{BB962C8B-B14F-4D97-AF65-F5344CB8AC3E}">
        <p14:creationId xmlns:p14="http://schemas.microsoft.com/office/powerpoint/2010/main" val="10234783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68414-5C16-70DE-57E2-F8799B9162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Problem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9BE348-A791-16B4-C8CC-1E42A24E7D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59188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/>
              <a:t>Predict House Price</a:t>
            </a:r>
            <a:r>
              <a:rPr lang="en-US" sz="3600" dirty="0"/>
              <a:t> based on </a:t>
            </a:r>
            <a:r>
              <a:rPr lang="en-US" sz="3600" b="1" dirty="0"/>
              <a:t>House Size (</a:t>
            </a:r>
            <a:r>
              <a:rPr lang="en-US" sz="3600" b="1" dirty="0" err="1"/>
              <a:t>sqft</a:t>
            </a:r>
            <a:r>
              <a:rPr lang="en-US" sz="3600" b="1" dirty="0"/>
              <a:t>)</a:t>
            </a:r>
            <a:r>
              <a:rPr lang="en-US" sz="3600" dirty="0"/>
              <a:t> and </a:t>
            </a:r>
            <a:r>
              <a:rPr lang="en-US" sz="3600" b="1" dirty="0"/>
              <a:t>Number of Bedrooms</a:t>
            </a:r>
            <a:r>
              <a:rPr lang="en-US" sz="3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220063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A61BA1-DC8D-CCFC-8E00-A24BE5F31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700" b="1">
                <a:solidFill>
                  <a:srgbClr val="FFFFFF"/>
                </a:solidFill>
              </a:rPr>
              <a:t>Problem Understanding</a:t>
            </a:r>
            <a:endParaRPr lang="en-US" sz="37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4A0EA4E-296A-76ED-9AF7-F2694D8312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832812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009968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A05A8-90FC-20CE-0269-785ABE8CE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Data Collection - </a:t>
            </a:r>
            <a:r>
              <a:rPr lang="en-US" dirty="0"/>
              <a:t>(Manually created dataset – real projects use CSV / DB / APIs)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7DD9F-A4FC-D41C-4615-186218664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import pandas as pd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data = {</a:t>
            </a:r>
          </a:p>
          <a:p>
            <a:pPr marL="0" indent="0">
              <a:buNone/>
            </a:pPr>
            <a:r>
              <a:rPr lang="en-US" dirty="0"/>
              <a:t>    "</a:t>
            </a:r>
            <a:r>
              <a:rPr lang="en-US" dirty="0" err="1"/>
              <a:t>Size_sqft</a:t>
            </a:r>
            <a:r>
              <a:rPr lang="en-US" dirty="0"/>
              <a:t>": [800, 900, 1200, 1500, 1800, 2000, 2300],</a:t>
            </a:r>
          </a:p>
          <a:p>
            <a:pPr marL="0" indent="0">
              <a:buNone/>
            </a:pPr>
            <a:r>
              <a:rPr lang="en-US" dirty="0"/>
              <a:t>    "Bedrooms": [1, 2, 2, 3, 3, 4, 4],</a:t>
            </a:r>
          </a:p>
          <a:p>
            <a:pPr marL="0" indent="0">
              <a:buNone/>
            </a:pPr>
            <a:r>
              <a:rPr lang="en-US" dirty="0"/>
              <a:t>    "Price": [3000000, 3500000, 5000000, 6500000, 7500000, 9000000, 11000000]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pd.DataFrame</a:t>
            </a:r>
            <a:r>
              <a:rPr lang="en-US" dirty="0"/>
              <a:t>(data)</a:t>
            </a:r>
          </a:p>
          <a:p>
            <a:pPr marL="0" indent="0">
              <a:buNone/>
            </a:pPr>
            <a:r>
              <a:rPr lang="en-US" dirty="0" err="1"/>
              <a:t>df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1721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F1D740-6EDB-BB03-DA5C-DD665093B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Data Cleaning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389F7-40E3-6422-F015-426F028FB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3192" y="649480"/>
            <a:ext cx="5152413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3200" dirty="0"/>
              <a:t>df.info()</a:t>
            </a:r>
          </a:p>
          <a:p>
            <a:pPr marL="0" indent="0">
              <a:buNone/>
            </a:pPr>
            <a:r>
              <a:rPr lang="en-US" sz="3200" dirty="0" err="1"/>
              <a:t>df.isnull</a:t>
            </a:r>
            <a:r>
              <a:rPr lang="en-US" sz="3200" dirty="0"/>
              <a:t>().sum()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✔ No missing values</a:t>
            </a:r>
            <a:br>
              <a:rPr lang="en-US" sz="3200" dirty="0"/>
            </a:br>
            <a:r>
              <a:rPr lang="en-US" sz="3200" dirty="0"/>
              <a:t>✔ Correct data types</a:t>
            </a:r>
          </a:p>
          <a:p>
            <a:pPr marL="0" indent="0">
              <a:buNone/>
            </a:pPr>
            <a:br>
              <a:rPr lang="en-US" sz="3200" dirty="0"/>
            </a:br>
            <a:r>
              <a:rPr lang="en-US" sz="3200" b="1" dirty="0"/>
              <a:t>(Real projects → handle nulls, outliers, duplicates)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6607404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513C1D-16BB-5BA3-C7F1-2DF5A4C84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Exploratory Data Analysis (EDA)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2089C-DE4C-4A43-6AC7-35940356C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671" y="1771334"/>
            <a:ext cx="10329820" cy="494071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matplotlib.pyplot</a:t>
            </a:r>
            <a:r>
              <a:rPr lang="en-US" dirty="0"/>
              <a:t> as </a:t>
            </a:r>
            <a:r>
              <a:rPr lang="en-US" dirty="0" err="1"/>
              <a:t>plt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 </a:t>
            </a:r>
            <a:r>
              <a:rPr lang="en-US" dirty="0" err="1"/>
              <a:t>plt.scatter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["</a:t>
            </a:r>
            <a:r>
              <a:rPr lang="en-US" dirty="0" err="1"/>
              <a:t>Size_sqft</a:t>
            </a:r>
            <a:r>
              <a:rPr lang="en-US" dirty="0"/>
              <a:t>"], </a:t>
            </a:r>
            <a:r>
              <a:rPr lang="en-US" dirty="0" err="1"/>
              <a:t>df</a:t>
            </a:r>
            <a:r>
              <a:rPr lang="en-US" dirty="0"/>
              <a:t>["Price"])</a:t>
            </a:r>
          </a:p>
          <a:p>
            <a:pPr marL="0" indent="0">
              <a:buNone/>
            </a:pPr>
            <a:r>
              <a:rPr lang="en-US" dirty="0" err="1"/>
              <a:t>plt.xlabel</a:t>
            </a:r>
            <a:r>
              <a:rPr lang="en-US" dirty="0"/>
              <a:t>("Size (</a:t>
            </a:r>
            <a:r>
              <a:rPr lang="en-US" dirty="0" err="1"/>
              <a:t>sqft</a:t>
            </a:r>
            <a:r>
              <a:rPr lang="en-US" dirty="0"/>
              <a:t>)")</a:t>
            </a:r>
          </a:p>
          <a:p>
            <a:pPr marL="0" indent="0">
              <a:buNone/>
            </a:pPr>
            <a:r>
              <a:rPr lang="en-US" dirty="0" err="1"/>
              <a:t>plt.ylabel</a:t>
            </a:r>
            <a:r>
              <a:rPr lang="en-US" dirty="0"/>
              <a:t>("Price")</a:t>
            </a:r>
          </a:p>
          <a:p>
            <a:pPr marL="0" indent="0">
              <a:buNone/>
            </a:pPr>
            <a:r>
              <a:rPr lang="en-US" dirty="0" err="1"/>
              <a:t>plt.show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🔍 Insights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Price increases as size increases</a:t>
            </a:r>
          </a:p>
          <a:p>
            <a:pPr marL="0" lvl="0" indent="0">
              <a:buNone/>
            </a:pPr>
            <a:r>
              <a:rPr lang="en-US" dirty="0"/>
              <a:t>Bedrooms also positively correlated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62208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DCD328-536B-879B-480A-9C007F369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Feature Engineering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004A7-D9C4-126A-C289-77FF70D8F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1891970"/>
            <a:ext cx="10512700" cy="429848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b="1" dirty="0"/>
              <a:t>Split features &amp; target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X = </a:t>
            </a:r>
            <a:r>
              <a:rPr lang="en-US" dirty="0" err="1"/>
              <a:t>df</a:t>
            </a:r>
            <a:r>
              <a:rPr lang="en-US" dirty="0"/>
              <a:t>[["</a:t>
            </a:r>
            <a:r>
              <a:rPr lang="en-US" dirty="0" err="1"/>
              <a:t>Size_sqft</a:t>
            </a:r>
            <a:r>
              <a:rPr lang="en-US" dirty="0"/>
              <a:t>", "Bedrooms"]]</a:t>
            </a:r>
          </a:p>
          <a:p>
            <a:pPr marL="0" indent="0">
              <a:buNone/>
            </a:pPr>
            <a:r>
              <a:rPr lang="en-US" dirty="0"/>
              <a:t>y = </a:t>
            </a:r>
            <a:r>
              <a:rPr lang="en-US" dirty="0" err="1"/>
              <a:t>df</a:t>
            </a:r>
            <a:r>
              <a:rPr lang="en-US" dirty="0"/>
              <a:t>["Price"]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Feature Scaling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sklearn.preprocessing</a:t>
            </a:r>
            <a:r>
              <a:rPr lang="en-US" dirty="0"/>
              <a:t> import StandardScaler</a:t>
            </a:r>
          </a:p>
          <a:p>
            <a:pPr marL="0" indent="0">
              <a:buNone/>
            </a:pPr>
            <a:r>
              <a:rPr lang="en-US" dirty="0"/>
              <a:t>scaler = StandardScaler()</a:t>
            </a:r>
          </a:p>
          <a:p>
            <a:pPr marL="0" indent="0">
              <a:buNone/>
            </a:pPr>
            <a:r>
              <a:rPr lang="en-US" dirty="0" err="1"/>
              <a:t>X_scaled</a:t>
            </a:r>
            <a:r>
              <a:rPr lang="en-US" dirty="0"/>
              <a:t> = </a:t>
            </a:r>
            <a:r>
              <a:rPr lang="en-US" dirty="0" err="1"/>
              <a:t>scaler.fit_transform</a:t>
            </a:r>
            <a:r>
              <a:rPr lang="en-US" dirty="0"/>
              <a:t>(X)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2450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0110E7-1715-B25B-4569-C7B48290D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Model Selection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8402C-702B-69A9-6B4E-D220F89C8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0" y="649480"/>
            <a:ext cx="5650605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/>
              <a:t>Chosen Model:</a:t>
            </a:r>
            <a:br>
              <a:rPr lang="en-US" dirty="0"/>
            </a:br>
            <a:r>
              <a:rPr lang="en-US" dirty="0"/>
              <a:t>✔ </a:t>
            </a:r>
            <a:r>
              <a:rPr lang="en-US" b="1" dirty="0"/>
              <a:t>Linear Regression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Why?</a:t>
            </a:r>
          </a:p>
          <a:p>
            <a:pPr lvl="0"/>
            <a:r>
              <a:rPr lang="en-US" dirty="0"/>
              <a:t>Simple</a:t>
            </a:r>
          </a:p>
          <a:p>
            <a:pPr lvl="0"/>
            <a:r>
              <a:rPr lang="en-US" dirty="0"/>
              <a:t>Interpretable</a:t>
            </a:r>
          </a:p>
          <a:p>
            <a:pPr lvl="0"/>
            <a:r>
              <a:rPr lang="en-US" dirty="0"/>
              <a:t>Works well for linear relationships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212554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0EF91B-4A37-2EB1-529D-D200CCD17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Model Training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16141-EE89-27DD-15E7-680229679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380" y="1885279"/>
            <a:ext cx="10961369" cy="411627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sklearn.model_selection</a:t>
            </a:r>
            <a:r>
              <a:rPr lang="en-US" dirty="0"/>
              <a:t> import </a:t>
            </a:r>
            <a:r>
              <a:rPr lang="en-US" dirty="0" err="1"/>
              <a:t>train_test_split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sklearn.linear_model</a:t>
            </a:r>
            <a:r>
              <a:rPr lang="en-US" dirty="0"/>
              <a:t> import </a:t>
            </a:r>
            <a:r>
              <a:rPr lang="en-US" dirty="0" err="1"/>
              <a:t>LinearRegression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 err="1"/>
              <a:t>X_train</a:t>
            </a:r>
            <a:r>
              <a:rPr lang="en-US" dirty="0"/>
              <a:t>, </a:t>
            </a:r>
            <a:r>
              <a:rPr lang="en-US" dirty="0" err="1"/>
              <a:t>X_test</a:t>
            </a:r>
            <a:r>
              <a:rPr lang="en-US" dirty="0"/>
              <a:t>, </a:t>
            </a:r>
            <a:r>
              <a:rPr lang="en-US" dirty="0" err="1"/>
              <a:t>y_train</a:t>
            </a:r>
            <a:r>
              <a:rPr lang="en-US" dirty="0"/>
              <a:t>, </a:t>
            </a:r>
            <a:r>
              <a:rPr lang="en-US" dirty="0" err="1"/>
              <a:t>y_test</a:t>
            </a:r>
            <a:r>
              <a:rPr lang="en-US" dirty="0"/>
              <a:t> = </a:t>
            </a:r>
            <a:r>
              <a:rPr lang="en-US" dirty="0" err="1"/>
              <a:t>train_test_split</a:t>
            </a:r>
            <a:r>
              <a:rPr lang="en-US" dirty="0"/>
              <a:t>( </a:t>
            </a:r>
            <a:r>
              <a:rPr lang="en-US" dirty="0" err="1"/>
              <a:t>X_scaled</a:t>
            </a:r>
            <a:r>
              <a:rPr lang="en-US" dirty="0"/>
              <a:t>, y, </a:t>
            </a:r>
            <a:r>
              <a:rPr lang="en-US" dirty="0" err="1"/>
              <a:t>test_size</a:t>
            </a:r>
            <a:r>
              <a:rPr lang="en-US" dirty="0"/>
              <a:t>=0.2, </a:t>
            </a:r>
            <a:r>
              <a:rPr lang="en-US" dirty="0" err="1"/>
              <a:t>random_state</a:t>
            </a:r>
            <a:r>
              <a:rPr lang="en-US" dirty="0"/>
              <a:t>=42)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model = </a:t>
            </a:r>
            <a:r>
              <a:rPr lang="en-US" dirty="0" err="1"/>
              <a:t>LinearRegression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 err="1"/>
              <a:t>model.fit</a:t>
            </a:r>
            <a:r>
              <a:rPr lang="en-US" dirty="0"/>
              <a:t>(</a:t>
            </a:r>
            <a:r>
              <a:rPr lang="en-US" dirty="0" err="1"/>
              <a:t>X_train</a:t>
            </a:r>
            <a:r>
              <a:rPr lang="en-US" dirty="0"/>
              <a:t>, </a:t>
            </a:r>
            <a:r>
              <a:rPr lang="en-US" dirty="0" err="1"/>
              <a:t>y_train</a:t>
            </a:r>
            <a:r>
              <a:rPr lang="en-US" dirty="0"/>
              <a:t>)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226556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4CE681-09E0-72B9-3232-357DB34E5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Validation &amp; Testing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D5B1A-8755-9F24-C0F7-8E5EC8408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350" y="1725930"/>
            <a:ext cx="11530719" cy="4972050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sklearn.metrics</a:t>
            </a:r>
            <a:r>
              <a:rPr lang="en-US" dirty="0"/>
              <a:t> import </a:t>
            </a:r>
            <a:r>
              <a:rPr lang="en-US" dirty="0" err="1"/>
              <a:t>mean_absolute_error</a:t>
            </a:r>
            <a:r>
              <a:rPr lang="en-US" dirty="0"/>
              <a:t>, </a:t>
            </a:r>
            <a:r>
              <a:rPr lang="en-US" dirty="0" err="1"/>
              <a:t>mean_squared_error</a:t>
            </a:r>
            <a:r>
              <a:rPr lang="en-US" dirty="0"/>
              <a:t>, r2_score</a:t>
            </a:r>
          </a:p>
          <a:p>
            <a:pPr marL="0" indent="0">
              <a:buNone/>
            </a:pPr>
            <a:r>
              <a:rPr lang="en-US" dirty="0" err="1"/>
              <a:t>y_pred</a:t>
            </a:r>
            <a:r>
              <a:rPr lang="en-US" dirty="0"/>
              <a:t> = </a:t>
            </a:r>
            <a:r>
              <a:rPr lang="en-US" dirty="0" err="1"/>
              <a:t>model.predict</a:t>
            </a:r>
            <a:r>
              <a:rPr lang="en-US" dirty="0"/>
              <a:t>(</a:t>
            </a:r>
            <a:r>
              <a:rPr lang="en-US" dirty="0" err="1"/>
              <a:t>X_test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print("MAE:", </a:t>
            </a:r>
            <a:r>
              <a:rPr lang="en-US" dirty="0" err="1"/>
              <a:t>mean_absolute_error</a:t>
            </a:r>
            <a:r>
              <a:rPr lang="en-US" dirty="0"/>
              <a:t>(</a:t>
            </a:r>
            <a:r>
              <a:rPr lang="en-US" dirty="0" err="1"/>
              <a:t>y_test</a:t>
            </a:r>
            <a:r>
              <a:rPr lang="en-US" dirty="0"/>
              <a:t>, </a:t>
            </a:r>
            <a:r>
              <a:rPr lang="en-US" dirty="0" err="1"/>
              <a:t>y_pred</a:t>
            </a:r>
            <a:r>
              <a:rPr lang="en-US" dirty="0"/>
              <a:t>))</a:t>
            </a:r>
          </a:p>
          <a:p>
            <a:pPr marL="0" indent="0">
              <a:buNone/>
            </a:pPr>
            <a:r>
              <a:rPr lang="en-US" dirty="0"/>
              <a:t>print("MSE:", </a:t>
            </a:r>
            <a:r>
              <a:rPr lang="en-US" dirty="0" err="1"/>
              <a:t>mean_squared_error</a:t>
            </a:r>
            <a:r>
              <a:rPr lang="en-US" dirty="0"/>
              <a:t>(</a:t>
            </a:r>
            <a:r>
              <a:rPr lang="en-US" dirty="0" err="1"/>
              <a:t>y_test</a:t>
            </a:r>
            <a:r>
              <a:rPr lang="en-US" dirty="0"/>
              <a:t>, </a:t>
            </a:r>
            <a:r>
              <a:rPr lang="en-US" dirty="0" err="1"/>
              <a:t>y_pred</a:t>
            </a:r>
            <a:r>
              <a:rPr lang="en-US" dirty="0"/>
              <a:t>))</a:t>
            </a:r>
          </a:p>
          <a:p>
            <a:pPr marL="0" indent="0">
              <a:buNone/>
            </a:pPr>
            <a:r>
              <a:rPr lang="en-US" dirty="0"/>
              <a:t>print("R2 Score:", r2_score(</a:t>
            </a:r>
            <a:r>
              <a:rPr lang="en-US" dirty="0" err="1"/>
              <a:t>y_test</a:t>
            </a:r>
            <a:r>
              <a:rPr lang="en-US" dirty="0"/>
              <a:t>, </a:t>
            </a:r>
            <a:r>
              <a:rPr lang="en-US" dirty="0" err="1"/>
              <a:t>y_pred</a:t>
            </a:r>
            <a:r>
              <a:rPr lang="en-US" dirty="0"/>
              <a:t>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✔ MAE → Average error</a:t>
            </a:r>
            <a:br>
              <a:rPr lang="en-US" dirty="0"/>
            </a:br>
            <a:r>
              <a:rPr lang="en-US" dirty="0"/>
              <a:t>✔ MSE → Penalizes large errors</a:t>
            </a:r>
            <a:br>
              <a:rPr lang="en-US" dirty="0"/>
            </a:br>
            <a:r>
              <a:rPr lang="en-US" dirty="0"/>
              <a:t>✔ R² → How well model explains variance</a:t>
            </a:r>
          </a:p>
          <a:p>
            <a:pPr marL="0" indent="0">
              <a:buNone/>
            </a:pPr>
            <a:r>
              <a:rPr lang="en-US" b="1" dirty="0"/>
              <a:t>Note - “A good regression model has low MAE, controlled MSE, and an R² above 0.7, indicating strong explanatory power and low prediction error.”</a:t>
            </a:r>
          </a:p>
        </p:txBody>
      </p:sp>
    </p:spTree>
    <p:extLst>
      <p:ext uri="{BB962C8B-B14F-4D97-AF65-F5344CB8AC3E}">
        <p14:creationId xmlns:p14="http://schemas.microsoft.com/office/powerpoint/2010/main" val="16970724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4C290F-EAB0-3040-FB4B-47B91A7E1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400" b="1">
                <a:solidFill>
                  <a:srgbClr val="FFFFFF"/>
                </a:solidFill>
              </a:rPr>
              <a:t>Hyperparameter Tuning</a:t>
            </a:r>
            <a:endParaRPr lang="en-US" sz="34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719CA-D49A-2D6C-4F1D-99293CBD7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4811" y="182880"/>
            <a:ext cx="7230796" cy="60126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/>
              <a:t>Linear Regression has few params → use </a:t>
            </a:r>
            <a:r>
              <a:rPr lang="en-US" b="1" dirty="0"/>
              <a:t>Ridge Regression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sklearn.linear_model</a:t>
            </a:r>
            <a:r>
              <a:rPr lang="en-US" dirty="0"/>
              <a:t> import Ridge</a:t>
            </a:r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sklearn.model_selection</a:t>
            </a:r>
            <a:r>
              <a:rPr lang="en-US" dirty="0"/>
              <a:t> import </a:t>
            </a:r>
            <a:r>
              <a:rPr lang="en-US" dirty="0" err="1"/>
              <a:t>GridSearchCV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params = {"alpha": [0.1, 1, 10, 100]}</a:t>
            </a:r>
          </a:p>
          <a:p>
            <a:pPr marL="0" indent="0">
              <a:buNone/>
            </a:pPr>
            <a:r>
              <a:rPr lang="en-US" dirty="0"/>
              <a:t>grid = </a:t>
            </a:r>
            <a:r>
              <a:rPr lang="en-US" dirty="0" err="1"/>
              <a:t>GridSearchCV</a:t>
            </a:r>
            <a:r>
              <a:rPr lang="en-US" dirty="0"/>
              <a:t>(Ridge(), params, cv=3)</a:t>
            </a:r>
          </a:p>
          <a:p>
            <a:pPr marL="0" indent="0">
              <a:buNone/>
            </a:pPr>
            <a:r>
              <a:rPr lang="en-US" dirty="0" err="1"/>
              <a:t>grid.fit</a:t>
            </a:r>
            <a:r>
              <a:rPr lang="en-US" dirty="0"/>
              <a:t>(</a:t>
            </a:r>
            <a:r>
              <a:rPr lang="en-US" dirty="0" err="1"/>
              <a:t>X_train</a:t>
            </a:r>
            <a:r>
              <a:rPr lang="en-US" dirty="0"/>
              <a:t>, </a:t>
            </a:r>
            <a:r>
              <a:rPr lang="en-US" dirty="0" err="1"/>
              <a:t>y_train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print("Best Alpha:", </a:t>
            </a:r>
            <a:r>
              <a:rPr lang="en-US" dirty="0" err="1"/>
              <a:t>grid.best_params</a:t>
            </a:r>
            <a:r>
              <a:rPr lang="en-US" dirty="0"/>
              <a:t>_)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512648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C2D9DB-7247-96A9-70A8-A1A880F24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Deployment &amp; Monitoring (Basic Simulation)</a:t>
            </a:r>
            <a:br>
              <a:rPr lang="en-US" sz="4000">
                <a:solidFill>
                  <a:srgbClr val="FFFFFF"/>
                </a:solidFill>
              </a:rPr>
            </a:br>
            <a:r>
              <a:rPr lang="en-US" sz="4000" b="1">
                <a:solidFill>
                  <a:srgbClr val="FFFFFF"/>
                </a:solidFill>
              </a:rPr>
              <a:t>Save Model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E7054-16DA-4D4E-27D8-2BECD4FB0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7695" y="649480"/>
            <a:ext cx="7357583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4000" dirty="0"/>
              <a:t>import </a:t>
            </a:r>
            <a:r>
              <a:rPr lang="en-US" sz="4000" dirty="0" err="1"/>
              <a:t>joblib</a:t>
            </a:r>
            <a:endParaRPr lang="en-US" sz="4000" dirty="0"/>
          </a:p>
          <a:p>
            <a:pPr marL="0" indent="0">
              <a:buNone/>
            </a:pPr>
            <a:r>
              <a:rPr lang="en-US" sz="4000" dirty="0"/>
              <a:t> </a:t>
            </a:r>
          </a:p>
          <a:p>
            <a:pPr marL="0" indent="0">
              <a:buNone/>
            </a:pPr>
            <a:r>
              <a:rPr lang="en-US" sz="4000" dirty="0" err="1"/>
              <a:t>joblib.dump</a:t>
            </a:r>
            <a:r>
              <a:rPr lang="en-US" sz="4000" dirty="0"/>
              <a:t>(model, "</a:t>
            </a:r>
            <a:r>
              <a:rPr lang="en-US" sz="4000" dirty="0" err="1"/>
              <a:t>house_price_model.pkl</a:t>
            </a:r>
            <a:r>
              <a:rPr lang="en-US" sz="4000" dirty="0"/>
              <a:t>")</a:t>
            </a:r>
          </a:p>
          <a:p>
            <a:pPr marL="0" indent="0">
              <a:buNone/>
            </a:pPr>
            <a:r>
              <a:rPr lang="en-US" sz="4000" dirty="0" err="1"/>
              <a:t>joblib.dump</a:t>
            </a:r>
            <a:r>
              <a:rPr lang="en-US" sz="4000" dirty="0"/>
              <a:t>(scaler, "</a:t>
            </a:r>
            <a:r>
              <a:rPr lang="en-US" sz="4000" dirty="0" err="1"/>
              <a:t>scaler.pkl</a:t>
            </a:r>
            <a:r>
              <a:rPr lang="en-US" sz="4000" dirty="0"/>
              <a:t>")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205842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23A67A-FCC1-39A0-D195-43D083EA5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Load Model &amp; Predict (Deployment Simulation)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62B57-9884-7984-3F33-5ACD8871D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dirty="0"/>
              <a:t>model = </a:t>
            </a:r>
            <a:r>
              <a:rPr lang="en-US" sz="2400" dirty="0" err="1"/>
              <a:t>joblib.load</a:t>
            </a:r>
            <a:r>
              <a:rPr lang="en-US" sz="2400" dirty="0"/>
              <a:t>("</a:t>
            </a:r>
            <a:r>
              <a:rPr lang="en-US" sz="2400" dirty="0" err="1"/>
              <a:t>house_price_model.pkl</a:t>
            </a:r>
            <a:r>
              <a:rPr lang="en-US" sz="2400" dirty="0"/>
              <a:t>")</a:t>
            </a:r>
          </a:p>
          <a:p>
            <a:pPr marL="0" indent="0">
              <a:buNone/>
            </a:pPr>
            <a:r>
              <a:rPr lang="en-US" sz="2400" dirty="0"/>
              <a:t>scaler = </a:t>
            </a:r>
            <a:r>
              <a:rPr lang="en-US" sz="2400" dirty="0" err="1"/>
              <a:t>joblib.load</a:t>
            </a:r>
            <a:r>
              <a:rPr lang="en-US" sz="2400" dirty="0"/>
              <a:t>("</a:t>
            </a:r>
            <a:r>
              <a:rPr lang="en-US" sz="2400" dirty="0" err="1"/>
              <a:t>scaler.pkl</a:t>
            </a:r>
            <a:r>
              <a:rPr lang="en-US" sz="2400" dirty="0"/>
              <a:t>")</a:t>
            </a:r>
          </a:p>
          <a:p>
            <a:pPr marL="0" indent="0">
              <a:buNone/>
            </a:pPr>
            <a:r>
              <a:rPr lang="en-US" sz="2400" dirty="0"/>
              <a:t> </a:t>
            </a:r>
          </a:p>
          <a:p>
            <a:pPr marL="0" indent="0">
              <a:buNone/>
            </a:pPr>
            <a:r>
              <a:rPr lang="en-US" sz="2400" dirty="0" err="1"/>
              <a:t>new_house</a:t>
            </a:r>
            <a:r>
              <a:rPr lang="en-US" sz="2400" dirty="0"/>
              <a:t> = [[1600, 3]]</a:t>
            </a:r>
          </a:p>
          <a:p>
            <a:pPr marL="0" indent="0">
              <a:buNone/>
            </a:pPr>
            <a:r>
              <a:rPr lang="en-US" sz="2400" dirty="0" err="1"/>
              <a:t>new_house_scaled</a:t>
            </a:r>
            <a:r>
              <a:rPr lang="en-US" sz="2400" dirty="0"/>
              <a:t> = </a:t>
            </a:r>
            <a:r>
              <a:rPr lang="en-US" sz="2400" dirty="0" err="1"/>
              <a:t>scaler.transform</a:t>
            </a:r>
            <a:r>
              <a:rPr lang="en-US" sz="2400" dirty="0"/>
              <a:t>(</a:t>
            </a:r>
            <a:r>
              <a:rPr lang="en-US" sz="2400" dirty="0" err="1"/>
              <a:t>new_house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 </a:t>
            </a:r>
          </a:p>
          <a:p>
            <a:pPr marL="0" indent="0">
              <a:buNone/>
            </a:pPr>
            <a:r>
              <a:rPr lang="en-US" sz="2400" dirty="0" err="1"/>
              <a:t>predicted_price</a:t>
            </a:r>
            <a:r>
              <a:rPr lang="en-US" sz="2400" dirty="0"/>
              <a:t> = </a:t>
            </a:r>
            <a:r>
              <a:rPr lang="en-US" sz="2400" dirty="0" err="1"/>
              <a:t>model.predict</a:t>
            </a:r>
            <a:r>
              <a:rPr lang="en-US" sz="2400" dirty="0"/>
              <a:t>(</a:t>
            </a:r>
            <a:r>
              <a:rPr lang="en-US" sz="2400" dirty="0" err="1"/>
              <a:t>new_house_scaled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print("Predicted Price:", </a:t>
            </a:r>
            <a:r>
              <a:rPr lang="en-US" sz="2400" dirty="0" err="1"/>
              <a:t>predicted_price</a:t>
            </a:r>
            <a:r>
              <a:rPr lang="en-US" sz="2400" dirty="0"/>
              <a:t>[0])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Output - Predicted Price: 6956692.91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318877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2AD7A-2793-7491-5A86-5B508A6FD6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Regression Metrics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BD73CA-9F81-F442-6F68-4C2DA26B75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211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50DF1-0047-290F-DFF3-0DF0B5BB0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820" y="179706"/>
            <a:ext cx="10515600" cy="914400"/>
          </a:xfrm>
        </p:spPr>
        <p:txBody>
          <a:bodyPr>
            <a:normAutofit/>
          </a:bodyPr>
          <a:lstStyle/>
          <a:p>
            <a:r>
              <a:rPr lang="en-US" dirty="0"/>
              <a:t>Mean Absolute Error (MAE)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F5BAC18-3372-6729-1289-82174EC6DF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73734622"/>
                  </p:ext>
                </p:extLst>
              </p:nvPr>
            </p:nvGraphicFramePr>
            <p:xfrm>
              <a:off x="472440" y="1237252"/>
              <a:ext cx="10911840" cy="17574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457344">
                      <a:extLst>
                        <a:ext uri="{9D8B030D-6E8A-4147-A177-3AD203B41FA5}">
                          <a16:colId xmlns:a16="http://schemas.microsoft.com/office/drawing/2014/main" val="1464148658"/>
                        </a:ext>
                      </a:extLst>
                    </a:gridCol>
                    <a:gridCol w="2968946">
                      <a:extLst>
                        <a:ext uri="{9D8B030D-6E8A-4147-A177-3AD203B41FA5}">
                          <a16:colId xmlns:a16="http://schemas.microsoft.com/office/drawing/2014/main" val="3755545867"/>
                        </a:ext>
                      </a:extLst>
                    </a:gridCol>
                    <a:gridCol w="4485550">
                      <a:extLst>
                        <a:ext uri="{9D8B030D-6E8A-4147-A177-3AD203B41FA5}">
                          <a16:colId xmlns:a16="http://schemas.microsoft.com/office/drawing/2014/main" val="1467463044"/>
                        </a:ext>
                      </a:extLst>
                    </a:gridCol>
                  </a:tblGrid>
                  <a:tr h="417885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What it measures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Formula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Example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1166155"/>
                      </a:ext>
                    </a:extLst>
                  </a:tr>
                  <a:tr h="1339523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Average </a:t>
                          </a:r>
                          <a:r>
                            <a:rPr lang="en-US" b="1" dirty="0"/>
                            <a:t>absolute difference</a:t>
                          </a:r>
                          <a:r>
                            <a:rPr lang="en-US" dirty="0"/>
                            <a:t> between actual and predicted values.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Actual house prices: </a:t>
                          </a: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[100, 150, 200]</a:t>
                          </a:r>
                          <a:br>
                            <a:rPr lang="en-US" dirty="0"/>
                          </a:br>
                          <a:r>
                            <a:rPr lang="en-US" dirty="0"/>
                            <a:t>Predicted prices: </a:t>
                          </a: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[110, 140, 190]</a:t>
                          </a:r>
                          <a:endParaRPr lang="en-US" dirty="0"/>
                        </a:p>
                        <a:p>
                          <a:r>
                            <a:rPr lang="en-US" dirty="0"/>
                            <a:t>Errors = </a:t>
                          </a: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|10|, |10|, |10|</a:t>
                          </a:r>
                          <a:endParaRPr lang="en-US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20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𝑀𝐴𝐸</m:t>
                                </m:r>
                                <m:r>
                                  <a:rPr lang="en-US" sz="1800" i="0" kern="120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ar-AE" sz="1800" i="1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sz="1800" i="0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  <m:r>
                                      <a:rPr lang="ar-AE" sz="1800" i="0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+</m:t>
                                    </m:r>
                                    <m:r>
                                      <a:rPr lang="ar-AE" sz="1800" i="0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  <m:r>
                                      <a:rPr lang="ar-AE" sz="1800" i="0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+</m:t>
                                    </m:r>
                                    <m:r>
                                      <a:rPr lang="ar-AE" sz="1800" i="0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e>
                                </m:d>
                                <m:r>
                                  <a:rPr lang="ar-AE" sz="1800" i="0" kern="120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/</m:t>
                                </m:r>
                                <m:r>
                                  <a:rPr lang="ar-AE" sz="1800" i="0" kern="120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lang="ar-AE" sz="1800" i="0" kern="120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r>
                                  <a:rPr lang="ar-AE" sz="1800" i="0" kern="120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06162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F5BAC18-3372-6729-1289-82174EC6DF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73734622"/>
                  </p:ext>
                </p:extLst>
              </p:nvPr>
            </p:nvGraphicFramePr>
            <p:xfrm>
              <a:off x="472440" y="1237252"/>
              <a:ext cx="10911840" cy="17574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457344">
                      <a:extLst>
                        <a:ext uri="{9D8B030D-6E8A-4147-A177-3AD203B41FA5}">
                          <a16:colId xmlns:a16="http://schemas.microsoft.com/office/drawing/2014/main" val="1464148658"/>
                        </a:ext>
                      </a:extLst>
                    </a:gridCol>
                    <a:gridCol w="2968946">
                      <a:extLst>
                        <a:ext uri="{9D8B030D-6E8A-4147-A177-3AD203B41FA5}">
                          <a16:colId xmlns:a16="http://schemas.microsoft.com/office/drawing/2014/main" val="3755545867"/>
                        </a:ext>
                      </a:extLst>
                    </a:gridCol>
                    <a:gridCol w="4485550">
                      <a:extLst>
                        <a:ext uri="{9D8B030D-6E8A-4147-A177-3AD203B41FA5}">
                          <a16:colId xmlns:a16="http://schemas.microsoft.com/office/drawing/2014/main" val="1467463044"/>
                        </a:ext>
                      </a:extLst>
                    </a:gridCol>
                  </a:tblGrid>
                  <a:tr h="417885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What it measures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Formula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Example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1166155"/>
                      </a:ext>
                    </a:extLst>
                  </a:tr>
                  <a:tr h="1339523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Average </a:t>
                          </a:r>
                          <a:r>
                            <a:rPr lang="en-US" b="1" dirty="0"/>
                            <a:t>absolute difference</a:t>
                          </a:r>
                          <a:r>
                            <a:rPr lang="en-US" dirty="0"/>
                            <a:t> between actual and predicted values.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43478" t="-33032" r="-543" b="-9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061625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55C0AEA3-6549-4843-9D3B-D4A206A9BF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2263" y="1771056"/>
            <a:ext cx="2777157" cy="983574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27161CA-A272-1EE0-8C1E-85F504E55F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3007354"/>
              </p:ext>
            </p:extLst>
          </p:nvPr>
        </p:nvGraphicFramePr>
        <p:xfrm>
          <a:off x="472440" y="3240218"/>
          <a:ext cx="10911840" cy="2656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0491">
                  <a:extLst>
                    <a:ext uri="{9D8B030D-6E8A-4147-A177-3AD203B41FA5}">
                      <a16:colId xmlns:a16="http://schemas.microsoft.com/office/drawing/2014/main" val="1920248372"/>
                    </a:ext>
                  </a:extLst>
                </a:gridCol>
                <a:gridCol w="3168099">
                  <a:extLst>
                    <a:ext uri="{9D8B030D-6E8A-4147-A177-3AD203B41FA5}">
                      <a16:colId xmlns:a16="http://schemas.microsoft.com/office/drawing/2014/main" val="997411964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7403673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Interpretation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How we can improve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8923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House price prediction</a:t>
                      </a:r>
                    </a:p>
                    <a:p>
                      <a:r>
                        <a:rPr lang="en-US" dirty="0"/>
                        <a:t>Salary estimation</a:t>
                      </a:r>
                    </a:p>
                    <a:p>
                      <a:r>
                        <a:rPr lang="en-US" dirty="0"/>
                        <a:t>Demand forecasting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✔ Feature engineering</a:t>
                      </a:r>
                      <a:br>
                        <a:rPr lang="en-US" dirty="0"/>
                      </a:br>
                      <a:r>
                        <a:rPr lang="en-US" dirty="0"/>
                        <a:t>✔ Remove outliers</a:t>
                      </a:r>
                      <a:br>
                        <a:rPr lang="en-US" dirty="0"/>
                      </a:br>
                      <a:r>
                        <a:rPr lang="en-US" dirty="0"/>
                        <a:t>✔ Try </a:t>
                      </a:r>
                      <a:r>
                        <a:rPr lang="en-US" b="1" dirty="0"/>
                        <a:t>non-linear models</a:t>
                      </a:r>
                      <a:br>
                        <a:rPr lang="en-US" dirty="0"/>
                      </a:br>
                      <a:r>
                        <a:rPr lang="en-US" dirty="0"/>
                        <a:t>✔ Add more relevant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079489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DD94962-C5F8-5697-4949-E88E3C12E1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7027051"/>
              </p:ext>
            </p:extLst>
          </p:nvPr>
        </p:nvGraphicFramePr>
        <p:xfrm>
          <a:off x="718820" y="3896780"/>
          <a:ext cx="3840480" cy="1723968"/>
        </p:xfrm>
        <a:graphic>
          <a:graphicData uri="http://schemas.openxmlformats.org/drawingml/2006/table">
            <a:tbl>
              <a:tblPr/>
              <a:tblGrid>
                <a:gridCol w="1223010">
                  <a:extLst>
                    <a:ext uri="{9D8B030D-6E8A-4147-A177-3AD203B41FA5}">
                      <a16:colId xmlns:a16="http://schemas.microsoft.com/office/drawing/2014/main" val="2028051967"/>
                    </a:ext>
                  </a:extLst>
                </a:gridCol>
                <a:gridCol w="2617470">
                  <a:extLst>
                    <a:ext uri="{9D8B030D-6E8A-4147-A177-3AD203B41FA5}">
                      <a16:colId xmlns:a16="http://schemas.microsoft.com/office/drawing/2014/main" val="1737078661"/>
                    </a:ext>
                  </a:extLst>
                </a:gridCol>
              </a:tblGrid>
              <a:tr h="2835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8626387"/>
                  </a:ext>
                </a:extLst>
              </a:tr>
              <a:tr h="2835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0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Perfect 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7333367"/>
                  </a:ext>
                </a:extLst>
              </a:tr>
              <a:tr h="4962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Low MAE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Predictions are close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1096802"/>
                  </a:ext>
                </a:extLst>
              </a:tr>
              <a:tr h="4962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 MAE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Large average error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1727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5700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B11C4-8F46-877C-CF39-0D024141F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01B2F-5938-7FDF-9F62-B850D6DD4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820" y="179706"/>
            <a:ext cx="10515600" cy="914400"/>
          </a:xfrm>
        </p:spPr>
        <p:txBody>
          <a:bodyPr>
            <a:normAutofit/>
          </a:bodyPr>
          <a:lstStyle/>
          <a:p>
            <a:r>
              <a:rPr lang="en-US" dirty="0"/>
              <a:t>Mean Squared Error (MSE)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5D502C3E-4459-6735-D6B6-9B6705DA6E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21626571"/>
                  </p:ext>
                </p:extLst>
              </p:nvPr>
            </p:nvGraphicFramePr>
            <p:xfrm>
              <a:off x="472440" y="1237252"/>
              <a:ext cx="11300460" cy="17574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80476">
                      <a:extLst>
                        <a:ext uri="{9D8B030D-6E8A-4147-A177-3AD203B41FA5}">
                          <a16:colId xmlns:a16="http://schemas.microsoft.com/office/drawing/2014/main" val="1464148658"/>
                        </a:ext>
                      </a:extLst>
                    </a:gridCol>
                    <a:gridCol w="4512137">
                      <a:extLst>
                        <a:ext uri="{9D8B030D-6E8A-4147-A177-3AD203B41FA5}">
                          <a16:colId xmlns:a16="http://schemas.microsoft.com/office/drawing/2014/main" val="3755545867"/>
                        </a:ext>
                      </a:extLst>
                    </a:gridCol>
                    <a:gridCol w="3207847">
                      <a:extLst>
                        <a:ext uri="{9D8B030D-6E8A-4147-A177-3AD203B41FA5}">
                          <a16:colId xmlns:a16="http://schemas.microsoft.com/office/drawing/2014/main" val="1467463044"/>
                        </a:ext>
                      </a:extLst>
                    </a:gridCol>
                  </a:tblGrid>
                  <a:tr h="417885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What it measures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Formula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Example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1166155"/>
                      </a:ext>
                    </a:extLst>
                  </a:tr>
                  <a:tr h="1339523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Average of </a:t>
                          </a:r>
                          <a:r>
                            <a:rPr lang="en-US" b="1" dirty="0"/>
                            <a:t>squared errors</a:t>
                          </a:r>
                          <a:r>
                            <a:rPr lang="en-US" dirty="0"/>
                            <a:t> → penalizes </a:t>
                          </a:r>
                          <a:r>
                            <a:rPr lang="en-US" b="1" dirty="0"/>
                            <a:t>large errors heavily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Errors: </a:t>
                          </a: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10, -10, 10</a:t>
                          </a:r>
                          <a:endParaRPr lang="en-US" dirty="0"/>
                        </a:p>
                        <a:p>
                          <a:r>
                            <a:rPr lang="en-US" dirty="0"/>
                            <a:t>Squares: </a:t>
                          </a: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100, 100, 100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kern="120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𝑀𝑆𝐸</m:t>
                                </m:r>
                                <m:r>
                                  <a:rPr lang="en-US" sz="1800" i="0" kern="120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=100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06162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5D502C3E-4459-6735-D6B6-9B6705DA6E7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21626571"/>
                  </p:ext>
                </p:extLst>
              </p:nvPr>
            </p:nvGraphicFramePr>
            <p:xfrm>
              <a:off x="472440" y="1237252"/>
              <a:ext cx="11300460" cy="17574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80476">
                      <a:extLst>
                        <a:ext uri="{9D8B030D-6E8A-4147-A177-3AD203B41FA5}">
                          <a16:colId xmlns:a16="http://schemas.microsoft.com/office/drawing/2014/main" val="1464148658"/>
                        </a:ext>
                      </a:extLst>
                    </a:gridCol>
                    <a:gridCol w="4512137">
                      <a:extLst>
                        <a:ext uri="{9D8B030D-6E8A-4147-A177-3AD203B41FA5}">
                          <a16:colId xmlns:a16="http://schemas.microsoft.com/office/drawing/2014/main" val="3755545867"/>
                        </a:ext>
                      </a:extLst>
                    </a:gridCol>
                    <a:gridCol w="3207847">
                      <a:extLst>
                        <a:ext uri="{9D8B030D-6E8A-4147-A177-3AD203B41FA5}">
                          <a16:colId xmlns:a16="http://schemas.microsoft.com/office/drawing/2014/main" val="1467463044"/>
                        </a:ext>
                      </a:extLst>
                    </a:gridCol>
                  </a:tblGrid>
                  <a:tr h="417885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What it measures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Formula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Example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1166155"/>
                      </a:ext>
                    </a:extLst>
                  </a:tr>
                  <a:tr h="1339523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Average of </a:t>
                          </a:r>
                          <a:r>
                            <a:rPr lang="en-US" b="1" dirty="0"/>
                            <a:t>squared errors</a:t>
                          </a:r>
                          <a:r>
                            <a:rPr lang="en-US" dirty="0"/>
                            <a:t> → penalizes </a:t>
                          </a:r>
                          <a:r>
                            <a:rPr lang="en-US" b="1" dirty="0"/>
                            <a:t>large errors heavily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52182" t="-33032" r="-759" b="-9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0061625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A3E753E-DF29-88DE-AAC6-8A64A528D6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8610151"/>
              </p:ext>
            </p:extLst>
          </p:nvPr>
        </p:nvGraphicFramePr>
        <p:xfrm>
          <a:off x="472440" y="3240218"/>
          <a:ext cx="10911840" cy="2656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56710">
                  <a:extLst>
                    <a:ext uri="{9D8B030D-6E8A-4147-A177-3AD203B41FA5}">
                      <a16:colId xmlns:a16="http://schemas.microsoft.com/office/drawing/2014/main" val="1920248372"/>
                    </a:ext>
                  </a:extLst>
                </a:gridCol>
                <a:gridCol w="3611880">
                  <a:extLst>
                    <a:ext uri="{9D8B030D-6E8A-4147-A177-3AD203B41FA5}">
                      <a16:colId xmlns:a16="http://schemas.microsoft.com/office/drawing/2014/main" val="997411964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7403673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Interpretation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How we can improve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8923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When </a:t>
                      </a:r>
                      <a:r>
                        <a:rPr lang="en-US" b="1" dirty="0"/>
                        <a:t>large mistakes are very costly</a:t>
                      </a: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Financial risk models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Critical systems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✔ Reduce outliers</a:t>
                      </a:r>
                      <a:br>
                        <a:rPr lang="en-US" dirty="0"/>
                      </a:br>
                      <a:r>
                        <a:rPr lang="en-US" dirty="0"/>
                        <a:t>✔ Use </a:t>
                      </a:r>
                      <a:r>
                        <a:rPr lang="en-US" b="1" dirty="0"/>
                        <a:t>Robust Regression</a:t>
                      </a:r>
                      <a:br>
                        <a:rPr lang="en-US" dirty="0"/>
                      </a:br>
                      <a:r>
                        <a:rPr lang="en-US" dirty="0"/>
                        <a:t>✔ Transform target (log, sqrt)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0794896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445B57B1-1684-8007-056A-9C73381494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5523" y="1906485"/>
            <a:ext cx="3600953" cy="1057423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86D4C54-83C7-139B-897B-FC5E0D6341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6790440"/>
              </p:ext>
            </p:extLst>
          </p:nvPr>
        </p:nvGraphicFramePr>
        <p:xfrm>
          <a:off x="718820" y="4114800"/>
          <a:ext cx="3710940" cy="1097280"/>
        </p:xfrm>
        <a:graphic>
          <a:graphicData uri="http://schemas.openxmlformats.org/drawingml/2006/table">
            <a:tbl>
              <a:tblPr/>
              <a:tblGrid>
                <a:gridCol w="1855470">
                  <a:extLst>
                    <a:ext uri="{9D8B030D-6E8A-4147-A177-3AD203B41FA5}">
                      <a16:colId xmlns:a16="http://schemas.microsoft.com/office/drawing/2014/main" val="3300611731"/>
                    </a:ext>
                  </a:extLst>
                </a:gridCol>
                <a:gridCol w="1855470">
                  <a:extLst>
                    <a:ext uri="{9D8B030D-6E8A-4147-A177-3AD203B41FA5}">
                      <a16:colId xmlns:a16="http://schemas.microsoft.com/office/drawing/2014/main" val="8985388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7471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0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Perfect 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667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Large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Big errors exist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11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97926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6C3BD-4F25-9862-DEBC-BB3908A54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E5A3C-7D70-4DD3-F846-E402F3135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820" y="179706"/>
            <a:ext cx="10515600" cy="914400"/>
          </a:xfrm>
        </p:spPr>
        <p:txBody>
          <a:bodyPr>
            <a:normAutofit/>
          </a:bodyPr>
          <a:lstStyle/>
          <a:p>
            <a:r>
              <a:rPr lang="en-US" dirty="0"/>
              <a:t>Root Mean Squared Error (RMSE)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B62FC3E-3D75-AB7B-6301-7CE25D828D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9439557"/>
              </p:ext>
            </p:extLst>
          </p:nvPr>
        </p:nvGraphicFramePr>
        <p:xfrm>
          <a:off x="472440" y="1237252"/>
          <a:ext cx="11300460" cy="1757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0476">
                  <a:extLst>
                    <a:ext uri="{9D8B030D-6E8A-4147-A177-3AD203B41FA5}">
                      <a16:colId xmlns:a16="http://schemas.microsoft.com/office/drawing/2014/main" val="1464148658"/>
                    </a:ext>
                  </a:extLst>
                </a:gridCol>
                <a:gridCol w="4512137">
                  <a:extLst>
                    <a:ext uri="{9D8B030D-6E8A-4147-A177-3AD203B41FA5}">
                      <a16:colId xmlns:a16="http://schemas.microsoft.com/office/drawing/2014/main" val="3755545867"/>
                    </a:ext>
                  </a:extLst>
                </a:gridCol>
                <a:gridCol w="3207847">
                  <a:extLst>
                    <a:ext uri="{9D8B030D-6E8A-4147-A177-3AD203B41FA5}">
                      <a16:colId xmlns:a16="http://schemas.microsoft.com/office/drawing/2014/main" val="1467463044"/>
                    </a:ext>
                  </a:extLst>
                </a:gridCol>
              </a:tblGrid>
              <a:tr h="417885">
                <a:tc>
                  <a:txBody>
                    <a:bodyPr/>
                    <a:lstStyle/>
                    <a:p>
                      <a:r>
                        <a:rPr lang="en-US" dirty="0"/>
                        <a:t>What it measures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Formula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1166155"/>
                  </a:ext>
                </a:extLst>
              </a:tr>
              <a:tr h="1339523">
                <a:tc>
                  <a:txBody>
                    <a:bodyPr/>
                    <a:lstStyle/>
                    <a:p>
                      <a:r>
                        <a:rPr lang="en-US" dirty="0"/>
                        <a:t>Square root of MSE → error in </a:t>
                      </a:r>
                      <a:r>
                        <a:rPr lang="en-US" b="1" dirty="0"/>
                        <a:t>original units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61625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DDE43C4-AC9B-8DEA-B0E8-BAC66F5788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35603"/>
              </p:ext>
            </p:extLst>
          </p:nvPr>
        </p:nvGraphicFramePr>
        <p:xfrm>
          <a:off x="472440" y="3240218"/>
          <a:ext cx="10911840" cy="2656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56710">
                  <a:extLst>
                    <a:ext uri="{9D8B030D-6E8A-4147-A177-3AD203B41FA5}">
                      <a16:colId xmlns:a16="http://schemas.microsoft.com/office/drawing/2014/main" val="1920248372"/>
                    </a:ext>
                  </a:extLst>
                </a:gridCol>
                <a:gridCol w="3611880">
                  <a:extLst>
                    <a:ext uri="{9D8B030D-6E8A-4147-A177-3AD203B41FA5}">
                      <a16:colId xmlns:a16="http://schemas.microsoft.com/office/drawing/2014/main" val="997411964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7403673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Interpretation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How we can improve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8923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Weather prediction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Stock price forecasting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Engineering problems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✔ Feature scaling</a:t>
                      </a:r>
                      <a:br>
                        <a:rPr lang="en-US" dirty="0"/>
                      </a:br>
                      <a:r>
                        <a:rPr lang="en-US" dirty="0"/>
                        <a:t>✔ Use </a:t>
                      </a:r>
                      <a:r>
                        <a:rPr lang="en-US" b="1" dirty="0"/>
                        <a:t>ensemble models</a:t>
                      </a:r>
                      <a:br>
                        <a:rPr lang="en-US" dirty="0"/>
                      </a:br>
                      <a:r>
                        <a:rPr lang="en-US" dirty="0"/>
                        <a:t>✔ Reduce noise in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079489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7994887-043D-1FA9-21D1-CD53D82145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0362256"/>
              </p:ext>
            </p:extLst>
          </p:nvPr>
        </p:nvGraphicFramePr>
        <p:xfrm>
          <a:off x="718820" y="4114800"/>
          <a:ext cx="3710940" cy="1371600"/>
        </p:xfrm>
        <a:graphic>
          <a:graphicData uri="http://schemas.openxmlformats.org/drawingml/2006/table">
            <a:tbl>
              <a:tblPr/>
              <a:tblGrid>
                <a:gridCol w="1532890">
                  <a:extLst>
                    <a:ext uri="{9D8B030D-6E8A-4147-A177-3AD203B41FA5}">
                      <a16:colId xmlns:a16="http://schemas.microsoft.com/office/drawing/2014/main" val="3300611731"/>
                    </a:ext>
                  </a:extLst>
                </a:gridCol>
                <a:gridCol w="2178050">
                  <a:extLst>
                    <a:ext uri="{9D8B030D-6E8A-4147-A177-3AD203B41FA5}">
                      <a16:colId xmlns:a16="http://schemas.microsoft.com/office/drawing/2014/main" val="8985388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7471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0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Perfect 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667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RMSE &gt; MAE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Model makes large errors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11914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E044CE05-B580-4B4C-1D2B-57EDD5885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9081" y="1919398"/>
            <a:ext cx="2927177" cy="7986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F1EA4A7-199F-72F7-C4D2-F8B88EA8DF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6171" y="1815876"/>
            <a:ext cx="2343477" cy="6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6608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4D98A-7419-8184-7DEB-DF49394CB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5C4FC-6C7E-5285-F374-EF1EAACCE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820" y="179706"/>
            <a:ext cx="10515600" cy="914400"/>
          </a:xfrm>
        </p:spPr>
        <p:txBody>
          <a:bodyPr>
            <a:normAutofit/>
          </a:bodyPr>
          <a:lstStyle/>
          <a:p>
            <a:r>
              <a:rPr lang="en-US" dirty="0"/>
              <a:t>R² Score (Coefficient of Determination)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F9D131F-EACD-1C75-053D-117F6252DD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5082648"/>
              </p:ext>
            </p:extLst>
          </p:nvPr>
        </p:nvGraphicFramePr>
        <p:xfrm>
          <a:off x="445769" y="1067957"/>
          <a:ext cx="11300460" cy="2656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0476">
                  <a:extLst>
                    <a:ext uri="{9D8B030D-6E8A-4147-A177-3AD203B41FA5}">
                      <a16:colId xmlns:a16="http://schemas.microsoft.com/office/drawing/2014/main" val="1464148658"/>
                    </a:ext>
                  </a:extLst>
                </a:gridCol>
                <a:gridCol w="4512137">
                  <a:extLst>
                    <a:ext uri="{9D8B030D-6E8A-4147-A177-3AD203B41FA5}">
                      <a16:colId xmlns:a16="http://schemas.microsoft.com/office/drawing/2014/main" val="3755545867"/>
                    </a:ext>
                  </a:extLst>
                </a:gridCol>
                <a:gridCol w="3207847">
                  <a:extLst>
                    <a:ext uri="{9D8B030D-6E8A-4147-A177-3AD203B41FA5}">
                      <a16:colId xmlns:a16="http://schemas.microsoft.com/office/drawing/2014/main" val="1467463044"/>
                    </a:ext>
                  </a:extLst>
                </a:gridCol>
              </a:tblGrid>
              <a:tr h="631756">
                <a:tc>
                  <a:txBody>
                    <a:bodyPr/>
                    <a:lstStyle/>
                    <a:p>
                      <a:r>
                        <a:rPr lang="en-US" dirty="0"/>
                        <a:t>What it measures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Formula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1166155"/>
                  </a:ext>
                </a:extLst>
              </a:tr>
              <a:tr h="2025084">
                <a:tc>
                  <a:txBody>
                    <a:bodyPr/>
                    <a:lstStyle/>
                    <a:p>
                      <a:r>
                        <a:rPr lang="en-US" dirty="0"/>
                        <a:t>How much </a:t>
                      </a:r>
                      <a:r>
                        <a:rPr lang="en-US" b="1" dirty="0"/>
                        <a:t>variance in target is explained</a:t>
                      </a:r>
                      <a:r>
                        <a:rPr lang="en-US" dirty="0"/>
                        <a:t> by the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61625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D540CE9-ABB7-5CF4-EC22-93E8F71691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7810662"/>
              </p:ext>
            </p:extLst>
          </p:nvPr>
        </p:nvGraphicFramePr>
        <p:xfrm>
          <a:off x="445769" y="3851910"/>
          <a:ext cx="11300460" cy="2919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749">
                  <a:extLst>
                    <a:ext uri="{9D8B030D-6E8A-4147-A177-3AD203B41FA5}">
                      <a16:colId xmlns:a16="http://schemas.microsoft.com/office/drawing/2014/main" val="1920248372"/>
                    </a:ext>
                  </a:extLst>
                </a:gridCol>
                <a:gridCol w="3740515">
                  <a:extLst>
                    <a:ext uri="{9D8B030D-6E8A-4147-A177-3AD203B41FA5}">
                      <a16:colId xmlns:a16="http://schemas.microsoft.com/office/drawing/2014/main" val="997411964"/>
                    </a:ext>
                  </a:extLst>
                </a:gridCol>
                <a:gridCol w="3255196">
                  <a:extLst>
                    <a:ext uri="{9D8B030D-6E8A-4147-A177-3AD203B41FA5}">
                      <a16:colId xmlns:a16="http://schemas.microsoft.com/office/drawing/2014/main" val="2740367347"/>
                    </a:ext>
                  </a:extLst>
                </a:gridCol>
              </a:tblGrid>
              <a:tr h="407534">
                <a:tc>
                  <a:txBody>
                    <a:bodyPr/>
                    <a:lstStyle/>
                    <a:p>
                      <a:r>
                        <a:rPr lang="en-US" dirty="0"/>
                        <a:t>Interpretation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How we can improve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8923563"/>
                  </a:ext>
                </a:extLst>
              </a:tr>
              <a:tr h="2512196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Model comparison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Business performance explanation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✔ Add meaningful features</a:t>
                      </a:r>
                      <a:br>
                        <a:rPr lang="en-US" dirty="0"/>
                      </a:br>
                      <a:r>
                        <a:rPr lang="en-US" dirty="0"/>
                        <a:t>✔ Try polynomial regression</a:t>
                      </a:r>
                      <a:br>
                        <a:rPr lang="en-US" dirty="0"/>
                      </a:br>
                      <a:r>
                        <a:rPr lang="en-US" dirty="0"/>
                        <a:t>✔ Remove irrelevant variables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0794896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76E6108-BB6B-B6CD-6381-FFD3AA422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6171" y="1815876"/>
            <a:ext cx="2343477" cy="6001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6BF402-6B16-2972-AF4C-6680B3D36F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787" y="1696840"/>
            <a:ext cx="3006239" cy="6001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093B1E6-4FB6-6139-5129-9CD82B3282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787" y="2311853"/>
            <a:ext cx="3658111" cy="6477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74D690B-4BC2-ECF3-E5CF-0BF8E1CD9D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1787" y="2944789"/>
            <a:ext cx="3658111" cy="724001"/>
          </a:xfrm>
          <a:prstGeom prst="rect">
            <a:avLst/>
          </a:prstGeom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010F8DC-3478-F7C7-E524-434C4541FE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3173477"/>
              </p:ext>
            </p:extLst>
          </p:nvPr>
        </p:nvGraphicFramePr>
        <p:xfrm>
          <a:off x="880110" y="4357733"/>
          <a:ext cx="3897630" cy="2194560"/>
        </p:xfrm>
        <a:graphic>
          <a:graphicData uri="http://schemas.openxmlformats.org/drawingml/2006/table">
            <a:tbl>
              <a:tblPr/>
              <a:tblGrid>
                <a:gridCol w="1257300">
                  <a:extLst>
                    <a:ext uri="{9D8B030D-6E8A-4147-A177-3AD203B41FA5}">
                      <a16:colId xmlns:a16="http://schemas.microsoft.com/office/drawing/2014/main" val="2272698589"/>
                    </a:ext>
                  </a:extLst>
                </a:gridCol>
                <a:gridCol w="2640330">
                  <a:extLst>
                    <a:ext uri="{9D8B030D-6E8A-4147-A177-3AD203B41FA5}">
                      <a16:colId xmlns:a16="http://schemas.microsoft.com/office/drawing/2014/main" val="7491909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R²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6475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1.0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Perfect fit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82811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Very good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6775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Acceptable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4406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 better than mean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3575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Negative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Worse than baseline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0338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13839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6FE78-8D3A-0954-2244-0A7B664D3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E7447-4BFD-DA7A-8343-8FEC1F9A7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348" y="90001"/>
            <a:ext cx="10515600" cy="914400"/>
          </a:xfrm>
        </p:spPr>
        <p:txBody>
          <a:bodyPr>
            <a:normAutofit/>
          </a:bodyPr>
          <a:lstStyle/>
          <a:p>
            <a:r>
              <a:rPr lang="en-US" dirty="0"/>
              <a:t>Adjusted R²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FD31A9F-3D06-651F-9099-BBC3B8FEE9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8730015"/>
              </p:ext>
            </p:extLst>
          </p:nvPr>
        </p:nvGraphicFramePr>
        <p:xfrm>
          <a:off x="445769" y="1316877"/>
          <a:ext cx="11300460" cy="12941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0476">
                  <a:extLst>
                    <a:ext uri="{9D8B030D-6E8A-4147-A177-3AD203B41FA5}">
                      <a16:colId xmlns:a16="http://schemas.microsoft.com/office/drawing/2014/main" val="1464148658"/>
                    </a:ext>
                  </a:extLst>
                </a:gridCol>
                <a:gridCol w="4512137">
                  <a:extLst>
                    <a:ext uri="{9D8B030D-6E8A-4147-A177-3AD203B41FA5}">
                      <a16:colId xmlns:a16="http://schemas.microsoft.com/office/drawing/2014/main" val="3755545867"/>
                    </a:ext>
                  </a:extLst>
                </a:gridCol>
                <a:gridCol w="3207847">
                  <a:extLst>
                    <a:ext uri="{9D8B030D-6E8A-4147-A177-3AD203B41FA5}">
                      <a16:colId xmlns:a16="http://schemas.microsoft.com/office/drawing/2014/main" val="14674630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What it measures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Formula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1166155"/>
                  </a:ext>
                </a:extLst>
              </a:tr>
              <a:tr h="928411">
                <a:tc>
                  <a:txBody>
                    <a:bodyPr/>
                    <a:lstStyle/>
                    <a:p>
                      <a:r>
                        <a:rPr lang="en-US" dirty="0"/>
                        <a:t>R² </a:t>
                      </a:r>
                      <a:r>
                        <a:rPr lang="en-US" b="1" dirty="0"/>
                        <a:t>always increases</a:t>
                      </a:r>
                      <a:r>
                        <a:rPr lang="en-US" dirty="0"/>
                        <a:t> when adding features—even useless ones.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Square of R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Adjusted R² penalizes </a:t>
                      </a:r>
                      <a:r>
                        <a:rPr lang="en-US" b="1" dirty="0"/>
                        <a:t>unnecessary features</a:t>
                      </a:r>
                      <a:r>
                        <a:rPr lang="en-US" dirty="0"/>
                        <a:t>.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61625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1BF2A73-2472-8329-231E-E6E4D48357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3792174"/>
              </p:ext>
            </p:extLst>
          </p:nvPr>
        </p:nvGraphicFramePr>
        <p:xfrm>
          <a:off x="445769" y="2955233"/>
          <a:ext cx="1130046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4749">
                  <a:extLst>
                    <a:ext uri="{9D8B030D-6E8A-4147-A177-3AD203B41FA5}">
                      <a16:colId xmlns:a16="http://schemas.microsoft.com/office/drawing/2014/main" val="1920248372"/>
                    </a:ext>
                  </a:extLst>
                </a:gridCol>
                <a:gridCol w="3740515">
                  <a:extLst>
                    <a:ext uri="{9D8B030D-6E8A-4147-A177-3AD203B41FA5}">
                      <a16:colId xmlns:a16="http://schemas.microsoft.com/office/drawing/2014/main" val="997411964"/>
                    </a:ext>
                  </a:extLst>
                </a:gridCol>
                <a:gridCol w="3255196">
                  <a:extLst>
                    <a:ext uri="{9D8B030D-6E8A-4147-A177-3AD203B41FA5}">
                      <a16:colId xmlns:a16="http://schemas.microsoft.com/office/drawing/2014/main" val="2740367347"/>
                    </a:ext>
                  </a:extLst>
                </a:gridCol>
              </a:tblGrid>
              <a:tr h="300290">
                <a:tc>
                  <a:txBody>
                    <a:bodyPr/>
                    <a:lstStyle/>
                    <a:p>
                      <a:r>
                        <a:rPr lang="en-US" dirty="0"/>
                        <a:t>Interpretation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How we can improve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8923563"/>
                  </a:ext>
                </a:extLst>
              </a:tr>
              <a:tr h="1851106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Feature selection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Multiple Linear Regression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✔ Remove multicollinearity</a:t>
                      </a:r>
                      <a:br>
                        <a:rPr lang="en-US" dirty="0"/>
                      </a:br>
                      <a:r>
                        <a:rPr lang="en-US" dirty="0"/>
                        <a:t>✔ Use </a:t>
                      </a:r>
                      <a:r>
                        <a:rPr lang="en-US" b="1" dirty="0"/>
                        <a:t>Lasso / Ridge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079489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A0C5432-0808-02F6-65BF-2A684100C6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511505"/>
              </p:ext>
            </p:extLst>
          </p:nvPr>
        </p:nvGraphicFramePr>
        <p:xfrm>
          <a:off x="548639" y="3697589"/>
          <a:ext cx="3920491" cy="1097280"/>
        </p:xfrm>
        <a:graphic>
          <a:graphicData uri="http://schemas.openxmlformats.org/drawingml/2006/table">
            <a:tbl>
              <a:tblPr/>
              <a:tblGrid>
                <a:gridCol w="1849755">
                  <a:extLst>
                    <a:ext uri="{9D8B030D-6E8A-4147-A177-3AD203B41FA5}">
                      <a16:colId xmlns:a16="http://schemas.microsoft.com/office/drawing/2014/main" val="3273664009"/>
                    </a:ext>
                  </a:extLst>
                </a:gridCol>
                <a:gridCol w="2070736">
                  <a:extLst>
                    <a:ext uri="{9D8B030D-6E8A-4147-A177-3AD203B41FA5}">
                      <a16:colId xmlns:a16="http://schemas.microsoft.com/office/drawing/2014/main" val="21485348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3281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Adjusted R² 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Feature is useful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6677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Adjusted R² ↓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Feature is useless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5244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47726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95E46-BDFD-F711-663D-F80749EEE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EE8D3-3429-A428-AB39-F834A7773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820" y="179706"/>
            <a:ext cx="10515600" cy="914400"/>
          </a:xfrm>
        </p:spPr>
        <p:txBody>
          <a:bodyPr>
            <a:normAutofit/>
          </a:bodyPr>
          <a:lstStyle/>
          <a:p>
            <a:r>
              <a:rPr lang="en-US" dirty="0"/>
              <a:t>Mean Absolute Percentage Error (MAPE)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FB9FE5-33F5-91CB-95E9-5A85AE00E1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0292064"/>
              </p:ext>
            </p:extLst>
          </p:nvPr>
        </p:nvGraphicFramePr>
        <p:xfrm>
          <a:off x="445769" y="1067957"/>
          <a:ext cx="11300460" cy="2656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1">
                  <a:extLst>
                    <a:ext uri="{9D8B030D-6E8A-4147-A177-3AD203B41FA5}">
                      <a16:colId xmlns:a16="http://schemas.microsoft.com/office/drawing/2014/main" val="1464148658"/>
                    </a:ext>
                  </a:extLst>
                </a:gridCol>
                <a:gridCol w="5257972">
                  <a:extLst>
                    <a:ext uri="{9D8B030D-6E8A-4147-A177-3AD203B41FA5}">
                      <a16:colId xmlns:a16="http://schemas.microsoft.com/office/drawing/2014/main" val="3755545867"/>
                    </a:ext>
                  </a:extLst>
                </a:gridCol>
                <a:gridCol w="3207847">
                  <a:extLst>
                    <a:ext uri="{9D8B030D-6E8A-4147-A177-3AD203B41FA5}">
                      <a16:colId xmlns:a16="http://schemas.microsoft.com/office/drawing/2014/main" val="1467463044"/>
                    </a:ext>
                  </a:extLst>
                </a:gridCol>
              </a:tblGrid>
              <a:tr h="631756">
                <a:tc>
                  <a:txBody>
                    <a:bodyPr/>
                    <a:lstStyle/>
                    <a:p>
                      <a:r>
                        <a:rPr lang="en-US" dirty="0"/>
                        <a:t>What it measures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Formula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1166155"/>
                  </a:ext>
                </a:extLst>
              </a:tr>
              <a:tr h="2025084">
                <a:tc>
                  <a:txBody>
                    <a:bodyPr/>
                    <a:lstStyle/>
                    <a:p>
                      <a:r>
                        <a:rPr lang="en-US" dirty="0"/>
                        <a:t>Error as a </a:t>
                      </a:r>
                      <a:r>
                        <a:rPr lang="en-US" b="1" dirty="0"/>
                        <a:t>percentage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61625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ACF9876-4EC5-72A6-7A50-B1DB655C96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777181"/>
              </p:ext>
            </p:extLst>
          </p:nvPr>
        </p:nvGraphicFramePr>
        <p:xfrm>
          <a:off x="445769" y="3851910"/>
          <a:ext cx="11300460" cy="2919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9570">
                  <a:extLst>
                    <a:ext uri="{9D8B030D-6E8A-4147-A177-3AD203B41FA5}">
                      <a16:colId xmlns:a16="http://schemas.microsoft.com/office/drawing/2014/main" val="1920248372"/>
                    </a:ext>
                  </a:extLst>
                </a:gridCol>
                <a:gridCol w="3796840">
                  <a:extLst>
                    <a:ext uri="{9D8B030D-6E8A-4147-A177-3AD203B41FA5}">
                      <a16:colId xmlns:a16="http://schemas.microsoft.com/office/drawing/2014/main" val="997411964"/>
                    </a:ext>
                  </a:extLst>
                </a:gridCol>
                <a:gridCol w="3134050">
                  <a:extLst>
                    <a:ext uri="{9D8B030D-6E8A-4147-A177-3AD203B41FA5}">
                      <a16:colId xmlns:a16="http://schemas.microsoft.com/office/drawing/2014/main" val="2740367347"/>
                    </a:ext>
                  </a:extLst>
                </a:gridCol>
              </a:tblGrid>
              <a:tr h="407534">
                <a:tc>
                  <a:txBody>
                    <a:bodyPr/>
                    <a:lstStyle/>
                    <a:p>
                      <a:r>
                        <a:rPr lang="en-US" dirty="0"/>
                        <a:t>Interpretation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How we can improve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8923563"/>
                  </a:ext>
                </a:extLst>
              </a:tr>
              <a:tr h="2512196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Sales forecasting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Business KPI prediction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✔ Remove zero values</a:t>
                      </a:r>
                      <a:br>
                        <a:rPr lang="en-US" dirty="0"/>
                      </a:br>
                      <a:r>
                        <a:rPr lang="en-US" dirty="0"/>
                        <a:t>✔ Use </a:t>
                      </a:r>
                      <a:r>
                        <a:rPr lang="en-US" b="1" dirty="0"/>
                        <a:t>SMAPE</a:t>
                      </a:r>
                      <a:br>
                        <a:rPr lang="en-US" dirty="0"/>
                      </a:br>
                      <a:r>
                        <a:rPr lang="en-US" dirty="0"/>
                        <a:t>✔ Normalize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0794896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25C542CE-A5FB-9107-B3F7-5F573FB70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6171" y="1815876"/>
            <a:ext cx="2343477" cy="6001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C107CB5-F9D8-DA93-C1D2-0E4E9F55EE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5830" y="1815876"/>
            <a:ext cx="4916640" cy="885949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96E4084-B75C-9626-CCE9-9C9B85661D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3595107"/>
              </p:ext>
            </p:extLst>
          </p:nvPr>
        </p:nvGraphicFramePr>
        <p:xfrm>
          <a:off x="586740" y="4446567"/>
          <a:ext cx="4019550" cy="2011536"/>
        </p:xfrm>
        <a:graphic>
          <a:graphicData uri="http://schemas.openxmlformats.org/drawingml/2006/table">
            <a:tbl>
              <a:tblPr/>
              <a:tblGrid>
                <a:gridCol w="1516380">
                  <a:extLst>
                    <a:ext uri="{9D8B030D-6E8A-4147-A177-3AD203B41FA5}">
                      <a16:colId xmlns:a16="http://schemas.microsoft.com/office/drawing/2014/main" val="2504291459"/>
                    </a:ext>
                  </a:extLst>
                </a:gridCol>
                <a:gridCol w="2503170">
                  <a:extLst>
                    <a:ext uri="{9D8B030D-6E8A-4147-A177-3AD203B41FA5}">
                      <a16:colId xmlns:a16="http://schemas.microsoft.com/office/drawing/2014/main" val="4108657918"/>
                    </a:ext>
                  </a:extLst>
                </a:gridCol>
              </a:tblGrid>
              <a:tr h="3285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Quality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5671986"/>
                  </a:ext>
                </a:extLst>
              </a:tr>
              <a:tr h="3285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&lt; 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Excellent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82708"/>
                  </a:ext>
                </a:extLst>
              </a:tr>
              <a:tr h="3285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10–20%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Good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288567"/>
                  </a:ext>
                </a:extLst>
              </a:tr>
              <a:tr h="3285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20–50%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Average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0996137"/>
                  </a:ext>
                </a:extLst>
              </a:tr>
              <a:tr h="5484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&gt; 50%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Poor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27328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48249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BE5BAC7-8E09-8362-D9CB-141BB8B0FE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3632543"/>
              </p:ext>
            </p:extLst>
          </p:nvPr>
        </p:nvGraphicFramePr>
        <p:xfrm>
          <a:off x="563894" y="676388"/>
          <a:ext cx="11289017" cy="5430612"/>
        </p:xfrm>
        <a:graphic>
          <a:graphicData uri="http://schemas.openxmlformats.org/drawingml/2006/table">
            <a:tbl>
              <a:tblPr/>
              <a:tblGrid>
                <a:gridCol w="1756396">
                  <a:extLst>
                    <a:ext uri="{9D8B030D-6E8A-4147-A177-3AD203B41FA5}">
                      <a16:colId xmlns:a16="http://schemas.microsoft.com/office/drawing/2014/main" val="1319879958"/>
                    </a:ext>
                  </a:extLst>
                </a:gridCol>
                <a:gridCol w="1507794">
                  <a:extLst>
                    <a:ext uri="{9D8B030D-6E8A-4147-A177-3AD203B41FA5}">
                      <a16:colId xmlns:a16="http://schemas.microsoft.com/office/drawing/2014/main" val="4140020391"/>
                    </a:ext>
                  </a:extLst>
                </a:gridCol>
                <a:gridCol w="2380318">
                  <a:extLst>
                    <a:ext uri="{9D8B030D-6E8A-4147-A177-3AD203B41FA5}">
                      <a16:colId xmlns:a16="http://schemas.microsoft.com/office/drawing/2014/main" val="2721116963"/>
                    </a:ext>
                  </a:extLst>
                </a:gridCol>
                <a:gridCol w="1881503">
                  <a:extLst>
                    <a:ext uri="{9D8B030D-6E8A-4147-A177-3AD203B41FA5}">
                      <a16:colId xmlns:a16="http://schemas.microsoft.com/office/drawing/2014/main" val="3776011087"/>
                    </a:ext>
                  </a:extLst>
                </a:gridCol>
                <a:gridCol w="1881503">
                  <a:extLst>
                    <a:ext uri="{9D8B030D-6E8A-4147-A177-3AD203B41FA5}">
                      <a16:colId xmlns:a16="http://schemas.microsoft.com/office/drawing/2014/main" val="3224098632"/>
                    </a:ext>
                  </a:extLst>
                </a:gridCol>
                <a:gridCol w="1881503">
                  <a:extLst>
                    <a:ext uri="{9D8B030D-6E8A-4147-A177-3AD203B41FA5}">
                      <a16:colId xmlns:a16="http://schemas.microsoft.com/office/drawing/2014/main" val="1819335966"/>
                    </a:ext>
                  </a:extLst>
                </a:gridCol>
              </a:tblGrid>
              <a:tr h="6298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Metric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Best / Ideal</a:t>
                      </a:r>
                      <a:endParaRPr lang="en-US" sz="200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Very Good</a:t>
                      </a:r>
                      <a:endParaRPr lang="en-US" sz="200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Acceptable</a:t>
                      </a:r>
                      <a:endParaRPr lang="en-US" sz="200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Poor / Not Good</a:t>
                      </a:r>
                      <a:endParaRPr lang="en-US" sz="200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Notes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9040224"/>
                  </a:ext>
                </a:extLst>
              </a:tr>
              <a:tr h="6445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MAE</a:t>
                      </a:r>
                      <a:endParaRPr lang="en-US" sz="200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≈ 0</a:t>
                      </a:r>
                      <a:endParaRPr lang="en-US" sz="200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≤ 5% of target range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≤ 10–15% of target range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&gt; 20% of target range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Depends on data scale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0477718"/>
                  </a:ext>
                </a:extLst>
              </a:tr>
              <a:tr h="899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MSE</a:t>
                      </a:r>
                      <a:endParaRPr lang="en-US" sz="200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≈ 0</a:t>
                      </a:r>
                      <a:endParaRPr lang="en-US" sz="200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Very small (relative)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Moderate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Very large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Hard to interpret directly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506271"/>
                  </a:ext>
                </a:extLst>
              </a:tr>
              <a:tr h="6445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RMSE</a:t>
                      </a:r>
                      <a:endParaRPr lang="en-US" sz="200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≈ 0</a:t>
                      </a:r>
                      <a:endParaRPr lang="en-US" sz="200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≤ 10% of mean target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≤ 20% of mean target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&gt; 30% of mean target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Penalizes big errors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2539598"/>
                  </a:ext>
                </a:extLst>
              </a:tr>
              <a:tr h="6445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R²</a:t>
                      </a:r>
                      <a:endParaRPr lang="en-US" sz="200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1.0</a:t>
                      </a:r>
                      <a:endParaRPr lang="en-US" sz="200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≥ 0.90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0.70 – 0.89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&lt; 0.60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Negative = very bad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2974354"/>
                  </a:ext>
                </a:extLst>
              </a:tr>
              <a:tr h="899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Adjusted R²</a:t>
                      </a:r>
                      <a:endParaRPr lang="en-US" sz="200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1.0</a:t>
                      </a:r>
                      <a:endParaRPr lang="en-US" sz="200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Close to R²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Slightly lower than R²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Much lower than R²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Penalizes useless features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0870576"/>
                  </a:ext>
                </a:extLst>
              </a:tr>
              <a:tr h="6298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MAPE</a:t>
                      </a:r>
                      <a:endParaRPr lang="en-US" sz="200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0%</a:t>
                      </a:r>
                      <a:endParaRPr lang="en-US" sz="200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&lt; 10%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10–20%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&gt; 30%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Fails if actual = 0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065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23191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15CFEF-7988-90B1-5581-304E71856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865" y="818984"/>
            <a:ext cx="6596245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b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356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2062</Words>
  <Application>Microsoft Office PowerPoint</Application>
  <PresentationFormat>Widescreen</PresentationFormat>
  <Paragraphs>487</Paragraphs>
  <Slides>42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Aptos</vt:lpstr>
      <vt:lpstr>Aptos Display</vt:lpstr>
      <vt:lpstr>Arial</vt:lpstr>
      <vt:lpstr>Cambria Math</vt:lpstr>
      <vt:lpstr>Office Theme</vt:lpstr>
      <vt:lpstr>Module – 3  ML Concepts, Algorithms &amp; Model Evaluation</vt:lpstr>
      <vt:lpstr>PowerPoint Presentation</vt:lpstr>
      <vt:lpstr>Module 3: Machine Learning </vt:lpstr>
      <vt:lpstr>PowerPoint Presentation</vt:lpstr>
      <vt:lpstr>Supervised Learning</vt:lpstr>
      <vt:lpstr>(a) Regression</vt:lpstr>
      <vt:lpstr>(b) Classification</vt:lpstr>
      <vt:lpstr> Advantages and Disadvantages </vt:lpstr>
      <vt:lpstr>Unsupervised Learning</vt:lpstr>
      <vt:lpstr>a) Clustering</vt:lpstr>
      <vt:lpstr>(b) Dimensionality Reduction</vt:lpstr>
      <vt:lpstr>Advantages and Disadvantages </vt:lpstr>
      <vt:lpstr>Semi-Supervised Learning</vt:lpstr>
      <vt:lpstr>Reinforcement Learning (RL) Basics</vt:lpstr>
      <vt:lpstr>Machine Learning Workflow</vt:lpstr>
      <vt:lpstr>PowerPoint Presentation</vt:lpstr>
      <vt:lpstr>Feature Engineering</vt:lpstr>
      <vt:lpstr>PowerPoint Presentation</vt:lpstr>
      <vt:lpstr>Hyperparameter Tuning</vt:lpstr>
      <vt:lpstr>Summary </vt:lpstr>
      <vt:lpstr>Supervised Learning </vt:lpstr>
      <vt:lpstr>Problem </vt:lpstr>
      <vt:lpstr>Problem Understanding</vt:lpstr>
      <vt:lpstr>Data Collection - (Manually created dataset – real projects use CSV / DB / APIs)</vt:lpstr>
      <vt:lpstr>Data Cleaning</vt:lpstr>
      <vt:lpstr>Exploratory Data Analysis (EDA)</vt:lpstr>
      <vt:lpstr>Feature Engineering</vt:lpstr>
      <vt:lpstr>Model Selection</vt:lpstr>
      <vt:lpstr>Model Training</vt:lpstr>
      <vt:lpstr>Validation &amp; Testing</vt:lpstr>
      <vt:lpstr>Hyperparameter Tuning</vt:lpstr>
      <vt:lpstr>Deployment &amp; Monitoring (Basic Simulation) Save Model</vt:lpstr>
      <vt:lpstr>Load Model &amp; Predict (Deployment Simulation)</vt:lpstr>
      <vt:lpstr>Regression Metrics</vt:lpstr>
      <vt:lpstr>Mean Absolute Error (MAE)</vt:lpstr>
      <vt:lpstr>Mean Squared Error (MSE)</vt:lpstr>
      <vt:lpstr>Root Mean Squared Error (RMSE)</vt:lpstr>
      <vt:lpstr>R² Score (Coefficient of Determination)</vt:lpstr>
      <vt:lpstr>Adjusted R²</vt:lpstr>
      <vt:lpstr>Mean Absolute Percentage Error (MAPE)</vt:lpstr>
      <vt:lpstr>PowerPoint Presentation</vt:lpstr>
      <vt:lpstr>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rakhee chhibber</dc:creator>
  <cp:lastModifiedBy>rakhee chhibber</cp:lastModifiedBy>
  <cp:revision>6</cp:revision>
  <dcterms:created xsi:type="dcterms:W3CDTF">2025-12-13T12:31:17Z</dcterms:created>
  <dcterms:modified xsi:type="dcterms:W3CDTF">2025-12-17T16:50:49Z</dcterms:modified>
</cp:coreProperties>
</file>
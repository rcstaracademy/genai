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9">
  <p:sldMasterIdLst>
    <p:sldMasterId id="2147483648" r:id="rId1"/>
  </p:sldMasterIdLst>
  <p:notesMasterIdLst>
    <p:notesMasterId r:id="rId59"/>
  </p:notesMasterIdLst>
  <p:sldIdLst>
    <p:sldId id="256" r:id="rId2"/>
    <p:sldId id="317" r:id="rId3"/>
    <p:sldId id="259" r:id="rId4"/>
    <p:sldId id="261" r:id="rId5"/>
    <p:sldId id="320" r:id="rId6"/>
    <p:sldId id="329" r:id="rId7"/>
    <p:sldId id="365" r:id="rId8"/>
    <p:sldId id="366" r:id="rId9"/>
    <p:sldId id="367" r:id="rId10"/>
    <p:sldId id="355" r:id="rId11"/>
    <p:sldId id="356" r:id="rId12"/>
    <p:sldId id="357" r:id="rId13"/>
    <p:sldId id="358" r:id="rId14"/>
    <p:sldId id="368" r:id="rId15"/>
    <p:sldId id="359" r:id="rId16"/>
    <p:sldId id="360" r:id="rId17"/>
    <p:sldId id="361" r:id="rId18"/>
    <p:sldId id="362" r:id="rId19"/>
    <p:sldId id="363" r:id="rId20"/>
    <p:sldId id="364" r:id="rId21"/>
    <p:sldId id="369" r:id="rId22"/>
    <p:sldId id="370" r:id="rId23"/>
    <p:sldId id="372" r:id="rId24"/>
    <p:sldId id="371" r:id="rId25"/>
    <p:sldId id="373" r:id="rId26"/>
    <p:sldId id="374" r:id="rId27"/>
    <p:sldId id="375" r:id="rId28"/>
    <p:sldId id="376" r:id="rId29"/>
    <p:sldId id="377" r:id="rId30"/>
    <p:sldId id="378" r:id="rId31"/>
    <p:sldId id="379" r:id="rId32"/>
    <p:sldId id="380" r:id="rId33"/>
    <p:sldId id="381" r:id="rId34"/>
    <p:sldId id="382" r:id="rId35"/>
    <p:sldId id="383" r:id="rId36"/>
    <p:sldId id="385" r:id="rId37"/>
    <p:sldId id="386" r:id="rId38"/>
    <p:sldId id="387" r:id="rId39"/>
    <p:sldId id="384" r:id="rId40"/>
    <p:sldId id="388" r:id="rId41"/>
    <p:sldId id="390" r:id="rId42"/>
    <p:sldId id="391" r:id="rId43"/>
    <p:sldId id="392" r:id="rId44"/>
    <p:sldId id="393" r:id="rId45"/>
    <p:sldId id="394" r:id="rId46"/>
    <p:sldId id="395" r:id="rId47"/>
    <p:sldId id="396" r:id="rId48"/>
    <p:sldId id="397" r:id="rId49"/>
    <p:sldId id="399" r:id="rId50"/>
    <p:sldId id="400" r:id="rId51"/>
    <p:sldId id="398" r:id="rId52"/>
    <p:sldId id="401" r:id="rId53"/>
    <p:sldId id="402" r:id="rId54"/>
    <p:sldId id="403" r:id="rId55"/>
    <p:sldId id="404" r:id="rId56"/>
    <p:sldId id="389" r:id="rId57"/>
    <p:sldId id="271"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2DF67F-086D-4653-B72E-751A87D392E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F1BED5B-E0E6-4249-9BC5-14ACA70D16A9}">
      <dgm:prSet/>
      <dgm:spPr/>
      <dgm:t>
        <a:bodyPr/>
        <a:lstStyle/>
        <a:p>
          <a:pPr>
            <a:lnSpc>
              <a:spcPct val="100000"/>
            </a:lnSpc>
          </a:pPr>
          <a:r>
            <a:rPr lang="en-US"/>
            <a:t>Unsupervised Learning is a type of machine learning where the model works without labelled data. It learns patterns on its own by grouping similar data points or finding hidden structures without any human intervention.</a:t>
          </a:r>
        </a:p>
      </dgm:t>
    </dgm:pt>
    <dgm:pt modelId="{E9847272-7D0B-4053-B05A-8E2D0EA04913}" type="parTrans" cxnId="{11273A19-A308-465F-941F-94197F5C1413}">
      <dgm:prSet/>
      <dgm:spPr/>
      <dgm:t>
        <a:bodyPr/>
        <a:lstStyle/>
        <a:p>
          <a:endParaRPr lang="en-US"/>
        </a:p>
      </dgm:t>
    </dgm:pt>
    <dgm:pt modelId="{4550946F-3F16-4205-B266-59D744CBEEAE}" type="sibTrans" cxnId="{11273A19-A308-465F-941F-94197F5C1413}">
      <dgm:prSet/>
      <dgm:spPr/>
      <dgm:t>
        <a:bodyPr/>
        <a:lstStyle/>
        <a:p>
          <a:endParaRPr lang="en-US"/>
        </a:p>
      </dgm:t>
    </dgm:pt>
    <dgm:pt modelId="{535F9200-3289-4B53-81DB-7AADA284394C}">
      <dgm:prSet/>
      <dgm:spPr/>
      <dgm:t>
        <a:bodyPr/>
        <a:lstStyle/>
        <a:p>
          <a:pPr>
            <a:lnSpc>
              <a:spcPct val="100000"/>
            </a:lnSpc>
          </a:pPr>
          <a:r>
            <a:rPr lang="en-US"/>
            <a:t>It is used for tasks like clustering, dimensionality reduction and Association Rule Learning.</a:t>
          </a:r>
        </a:p>
      </dgm:t>
    </dgm:pt>
    <dgm:pt modelId="{C8A06A43-2788-4629-8DC8-9617FE53432A}" type="parTrans" cxnId="{CFEAF4E6-25DB-4B1A-A549-4E82771AABB7}">
      <dgm:prSet/>
      <dgm:spPr/>
      <dgm:t>
        <a:bodyPr/>
        <a:lstStyle/>
        <a:p>
          <a:endParaRPr lang="en-US"/>
        </a:p>
      </dgm:t>
    </dgm:pt>
    <dgm:pt modelId="{56E5BA0F-94EB-4AAE-A12F-55A5646C8784}" type="sibTrans" cxnId="{CFEAF4E6-25DB-4B1A-A549-4E82771AABB7}">
      <dgm:prSet/>
      <dgm:spPr/>
      <dgm:t>
        <a:bodyPr/>
        <a:lstStyle/>
        <a:p>
          <a:endParaRPr lang="en-US"/>
        </a:p>
      </dgm:t>
    </dgm:pt>
    <dgm:pt modelId="{5261979F-B847-4FF0-90FB-229A8FAD69E2}">
      <dgm:prSet/>
      <dgm:spPr/>
      <dgm:t>
        <a:bodyPr/>
        <a:lstStyle/>
        <a:p>
          <a:pPr>
            <a:lnSpc>
              <a:spcPct val="100000"/>
            </a:lnSpc>
          </a:pPr>
          <a:r>
            <a:rPr lang="en-US"/>
            <a:t>Helps identify hidden patterns in data</a:t>
          </a:r>
        </a:p>
      </dgm:t>
    </dgm:pt>
    <dgm:pt modelId="{97004D2C-425C-45B7-8CB5-F57B76641F7D}" type="parTrans" cxnId="{4E21C177-4346-4CC8-B811-69174B9371AE}">
      <dgm:prSet/>
      <dgm:spPr/>
      <dgm:t>
        <a:bodyPr/>
        <a:lstStyle/>
        <a:p>
          <a:endParaRPr lang="en-US"/>
        </a:p>
      </dgm:t>
    </dgm:pt>
    <dgm:pt modelId="{ADF00B60-4CBD-4A6D-B8AA-539455E27919}" type="sibTrans" cxnId="{4E21C177-4346-4CC8-B811-69174B9371AE}">
      <dgm:prSet/>
      <dgm:spPr/>
      <dgm:t>
        <a:bodyPr/>
        <a:lstStyle/>
        <a:p>
          <a:endParaRPr lang="en-US"/>
        </a:p>
      </dgm:t>
    </dgm:pt>
    <dgm:pt modelId="{A5631055-8F63-44FA-A61F-EEC1FBDC9516}">
      <dgm:prSet/>
      <dgm:spPr/>
      <dgm:t>
        <a:bodyPr/>
        <a:lstStyle/>
        <a:p>
          <a:pPr>
            <a:lnSpc>
              <a:spcPct val="100000"/>
            </a:lnSpc>
          </a:pPr>
          <a:r>
            <a:rPr lang="en-US"/>
            <a:t>Useful for grouping, compression and anomaly detection</a:t>
          </a:r>
        </a:p>
      </dgm:t>
    </dgm:pt>
    <dgm:pt modelId="{6077F44A-C47B-409A-BC97-138C511EF657}" type="parTrans" cxnId="{E807F3D2-6694-4E8D-A80B-095067CC5C3D}">
      <dgm:prSet/>
      <dgm:spPr/>
      <dgm:t>
        <a:bodyPr/>
        <a:lstStyle/>
        <a:p>
          <a:endParaRPr lang="en-US"/>
        </a:p>
      </dgm:t>
    </dgm:pt>
    <dgm:pt modelId="{EF82A4BF-FDFF-4295-80A8-0BFC46401672}" type="sibTrans" cxnId="{E807F3D2-6694-4E8D-A80B-095067CC5C3D}">
      <dgm:prSet/>
      <dgm:spPr/>
      <dgm:t>
        <a:bodyPr/>
        <a:lstStyle/>
        <a:p>
          <a:endParaRPr lang="en-US"/>
        </a:p>
      </dgm:t>
    </dgm:pt>
    <dgm:pt modelId="{CEF3F0CF-5B55-4A0E-BB76-37C60C40A7DA}" type="pres">
      <dgm:prSet presAssocID="{2B2DF67F-086D-4653-B72E-751A87D392E9}" presName="root" presStyleCnt="0">
        <dgm:presLayoutVars>
          <dgm:dir/>
          <dgm:resizeHandles val="exact"/>
        </dgm:presLayoutVars>
      </dgm:prSet>
      <dgm:spPr/>
    </dgm:pt>
    <dgm:pt modelId="{27CFD692-016D-4543-8186-062892FB4097}" type="pres">
      <dgm:prSet presAssocID="{0F1BED5B-E0E6-4249-9BC5-14ACA70D16A9}" presName="compNode" presStyleCnt="0"/>
      <dgm:spPr/>
    </dgm:pt>
    <dgm:pt modelId="{C2B6FF72-C245-4517-88B8-1A6E804604D4}" type="pres">
      <dgm:prSet presAssocID="{0F1BED5B-E0E6-4249-9BC5-14ACA70D16A9}" presName="bgRect" presStyleLbl="bgShp" presStyleIdx="0" presStyleCnt="4"/>
      <dgm:spPr/>
    </dgm:pt>
    <dgm:pt modelId="{59771091-D40F-4D7E-8A03-8F54E16A4C36}" type="pres">
      <dgm:prSet presAssocID="{0F1BED5B-E0E6-4249-9BC5-14ACA70D16A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C662F30A-FF80-4BF6-A98A-D88448F51C04}" type="pres">
      <dgm:prSet presAssocID="{0F1BED5B-E0E6-4249-9BC5-14ACA70D16A9}" presName="spaceRect" presStyleCnt="0"/>
      <dgm:spPr/>
    </dgm:pt>
    <dgm:pt modelId="{6945F1C7-E53A-40EB-A857-3AC03FA8AC5E}" type="pres">
      <dgm:prSet presAssocID="{0F1BED5B-E0E6-4249-9BC5-14ACA70D16A9}" presName="parTx" presStyleLbl="revTx" presStyleIdx="0" presStyleCnt="4">
        <dgm:presLayoutVars>
          <dgm:chMax val="0"/>
          <dgm:chPref val="0"/>
        </dgm:presLayoutVars>
      </dgm:prSet>
      <dgm:spPr/>
    </dgm:pt>
    <dgm:pt modelId="{5C396941-3D83-4B72-9A3D-53C66676AEE5}" type="pres">
      <dgm:prSet presAssocID="{4550946F-3F16-4205-B266-59D744CBEEAE}" presName="sibTrans" presStyleCnt="0"/>
      <dgm:spPr/>
    </dgm:pt>
    <dgm:pt modelId="{EBA34887-A1B8-48ED-A1AA-DC4DCC6896C7}" type="pres">
      <dgm:prSet presAssocID="{535F9200-3289-4B53-81DB-7AADA284394C}" presName="compNode" presStyleCnt="0"/>
      <dgm:spPr/>
    </dgm:pt>
    <dgm:pt modelId="{A032CE37-EC16-4DE4-ADC8-F1CBC459ABC1}" type="pres">
      <dgm:prSet presAssocID="{535F9200-3289-4B53-81DB-7AADA284394C}" presName="bgRect" presStyleLbl="bgShp" presStyleIdx="1" presStyleCnt="4"/>
      <dgm:spPr/>
    </dgm:pt>
    <dgm:pt modelId="{A8CB2594-17BF-46F4-A08D-A4CA9AD56F01}" type="pres">
      <dgm:prSet presAssocID="{535F9200-3289-4B53-81DB-7AADA284394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7EE5B46C-B9E2-4893-960C-7A39D9CB3AA8}" type="pres">
      <dgm:prSet presAssocID="{535F9200-3289-4B53-81DB-7AADA284394C}" presName="spaceRect" presStyleCnt="0"/>
      <dgm:spPr/>
    </dgm:pt>
    <dgm:pt modelId="{182E004C-C33A-4C56-A10C-CAB2265ED0FA}" type="pres">
      <dgm:prSet presAssocID="{535F9200-3289-4B53-81DB-7AADA284394C}" presName="parTx" presStyleLbl="revTx" presStyleIdx="1" presStyleCnt="4">
        <dgm:presLayoutVars>
          <dgm:chMax val="0"/>
          <dgm:chPref val="0"/>
        </dgm:presLayoutVars>
      </dgm:prSet>
      <dgm:spPr/>
    </dgm:pt>
    <dgm:pt modelId="{C8533586-858C-46A9-91D1-DD9B276D5977}" type="pres">
      <dgm:prSet presAssocID="{56E5BA0F-94EB-4AAE-A12F-55A5646C8784}" presName="sibTrans" presStyleCnt="0"/>
      <dgm:spPr/>
    </dgm:pt>
    <dgm:pt modelId="{085C6E5D-8559-47D9-8631-434BB51EAD1A}" type="pres">
      <dgm:prSet presAssocID="{5261979F-B847-4FF0-90FB-229A8FAD69E2}" presName="compNode" presStyleCnt="0"/>
      <dgm:spPr/>
    </dgm:pt>
    <dgm:pt modelId="{7FA474B0-08C6-4534-A9C1-920C1CFEC2F9}" type="pres">
      <dgm:prSet presAssocID="{5261979F-B847-4FF0-90FB-229A8FAD69E2}" presName="bgRect" presStyleLbl="bgShp" presStyleIdx="2" presStyleCnt="4"/>
      <dgm:spPr/>
    </dgm:pt>
    <dgm:pt modelId="{BF251E79-949A-42E7-A5FD-034DCF60450A}" type="pres">
      <dgm:prSet presAssocID="{5261979F-B847-4FF0-90FB-229A8FAD69E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gnifying glass"/>
        </a:ext>
      </dgm:extLst>
    </dgm:pt>
    <dgm:pt modelId="{DC8C18C3-6D15-42A6-BAAE-7AA06B2292AD}" type="pres">
      <dgm:prSet presAssocID="{5261979F-B847-4FF0-90FB-229A8FAD69E2}" presName="spaceRect" presStyleCnt="0"/>
      <dgm:spPr/>
    </dgm:pt>
    <dgm:pt modelId="{AD23378F-1119-438C-B5F1-5B6544E24183}" type="pres">
      <dgm:prSet presAssocID="{5261979F-B847-4FF0-90FB-229A8FAD69E2}" presName="parTx" presStyleLbl="revTx" presStyleIdx="2" presStyleCnt="4">
        <dgm:presLayoutVars>
          <dgm:chMax val="0"/>
          <dgm:chPref val="0"/>
        </dgm:presLayoutVars>
      </dgm:prSet>
      <dgm:spPr/>
    </dgm:pt>
    <dgm:pt modelId="{436FEA11-1983-4DC6-8A4A-011600E95DB7}" type="pres">
      <dgm:prSet presAssocID="{ADF00B60-4CBD-4A6D-B8AA-539455E27919}" presName="sibTrans" presStyleCnt="0"/>
      <dgm:spPr/>
    </dgm:pt>
    <dgm:pt modelId="{87142F2E-1998-4A6B-A12D-17BDFA39BA66}" type="pres">
      <dgm:prSet presAssocID="{A5631055-8F63-44FA-A61F-EEC1FBDC9516}" presName="compNode" presStyleCnt="0"/>
      <dgm:spPr/>
    </dgm:pt>
    <dgm:pt modelId="{B496E991-B682-4D59-9FCA-2CCCA39E6F9A}" type="pres">
      <dgm:prSet presAssocID="{A5631055-8F63-44FA-A61F-EEC1FBDC9516}" presName="bgRect" presStyleLbl="bgShp" presStyleIdx="3" presStyleCnt="4"/>
      <dgm:spPr/>
    </dgm:pt>
    <dgm:pt modelId="{1AB52CB0-8E33-4600-94C8-83B5E3375799}" type="pres">
      <dgm:prSet presAssocID="{A5631055-8F63-44FA-A61F-EEC1FBDC951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ears"/>
        </a:ext>
      </dgm:extLst>
    </dgm:pt>
    <dgm:pt modelId="{07DA5036-F6AD-47CC-99DF-1C615B834F8E}" type="pres">
      <dgm:prSet presAssocID="{A5631055-8F63-44FA-A61F-EEC1FBDC9516}" presName="spaceRect" presStyleCnt="0"/>
      <dgm:spPr/>
    </dgm:pt>
    <dgm:pt modelId="{305EE624-D63A-4CBA-AD8E-C795D9B3E08A}" type="pres">
      <dgm:prSet presAssocID="{A5631055-8F63-44FA-A61F-EEC1FBDC9516}" presName="parTx" presStyleLbl="revTx" presStyleIdx="3" presStyleCnt="4">
        <dgm:presLayoutVars>
          <dgm:chMax val="0"/>
          <dgm:chPref val="0"/>
        </dgm:presLayoutVars>
      </dgm:prSet>
      <dgm:spPr/>
    </dgm:pt>
  </dgm:ptLst>
  <dgm:cxnLst>
    <dgm:cxn modelId="{11273A19-A308-465F-941F-94197F5C1413}" srcId="{2B2DF67F-086D-4653-B72E-751A87D392E9}" destId="{0F1BED5B-E0E6-4249-9BC5-14ACA70D16A9}" srcOrd="0" destOrd="0" parTransId="{E9847272-7D0B-4053-B05A-8E2D0EA04913}" sibTransId="{4550946F-3F16-4205-B266-59D744CBEEAE}"/>
    <dgm:cxn modelId="{6A6BD664-CED5-4983-8206-AE7B36921C3A}" type="presOf" srcId="{A5631055-8F63-44FA-A61F-EEC1FBDC9516}" destId="{305EE624-D63A-4CBA-AD8E-C795D9B3E08A}" srcOrd="0" destOrd="0" presId="urn:microsoft.com/office/officeart/2018/2/layout/IconVerticalSolidList"/>
    <dgm:cxn modelId="{E2ACAE6C-5986-41A6-9C31-3DA8F0CA5FA6}" type="presOf" srcId="{5261979F-B847-4FF0-90FB-229A8FAD69E2}" destId="{AD23378F-1119-438C-B5F1-5B6544E24183}" srcOrd="0" destOrd="0" presId="urn:microsoft.com/office/officeart/2018/2/layout/IconVerticalSolidList"/>
    <dgm:cxn modelId="{62EE5E71-B849-48F5-B744-04F3DC437A95}" type="presOf" srcId="{2B2DF67F-086D-4653-B72E-751A87D392E9}" destId="{CEF3F0CF-5B55-4A0E-BB76-37C60C40A7DA}" srcOrd="0" destOrd="0" presId="urn:microsoft.com/office/officeart/2018/2/layout/IconVerticalSolidList"/>
    <dgm:cxn modelId="{4E21C177-4346-4CC8-B811-69174B9371AE}" srcId="{2B2DF67F-086D-4653-B72E-751A87D392E9}" destId="{5261979F-B847-4FF0-90FB-229A8FAD69E2}" srcOrd="2" destOrd="0" parTransId="{97004D2C-425C-45B7-8CB5-F57B76641F7D}" sibTransId="{ADF00B60-4CBD-4A6D-B8AA-539455E27919}"/>
    <dgm:cxn modelId="{E807F3D2-6694-4E8D-A80B-095067CC5C3D}" srcId="{2B2DF67F-086D-4653-B72E-751A87D392E9}" destId="{A5631055-8F63-44FA-A61F-EEC1FBDC9516}" srcOrd="3" destOrd="0" parTransId="{6077F44A-C47B-409A-BC97-138C511EF657}" sibTransId="{EF82A4BF-FDFF-4295-80A8-0BFC46401672}"/>
    <dgm:cxn modelId="{BE8130DF-07BD-49DB-8A7F-D859067EB530}" type="presOf" srcId="{0F1BED5B-E0E6-4249-9BC5-14ACA70D16A9}" destId="{6945F1C7-E53A-40EB-A857-3AC03FA8AC5E}" srcOrd="0" destOrd="0" presId="urn:microsoft.com/office/officeart/2018/2/layout/IconVerticalSolidList"/>
    <dgm:cxn modelId="{CFEAF4E6-25DB-4B1A-A549-4E82771AABB7}" srcId="{2B2DF67F-086D-4653-B72E-751A87D392E9}" destId="{535F9200-3289-4B53-81DB-7AADA284394C}" srcOrd="1" destOrd="0" parTransId="{C8A06A43-2788-4629-8DC8-9617FE53432A}" sibTransId="{56E5BA0F-94EB-4AAE-A12F-55A5646C8784}"/>
    <dgm:cxn modelId="{EB48C6F4-E26D-44D0-9FF4-4485AE1ED60D}" type="presOf" srcId="{535F9200-3289-4B53-81DB-7AADA284394C}" destId="{182E004C-C33A-4C56-A10C-CAB2265ED0FA}" srcOrd="0" destOrd="0" presId="urn:microsoft.com/office/officeart/2018/2/layout/IconVerticalSolidList"/>
    <dgm:cxn modelId="{313748AB-0A78-4FCA-8B3E-FE24A80B51D7}" type="presParOf" srcId="{CEF3F0CF-5B55-4A0E-BB76-37C60C40A7DA}" destId="{27CFD692-016D-4543-8186-062892FB4097}" srcOrd="0" destOrd="0" presId="urn:microsoft.com/office/officeart/2018/2/layout/IconVerticalSolidList"/>
    <dgm:cxn modelId="{57F0EA3C-5FC7-4648-8CC8-A27F5177AA12}" type="presParOf" srcId="{27CFD692-016D-4543-8186-062892FB4097}" destId="{C2B6FF72-C245-4517-88B8-1A6E804604D4}" srcOrd="0" destOrd="0" presId="urn:microsoft.com/office/officeart/2018/2/layout/IconVerticalSolidList"/>
    <dgm:cxn modelId="{BD3E5950-A46F-4178-90F1-76F7C2ED1300}" type="presParOf" srcId="{27CFD692-016D-4543-8186-062892FB4097}" destId="{59771091-D40F-4D7E-8A03-8F54E16A4C36}" srcOrd="1" destOrd="0" presId="urn:microsoft.com/office/officeart/2018/2/layout/IconVerticalSolidList"/>
    <dgm:cxn modelId="{4157A97D-E820-41A4-A803-A5A057F802CF}" type="presParOf" srcId="{27CFD692-016D-4543-8186-062892FB4097}" destId="{C662F30A-FF80-4BF6-A98A-D88448F51C04}" srcOrd="2" destOrd="0" presId="urn:microsoft.com/office/officeart/2018/2/layout/IconVerticalSolidList"/>
    <dgm:cxn modelId="{B6CA0E6E-E9F6-442C-9DC8-72B63781CF87}" type="presParOf" srcId="{27CFD692-016D-4543-8186-062892FB4097}" destId="{6945F1C7-E53A-40EB-A857-3AC03FA8AC5E}" srcOrd="3" destOrd="0" presId="urn:microsoft.com/office/officeart/2018/2/layout/IconVerticalSolidList"/>
    <dgm:cxn modelId="{DD801171-A1E4-4B13-94E7-7490FB6EEB9C}" type="presParOf" srcId="{CEF3F0CF-5B55-4A0E-BB76-37C60C40A7DA}" destId="{5C396941-3D83-4B72-9A3D-53C66676AEE5}" srcOrd="1" destOrd="0" presId="urn:microsoft.com/office/officeart/2018/2/layout/IconVerticalSolidList"/>
    <dgm:cxn modelId="{2D28266B-B8AA-468B-B14F-638D5A359503}" type="presParOf" srcId="{CEF3F0CF-5B55-4A0E-BB76-37C60C40A7DA}" destId="{EBA34887-A1B8-48ED-A1AA-DC4DCC6896C7}" srcOrd="2" destOrd="0" presId="urn:microsoft.com/office/officeart/2018/2/layout/IconVerticalSolidList"/>
    <dgm:cxn modelId="{487900E9-F3B9-4769-9772-5F870030BED8}" type="presParOf" srcId="{EBA34887-A1B8-48ED-A1AA-DC4DCC6896C7}" destId="{A032CE37-EC16-4DE4-ADC8-F1CBC459ABC1}" srcOrd="0" destOrd="0" presId="urn:microsoft.com/office/officeart/2018/2/layout/IconVerticalSolidList"/>
    <dgm:cxn modelId="{AE2E15D7-3FE3-4B9F-B91B-7C02C56812F8}" type="presParOf" srcId="{EBA34887-A1B8-48ED-A1AA-DC4DCC6896C7}" destId="{A8CB2594-17BF-46F4-A08D-A4CA9AD56F01}" srcOrd="1" destOrd="0" presId="urn:microsoft.com/office/officeart/2018/2/layout/IconVerticalSolidList"/>
    <dgm:cxn modelId="{8C57AB69-CD71-4E65-948E-259936B4EDDA}" type="presParOf" srcId="{EBA34887-A1B8-48ED-A1AA-DC4DCC6896C7}" destId="{7EE5B46C-B9E2-4893-960C-7A39D9CB3AA8}" srcOrd="2" destOrd="0" presId="urn:microsoft.com/office/officeart/2018/2/layout/IconVerticalSolidList"/>
    <dgm:cxn modelId="{71119534-A122-430C-B81F-32EB6FCDCDC7}" type="presParOf" srcId="{EBA34887-A1B8-48ED-A1AA-DC4DCC6896C7}" destId="{182E004C-C33A-4C56-A10C-CAB2265ED0FA}" srcOrd="3" destOrd="0" presId="urn:microsoft.com/office/officeart/2018/2/layout/IconVerticalSolidList"/>
    <dgm:cxn modelId="{ECE6C474-C723-48D8-8E85-3DD5E4216A47}" type="presParOf" srcId="{CEF3F0CF-5B55-4A0E-BB76-37C60C40A7DA}" destId="{C8533586-858C-46A9-91D1-DD9B276D5977}" srcOrd="3" destOrd="0" presId="urn:microsoft.com/office/officeart/2018/2/layout/IconVerticalSolidList"/>
    <dgm:cxn modelId="{F2D072CE-B94D-4A90-AA40-713DAD0E74B6}" type="presParOf" srcId="{CEF3F0CF-5B55-4A0E-BB76-37C60C40A7DA}" destId="{085C6E5D-8559-47D9-8631-434BB51EAD1A}" srcOrd="4" destOrd="0" presId="urn:microsoft.com/office/officeart/2018/2/layout/IconVerticalSolidList"/>
    <dgm:cxn modelId="{6322B969-72ED-4C90-BD73-50DFB1194BE8}" type="presParOf" srcId="{085C6E5D-8559-47D9-8631-434BB51EAD1A}" destId="{7FA474B0-08C6-4534-A9C1-920C1CFEC2F9}" srcOrd="0" destOrd="0" presId="urn:microsoft.com/office/officeart/2018/2/layout/IconVerticalSolidList"/>
    <dgm:cxn modelId="{26ECC69E-46A5-4B1C-843D-91F9207B6A9C}" type="presParOf" srcId="{085C6E5D-8559-47D9-8631-434BB51EAD1A}" destId="{BF251E79-949A-42E7-A5FD-034DCF60450A}" srcOrd="1" destOrd="0" presId="urn:microsoft.com/office/officeart/2018/2/layout/IconVerticalSolidList"/>
    <dgm:cxn modelId="{DB5B2F01-C7CA-483B-99FD-BE35E12769AB}" type="presParOf" srcId="{085C6E5D-8559-47D9-8631-434BB51EAD1A}" destId="{DC8C18C3-6D15-42A6-BAAE-7AA06B2292AD}" srcOrd="2" destOrd="0" presId="urn:microsoft.com/office/officeart/2018/2/layout/IconVerticalSolidList"/>
    <dgm:cxn modelId="{1CFE1DDC-4C84-4E47-B720-B966190EE8C0}" type="presParOf" srcId="{085C6E5D-8559-47D9-8631-434BB51EAD1A}" destId="{AD23378F-1119-438C-B5F1-5B6544E24183}" srcOrd="3" destOrd="0" presId="urn:microsoft.com/office/officeart/2018/2/layout/IconVerticalSolidList"/>
    <dgm:cxn modelId="{F4050AFD-5AA2-4205-AC37-B0A9E33E8C5D}" type="presParOf" srcId="{CEF3F0CF-5B55-4A0E-BB76-37C60C40A7DA}" destId="{436FEA11-1983-4DC6-8A4A-011600E95DB7}" srcOrd="5" destOrd="0" presId="urn:microsoft.com/office/officeart/2018/2/layout/IconVerticalSolidList"/>
    <dgm:cxn modelId="{DC01711C-81BC-49EB-BA99-AB5F5CB47426}" type="presParOf" srcId="{CEF3F0CF-5B55-4A0E-BB76-37C60C40A7DA}" destId="{87142F2E-1998-4A6B-A12D-17BDFA39BA66}" srcOrd="6" destOrd="0" presId="urn:microsoft.com/office/officeart/2018/2/layout/IconVerticalSolidList"/>
    <dgm:cxn modelId="{13384171-F25F-4F3C-B55F-76A0125464FA}" type="presParOf" srcId="{87142F2E-1998-4A6B-A12D-17BDFA39BA66}" destId="{B496E991-B682-4D59-9FCA-2CCCA39E6F9A}" srcOrd="0" destOrd="0" presId="urn:microsoft.com/office/officeart/2018/2/layout/IconVerticalSolidList"/>
    <dgm:cxn modelId="{B34B2D32-F407-4B81-9C46-01394763C01D}" type="presParOf" srcId="{87142F2E-1998-4A6B-A12D-17BDFA39BA66}" destId="{1AB52CB0-8E33-4600-94C8-83B5E3375799}" srcOrd="1" destOrd="0" presId="urn:microsoft.com/office/officeart/2018/2/layout/IconVerticalSolidList"/>
    <dgm:cxn modelId="{FAB56CEA-DA9E-47AA-871E-8EDFC08F5B08}" type="presParOf" srcId="{87142F2E-1998-4A6B-A12D-17BDFA39BA66}" destId="{07DA5036-F6AD-47CC-99DF-1C615B834F8E}" srcOrd="2" destOrd="0" presId="urn:microsoft.com/office/officeart/2018/2/layout/IconVerticalSolidList"/>
    <dgm:cxn modelId="{AC97C535-D295-4254-854F-CDCD79ADC571}" type="presParOf" srcId="{87142F2E-1998-4A6B-A12D-17BDFA39BA66}" destId="{305EE624-D63A-4CBA-AD8E-C795D9B3E08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B6FF72-C245-4517-88B8-1A6E804604D4}">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771091-D40F-4D7E-8A03-8F54E16A4C36}">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45F1C7-E53A-40EB-A857-3AC03FA8AC5E}">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a:t>Unsupervised Learning is a type of machine learning where the model works without labelled data. It learns patterns on its own by grouping similar data points or finding hidden structures without any human intervention.</a:t>
          </a:r>
        </a:p>
      </dsp:txBody>
      <dsp:txXfrm>
        <a:off x="1057183" y="1805"/>
        <a:ext cx="9458416" cy="915310"/>
      </dsp:txXfrm>
    </dsp:sp>
    <dsp:sp modelId="{A032CE37-EC16-4DE4-ADC8-F1CBC459ABC1}">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CB2594-17BF-46F4-A08D-A4CA9AD56F01}">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2E004C-C33A-4C56-A10C-CAB2265ED0FA}">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a:t>It is used for tasks like clustering, dimensionality reduction and Association Rule Learning.</a:t>
          </a:r>
        </a:p>
      </dsp:txBody>
      <dsp:txXfrm>
        <a:off x="1057183" y="1145944"/>
        <a:ext cx="9458416" cy="915310"/>
      </dsp:txXfrm>
    </dsp:sp>
    <dsp:sp modelId="{7FA474B0-08C6-4534-A9C1-920C1CFEC2F9}">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251E79-949A-42E7-A5FD-034DCF60450A}">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23378F-1119-438C-B5F1-5B6544E24183}">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a:t>Helps identify hidden patterns in data</a:t>
          </a:r>
        </a:p>
      </dsp:txBody>
      <dsp:txXfrm>
        <a:off x="1057183" y="2290082"/>
        <a:ext cx="9458416" cy="915310"/>
      </dsp:txXfrm>
    </dsp:sp>
    <dsp:sp modelId="{B496E991-B682-4D59-9FCA-2CCCA39E6F9A}">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B52CB0-8E33-4600-94C8-83B5E3375799}">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5EE624-D63A-4CBA-AD8E-C795D9B3E08A}">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666750">
            <a:lnSpc>
              <a:spcPct val="100000"/>
            </a:lnSpc>
            <a:spcBef>
              <a:spcPct val="0"/>
            </a:spcBef>
            <a:spcAft>
              <a:spcPct val="35000"/>
            </a:spcAft>
            <a:buNone/>
          </a:pPr>
          <a:r>
            <a:rPr lang="en-US" sz="1500" kern="1200"/>
            <a:t>Useful for grouping, compression and anomaly detection</a:t>
          </a:r>
        </a:p>
      </dsp:txBody>
      <dsp:txXfrm>
        <a:off x="1057183" y="3434221"/>
        <a:ext cx="9458416" cy="9153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21B84D-EF00-40BD-9492-B4E3910A5E61}" type="datetimeFigureOut">
              <a:rPr lang="en-US" smtClean="0"/>
              <a:t>12/21/2025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94F558-22AC-4775-8EB3-0F0C71369A2A}" type="slidenum">
              <a:rPr lang="en-US" smtClean="0"/>
              <a:t>‹#›</a:t>
            </a:fld>
            <a:endParaRPr lang="en-US"/>
          </a:p>
        </p:txBody>
      </p:sp>
    </p:spTree>
    <p:extLst>
      <p:ext uri="{BB962C8B-B14F-4D97-AF65-F5344CB8AC3E}">
        <p14:creationId xmlns:p14="http://schemas.microsoft.com/office/powerpoint/2010/main" val="338949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4A30F-446B-C620-46D0-1E9E1B872E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4C1DD0-0DE1-7943-8415-C007739B6F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702090-572D-2293-B7D0-47C4B67DA943}"/>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5" name="Footer Placeholder 4">
            <a:extLst>
              <a:ext uri="{FF2B5EF4-FFF2-40B4-BE49-F238E27FC236}">
                <a16:creationId xmlns:a16="http://schemas.microsoft.com/office/drawing/2014/main" id="{68167C73-9F51-9719-7FE2-191B7923E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54A9CE-77FB-9A11-22C9-F48881919C9E}"/>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35018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A98CC-CB56-0E96-622A-A50BAB9A85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324459-5B54-F2AF-2B09-ABDB834574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E18490-9149-F21B-FC42-11F8C9BD539F}"/>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5" name="Footer Placeholder 4">
            <a:extLst>
              <a:ext uri="{FF2B5EF4-FFF2-40B4-BE49-F238E27FC236}">
                <a16:creationId xmlns:a16="http://schemas.microsoft.com/office/drawing/2014/main" id="{27EA849F-2379-ECCC-7175-7C968FEF0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D2F45-E1A9-7ABD-4495-54BCDD7F62F7}"/>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3639899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AD2A9-4887-C3B0-BBF7-2920C33554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3F75F2-7B82-3705-6FE6-DE9A5819CF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0BE780-7ECD-3109-8E33-59D80C7FEC50}"/>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5" name="Footer Placeholder 4">
            <a:extLst>
              <a:ext uri="{FF2B5EF4-FFF2-40B4-BE49-F238E27FC236}">
                <a16:creationId xmlns:a16="http://schemas.microsoft.com/office/drawing/2014/main" id="{EC7DEBA0-961D-8EFD-3766-93CD1CCEC2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9128B-6EAA-F78B-F854-F2BDE690B16B}"/>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3319111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54832-7CB8-0C14-177D-4E213BF9FF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9389B-CDA3-C547-C6BC-61BE8A93E3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742821-A3C6-90BA-8A3D-537DA4A915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EAF1D1-24DB-111B-5AF9-638B04A74579}"/>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6" name="Footer Placeholder 5">
            <a:extLst>
              <a:ext uri="{FF2B5EF4-FFF2-40B4-BE49-F238E27FC236}">
                <a16:creationId xmlns:a16="http://schemas.microsoft.com/office/drawing/2014/main" id="{A6C8FEC6-4913-ED42-6A88-98C05A04E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04CDB-982A-0074-559D-58DA8E572632}"/>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127936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98356-E3A1-0202-B2F3-4A220CDED2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E9F382-1EA0-535B-726F-D39C86BB08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7E3AAD-9F3D-AF22-19CB-001B72AFFC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CB9D52-6ED8-E996-E59C-0BD88D2DB8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1CFBA3-13F4-34C7-71FB-9512A9A3B7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0C1D42-70E8-D1DD-7BD9-C9B10746ED59}"/>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8" name="Footer Placeholder 7">
            <a:extLst>
              <a:ext uri="{FF2B5EF4-FFF2-40B4-BE49-F238E27FC236}">
                <a16:creationId xmlns:a16="http://schemas.microsoft.com/office/drawing/2014/main" id="{31566623-C348-EB1E-3679-71635C8CD7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9D00F3-37E9-DF92-16D8-5B5BD19DC697}"/>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522980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D4A09-533F-1003-3439-B957A7C2D9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1CF882-3643-5110-28A9-69AA00CF57AB}"/>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4" name="Footer Placeholder 3">
            <a:extLst>
              <a:ext uri="{FF2B5EF4-FFF2-40B4-BE49-F238E27FC236}">
                <a16:creationId xmlns:a16="http://schemas.microsoft.com/office/drawing/2014/main" id="{5E2737A1-2424-0625-B650-B81E293240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C95305-B10C-5340-5F79-C2A6614F3CF9}"/>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1973354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56143B-126D-57CA-E612-801370D0349C}"/>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3" name="Footer Placeholder 2">
            <a:extLst>
              <a:ext uri="{FF2B5EF4-FFF2-40B4-BE49-F238E27FC236}">
                <a16:creationId xmlns:a16="http://schemas.microsoft.com/office/drawing/2014/main" id="{F3D27BF3-2EA3-ACBE-D8C4-E86433E42A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494A2E-B3B2-A94D-3C11-106BD5FE08A2}"/>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2694780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E842F-FE10-876D-E8DF-CD61D9F278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A6175B-7354-E6E0-7FD7-D269AE29AC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775545-CB5A-4C73-3916-77C4CF8EAE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2FB599-496A-A7B3-3FCA-B968BAEB27B7}"/>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6" name="Footer Placeholder 5">
            <a:extLst>
              <a:ext uri="{FF2B5EF4-FFF2-40B4-BE49-F238E27FC236}">
                <a16:creationId xmlns:a16="http://schemas.microsoft.com/office/drawing/2014/main" id="{F27FF444-F80A-982F-46C3-2574C519AF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E70175-C923-88B7-2231-C5C2F159766A}"/>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4152702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D0C7-2492-E454-A590-D77DD9456F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B3EFA0-EEC6-DE3D-990F-90F77AAB83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7FCE1A-1473-89FD-670B-6C48409B00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A8861-FACC-1B1D-6989-E2F4A8441360}"/>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6" name="Footer Placeholder 5">
            <a:extLst>
              <a:ext uri="{FF2B5EF4-FFF2-40B4-BE49-F238E27FC236}">
                <a16:creationId xmlns:a16="http://schemas.microsoft.com/office/drawing/2014/main" id="{4B84FB95-D1CC-AF3B-5797-A2476DAFDF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CAB999-234C-D143-5409-12E167F80D1A}"/>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230011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C7EC-BE00-2909-0CCB-D6F803F145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6AD0DE-CD1C-57A2-EB5A-FA76E03020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E48D5-7C0F-5627-C3D6-62F9453FFC3E}"/>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5" name="Footer Placeholder 4">
            <a:extLst>
              <a:ext uri="{FF2B5EF4-FFF2-40B4-BE49-F238E27FC236}">
                <a16:creationId xmlns:a16="http://schemas.microsoft.com/office/drawing/2014/main" id="{4D8B8F76-56F0-09C2-8E69-1E3E925CB0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99F0E-E69B-5F12-68D6-64B1573D1274}"/>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1435453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50C0E0-4720-9F4C-0B87-14F7210F74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CEFB07-4BEF-4348-ADA3-0207B41464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C10465-8AB7-31E4-FFF6-642977D68A22}"/>
              </a:ext>
            </a:extLst>
          </p:cNvPr>
          <p:cNvSpPr>
            <a:spLocks noGrp="1"/>
          </p:cNvSpPr>
          <p:nvPr>
            <p:ph type="dt" sz="half" idx="10"/>
          </p:nvPr>
        </p:nvSpPr>
        <p:spPr/>
        <p:txBody>
          <a:bodyPr/>
          <a:lstStyle/>
          <a:p>
            <a:fld id="{A8294CBF-409F-42DE-8F68-64B55C98EF72}" type="datetimeFigureOut">
              <a:rPr lang="en-US" smtClean="0"/>
              <a:t>12/21/2025</a:t>
            </a:fld>
            <a:endParaRPr lang="en-US"/>
          </a:p>
        </p:txBody>
      </p:sp>
      <p:sp>
        <p:nvSpPr>
          <p:cNvPr id="5" name="Footer Placeholder 4">
            <a:extLst>
              <a:ext uri="{FF2B5EF4-FFF2-40B4-BE49-F238E27FC236}">
                <a16:creationId xmlns:a16="http://schemas.microsoft.com/office/drawing/2014/main" id="{F8B5E3A9-177F-2E78-9B35-2BE860D8EF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01A4C-E638-7219-3A78-B0BF2D7B9C82}"/>
              </a:ext>
            </a:extLst>
          </p:cNvPr>
          <p:cNvSpPr>
            <a:spLocks noGrp="1"/>
          </p:cNvSpPr>
          <p:nvPr>
            <p:ph type="sldNum" sz="quarter" idx="12"/>
          </p:nvPr>
        </p:nvSpPr>
        <p:spPr/>
        <p:txBody>
          <a:bodyPr/>
          <a:lstStyle/>
          <a:p>
            <a:fld id="{18DE91B9-4551-4DFB-9107-D6767DB098BE}" type="slidenum">
              <a:rPr lang="en-US" smtClean="0"/>
              <a:t>‹#›</a:t>
            </a:fld>
            <a:endParaRPr lang="en-US"/>
          </a:p>
        </p:txBody>
      </p:sp>
    </p:spTree>
    <p:extLst>
      <p:ext uri="{BB962C8B-B14F-4D97-AF65-F5344CB8AC3E}">
        <p14:creationId xmlns:p14="http://schemas.microsoft.com/office/powerpoint/2010/main" val="321108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67D0BF-D842-23F8-29DE-154757A2D2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638929-DFDA-4493-D727-41A37428E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90A615-F29C-2616-267D-8AAA4F0209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294CBF-409F-42DE-8F68-64B55C98EF72}" type="datetimeFigureOut">
              <a:rPr lang="en-US" smtClean="0"/>
              <a:t>12/21/2025</a:t>
            </a:fld>
            <a:endParaRPr lang="en-US"/>
          </a:p>
        </p:txBody>
      </p:sp>
      <p:sp>
        <p:nvSpPr>
          <p:cNvPr id="5" name="Footer Placeholder 4">
            <a:extLst>
              <a:ext uri="{FF2B5EF4-FFF2-40B4-BE49-F238E27FC236}">
                <a16:creationId xmlns:a16="http://schemas.microsoft.com/office/drawing/2014/main" id="{D1A8CB55-9CA9-9980-E061-DD11BB612D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E8B42E-A844-4C67-57BE-7417324A7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DE91B9-4551-4DFB-9107-D6767DB098BE}" type="slidenum">
              <a:rPr lang="en-US" smtClean="0"/>
              <a:t>‹#›</a:t>
            </a:fld>
            <a:endParaRPr lang="en-US"/>
          </a:p>
        </p:txBody>
      </p:sp>
    </p:spTree>
    <p:extLst>
      <p:ext uri="{BB962C8B-B14F-4D97-AF65-F5344CB8AC3E}">
        <p14:creationId xmlns:p14="http://schemas.microsoft.com/office/powerpoint/2010/main" val="3951196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www.geeksforgeeks.org/dsa/introduction-to-tree-data-structure/" TargetMode="External"/><Relationship Id="rId3" Type="http://schemas.openxmlformats.org/officeDocument/2006/relationships/hyperlink" Target="https://www.geeksforgeeks.org/machine-learning/hierarchical-clustering/" TargetMode="External"/><Relationship Id="rId7" Type="http://schemas.openxmlformats.org/officeDocument/2006/relationships/hyperlink" Target="https://www.geeksforgeeks.org/machine-learning/ml-eclat-algorithm/" TargetMode="External"/><Relationship Id="rId2" Type="http://schemas.openxmlformats.org/officeDocument/2006/relationships/hyperlink" Target="https://www.geeksforgeeks.org/machine-learning/k-means-clustering-introduction/" TargetMode="External"/><Relationship Id="rId1" Type="http://schemas.openxmlformats.org/officeDocument/2006/relationships/slideLayout" Target="../slideLayouts/slideLayout2.xml"/><Relationship Id="rId6" Type="http://schemas.openxmlformats.org/officeDocument/2006/relationships/hyperlink" Target="https://www.geeksforgeeks.org/machine-learning/frequent-pattern-growth-algorithm/" TargetMode="External"/><Relationship Id="rId5" Type="http://schemas.openxmlformats.org/officeDocument/2006/relationships/hyperlink" Target="https://www.geeksforgeeks.org/machine-learning/apriori-algorithm/" TargetMode="External"/><Relationship Id="rId10" Type="http://schemas.openxmlformats.org/officeDocument/2006/relationships/hyperlink" Target="https://www.geeksforgeeks.org/machine-learning/ml-linear-discriminant-analysis/" TargetMode="External"/><Relationship Id="rId4" Type="http://schemas.openxmlformats.org/officeDocument/2006/relationships/hyperlink" Target="https://www.geeksforgeeks.org/machine-learning/dbscan-clustering-in-ml-density-based-clustering/" TargetMode="External"/><Relationship Id="rId9" Type="http://schemas.openxmlformats.org/officeDocument/2006/relationships/hyperlink" Target="https://www.geeksforgeeks.org/data-analysis/principal-component-analysis-pca/"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geeksforgeeks.org/maths/euclidean-distanc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geeksforgeeks.org/machine-learning/k-means-clustering-introduction/"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hyperlink" Target="https://scikit-learn.org/stable/auto_examples/text/plot_document_classification_20newsgroups.html"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F6F0CF4-74B3-4F08-70BE-B9963800113A}"/>
              </a:ext>
            </a:extLst>
          </p:cNvPr>
          <p:cNvSpPr>
            <a:spLocks noGrp="1"/>
          </p:cNvSpPr>
          <p:nvPr>
            <p:ph type="ctrTitle"/>
          </p:nvPr>
        </p:nvSpPr>
        <p:spPr>
          <a:xfrm>
            <a:off x="1314824" y="735106"/>
            <a:ext cx="10053763" cy="2928470"/>
          </a:xfrm>
        </p:spPr>
        <p:txBody>
          <a:bodyPr anchor="b">
            <a:normAutofit/>
          </a:bodyPr>
          <a:lstStyle/>
          <a:p>
            <a:pPr algn="l"/>
            <a:r>
              <a:rPr lang="en-US" sz="4800">
                <a:solidFill>
                  <a:srgbClr val="FFFFFF"/>
                </a:solidFill>
              </a:rPr>
              <a:t>Module – 3 </a:t>
            </a:r>
            <a:br>
              <a:rPr lang="en-US" sz="4800">
                <a:solidFill>
                  <a:srgbClr val="FFFFFF"/>
                </a:solidFill>
              </a:rPr>
            </a:br>
            <a:r>
              <a:rPr lang="en-US" sz="4800">
                <a:solidFill>
                  <a:srgbClr val="FFFFFF"/>
                </a:solidFill>
              </a:rPr>
              <a:t>ML Concepts, Algorithms &amp; Model Evaluation</a:t>
            </a:r>
          </a:p>
        </p:txBody>
      </p:sp>
      <p:sp>
        <p:nvSpPr>
          <p:cNvPr id="3" name="Subtitle 2">
            <a:extLst>
              <a:ext uri="{FF2B5EF4-FFF2-40B4-BE49-F238E27FC236}">
                <a16:creationId xmlns:a16="http://schemas.microsoft.com/office/drawing/2014/main" id="{2798619A-AE12-E349-4F6A-54072F5755D9}"/>
              </a:ext>
            </a:extLst>
          </p:cNvPr>
          <p:cNvSpPr>
            <a:spLocks noGrp="1"/>
          </p:cNvSpPr>
          <p:nvPr>
            <p:ph type="subTitle" idx="1"/>
          </p:nvPr>
        </p:nvSpPr>
        <p:spPr>
          <a:xfrm>
            <a:off x="1350682" y="4870824"/>
            <a:ext cx="10005951" cy="1458258"/>
          </a:xfrm>
        </p:spPr>
        <p:txBody>
          <a:bodyPr anchor="ctr">
            <a:normAutofit/>
          </a:bodyPr>
          <a:lstStyle/>
          <a:p>
            <a:pPr algn="l"/>
            <a:r>
              <a:rPr lang="en-US" dirty="0"/>
              <a:t>Dr. Rakhee Chhibber</a:t>
            </a:r>
          </a:p>
        </p:txBody>
      </p:sp>
    </p:spTree>
    <p:extLst>
      <p:ext uri="{BB962C8B-B14F-4D97-AF65-F5344CB8AC3E}">
        <p14:creationId xmlns:p14="http://schemas.microsoft.com/office/powerpoint/2010/main" val="2170415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483A1282-D128-43B2-C684-9E2234C31686}"/>
              </a:ext>
            </a:extLst>
          </p:cNvPr>
          <p:cNvGrpSpPr/>
          <p:nvPr/>
        </p:nvGrpSpPr>
        <p:grpSpPr>
          <a:xfrm>
            <a:off x="4533112" y="0"/>
            <a:ext cx="5822468" cy="6857572"/>
            <a:chOff x="3293364" y="1059258"/>
            <a:chExt cx="5462016" cy="5798314"/>
          </a:xfrm>
        </p:grpSpPr>
        <p:pic>
          <p:nvPicPr>
            <p:cNvPr id="5" name="Picture 4" descr="A diagram of a tree with many icons&#10;&#10;AI-generated content may be incorrect.">
              <a:extLst>
                <a:ext uri="{FF2B5EF4-FFF2-40B4-BE49-F238E27FC236}">
                  <a16:creationId xmlns:a16="http://schemas.microsoft.com/office/drawing/2014/main" id="{923304AC-E26B-0321-664E-B1DC0B6F3248}"/>
                </a:ext>
              </a:extLst>
            </p:cNvPr>
            <p:cNvPicPr>
              <a:picLocks noChangeAspect="1"/>
            </p:cNvPicPr>
            <p:nvPr/>
          </p:nvPicPr>
          <p:blipFill>
            <a:blip r:embed="rId2">
              <a:extLst>
                <a:ext uri="{28A0092B-C50C-407E-A947-70E740481C1C}">
                  <a14:useLocalDpi xmlns:a14="http://schemas.microsoft.com/office/drawing/2010/main" val="0"/>
                </a:ext>
              </a:extLst>
            </a:blip>
            <a:srcRect t="14014"/>
            <a:stretch>
              <a:fillRect/>
            </a:stretch>
          </p:blipFill>
          <p:spPr>
            <a:xfrm>
              <a:off x="3293364" y="1059258"/>
              <a:ext cx="5462016" cy="5798314"/>
            </a:xfrm>
            <a:prstGeom prst="rect">
              <a:avLst/>
            </a:prstGeom>
          </p:spPr>
        </p:pic>
        <p:sp>
          <p:nvSpPr>
            <p:cNvPr id="6" name="Rectangle 5">
              <a:extLst>
                <a:ext uri="{FF2B5EF4-FFF2-40B4-BE49-F238E27FC236}">
                  <a16:creationId xmlns:a16="http://schemas.microsoft.com/office/drawing/2014/main" id="{AFCE22DA-D093-1BEC-84F4-B59D22E47234}"/>
                </a:ext>
              </a:extLst>
            </p:cNvPr>
            <p:cNvSpPr/>
            <p:nvPr/>
          </p:nvSpPr>
          <p:spPr>
            <a:xfrm>
              <a:off x="6720840" y="1154430"/>
              <a:ext cx="1748790" cy="54864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13" name="TextBox 12">
            <a:extLst>
              <a:ext uri="{FF2B5EF4-FFF2-40B4-BE49-F238E27FC236}">
                <a16:creationId xmlns:a16="http://schemas.microsoft.com/office/drawing/2014/main" id="{27EB21C3-39E3-2A0B-3B00-C50A370988A3}"/>
              </a:ext>
            </a:extLst>
          </p:cNvPr>
          <p:cNvSpPr txBox="1"/>
          <p:nvPr/>
        </p:nvSpPr>
        <p:spPr>
          <a:xfrm>
            <a:off x="169899" y="1428750"/>
            <a:ext cx="2980208" cy="3477875"/>
          </a:xfrm>
          <a:prstGeom prst="rect">
            <a:avLst/>
          </a:prstGeom>
          <a:noFill/>
        </p:spPr>
        <p:txBody>
          <a:bodyPr wrap="square" rtlCol="0">
            <a:spAutoFit/>
          </a:bodyPr>
          <a:lstStyle/>
          <a:p>
            <a:r>
              <a:rPr lang="en-US" sz="4400" b="1" dirty="0">
                <a:solidFill>
                  <a:schemeClr val="bg1"/>
                </a:solidFill>
              </a:rPr>
              <a:t>The Skill Tree You need to grow in Gen - AI</a:t>
            </a:r>
          </a:p>
        </p:txBody>
      </p:sp>
    </p:spTree>
    <p:extLst>
      <p:ext uri="{BB962C8B-B14F-4D97-AF65-F5344CB8AC3E}">
        <p14:creationId xmlns:p14="http://schemas.microsoft.com/office/powerpoint/2010/main" val="1714892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0C17-BCD2-6112-12ED-A5BA6A57EEF6}"/>
              </a:ext>
            </a:extLst>
          </p:cNvPr>
          <p:cNvSpPr>
            <a:spLocks noGrp="1"/>
          </p:cNvSpPr>
          <p:nvPr>
            <p:ph type="title"/>
          </p:nvPr>
        </p:nvSpPr>
        <p:spPr>
          <a:xfrm>
            <a:off x="640079" y="109728"/>
            <a:ext cx="10890929" cy="1097280"/>
          </a:xfrm>
        </p:spPr>
        <p:txBody>
          <a:bodyPr>
            <a:normAutofit fontScale="90000"/>
          </a:bodyPr>
          <a:lstStyle/>
          <a:p>
            <a:r>
              <a:rPr lang="en-US" dirty="0"/>
              <a:t>Module 3: Machine Learning</a:t>
            </a:r>
            <a:br>
              <a:rPr lang="en-US" dirty="0"/>
            </a:br>
            <a:endParaRPr lang="en-US" dirty="0"/>
          </a:p>
        </p:txBody>
      </p:sp>
      <p:graphicFrame>
        <p:nvGraphicFramePr>
          <p:cNvPr id="4" name="Table 3">
            <a:extLst>
              <a:ext uri="{FF2B5EF4-FFF2-40B4-BE49-F238E27FC236}">
                <a16:creationId xmlns:a16="http://schemas.microsoft.com/office/drawing/2014/main" id="{13B8FFB1-434E-7EAC-9C24-7A83BF6D74C6}"/>
              </a:ext>
            </a:extLst>
          </p:cNvPr>
          <p:cNvGraphicFramePr>
            <a:graphicFrameLocks noGrp="1"/>
          </p:cNvGraphicFramePr>
          <p:nvPr/>
        </p:nvGraphicFramePr>
        <p:xfrm>
          <a:off x="681905" y="772668"/>
          <a:ext cx="10870016" cy="5852160"/>
        </p:xfrm>
        <a:graphic>
          <a:graphicData uri="http://schemas.openxmlformats.org/drawingml/2006/table">
            <a:tbl>
              <a:tblPr firstRow="1" bandRow="1">
                <a:tableStyleId>{5C22544A-7EE6-4342-B048-85BDC9FD1C3A}</a:tableStyleId>
              </a:tblPr>
              <a:tblGrid>
                <a:gridCol w="5435008">
                  <a:extLst>
                    <a:ext uri="{9D8B030D-6E8A-4147-A177-3AD203B41FA5}">
                      <a16:colId xmlns:a16="http://schemas.microsoft.com/office/drawing/2014/main" val="1829834404"/>
                    </a:ext>
                  </a:extLst>
                </a:gridCol>
                <a:gridCol w="5435008">
                  <a:extLst>
                    <a:ext uri="{9D8B030D-6E8A-4147-A177-3AD203B41FA5}">
                      <a16:colId xmlns:a16="http://schemas.microsoft.com/office/drawing/2014/main" val="1541418356"/>
                    </a:ext>
                  </a:extLst>
                </a:gridCol>
              </a:tblGrid>
              <a:tr h="6103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lt1"/>
                          </a:solidFill>
                          <a:effectLst/>
                          <a:latin typeface="+mn-lt"/>
                          <a:ea typeface="+mn-ea"/>
                          <a:cs typeface="+mn-cs"/>
                        </a:rPr>
                        <a:t>1. ML Concepts</a:t>
                      </a:r>
                    </a:p>
                    <a:p>
                      <a:endParaRPr lang="en-US" sz="20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lt1"/>
                          </a:solidFill>
                          <a:effectLst/>
                          <a:latin typeface="+mn-lt"/>
                          <a:ea typeface="+mn-ea"/>
                          <a:cs typeface="+mn-cs"/>
                        </a:rPr>
                        <a:t>2. ML Algorithms</a:t>
                      </a:r>
                    </a:p>
                    <a:p>
                      <a:endParaRPr lang="en-US" sz="2000" b="1" dirty="0"/>
                    </a:p>
                  </a:txBody>
                  <a:tcPr/>
                </a:tc>
                <a:extLst>
                  <a:ext uri="{0D108BD9-81ED-4DB2-BD59-A6C34878D82A}">
                    <a16:rowId xmlns:a16="http://schemas.microsoft.com/office/drawing/2014/main" val="3118420900"/>
                  </a:ext>
                </a:extLst>
              </a:tr>
              <a:tr h="781812">
                <a:tc>
                  <a:txBody>
                    <a:bodyPr/>
                    <a:lstStyle/>
                    <a:p>
                      <a:pPr lvl="0"/>
                      <a:r>
                        <a:rPr lang="en-US" sz="2000" b="1" kern="1200" dirty="0">
                          <a:solidFill>
                            <a:schemeClr val="dk1"/>
                          </a:solidFill>
                          <a:effectLst/>
                          <a:latin typeface="+mn-lt"/>
                          <a:ea typeface="+mn-ea"/>
                          <a:cs typeface="+mn-cs"/>
                        </a:rPr>
                        <a:t>Supervised vs Unsupervised</a:t>
                      </a:r>
                    </a:p>
                    <a:p>
                      <a:pPr lvl="0"/>
                      <a:r>
                        <a:rPr lang="en-US" sz="2000" b="1" kern="1200" dirty="0">
                          <a:solidFill>
                            <a:schemeClr val="dk1"/>
                          </a:solidFill>
                          <a:effectLst/>
                          <a:latin typeface="+mn-lt"/>
                          <a:ea typeface="+mn-ea"/>
                          <a:cs typeface="+mn-cs"/>
                        </a:rPr>
                        <a:t>Semi-supervised</a:t>
                      </a:r>
                    </a:p>
                    <a:p>
                      <a:pPr lvl="0"/>
                      <a:r>
                        <a:rPr lang="en-US" sz="2000" b="1" kern="1200" dirty="0">
                          <a:solidFill>
                            <a:schemeClr val="dk1"/>
                          </a:solidFill>
                          <a:effectLst/>
                          <a:latin typeface="+mn-lt"/>
                          <a:ea typeface="+mn-ea"/>
                          <a:cs typeface="+mn-cs"/>
                        </a:rPr>
                        <a:t>Reinforcement learning basics</a:t>
                      </a:r>
                    </a:p>
                    <a:p>
                      <a:pPr lvl="0"/>
                      <a:r>
                        <a:rPr lang="en-US" sz="2000" b="1" kern="1200" dirty="0">
                          <a:solidFill>
                            <a:schemeClr val="dk1"/>
                          </a:solidFill>
                          <a:effectLst/>
                          <a:latin typeface="+mn-lt"/>
                          <a:ea typeface="+mn-ea"/>
                          <a:cs typeface="+mn-cs"/>
                        </a:rPr>
                        <a:t>ML workflow</a:t>
                      </a:r>
                    </a:p>
                    <a:p>
                      <a:pPr lvl="0"/>
                      <a:r>
                        <a:rPr lang="en-US" sz="2000" b="1" kern="1200" dirty="0">
                          <a:solidFill>
                            <a:schemeClr val="dk1"/>
                          </a:solidFill>
                          <a:effectLst/>
                          <a:latin typeface="+mn-lt"/>
                          <a:ea typeface="+mn-ea"/>
                          <a:cs typeface="+mn-cs"/>
                        </a:rPr>
                        <a:t>Feature engineering</a:t>
                      </a:r>
                    </a:p>
                    <a:p>
                      <a:pPr lvl="0"/>
                      <a:r>
                        <a:rPr lang="en-US" sz="2000" b="1" kern="1200" dirty="0">
                          <a:solidFill>
                            <a:schemeClr val="dk1"/>
                          </a:solidFill>
                          <a:effectLst/>
                          <a:latin typeface="+mn-lt"/>
                          <a:ea typeface="+mn-ea"/>
                          <a:cs typeface="+mn-cs"/>
                        </a:rPr>
                        <a:t>Model training, validation, testing</a:t>
                      </a:r>
                    </a:p>
                    <a:p>
                      <a:pPr lvl="0"/>
                      <a:r>
                        <a:rPr lang="en-US" sz="2000" b="1" kern="1200" dirty="0">
                          <a:solidFill>
                            <a:schemeClr val="dk1"/>
                          </a:solidFill>
                          <a:effectLst/>
                          <a:latin typeface="+mn-lt"/>
                          <a:ea typeface="+mn-ea"/>
                          <a:cs typeface="+mn-cs"/>
                        </a:rPr>
                        <a:t>Hyperparameter tuning</a:t>
                      </a:r>
                    </a:p>
                    <a:p>
                      <a:endParaRPr lang="en-US" sz="2000" b="1" dirty="0"/>
                    </a:p>
                  </a:txBody>
                  <a:tcPr/>
                </a:tc>
                <a:tc>
                  <a:txBody>
                    <a:bodyPr/>
                    <a:lstStyle/>
                    <a:p>
                      <a:pPr lvl="0"/>
                      <a:r>
                        <a:rPr lang="en-US" sz="2000" b="1" kern="1200" dirty="0">
                          <a:solidFill>
                            <a:schemeClr val="dk1"/>
                          </a:solidFill>
                          <a:effectLst/>
                          <a:latin typeface="+mn-lt"/>
                          <a:ea typeface="+mn-ea"/>
                          <a:cs typeface="+mn-cs"/>
                        </a:rPr>
                        <a:t>Linear &amp; Logistic Regression</a:t>
                      </a:r>
                    </a:p>
                    <a:p>
                      <a:pPr lvl="0"/>
                      <a:r>
                        <a:rPr lang="en-US" sz="2000" b="1" kern="1200" dirty="0">
                          <a:solidFill>
                            <a:schemeClr val="dk1"/>
                          </a:solidFill>
                          <a:effectLst/>
                          <a:latin typeface="+mn-lt"/>
                          <a:ea typeface="+mn-ea"/>
                          <a:cs typeface="+mn-cs"/>
                        </a:rPr>
                        <a:t>KNN</a:t>
                      </a:r>
                    </a:p>
                    <a:p>
                      <a:pPr lvl="0"/>
                      <a:r>
                        <a:rPr lang="en-US" sz="2000" b="1" kern="1200" dirty="0">
                          <a:solidFill>
                            <a:schemeClr val="dk1"/>
                          </a:solidFill>
                          <a:effectLst/>
                          <a:latin typeface="+mn-lt"/>
                          <a:ea typeface="+mn-ea"/>
                          <a:cs typeface="+mn-cs"/>
                        </a:rPr>
                        <a:t>Decision Trees &amp; Random Forest</a:t>
                      </a:r>
                    </a:p>
                    <a:p>
                      <a:pPr lvl="0"/>
                      <a:r>
                        <a:rPr lang="en-US" sz="2000" b="1" kern="1200" dirty="0">
                          <a:solidFill>
                            <a:schemeClr val="dk1"/>
                          </a:solidFill>
                          <a:effectLst/>
                          <a:latin typeface="+mn-lt"/>
                          <a:ea typeface="+mn-ea"/>
                          <a:cs typeface="+mn-cs"/>
                        </a:rPr>
                        <a:t>SVM</a:t>
                      </a:r>
                    </a:p>
                    <a:p>
                      <a:pPr lvl="0"/>
                      <a:r>
                        <a:rPr lang="en-US" sz="2000" b="1" kern="1200" dirty="0">
                          <a:solidFill>
                            <a:schemeClr val="dk1"/>
                          </a:solidFill>
                          <a:effectLst/>
                          <a:latin typeface="+mn-lt"/>
                          <a:ea typeface="+mn-ea"/>
                          <a:cs typeface="+mn-cs"/>
                        </a:rPr>
                        <a:t>Ensemble Learning</a:t>
                      </a:r>
                    </a:p>
                    <a:p>
                      <a:pPr lvl="0"/>
                      <a:r>
                        <a:rPr lang="en-US" sz="2000" b="1" kern="1200" dirty="0" err="1">
                          <a:solidFill>
                            <a:schemeClr val="dk1"/>
                          </a:solidFill>
                          <a:effectLst/>
                          <a:latin typeface="+mn-lt"/>
                          <a:ea typeface="+mn-ea"/>
                          <a:cs typeface="+mn-cs"/>
                        </a:rPr>
                        <a:t>KMeans</a:t>
                      </a:r>
                      <a:r>
                        <a:rPr lang="en-US" sz="2000" b="1" kern="1200" dirty="0">
                          <a:solidFill>
                            <a:schemeClr val="dk1"/>
                          </a:solidFill>
                          <a:effectLst/>
                          <a:latin typeface="+mn-lt"/>
                          <a:ea typeface="+mn-ea"/>
                          <a:cs typeface="+mn-cs"/>
                        </a:rPr>
                        <a:t>, DBSCAN</a:t>
                      </a:r>
                    </a:p>
                    <a:p>
                      <a:pPr lvl="0"/>
                      <a:r>
                        <a:rPr lang="en-US" sz="2000" b="1" kern="1200" dirty="0">
                          <a:solidFill>
                            <a:schemeClr val="dk1"/>
                          </a:solidFill>
                          <a:effectLst/>
                          <a:latin typeface="+mn-lt"/>
                          <a:ea typeface="+mn-ea"/>
                          <a:cs typeface="+mn-cs"/>
                        </a:rPr>
                        <a:t>PCA</a:t>
                      </a:r>
                    </a:p>
                    <a:p>
                      <a:endParaRPr lang="en-US" sz="2000" b="1" dirty="0"/>
                    </a:p>
                  </a:txBody>
                  <a:tcPr/>
                </a:tc>
                <a:extLst>
                  <a:ext uri="{0D108BD9-81ED-4DB2-BD59-A6C34878D82A}">
                    <a16:rowId xmlns:a16="http://schemas.microsoft.com/office/drawing/2014/main" val="100094443"/>
                  </a:ext>
                </a:extLst>
              </a:tr>
              <a:tr h="525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3. Model Evaluation</a:t>
                      </a:r>
                    </a:p>
                    <a:p>
                      <a:endParaRPr lang="en-US" sz="2000" b="1" kern="1200" dirty="0">
                        <a:solidFill>
                          <a:schemeClr val="tx1"/>
                        </a:solidFill>
                        <a:effectLst/>
                        <a:latin typeface="+mn-lt"/>
                        <a:ea typeface="+mn-ea"/>
                        <a:cs typeface="+mn-cs"/>
                      </a:endParaRPr>
                    </a:p>
                  </a:txBody>
                  <a:tcPr/>
                </a:tc>
                <a:tc>
                  <a:txBody>
                    <a:bodyPr/>
                    <a:lstStyle/>
                    <a:p>
                      <a:r>
                        <a:rPr lang="en-US" sz="2000" b="1" kern="1200" dirty="0">
                          <a:solidFill>
                            <a:schemeClr val="tx1"/>
                          </a:solidFill>
                          <a:effectLst/>
                          <a:latin typeface="+mn-lt"/>
                          <a:ea typeface="+mn-ea"/>
                          <a:cs typeface="+mn-cs"/>
                        </a:rPr>
                        <a:t>4. Tools And Assignments</a:t>
                      </a:r>
                    </a:p>
                  </a:txBody>
                  <a:tcPr/>
                </a:tc>
                <a:extLst>
                  <a:ext uri="{0D108BD9-81ED-4DB2-BD59-A6C34878D82A}">
                    <a16:rowId xmlns:a16="http://schemas.microsoft.com/office/drawing/2014/main" val="1803562206"/>
                  </a:ext>
                </a:extLst>
              </a:tr>
              <a:tr h="781812">
                <a:tc>
                  <a:txBody>
                    <a:bodyPr/>
                    <a:lstStyle/>
                    <a:p>
                      <a:pPr lvl="0"/>
                      <a:r>
                        <a:rPr lang="en-US" sz="2000" b="1" kern="1200" dirty="0">
                          <a:solidFill>
                            <a:schemeClr val="dk1"/>
                          </a:solidFill>
                          <a:effectLst/>
                          <a:latin typeface="+mn-lt"/>
                          <a:ea typeface="+mn-ea"/>
                          <a:cs typeface="+mn-cs"/>
                        </a:rPr>
                        <a:t>Classification metrics</a:t>
                      </a:r>
                    </a:p>
                    <a:p>
                      <a:pPr lvl="0"/>
                      <a:r>
                        <a:rPr lang="en-US" sz="2000" b="1" kern="1200" dirty="0">
                          <a:solidFill>
                            <a:schemeClr val="dk1"/>
                          </a:solidFill>
                          <a:effectLst/>
                          <a:latin typeface="+mn-lt"/>
                          <a:ea typeface="+mn-ea"/>
                          <a:cs typeface="+mn-cs"/>
                        </a:rPr>
                        <a:t>Regression metrics</a:t>
                      </a:r>
                    </a:p>
                    <a:p>
                      <a:pPr lvl="0"/>
                      <a:r>
                        <a:rPr lang="en-US" sz="2000" b="1" kern="1200" dirty="0">
                          <a:solidFill>
                            <a:schemeClr val="dk1"/>
                          </a:solidFill>
                          <a:effectLst/>
                          <a:latin typeface="+mn-lt"/>
                          <a:ea typeface="+mn-ea"/>
                          <a:cs typeface="+mn-cs"/>
                        </a:rPr>
                        <a:t>Confusion matrix</a:t>
                      </a:r>
                    </a:p>
                    <a:p>
                      <a:pPr lvl="0"/>
                      <a:r>
                        <a:rPr lang="en-US" sz="2000" b="1" kern="1200" dirty="0">
                          <a:solidFill>
                            <a:schemeClr val="dk1"/>
                          </a:solidFill>
                          <a:effectLst/>
                          <a:latin typeface="+mn-lt"/>
                          <a:ea typeface="+mn-ea"/>
                          <a:cs typeface="+mn-cs"/>
                        </a:rPr>
                        <a:t>ROC/AUC</a:t>
                      </a:r>
                    </a:p>
                    <a:p>
                      <a:endParaRPr lang="en-US" sz="2000" b="1" kern="1200" dirty="0">
                        <a:solidFill>
                          <a:schemeClr val="tx1"/>
                        </a:solidFill>
                        <a:effectLst/>
                        <a:latin typeface="+mn-lt"/>
                        <a:ea typeface="+mn-ea"/>
                        <a:cs typeface="+mn-cs"/>
                      </a:endParaRPr>
                    </a:p>
                  </a:txBody>
                  <a:tcPr/>
                </a:tc>
                <a:tc>
                  <a:txBody>
                    <a:bodyPr/>
                    <a:lstStyle/>
                    <a:p>
                      <a:r>
                        <a:rPr lang="en-US" sz="2000" b="1" kern="1200" dirty="0">
                          <a:solidFill>
                            <a:schemeClr val="dk1"/>
                          </a:solidFill>
                          <a:effectLst/>
                          <a:latin typeface="+mn-lt"/>
                          <a:ea typeface="+mn-ea"/>
                          <a:cs typeface="+mn-cs"/>
                        </a:rPr>
                        <a:t>✔ Scikit-learn, </a:t>
                      </a:r>
                      <a:r>
                        <a:rPr lang="en-US" sz="2000" b="1" kern="1200" dirty="0" err="1">
                          <a:solidFill>
                            <a:schemeClr val="dk1"/>
                          </a:solidFill>
                          <a:effectLst/>
                          <a:latin typeface="+mn-lt"/>
                          <a:ea typeface="+mn-ea"/>
                          <a:cs typeface="+mn-cs"/>
                        </a:rPr>
                        <a:t>Jupyter</a:t>
                      </a:r>
                      <a:endParaRPr lang="en-US" sz="2000" b="1" kern="1200" dirty="0">
                        <a:solidFill>
                          <a:schemeClr val="dk1"/>
                        </a:solidFill>
                        <a:effectLst/>
                        <a:latin typeface="+mn-lt"/>
                        <a:ea typeface="+mn-ea"/>
                        <a:cs typeface="+mn-cs"/>
                      </a:endParaRPr>
                    </a:p>
                    <a:p>
                      <a:r>
                        <a:rPr lang="en-US" sz="2000" b="1" kern="1200" dirty="0">
                          <a:solidFill>
                            <a:schemeClr val="dk1"/>
                          </a:solidFill>
                          <a:effectLst/>
                          <a:latin typeface="+mn-lt"/>
                          <a:ea typeface="+mn-ea"/>
                          <a:cs typeface="+mn-cs"/>
                        </a:rPr>
                        <a:t>Assignments</a:t>
                      </a:r>
                    </a:p>
                    <a:p>
                      <a:pPr lvl="0"/>
                      <a:r>
                        <a:rPr lang="en-US" sz="2000" b="1" kern="1200" dirty="0">
                          <a:solidFill>
                            <a:schemeClr val="dk1"/>
                          </a:solidFill>
                          <a:effectLst/>
                          <a:latin typeface="+mn-lt"/>
                          <a:ea typeface="+mn-ea"/>
                          <a:cs typeface="+mn-cs"/>
                        </a:rPr>
                        <a:t>Build regression &amp; classification models</a:t>
                      </a:r>
                    </a:p>
                    <a:p>
                      <a:pPr lvl="0"/>
                      <a:r>
                        <a:rPr lang="en-US" sz="2000" b="1" kern="1200" dirty="0">
                          <a:solidFill>
                            <a:schemeClr val="dk1"/>
                          </a:solidFill>
                          <a:effectLst/>
                          <a:latin typeface="+mn-lt"/>
                          <a:ea typeface="+mn-ea"/>
                          <a:cs typeface="+mn-cs"/>
                        </a:rPr>
                        <a:t>Fraud detection model</a:t>
                      </a:r>
                    </a:p>
                    <a:p>
                      <a:pPr lvl="0"/>
                      <a:r>
                        <a:rPr lang="en-US" sz="2000" b="1" kern="1200" dirty="0">
                          <a:solidFill>
                            <a:schemeClr val="dk1"/>
                          </a:solidFill>
                          <a:effectLst/>
                          <a:latin typeface="+mn-lt"/>
                          <a:ea typeface="+mn-ea"/>
                          <a:cs typeface="+mn-cs"/>
                        </a:rPr>
                        <a:t>Clustering customer segmentation</a:t>
                      </a:r>
                    </a:p>
                    <a:p>
                      <a:endParaRPr lang="en-US" sz="2000" b="1" kern="1200" dirty="0">
                        <a:solidFill>
                          <a:schemeClr val="tx1"/>
                        </a:solidFill>
                        <a:effectLst/>
                        <a:latin typeface="+mn-lt"/>
                        <a:ea typeface="+mn-ea"/>
                        <a:cs typeface="+mn-cs"/>
                      </a:endParaRPr>
                    </a:p>
                  </a:txBody>
                  <a:tcPr/>
                </a:tc>
                <a:extLst>
                  <a:ext uri="{0D108BD9-81ED-4DB2-BD59-A6C34878D82A}">
                    <a16:rowId xmlns:a16="http://schemas.microsoft.com/office/drawing/2014/main" val="1300179663"/>
                  </a:ext>
                </a:extLst>
              </a:tr>
            </a:tbl>
          </a:graphicData>
        </a:graphic>
      </p:graphicFrame>
    </p:spTree>
    <p:extLst>
      <p:ext uri="{BB962C8B-B14F-4D97-AF65-F5344CB8AC3E}">
        <p14:creationId xmlns:p14="http://schemas.microsoft.com/office/powerpoint/2010/main" val="296925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D866FCD2-AB87-E19F-C2AB-FD7D9BC55B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 y="976122"/>
            <a:ext cx="11277600" cy="4905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8057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D08F0D-186E-C2FD-F1A2-FA1104019BC1}"/>
              </a:ext>
            </a:extLst>
          </p:cNvPr>
          <p:cNvSpPr>
            <a:spLocks noGrp="1"/>
          </p:cNvSpPr>
          <p:nvPr>
            <p:ph type="ctrTitle"/>
          </p:nvPr>
        </p:nvSpPr>
        <p:spPr>
          <a:xfrm>
            <a:off x="4162567" y="818984"/>
            <a:ext cx="6714699" cy="3178689"/>
          </a:xfrm>
        </p:spPr>
        <p:txBody>
          <a:bodyPr>
            <a:normAutofit/>
          </a:bodyPr>
          <a:lstStyle/>
          <a:p>
            <a:pPr algn="l"/>
            <a:r>
              <a:rPr lang="en-US" sz="4800" dirty="0">
                <a:solidFill>
                  <a:srgbClr val="FFFFFF"/>
                </a:solidFill>
              </a:rPr>
              <a:t>Unsupervised Learning</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B3FD9F5B-945C-A177-8329-4B609522915F}"/>
              </a:ext>
            </a:extLst>
          </p:cNvPr>
          <p:cNvSpPr>
            <a:spLocks noGrp="1"/>
          </p:cNvSpPr>
          <p:nvPr>
            <p:ph type="subTitle" idx="1"/>
          </p:nvPr>
        </p:nvSpPr>
        <p:spPr>
          <a:xfrm>
            <a:off x="4285397" y="4960961"/>
            <a:ext cx="7055893" cy="1078054"/>
          </a:xfrm>
        </p:spPr>
        <p:txBody>
          <a:bodyPr>
            <a:normAutofit/>
          </a:bodyPr>
          <a:lstStyle/>
          <a:p>
            <a:pPr algn="l"/>
            <a:endParaRPr lang="en-US">
              <a:solidFill>
                <a:srgbClr val="FFFFFF"/>
              </a:solidFill>
            </a:endParaRPr>
          </a:p>
        </p:txBody>
      </p:sp>
    </p:spTree>
    <p:extLst>
      <p:ext uri="{BB962C8B-B14F-4D97-AF65-F5344CB8AC3E}">
        <p14:creationId xmlns:p14="http://schemas.microsoft.com/office/powerpoint/2010/main" val="4161768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1C000-B521-7745-0FD8-9D18C0938795}"/>
              </a:ext>
            </a:extLst>
          </p:cNvPr>
          <p:cNvSpPr>
            <a:spLocks noGrp="1"/>
          </p:cNvSpPr>
          <p:nvPr>
            <p:ph type="title"/>
          </p:nvPr>
        </p:nvSpPr>
        <p:spPr/>
        <p:txBody>
          <a:bodyPr/>
          <a:lstStyle/>
          <a:p>
            <a:r>
              <a:rPr lang="en-US" dirty="0"/>
              <a:t>Introduction </a:t>
            </a:r>
          </a:p>
        </p:txBody>
      </p:sp>
      <p:graphicFrame>
        <p:nvGraphicFramePr>
          <p:cNvPr id="6" name="Content Placeholder 3">
            <a:extLst>
              <a:ext uri="{FF2B5EF4-FFF2-40B4-BE49-F238E27FC236}">
                <a16:creationId xmlns:a16="http://schemas.microsoft.com/office/drawing/2014/main" id="{8DBC82CC-C1D3-2680-13CB-C6D51A28087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675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FC99FA-E773-D10B-1F8B-AD8CD0D03122}"/>
              </a:ext>
            </a:extLst>
          </p:cNvPr>
          <p:cNvPicPr>
            <a:picLocks noChangeAspect="1"/>
          </p:cNvPicPr>
          <p:nvPr/>
        </p:nvPicPr>
        <p:blipFill>
          <a:blip r:embed="rId2"/>
          <a:stretch>
            <a:fillRect/>
          </a:stretch>
        </p:blipFill>
        <p:spPr>
          <a:xfrm>
            <a:off x="1027992" y="1104575"/>
            <a:ext cx="10136015" cy="4648849"/>
          </a:xfrm>
          <a:prstGeom prst="rect">
            <a:avLst/>
          </a:prstGeom>
        </p:spPr>
      </p:pic>
    </p:spTree>
    <p:extLst>
      <p:ext uri="{BB962C8B-B14F-4D97-AF65-F5344CB8AC3E}">
        <p14:creationId xmlns:p14="http://schemas.microsoft.com/office/powerpoint/2010/main" val="2075241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19D0AF-9367-B653-7923-794398432300}"/>
              </a:ext>
            </a:extLst>
          </p:cNvPr>
          <p:cNvPicPr>
            <a:picLocks noChangeAspect="1"/>
          </p:cNvPicPr>
          <p:nvPr/>
        </p:nvPicPr>
        <p:blipFill>
          <a:blip r:embed="rId2"/>
          <a:stretch>
            <a:fillRect/>
          </a:stretch>
        </p:blipFill>
        <p:spPr>
          <a:xfrm>
            <a:off x="994650" y="866417"/>
            <a:ext cx="10202699" cy="5125165"/>
          </a:xfrm>
          <a:prstGeom prst="rect">
            <a:avLst/>
          </a:prstGeom>
        </p:spPr>
      </p:pic>
    </p:spTree>
    <p:extLst>
      <p:ext uri="{BB962C8B-B14F-4D97-AF65-F5344CB8AC3E}">
        <p14:creationId xmlns:p14="http://schemas.microsoft.com/office/powerpoint/2010/main" val="118845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619CC3-BC7D-6EC6-AA36-4244B88ED510}"/>
              </a:ext>
            </a:extLst>
          </p:cNvPr>
          <p:cNvPicPr>
            <a:picLocks noChangeAspect="1"/>
          </p:cNvPicPr>
          <p:nvPr/>
        </p:nvPicPr>
        <p:blipFill>
          <a:blip r:embed="rId2"/>
          <a:stretch>
            <a:fillRect/>
          </a:stretch>
        </p:blipFill>
        <p:spPr>
          <a:xfrm>
            <a:off x="1052817" y="0"/>
            <a:ext cx="10086366" cy="6858000"/>
          </a:xfrm>
          <a:prstGeom prst="rect">
            <a:avLst/>
          </a:prstGeom>
        </p:spPr>
      </p:pic>
    </p:spTree>
    <p:extLst>
      <p:ext uri="{BB962C8B-B14F-4D97-AF65-F5344CB8AC3E}">
        <p14:creationId xmlns:p14="http://schemas.microsoft.com/office/powerpoint/2010/main" val="883969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1B5486-4093-5DF7-15C4-4775D725CFF7}"/>
              </a:ext>
            </a:extLst>
          </p:cNvPr>
          <p:cNvPicPr>
            <a:picLocks noChangeAspect="1"/>
          </p:cNvPicPr>
          <p:nvPr/>
        </p:nvPicPr>
        <p:blipFill>
          <a:blip r:embed="rId2"/>
          <a:stretch>
            <a:fillRect/>
          </a:stretch>
        </p:blipFill>
        <p:spPr>
          <a:xfrm>
            <a:off x="1100412" y="0"/>
            <a:ext cx="9716856" cy="4753638"/>
          </a:xfrm>
          <a:prstGeom prst="rect">
            <a:avLst/>
          </a:prstGeom>
        </p:spPr>
      </p:pic>
      <p:sp>
        <p:nvSpPr>
          <p:cNvPr id="5" name="TextBox 4">
            <a:extLst>
              <a:ext uri="{FF2B5EF4-FFF2-40B4-BE49-F238E27FC236}">
                <a16:creationId xmlns:a16="http://schemas.microsoft.com/office/drawing/2014/main" id="{676AC7D6-C21F-203A-0B92-18034AC988CA}"/>
              </a:ext>
            </a:extLst>
          </p:cNvPr>
          <p:cNvSpPr txBox="1"/>
          <p:nvPr/>
        </p:nvSpPr>
        <p:spPr>
          <a:xfrm>
            <a:off x="548640" y="4902228"/>
            <a:ext cx="11384280" cy="1631216"/>
          </a:xfrm>
          <a:prstGeom prst="rect">
            <a:avLst/>
          </a:prstGeom>
          <a:noFill/>
        </p:spPr>
        <p:txBody>
          <a:bodyPr wrap="square">
            <a:spAutoFit/>
          </a:bodyPr>
          <a:lstStyle/>
          <a:p>
            <a:pPr algn="l" fontAlgn="base">
              <a:buFont typeface="Arial" panose="020B0604020202020204" pitchFamily="34" charset="0"/>
              <a:buChar char="•"/>
            </a:pPr>
            <a:r>
              <a:rPr lang="en-US" sz="2000" b="0" i="0" dirty="0">
                <a:solidFill>
                  <a:srgbClr val="273239"/>
                </a:solidFill>
                <a:effectLst/>
                <a:latin typeface="Nunito" pitchFamily="2" charset="0"/>
              </a:rPr>
              <a:t>The "Interpretation" stage signifies that the algorithm doesn't have predefined labels or categories for the data. It needs to figure out how to group or organize the data based on inherent patterns.</a:t>
            </a:r>
          </a:p>
          <a:p>
            <a:pPr algn="l" fontAlgn="base">
              <a:buFont typeface="Arial" panose="020B0604020202020204" pitchFamily="34" charset="0"/>
              <a:buChar char="•"/>
            </a:pPr>
            <a:r>
              <a:rPr lang="en-US" sz="2000" b="0" i="0" dirty="0">
                <a:solidFill>
                  <a:srgbClr val="273239"/>
                </a:solidFill>
                <a:effectLst/>
                <a:latin typeface="Nunito" pitchFamily="2" charset="0"/>
              </a:rPr>
              <a:t>An algorithm represents unsupervised learning process that helps to identify patterns in the data.</a:t>
            </a:r>
          </a:p>
          <a:p>
            <a:pPr algn="l" fontAlgn="base">
              <a:buFont typeface="Arial" panose="020B0604020202020204" pitchFamily="34" charset="0"/>
              <a:buChar char="•"/>
            </a:pPr>
            <a:r>
              <a:rPr lang="en-US" sz="2000" b="0" i="0" dirty="0">
                <a:solidFill>
                  <a:srgbClr val="273239"/>
                </a:solidFill>
                <a:effectLst/>
                <a:latin typeface="Nunito" pitchFamily="2" charset="0"/>
              </a:rPr>
              <a:t>The processing stage shows the algorithm working on the data.</a:t>
            </a:r>
          </a:p>
        </p:txBody>
      </p:sp>
    </p:spTree>
    <p:extLst>
      <p:ext uri="{BB962C8B-B14F-4D97-AF65-F5344CB8AC3E}">
        <p14:creationId xmlns:p14="http://schemas.microsoft.com/office/powerpoint/2010/main" val="2706932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17C2-6A0F-FFF3-D861-D20F33A5A702}"/>
              </a:ext>
            </a:extLst>
          </p:cNvPr>
          <p:cNvSpPr>
            <a:spLocks noGrp="1"/>
          </p:cNvSpPr>
          <p:nvPr>
            <p:ph type="title"/>
          </p:nvPr>
        </p:nvSpPr>
        <p:spPr>
          <a:xfrm>
            <a:off x="758190" y="18255"/>
            <a:ext cx="10515600" cy="1325563"/>
          </a:xfrm>
        </p:spPr>
        <p:txBody>
          <a:bodyPr/>
          <a:lstStyle/>
          <a:p>
            <a:r>
              <a:rPr lang="en-US" dirty="0"/>
              <a:t>Working of Unsupervised Learning</a:t>
            </a:r>
          </a:p>
        </p:txBody>
      </p:sp>
      <p:sp>
        <p:nvSpPr>
          <p:cNvPr id="3" name="Content Placeholder 2">
            <a:extLst>
              <a:ext uri="{FF2B5EF4-FFF2-40B4-BE49-F238E27FC236}">
                <a16:creationId xmlns:a16="http://schemas.microsoft.com/office/drawing/2014/main" id="{9E0FB4F9-96AB-C21B-83AC-4A05D519FFB1}"/>
              </a:ext>
            </a:extLst>
          </p:cNvPr>
          <p:cNvSpPr>
            <a:spLocks noGrp="1"/>
          </p:cNvSpPr>
          <p:nvPr>
            <p:ph idx="1"/>
          </p:nvPr>
        </p:nvSpPr>
        <p:spPr>
          <a:xfrm>
            <a:off x="400050" y="1343818"/>
            <a:ext cx="10953750" cy="5331301"/>
          </a:xfrm>
        </p:spPr>
        <p:txBody>
          <a:bodyPr>
            <a:normAutofit fontScale="85000" lnSpcReduction="20000"/>
          </a:bodyPr>
          <a:lstStyle/>
          <a:p>
            <a:pPr marL="0" indent="0" fontAlgn="base">
              <a:buNone/>
            </a:pPr>
            <a:r>
              <a:rPr lang="en-US" b="1" dirty="0"/>
              <a:t>1. Collect Unlabeled Data - </a:t>
            </a:r>
            <a:r>
              <a:rPr lang="en-US" dirty="0"/>
              <a:t>Gather a dataset without predefined labels or categories.</a:t>
            </a:r>
          </a:p>
          <a:p>
            <a:pPr marL="0" indent="0" fontAlgn="base">
              <a:buNone/>
            </a:pPr>
            <a:r>
              <a:rPr lang="en-US" b="1" dirty="0"/>
              <a:t>Example</a:t>
            </a:r>
            <a:r>
              <a:rPr lang="en-US" dirty="0"/>
              <a:t>: Images of various animals without any tags.</a:t>
            </a:r>
          </a:p>
          <a:p>
            <a:pPr marL="0" indent="0" fontAlgn="base">
              <a:buNone/>
            </a:pPr>
            <a:r>
              <a:rPr lang="en-US" b="1" dirty="0"/>
              <a:t>2. Select an Algorithm - s</a:t>
            </a:r>
            <a:r>
              <a:rPr lang="en-US" dirty="0"/>
              <a:t>uch as clustering like K-Means, association rule learning like </a:t>
            </a:r>
            <a:r>
              <a:rPr lang="en-US" dirty="0" err="1"/>
              <a:t>Apriori</a:t>
            </a:r>
            <a:r>
              <a:rPr lang="en-US" dirty="0"/>
              <a:t> or dimensionality reduction like PCA based on the goal.</a:t>
            </a:r>
          </a:p>
          <a:p>
            <a:pPr marL="0" indent="0" fontAlgn="base">
              <a:buNone/>
            </a:pPr>
            <a:r>
              <a:rPr lang="en-US" b="1" dirty="0"/>
              <a:t>3. Train the Model on Raw Data - </a:t>
            </a:r>
            <a:r>
              <a:rPr lang="en-US" dirty="0"/>
              <a:t>Feed the entire unlabeled dataset to the algorithm.</a:t>
            </a:r>
          </a:p>
          <a:p>
            <a:pPr marL="0" indent="0" fontAlgn="base">
              <a:buNone/>
            </a:pPr>
            <a:r>
              <a:rPr lang="en-US" dirty="0"/>
              <a:t>The algorithm looks for similarities, relationships or hidden structures within the data.</a:t>
            </a:r>
          </a:p>
          <a:p>
            <a:pPr marL="0" indent="0" fontAlgn="base">
              <a:buNone/>
            </a:pPr>
            <a:r>
              <a:rPr lang="en-US" b="1" dirty="0"/>
              <a:t>4. Group or Transform Data - </a:t>
            </a:r>
            <a:r>
              <a:rPr lang="en-US" dirty="0"/>
              <a:t>The algorithm organizes data into groups (clusters), rules or lower-dimensional forms without human input.</a:t>
            </a:r>
          </a:p>
          <a:p>
            <a:pPr marL="0" indent="0" fontAlgn="base">
              <a:buNone/>
            </a:pPr>
            <a:r>
              <a:rPr lang="en-US" dirty="0"/>
              <a:t>Example: It may group similar animals together or extract key patterns from large datasets.</a:t>
            </a:r>
          </a:p>
          <a:p>
            <a:pPr marL="0" indent="0" fontAlgn="base">
              <a:buNone/>
            </a:pPr>
            <a:r>
              <a:rPr lang="en-US" b="1" dirty="0"/>
              <a:t>5. Interpret and Use Results -</a:t>
            </a:r>
            <a:r>
              <a:rPr lang="en-US" dirty="0"/>
              <a:t>Analyze the discovered groups, rules or features to gain insights or use them for further tasks like visualization, anomaly detection or as input for other models.</a:t>
            </a:r>
          </a:p>
          <a:p>
            <a:pPr marL="0" indent="0">
              <a:buNone/>
            </a:pPr>
            <a:endParaRPr lang="en-US" dirty="0"/>
          </a:p>
        </p:txBody>
      </p:sp>
    </p:spTree>
    <p:extLst>
      <p:ext uri="{BB962C8B-B14F-4D97-AF65-F5344CB8AC3E}">
        <p14:creationId xmlns:p14="http://schemas.microsoft.com/office/powerpoint/2010/main" val="3701485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6827F-2260-B463-1CD1-AA4B6F89B6E0}"/>
              </a:ext>
            </a:extLst>
          </p:cNvPr>
          <p:cNvSpPr>
            <a:spLocks noGrp="1"/>
          </p:cNvSpPr>
          <p:nvPr>
            <p:ph type="title"/>
          </p:nvPr>
        </p:nvSpPr>
        <p:spPr>
          <a:xfrm>
            <a:off x="838200" y="18255"/>
            <a:ext cx="10515600" cy="804705"/>
          </a:xfrm>
        </p:spPr>
        <p:txBody>
          <a:bodyPr/>
          <a:lstStyle/>
          <a:p>
            <a:r>
              <a:rPr lang="en-US" b="1" dirty="0"/>
              <a:t>Unsupervised Learning Algorithms</a:t>
            </a:r>
            <a:endParaRPr lang="en-US" dirty="0"/>
          </a:p>
        </p:txBody>
      </p:sp>
      <p:sp>
        <p:nvSpPr>
          <p:cNvPr id="3" name="Content Placeholder 2">
            <a:extLst>
              <a:ext uri="{FF2B5EF4-FFF2-40B4-BE49-F238E27FC236}">
                <a16:creationId xmlns:a16="http://schemas.microsoft.com/office/drawing/2014/main" id="{FC441822-41AD-E7C4-C420-C46564CC381A}"/>
              </a:ext>
            </a:extLst>
          </p:cNvPr>
          <p:cNvSpPr>
            <a:spLocks noGrp="1"/>
          </p:cNvSpPr>
          <p:nvPr>
            <p:ph idx="1"/>
          </p:nvPr>
        </p:nvSpPr>
        <p:spPr>
          <a:xfrm>
            <a:off x="640080" y="1108710"/>
            <a:ext cx="10904220" cy="5452110"/>
          </a:xfrm>
        </p:spPr>
        <p:txBody>
          <a:bodyPr>
            <a:normAutofit fontScale="85000" lnSpcReduction="20000"/>
          </a:bodyPr>
          <a:lstStyle/>
          <a:p>
            <a:pPr marL="0" indent="0">
              <a:buNone/>
            </a:pPr>
            <a:r>
              <a:rPr lang="en-US" sz="2400" b="1" dirty="0"/>
              <a:t>1. Clustering Algorithms</a:t>
            </a:r>
          </a:p>
          <a:p>
            <a:pPr marL="0" indent="0" fontAlgn="base">
              <a:buNone/>
            </a:pPr>
            <a:r>
              <a:rPr lang="en-US" sz="2400" b="1" i="1" u="sng" dirty="0">
                <a:hlinkClick r:id="rId2"/>
              </a:rPr>
              <a:t>K-means Clustering</a:t>
            </a:r>
            <a:r>
              <a:rPr lang="en-US" sz="2400" b="1" i="1" dirty="0"/>
              <a:t>:</a:t>
            </a:r>
            <a:r>
              <a:rPr lang="en-US" sz="2400" i="1" dirty="0"/>
              <a:t> Groups data into K clusters based on how close the points are to each other.</a:t>
            </a:r>
          </a:p>
          <a:p>
            <a:pPr marL="0" indent="0" fontAlgn="base">
              <a:buNone/>
            </a:pPr>
            <a:r>
              <a:rPr lang="en-US" sz="2400" b="1" i="1" u="sng" dirty="0">
                <a:hlinkClick r:id="rId3"/>
              </a:rPr>
              <a:t>Hierarchical Clustering</a:t>
            </a:r>
            <a:r>
              <a:rPr lang="en-US" sz="2400" b="1" i="1" dirty="0"/>
              <a:t>:</a:t>
            </a:r>
            <a:r>
              <a:rPr lang="en-US" sz="2400" i="1" dirty="0"/>
              <a:t> Creates clusters by building a tree step-by-step, either merging or splitting groups.</a:t>
            </a:r>
          </a:p>
          <a:p>
            <a:pPr marL="0" indent="0" fontAlgn="base">
              <a:buNone/>
            </a:pPr>
            <a:r>
              <a:rPr lang="en-US" sz="2400" b="1" i="1" u="sng" dirty="0">
                <a:hlinkClick r:id="rId4"/>
              </a:rPr>
              <a:t>Density-Based Clustering (DBSCAN)</a:t>
            </a:r>
            <a:r>
              <a:rPr lang="en-US" sz="2400" b="1" i="1" dirty="0"/>
              <a:t>:</a:t>
            </a:r>
            <a:r>
              <a:rPr lang="en-US" sz="2400" i="1" dirty="0"/>
              <a:t> Finds clusters in dense areas and treats scattered points as noise.</a:t>
            </a:r>
          </a:p>
          <a:p>
            <a:pPr marL="0" indent="0">
              <a:buNone/>
            </a:pPr>
            <a:r>
              <a:rPr lang="en-US" sz="2400" b="1" dirty="0"/>
              <a:t>2. Association Rule Learning</a:t>
            </a:r>
          </a:p>
          <a:p>
            <a:pPr marL="0" indent="0" fontAlgn="base">
              <a:buNone/>
            </a:pPr>
            <a:r>
              <a:rPr lang="en-US" sz="2400" b="1" i="1" u="sng" dirty="0" err="1">
                <a:hlinkClick r:id="rId5"/>
              </a:rPr>
              <a:t>Apriori</a:t>
            </a:r>
            <a:r>
              <a:rPr lang="en-US" sz="2400" b="1" i="1" u="sng" dirty="0">
                <a:hlinkClick r:id="rId5"/>
              </a:rPr>
              <a:t> Algorithm</a:t>
            </a:r>
            <a:r>
              <a:rPr lang="en-US" sz="2400" b="1" i="1" dirty="0"/>
              <a:t>:</a:t>
            </a:r>
            <a:r>
              <a:rPr lang="en-US" sz="2400" i="1" dirty="0"/>
              <a:t> Finds patterns by exploring frequent item combinations step-by-step.</a:t>
            </a:r>
          </a:p>
          <a:p>
            <a:pPr marL="0" indent="0" fontAlgn="base">
              <a:buNone/>
            </a:pPr>
            <a:r>
              <a:rPr lang="en-US" sz="2400" b="1" i="1" u="sng" dirty="0">
                <a:hlinkClick r:id="rId6"/>
              </a:rPr>
              <a:t>FP-Growth Algorithm</a:t>
            </a:r>
            <a:r>
              <a:rPr lang="en-US" sz="2400" b="1" i="1" dirty="0"/>
              <a:t>:</a:t>
            </a:r>
            <a:r>
              <a:rPr lang="en-US" sz="2400" i="1" dirty="0"/>
              <a:t> An Efficient Alternative to </a:t>
            </a:r>
            <a:r>
              <a:rPr lang="en-US" sz="2400" i="1" dirty="0" err="1"/>
              <a:t>Apriori</a:t>
            </a:r>
            <a:r>
              <a:rPr lang="en-US" sz="2400" i="1" dirty="0"/>
              <a:t>. It quickly identifies frequent patterns without generating candidate sets.</a:t>
            </a:r>
          </a:p>
          <a:p>
            <a:pPr marL="0" indent="0" fontAlgn="base">
              <a:buNone/>
            </a:pPr>
            <a:r>
              <a:rPr lang="en-US" sz="2400" b="1" i="1" u="sng" dirty="0">
                <a:hlinkClick r:id="rId7"/>
              </a:rPr>
              <a:t>Eclat Algorithm</a:t>
            </a:r>
            <a:r>
              <a:rPr lang="en-US" sz="2400" b="1" i="1" dirty="0"/>
              <a:t>:</a:t>
            </a:r>
            <a:r>
              <a:rPr lang="en-US" sz="2400" i="1" dirty="0"/>
              <a:t> Uses intersections of </a:t>
            </a:r>
            <a:r>
              <a:rPr lang="en-US" sz="2400" i="1" dirty="0" err="1"/>
              <a:t>itemsets</a:t>
            </a:r>
            <a:r>
              <a:rPr lang="en-US" sz="2400" i="1" dirty="0"/>
              <a:t> to efficiently find frequent patterns.</a:t>
            </a:r>
          </a:p>
          <a:p>
            <a:pPr marL="0" indent="0" fontAlgn="base">
              <a:buNone/>
            </a:pPr>
            <a:r>
              <a:rPr lang="en-US" sz="2400" b="1" i="1" u="sng" dirty="0">
                <a:hlinkClick r:id="rId8"/>
              </a:rPr>
              <a:t>Efficient Tree-based Algorithms</a:t>
            </a:r>
            <a:r>
              <a:rPr lang="en-US" sz="2400" b="1" i="1" dirty="0"/>
              <a:t>:</a:t>
            </a:r>
            <a:r>
              <a:rPr lang="en-US" sz="2400" i="1" dirty="0"/>
              <a:t> Scales to handle large datasets by organizing data in tree structures.</a:t>
            </a:r>
          </a:p>
          <a:p>
            <a:pPr marL="0" indent="0">
              <a:buNone/>
            </a:pPr>
            <a:r>
              <a:rPr lang="en-US" sz="2400" b="1" dirty="0"/>
              <a:t>3. Dimensionality Reduction</a:t>
            </a:r>
          </a:p>
          <a:p>
            <a:pPr marL="0" indent="0" fontAlgn="base">
              <a:buNone/>
            </a:pPr>
            <a:r>
              <a:rPr lang="en-US" sz="2400" b="1" i="1" u="sng" dirty="0">
                <a:hlinkClick r:id="rId9"/>
              </a:rPr>
              <a:t>Principal Component Analysis (PCA)</a:t>
            </a:r>
            <a:r>
              <a:rPr lang="en-US" sz="2400" b="1" i="1" dirty="0"/>
              <a:t>: </a:t>
            </a:r>
            <a:r>
              <a:rPr lang="en-US" sz="2400" i="1" dirty="0"/>
              <a:t>Reduces dimensions by transforming data into uncorrelated principal components.</a:t>
            </a:r>
          </a:p>
          <a:p>
            <a:pPr marL="0" indent="0" fontAlgn="base">
              <a:buNone/>
            </a:pPr>
            <a:r>
              <a:rPr lang="en-US" sz="2400" b="1" i="1" u="sng" dirty="0">
                <a:hlinkClick r:id="rId10"/>
              </a:rPr>
              <a:t>Linear Discriminant Analysis (LDA)</a:t>
            </a:r>
            <a:r>
              <a:rPr lang="en-US" sz="2400" b="1" i="1" dirty="0"/>
              <a:t>:</a:t>
            </a:r>
            <a:r>
              <a:rPr lang="en-US" sz="2400" i="1" dirty="0"/>
              <a:t> Reduces dimensions while maximizing class separability for classification tasks.</a:t>
            </a:r>
          </a:p>
        </p:txBody>
      </p:sp>
    </p:spTree>
    <p:extLst>
      <p:ext uri="{BB962C8B-B14F-4D97-AF65-F5344CB8AC3E}">
        <p14:creationId xmlns:p14="http://schemas.microsoft.com/office/powerpoint/2010/main" val="2139410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E2412-E4A3-5527-B2FC-FA88BD4A4A5F}"/>
              </a:ext>
            </a:extLst>
          </p:cNvPr>
          <p:cNvSpPr>
            <a:spLocks noGrp="1"/>
          </p:cNvSpPr>
          <p:nvPr>
            <p:ph type="title"/>
          </p:nvPr>
        </p:nvSpPr>
        <p:spPr/>
        <p:txBody>
          <a:bodyPr/>
          <a:lstStyle/>
          <a:p>
            <a:r>
              <a:rPr lang="en-US" b="1" dirty="0"/>
              <a:t>Applications of Unsupervised learning</a:t>
            </a:r>
            <a:endParaRPr lang="en-US" dirty="0"/>
          </a:p>
        </p:txBody>
      </p:sp>
      <p:sp>
        <p:nvSpPr>
          <p:cNvPr id="3" name="Content Placeholder 2">
            <a:extLst>
              <a:ext uri="{FF2B5EF4-FFF2-40B4-BE49-F238E27FC236}">
                <a16:creationId xmlns:a16="http://schemas.microsoft.com/office/drawing/2014/main" id="{5D9EB32D-74C6-A495-523C-1C694ED3A659}"/>
              </a:ext>
            </a:extLst>
          </p:cNvPr>
          <p:cNvSpPr>
            <a:spLocks noGrp="1"/>
          </p:cNvSpPr>
          <p:nvPr>
            <p:ph idx="1"/>
          </p:nvPr>
        </p:nvSpPr>
        <p:spPr/>
        <p:txBody>
          <a:bodyPr>
            <a:normAutofit fontScale="92500" lnSpcReduction="10000"/>
          </a:bodyPr>
          <a:lstStyle/>
          <a:p>
            <a:pPr fontAlgn="base"/>
            <a:r>
              <a:rPr lang="en-US" b="1" dirty="0"/>
              <a:t>Customer Segmentation</a:t>
            </a:r>
            <a:r>
              <a:rPr lang="en-US" dirty="0"/>
              <a:t>: Algorithms cluster customers based on purchasing behavior or demographics, enabling targeted marketing strategies.</a:t>
            </a:r>
          </a:p>
          <a:p>
            <a:pPr fontAlgn="base"/>
            <a:r>
              <a:rPr lang="en-US" b="1" dirty="0"/>
              <a:t>Anomaly Detection</a:t>
            </a:r>
            <a:r>
              <a:rPr lang="en-US" dirty="0"/>
              <a:t>: Identifies unusual patterns in data, aiding fraud detection, cybersecurity and equipment failure prevention.</a:t>
            </a:r>
          </a:p>
          <a:p>
            <a:pPr fontAlgn="base"/>
            <a:r>
              <a:rPr lang="en-US" b="1" dirty="0"/>
              <a:t>Recommendation Systems</a:t>
            </a:r>
            <a:r>
              <a:rPr lang="en-US" dirty="0"/>
              <a:t>: Suggests products, movies or music by analyzing user behavior and preferences.</a:t>
            </a:r>
          </a:p>
          <a:p>
            <a:pPr fontAlgn="base"/>
            <a:r>
              <a:rPr lang="en-US" b="1" dirty="0"/>
              <a:t>Image and Text Clustering</a:t>
            </a:r>
            <a:r>
              <a:rPr lang="en-US" dirty="0"/>
              <a:t>: Groups similar images or documents for tasks like organization, classification or content recommendation.</a:t>
            </a:r>
          </a:p>
          <a:p>
            <a:pPr fontAlgn="base"/>
            <a:r>
              <a:rPr lang="en-US" b="1" dirty="0"/>
              <a:t>Social Network Analysis</a:t>
            </a:r>
            <a:r>
              <a:rPr lang="en-US" dirty="0"/>
              <a:t>: Detects communities or trends in user interactions on social media platforms</a:t>
            </a:r>
          </a:p>
          <a:p>
            <a:endParaRPr lang="en-US" dirty="0"/>
          </a:p>
        </p:txBody>
      </p:sp>
    </p:spTree>
    <p:extLst>
      <p:ext uri="{BB962C8B-B14F-4D97-AF65-F5344CB8AC3E}">
        <p14:creationId xmlns:p14="http://schemas.microsoft.com/office/powerpoint/2010/main" val="3514178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830C857-7369-6EF6-AFA7-40EA8CC31107}"/>
              </a:ext>
            </a:extLst>
          </p:cNvPr>
          <p:cNvGraphicFramePr>
            <a:graphicFrameLocks noGrp="1"/>
          </p:cNvGraphicFramePr>
          <p:nvPr>
            <p:extLst>
              <p:ext uri="{D42A27DB-BD31-4B8C-83A1-F6EECF244321}">
                <p14:modId xmlns:p14="http://schemas.microsoft.com/office/powerpoint/2010/main" val="804999299"/>
              </p:ext>
            </p:extLst>
          </p:nvPr>
        </p:nvGraphicFramePr>
        <p:xfrm>
          <a:off x="838201" y="1321296"/>
          <a:ext cx="9928860" cy="4924072"/>
        </p:xfrm>
        <a:graphic>
          <a:graphicData uri="http://schemas.openxmlformats.org/drawingml/2006/table">
            <a:tbl>
              <a:tblPr/>
              <a:tblGrid>
                <a:gridCol w="4579503">
                  <a:extLst>
                    <a:ext uri="{9D8B030D-6E8A-4147-A177-3AD203B41FA5}">
                      <a16:colId xmlns:a16="http://schemas.microsoft.com/office/drawing/2014/main" val="530714194"/>
                    </a:ext>
                  </a:extLst>
                </a:gridCol>
                <a:gridCol w="5349357">
                  <a:extLst>
                    <a:ext uri="{9D8B030D-6E8A-4147-A177-3AD203B41FA5}">
                      <a16:colId xmlns:a16="http://schemas.microsoft.com/office/drawing/2014/main" val="3911823730"/>
                    </a:ext>
                  </a:extLst>
                </a:gridCol>
              </a:tblGrid>
              <a:tr h="615509">
                <a:tc>
                  <a:txBody>
                    <a:bodyPr/>
                    <a:lstStyle/>
                    <a:p>
                      <a:pPr>
                        <a:buNone/>
                      </a:pPr>
                      <a:r>
                        <a:rPr lang="en-US" sz="2800" b="1"/>
                        <a:t>Domain</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800" b="1" dirty="0"/>
                        <a:t>Use Case</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6782293"/>
                  </a:ext>
                </a:extLst>
              </a:tr>
              <a:tr h="615509">
                <a:tc>
                  <a:txBody>
                    <a:bodyPr/>
                    <a:lstStyle/>
                    <a:p>
                      <a:pPr>
                        <a:buNone/>
                      </a:pPr>
                      <a:r>
                        <a:rPr lang="en-US" sz="2800"/>
                        <a:t>Marketing</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800"/>
                        <a:t>Customer segmentation</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2952973"/>
                  </a:ext>
                </a:extLst>
              </a:tr>
              <a:tr h="615509">
                <a:tc>
                  <a:txBody>
                    <a:bodyPr/>
                    <a:lstStyle/>
                    <a:p>
                      <a:pPr>
                        <a:buNone/>
                      </a:pPr>
                      <a:r>
                        <a:rPr lang="en-US" sz="2800"/>
                        <a:t>Banking</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800"/>
                        <a:t>Fraud detection</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9271499"/>
                  </a:ext>
                </a:extLst>
              </a:tr>
              <a:tr h="615509">
                <a:tc>
                  <a:txBody>
                    <a:bodyPr/>
                    <a:lstStyle/>
                    <a:p>
                      <a:pPr>
                        <a:buNone/>
                      </a:pPr>
                      <a:r>
                        <a:rPr lang="en-US" sz="2800"/>
                        <a:t>Healthcare</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800"/>
                        <a:t>Disease subtype discovery</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3343024"/>
                  </a:ext>
                </a:extLst>
              </a:tr>
              <a:tr h="615509">
                <a:tc>
                  <a:txBody>
                    <a:bodyPr/>
                    <a:lstStyle/>
                    <a:p>
                      <a:pPr>
                        <a:buNone/>
                      </a:pPr>
                      <a:r>
                        <a:rPr lang="en-US" sz="2800"/>
                        <a:t>Retail</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800"/>
                        <a:t>Product categorization</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4964807"/>
                  </a:ext>
                </a:extLst>
              </a:tr>
              <a:tr h="615509">
                <a:tc>
                  <a:txBody>
                    <a:bodyPr/>
                    <a:lstStyle/>
                    <a:p>
                      <a:pPr>
                        <a:buNone/>
                      </a:pPr>
                      <a:r>
                        <a:rPr lang="en-US" sz="2800"/>
                        <a:t>Image Processing</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800"/>
                        <a:t>Image segmentation</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821453"/>
                  </a:ext>
                </a:extLst>
              </a:tr>
              <a:tr h="615509">
                <a:tc>
                  <a:txBody>
                    <a:bodyPr/>
                    <a:lstStyle/>
                    <a:p>
                      <a:pPr>
                        <a:buNone/>
                      </a:pPr>
                      <a:r>
                        <a:rPr lang="en-US" sz="2800"/>
                        <a:t>NLP</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800"/>
                        <a:t>Document clustering</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814284"/>
                  </a:ext>
                </a:extLst>
              </a:tr>
              <a:tr h="615509">
                <a:tc>
                  <a:txBody>
                    <a:bodyPr/>
                    <a:lstStyle/>
                    <a:p>
                      <a:pPr>
                        <a:buNone/>
                      </a:pPr>
                      <a:r>
                        <a:rPr lang="en-US" sz="2800"/>
                        <a:t>IoT</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800" dirty="0"/>
                        <a:t>Sensor pattern detection</a:t>
                      </a:r>
                    </a:p>
                  </a:txBody>
                  <a:tcPr marL="139888" marR="139888" marT="69944" marB="699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130221"/>
                  </a:ext>
                </a:extLst>
              </a:tr>
            </a:tbl>
          </a:graphicData>
        </a:graphic>
      </p:graphicFrame>
      <p:sp>
        <p:nvSpPr>
          <p:cNvPr id="3" name="Title 2">
            <a:extLst>
              <a:ext uri="{FF2B5EF4-FFF2-40B4-BE49-F238E27FC236}">
                <a16:creationId xmlns:a16="http://schemas.microsoft.com/office/drawing/2014/main" id="{636504D8-75A9-C3C2-691E-32A9D7B179A0}"/>
              </a:ext>
            </a:extLst>
          </p:cNvPr>
          <p:cNvSpPr>
            <a:spLocks noGrp="1"/>
          </p:cNvSpPr>
          <p:nvPr>
            <p:ph type="title"/>
          </p:nvPr>
        </p:nvSpPr>
        <p:spPr>
          <a:xfrm>
            <a:off x="838200" y="-103505"/>
            <a:ext cx="10515600" cy="1325563"/>
          </a:xfrm>
        </p:spPr>
        <p:txBody>
          <a:bodyPr/>
          <a:lstStyle/>
          <a:p>
            <a:r>
              <a:rPr lang="en-US" dirty="0"/>
              <a:t>Business Use Cases</a:t>
            </a:r>
          </a:p>
        </p:txBody>
      </p:sp>
    </p:spTree>
    <p:extLst>
      <p:ext uri="{BB962C8B-B14F-4D97-AF65-F5344CB8AC3E}">
        <p14:creationId xmlns:p14="http://schemas.microsoft.com/office/powerpoint/2010/main" val="1623979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A8CBF-7D78-56AB-E14E-3DB08681C0A0}"/>
              </a:ext>
            </a:extLst>
          </p:cNvPr>
          <p:cNvSpPr>
            <a:spLocks noGrp="1"/>
          </p:cNvSpPr>
          <p:nvPr>
            <p:ph type="title"/>
          </p:nvPr>
        </p:nvSpPr>
        <p:spPr/>
        <p:txBody>
          <a:bodyPr/>
          <a:lstStyle/>
          <a:p>
            <a:r>
              <a:rPr lang="en-US" b="1" dirty="0"/>
              <a:t>Principal component analysis (PCA)</a:t>
            </a:r>
          </a:p>
        </p:txBody>
      </p:sp>
      <p:sp>
        <p:nvSpPr>
          <p:cNvPr id="3" name="Content Placeholder 2">
            <a:extLst>
              <a:ext uri="{FF2B5EF4-FFF2-40B4-BE49-F238E27FC236}">
                <a16:creationId xmlns:a16="http://schemas.microsoft.com/office/drawing/2014/main" id="{B2411771-1C85-5180-F741-64684586E6E3}"/>
              </a:ext>
            </a:extLst>
          </p:cNvPr>
          <p:cNvSpPr>
            <a:spLocks noGrp="1"/>
          </p:cNvSpPr>
          <p:nvPr>
            <p:ph idx="1"/>
          </p:nvPr>
        </p:nvSpPr>
        <p:spPr>
          <a:xfrm>
            <a:off x="838200" y="1825625"/>
            <a:ext cx="10515600" cy="4667250"/>
          </a:xfrm>
        </p:spPr>
        <p:txBody>
          <a:bodyPr>
            <a:normAutofit lnSpcReduction="10000"/>
          </a:bodyPr>
          <a:lstStyle/>
          <a:p>
            <a:pPr marL="0" indent="0">
              <a:buNone/>
            </a:pPr>
            <a:r>
              <a:rPr lang="en-US" sz="3200" dirty="0"/>
              <a:t>It is the process of computing the principal components then using them to perform a change of basis on the data. In other words, PCA is an unsupervised learning dimensionality reduction technique. </a:t>
            </a:r>
          </a:p>
          <a:p>
            <a:pPr marL="0" indent="0">
              <a:buNone/>
            </a:pPr>
            <a:r>
              <a:rPr lang="en-US" sz="3200" dirty="0"/>
              <a:t>It’s useful to reduce the dimensionality of a dataset for two main reasons: </a:t>
            </a:r>
          </a:p>
          <a:p>
            <a:r>
              <a:rPr lang="en-US" sz="3200" dirty="0"/>
              <a:t>When there are too many dimensions in a dataset to visualize </a:t>
            </a:r>
          </a:p>
          <a:p>
            <a:r>
              <a:rPr lang="en-US" sz="3200" dirty="0"/>
              <a:t>To identify the most predictive n dimensions for feature selection when building a predictive model. </a:t>
            </a:r>
          </a:p>
          <a:p>
            <a:endParaRPr lang="en-US" dirty="0"/>
          </a:p>
        </p:txBody>
      </p:sp>
    </p:spTree>
    <p:extLst>
      <p:ext uri="{BB962C8B-B14F-4D97-AF65-F5344CB8AC3E}">
        <p14:creationId xmlns:p14="http://schemas.microsoft.com/office/powerpoint/2010/main" val="1232674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56B7C-5792-97F7-B201-6216F2E1F590}"/>
              </a:ext>
            </a:extLst>
          </p:cNvPr>
          <p:cNvSpPr>
            <a:spLocks noGrp="1"/>
          </p:cNvSpPr>
          <p:nvPr>
            <p:ph type="title"/>
          </p:nvPr>
        </p:nvSpPr>
        <p:spPr/>
        <p:txBody>
          <a:bodyPr/>
          <a:lstStyle/>
          <a:p>
            <a:r>
              <a:rPr lang="en-US" dirty="0"/>
              <a:t>PCA - Example</a:t>
            </a:r>
          </a:p>
        </p:txBody>
      </p:sp>
      <p:sp>
        <p:nvSpPr>
          <p:cNvPr id="3" name="Content Placeholder 2">
            <a:extLst>
              <a:ext uri="{FF2B5EF4-FFF2-40B4-BE49-F238E27FC236}">
                <a16:creationId xmlns:a16="http://schemas.microsoft.com/office/drawing/2014/main" id="{83C0B407-02D1-7FF4-51BE-B784D1F5F2AC}"/>
              </a:ext>
            </a:extLst>
          </p:cNvPr>
          <p:cNvSpPr>
            <a:spLocks noGrp="1"/>
          </p:cNvSpPr>
          <p:nvPr>
            <p:ph idx="1"/>
          </p:nvPr>
        </p:nvSpPr>
        <p:spPr/>
        <p:txBody>
          <a:bodyPr>
            <a:normAutofit lnSpcReduction="10000"/>
          </a:bodyPr>
          <a:lstStyle/>
          <a:p>
            <a:pPr marL="0" indent="0">
              <a:buNone/>
            </a:pPr>
            <a:r>
              <a:rPr lang="en-US" dirty="0"/>
              <a:t>from </a:t>
            </a:r>
            <a:r>
              <a:rPr lang="en-US" dirty="0" err="1"/>
              <a:t>sklearn.datasets</a:t>
            </a:r>
            <a:r>
              <a:rPr lang="en-US" dirty="0"/>
              <a:t> import </a:t>
            </a:r>
            <a:r>
              <a:rPr lang="en-US" dirty="0" err="1"/>
              <a:t>load_iris</a:t>
            </a:r>
            <a:r>
              <a:rPr lang="en-US" dirty="0"/>
              <a:t> # Dataset</a:t>
            </a:r>
          </a:p>
          <a:p>
            <a:pPr marL="0" indent="0">
              <a:buNone/>
            </a:pPr>
            <a:r>
              <a:rPr lang="en-US" dirty="0"/>
              <a:t>from </a:t>
            </a:r>
            <a:r>
              <a:rPr lang="en-US" dirty="0" err="1"/>
              <a:t>sklearn.decomposition</a:t>
            </a:r>
            <a:r>
              <a:rPr lang="en-US" dirty="0"/>
              <a:t> import PCA # Algorithm</a:t>
            </a:r>
          </a:p>
          <a:p>
            <a:pPr marL="0" indent="0">
              <a:buNone/>
            </a:pPr>
            <a:r>
              <a:rPr lang="en-US" dirty="0"/>
              <a:t>import </a:t>
            </a:r>
            <a:r>
              <a:rPr lang="en-US" dirty="0" err="1"/>
              <a:t>matplotlib.pyplot</a:t>
            </a:r>
            <a:r>
              <a:rPr lang="en-US" dirty="0"/>
              <a:t> as </a:t>
            </a:r>
            <a:r>
              <a:rPr lang="en-US" dirty="0" err="1"/>
              <a:t>plt</a:t>
            </a:r>
            <a:r>
              <a:rPr lang="en-US" dirty="0"/>
              <a:t> # Visualization</a:t>
            </a:r>
          </a:p>
          <a:p>
            <a:pPr marL="0" indent="0">
              <a:buNone/>
            </a:pPr>
            <a:endParaRPr lang="en-US" dirty="0"/>
          </a:p>
          <a:p>
            <a:pPr marL="0" indent="0">
              <a:buNone/>
            </a:pPr>
            <a:r>
              <a:rPr lang="en-US" dirty="0"/>
              <a:t># Load the data </a:t>
            </a:r>
          </a:p>
          <a:p>
            <a:pPr marL="0" indent="0">
              <a:buNone/>
            </a:pPr>
            <a:r>
              <a:rPr lang="en-US" dirty="0" err="1"/>
              <a:t>iris_data</a:t>
            </a:r>
            <a:r>
              <a:rPr lang="en-US" dirty="0"/>
              <a:t> = </a:t>
            </a:r>
            <a:r>
              <a:rPr lang="en-US" dirty="0" err="1"/>
              <a:t>load_iris</a:t>
            </a:r>
            <a:r>
              <a:rPr lang="en-US" dirty="0"/>
              <a:t>(</a:t>
            </a:r>
            <a:r>
              <a:rPr lang="en-US" dirty="0" err="1"/>
              <a:t>as_frame</a:t>
            </a:r>
            <a:r>
              <a:rPr lang="en-US" dirty="0"/>
              <a:t>=True)</a:t>
            </a:r>
          </a:p>
          <a:p>
            <a:pPr marL="0" indent="0">
              <a:buNone/>
            </a:pPr>
            <a:endParaRPr lang="en-US" dirty="0"/>
          </a:p>
          <a:p>
            <a:pPr marL="0" indent="0">
              <a:buNone/>
            </a:pPr>
            <a:r>
              <a:rPr lang="en-US" dirty="0"/>
              <a:t># Preview</a:t>
            </a:r>
          </a:p>
          <a:p>
            <a:pPr marL="0" indent="0">
              <a:buNone/>
            </a:pPr>
            <a:r>
              <a:rPr lang="en-US" dirty="0" err="1"/>
              <a:t>iris_data.data.head</a:t>
            </a:r>
            <a:r>
              <a:rPr lang="en-US" dirty="0"/>
              <a:t>()</a:t>
            </a:r>
          </a:p>
        </p:txBody>
      </p:sp>
    </p:spTree>
    <p:extLst>
      <p:ext uri="{BB962C8B-B14F-4D97-AF65-F5344CB8AC3E}">
        <p14:creationId xmlns:p14="http://schemas.microsoft.com/office/powerpoint/2010/main" val="2172029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0BBA-AB94-1B41-8FF9-537F1E5211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47C0EF-E018-5E68-19C3-A66540E6BCC1}"/>
              </a:ext>
            </a:extLst>
          </p:cNvPr>
          <p:cNvSpPr>
            <a:spLocks noGrp="1"/>
          </p:cNvSpPr>
          <p:nvPr>
            <p:ph idx="1"/>
          </p:nvPr>
        </p:nvSpPr>
        <p:spPr/>
        <p:txBody>
          <a:bodyPr>
            <a:normAutofit fontScale="77500" lnSpcReduction="20000"/>
          </a:bodyPr>
          <a:lstStyle/>
          <a:p>
            <a:pPr marL="0" indent="0">
              <a:buNone/>
            </a:pPr>
            <a:r>
              <a:rPr lang="en-US" dirty="0" err="1"/>
              <a:t>plt.rcParams</a:t>
            </a:r>
            <a:r>
              <a:rPr lang="en-US" dirty="0"/>
              <a:t>["</a:t>
            </a:r>
            <a:r>
              <a:rPr lang="en-US" dirty="0" err="1"/>
              <a:t>figure.figsize</a:t>
            </a:r>
            <a:r>
              <a:rPr lang="en-US" dirty="0"/>
              <a:t>"] = [7.00, 3.50]</a:t>
            </a:r>
          </a:p>
          <a:p>
            <a:pPr marL="0" indent="0">
              <a:buNone/>
            </a:pPr>
            <a:r>
              <a:rPr lang="en-US" dirty="0" err="1"/>
              <a:t>plt.rcParams</a:t>
            </a:r>
            <a:r>
              <a:rPr lang="en-US" dirty="0"/>
              <a:t>["</a:t>
            </a:r>
            <a:r>
              <a:rPr lang="en-US" dirty="0" err="1"/>
              <a:t>figure.autolayout</a:t>
            </a:r>
            <a:r>
              <a:rPr lang="en-US" dirty="0"/>
              <a:t>"] = True</a:t>
            </a:r>
          </a:p>
          <a:p>
            <a:pPr marL="0" indent="0">
              <a:buNone/>
            </a:pPr>
            <a:endParaRPr lang="en-US" dirty="0"/>
          </a:p>
          <a:p>
            <a:pPr marL="0" indent="0">
              <a:buNone/>
            </a:pPr>
            <a:r>
              <a:rPr lang="en-US" dirty="0"/>
              <a:t>fig = </a:t>
            </a:r>
            <a:r>
              <a:rPr lang="en-US" dirty="0" err="1"/>
              <a:t>plt.figure</a:t>
            </a:r>
            <a:r>
              <a:rPr lang="en-US" dirty="0"/>
              <a:t>()</a:t>
            </a:r>
          </a:p>
          <a:p>
            <a:pPr marL="0" indent="0">
              <a:buNone/>
            </a:pPr>
            <a:r>
              <a:rPr lang="en-US" dirty="0"/>
              <a:t>ax = </a:t>
            </a:r>
            <a:r>
              <a:rPr lang="en-US" dirty="0" err="1"/>
              <a:t>fig.add_subplot</a:t>
            </a:r>
            <a:r>
              <a:rPr lang="en-US" dirty="0"/>
              <a:t>(111, projection='3d')</a:t>
            </a:r>
          </a:p>
          <a:p>
            <a:pPr marL="0" indent="0">
              <a:buNone/>
            </a:pPr>
            <a:r>
              <a:rPr lang="en-US" dirty="0" err="1"/>
              <a:t>sepal_length</a:t>
            </a:r>
            <a:r>
              <a:rPr lang="en-US" dirty="0"/>
              <a:t> = </a:t>
            </a:r>
            <a:r>
              <a:rPr lang="en-US" dirty="0" err="1"/>
              <a:t>iris_data.data</a:t>
            </a:r>
            <a:r>
              <a:rPr lang="en-US" dirty="0"/>
              <a:t>["sepal length (cm)"]</a:t>
            </a:r>
          </a:p>
          <a:p>
            <a:pPr marL="0" indent="0">
              <a:buNone/>
            </a:pPr>
            <a:r>
              <a:rPr lang="en-US" dirty="0" err="1"/>
              <a:t>sepal_width</a:t>
            </a:r>
            <a:r>
              <a:rPr lang="en-US" dirty="0"/>
              <a:t> = </a:t>
            </a:r>
            <a:r>
              <a:rPr lang="en-US" dirty="0" err="1"/>
              <a:t>iris_data.data</a:t>
            </a:r>
            <a:r>
              <a:rPr lang="en-US" dirty="0"/>
              <a:t>["sepal width (cm)"]</a:t>
            </a:r>
          </a:p>
          <a:p>
            <a:pPr marL="0" indent="0">
              <a:buNone/>
            </a:pPr>
            <a:r>
              <a:rPr lang="en-US" dirty="0" err="1"/>
              <a:t>petal_length</a:t>
            </a:r>
            <a:r>
              <a:rPr lang="en-US" dirty="0"/>
              <a:t> = </a:t>
            </a:r>
            <a:r>
              <a:rPr lang="en-US" dirty="0" err="1"/>
              <a:t>iris_data.data</a:t>
            </a:r>
            <a:r>
              <a:rPr lang="en-US" dirty="0"/>
              <a:t>["petal length (cm)"]</a:t>
            </a:r>
          </a:p>
          <a:p>
            <a:pPr marL="0" indent="0">
              <a:buNone/>
            </a:pPr>
            <a:r>
              <a:rPr lang="en-US" dirty="0" err="1"/>
              <a:t>petal_width</a:t>
            </a:r>
            <a:r>
              <a:rPr lang="en-US" dirty="0"/>
              <a:t> = </a:t>
            </a:r>
            <a:r>
              <a:rPr lang="en-US" dirty="0" err="1"/>
              <a:t>iris_data.data</a:t>
            </a:r>
            <a:r>
              <a:rPr lang="en-US" dirty="0"/>
              <a:t>["petal width (cm)"]</a:t>
            </a:r>
          </a:p>
          <a:p>
            <a:pPr marL="0" indent="0">
              <a:buNone/>
            </a:pPr>
            <a:endParaRPr lang="en-US" dirty="0"/>
          </a:p>
          <a:p>
            <a:pPr marL="0" indent="0">
              <a:buNone/>
            </a:pPr>
            <a:r>
              <a:rPr lang="en-US" dirty="0" err="1"/>
              <a:t>ax.scatter</a:t>
            </a:r>
            <a:r>
              <a:rPr lang="en-US" dirty="0"/>
              <a:t>(</a:t>
            </a:r>
            <a:r>
              <a:rPr lang="en-US" dirty="0" err="1"/>
              <a:t>sepal_length</a:t>
            </a:r>
            <a:r>
              <a:rPr lang="en-US" dirty="0"/>
              <a:t>, </a:t>
            </a:r>
            <a:r>
              <a:rPr lang="en-US" dirty="0" err="1"/>
              <a:t>sepal_width</a:t>
            </a:r>
            <a:r>
              <a:rPr lang="en-US" dirty="0"/>
              <a:t>, </a:t>
            </a:r>
            <a:r>
              <a:rPr lang="en-US" dirty="0" err="1"/>
              <a:t>petal_length</a:t>
            </a:r>
            <a:r>
              <a:rPr lang="en-US" dirty="0"/>
              <a:t>, c=</a:t>
            </a:r>
            <a:r>
              <a:rPr lang="en-US" dirty="0" err="1"/>
              <a:t>petal_width</a:t>
            </a:r>
            <a:r>
              <a:rPr lang="en-US" dirty="0"/>
              <a:t>)</a:t>
            </a:r>
          </a:p>
          <a:p>
            <a:pPr marL="0" indent="0">
              <a:buNone/>
            </a:pPr>
            <a:r>
              <a:rPr lang="en-US" dirty="0" err="1"/>
              <a:t>plt.show</a:t>
            </a:r>
            <a:r>
              <a:rPr lang="en-US" dirty="0"/>
              <a:t>()</a:t>
            </a:r>
          </a:p>
        </p:txBody>
      </p:sp>
    </p:spTree>
    <p:extLst>
      <p:ext uri="{BB962C8B-B14F-4D97-AF65-F5344CB8AC3E}">
        <p14:creationId xmlns:p14="http://schemas.microsoft.com/office/powerpoint/2010/main" val="1072050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273AF9-0B72-60BB-566D-C3F37DE4622F}"/>
              </a:ext>
            </a:extLst>
          </p:cNvPr>
          <p:cNvPicPr>
            <a:picLocks noChangeAspect="1"/>
          </p:cNvPicPr>
          <p:nvPr/>
        </p:nvPicPr>
        <p:blipFill>
          <a:blip r:embed="rId2"/>
          <a:stretch>
            <a:fillRect/>
          </a:stretch>
        </p:blipFill>
        <p:spPr>
          <a:xfrm>
            <a:off x="2396080" y="306395"/>
            <a:ext cx="5868219" cy="4439270"/>
          </a:xfrm>
          <a:prstGeom prst="rect">
            <a:avLst/>
          </a:prstGeom>
        </p:spPr>
      </p:pic>
      <p:sp>
        <p:nvSpPr>
          <p:cNvPr id="6" name="TextBox 5">
            <a:extLst>
              <a:ext uri="{FF2B5EF4-FFF2-40B4-BE49-F238E27FC236}">
                <a16:creationId xmlns:a16="http://schemas.microsoft.com/office/drawing/2014/main" id="{03B11125-9F58-CB63-B4C9-01BFCFB15C4B}"/>
              </a:ext>
            </a:extLst>
          </p:cNvPr>
          <p:cNvSpPr txBox="1"/>
          <p:nvPr/>
        </p:nvSpPr>
        <p:spPr>
          <a:xfrm>
            <a:off x="716756" y="4745665"/>
            <a:ext cx="10758487" cy="1341393"/>
          </a:xfrm>
          <a:prstGeom prst="rect">
            <a:avLst/>
          </a:prstGeom>
          <a:noFill/>
        </p:spPr>
        <p:txBody>
          <a:bodyPr wrap="square">
            <a:spAutoFit/>
          </a:bodyPr>
          <a:lstStyle/>
          <a:p>
            <a:pPr algn="l">
              <a:spcAft>
                <a:spcPts val="1050"/>
              </a:spcAft>
              <a:buNone/>
            </a:pPr>
            <a:r>
              <a:rPr lang="en-US" b="0" i="0" dirty="0">
                <a:solidFill>
                  <a:srgbClr val="05192D"/>
                </a:solidFill>
                <a:effectLst/>
                <a:latin typeface="Studio-Feixen-Sans"/>
              </a:rPr>
              <a:t>It’s quite difficult to get insights from this visualization because all of the </a:t>
            </a:r>
            <a:r>
              <a:rPr lang="en-US" b="0" i="0" dirty="0" err="1">
                <a:solidFill>
                  <a:srgbClr val="05192D"/>
                </a:solidFill>
                <a:effectLst/>
                <a:latin typeface="Studio-Feixen-Sans"/>
              </a:rPr>
              <a:t>inststances</a:t>
            </a:r>
            <a:r>
              <a:rPr lang="en-US" b="0" i="0" dirty="0">
                <a:solidFill>
                  <a:srgbClr val="05192D"/>
                </a:solidFill>
                <a:effectLst/>
                <a:latin typeface="Studio-Feixen-Sans"/>
              </a:rPr>
              <a:t> are jumbled together since we only have access to one viewpoint when we visualize data in three dimensions in this scenario.  </a:t>
            </a:r>
          </a:p>
          <a:p>
            <a:pPr algn="l">
              <a:spcAft>
                <a:spcPts val="1050"/>
              </a:spcAft>
              <a:buNone/>
            </a:pPr>
            <a:r>
              <a:rPr lang="en-US" b="0" i="0" dirty="0">
                <a:solidFill>
                  <a:srgbClr val="05192D"/>
                </a:solidFill>
                <a:effectLst/>
                <a:latin typeface="Studio-Feixen-Sans"/>
              </a:rPr>
              <a:t>With PCA, we can reduce the dimensions of the data down to two, which would then make it easier to visualize our data and tell apart the classes. </a:t>
            </a:r>
          </a:p>
        </p:txBody>
      </p:sp>
    </p:spTree>
    <p:extLst>
      <p:ext uri="{BB962C8B-B14F-4D97-AF65-F5344CB8AC3E}">
        <p14:creationId xmlns:p14="http://schemas.microsoft.com/office/powerpoint/2010/main" val="1839302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721DDF-4C38-3B82-B7B4-854CCACE60F2}"/>
              </a:ext>
            </a:extLst>
          </p:cNvPr>
          <p:cNvSpPr>
            <a:spLocks noGrp="1"/>
          </p:cNvSpPr>
          <p:nvPr>
            <p:ph idx="1"/>
          </p:nvPr>
        </p:nvSpPr>
        <p:spPr>
          <a:xfrm>
            <a:off x="838200" y="525780"/>
            <a:ext cx="10515600" cy="5651183"/>
          </a:xfrm>
        </p:spPr>
        <p:txBody>
          <a:bodyPr>
            <a:normAutofit fontScale="85000" lnSpcReduction="20000"/>
          </a:bodyPr>
          <a:lstStyle/>
          <a:p>
            <a:pPr marL="0" indent="0">
              <a:buNone/>
            </a:pPr>
            <a:r>
              <a:rPr lang="en-US" dirty="0"/>
              <a:t># Instantiate PCA with 2 components</a:t>
            </a:r>
          </a:p>
          <a:p>
            <a:pPr marL="0" indent="0">
              <a:buNone/>
            </a:pPr>
            <a:r>
              <a:rPr lang="en-US" dirty="0" err="1"/>
              <a:t>pca</a:t>
            </a:r>
            <a:r>
              <a:rPr lang="en-US" dirty="0"/>
              <a:t> = PCA(</a:t>
            </a:r>
            <a:r>
              <a:rPr lang="en-US" dirty="0" err="1"/>
              <a:t>n_components</a:t>
            </a:r>
            <a:r>
              <a:rPr lang="en-US" dirty="0"/>
              <a:t>=2)</a:t>
            </a:r>
          </a:p>
          <a:p>
            <a:pPr marL="0" indent="0">
              <a:buNone/>
            </a:pPr>
            <a:endParaRPr lang="en-US" dirty="0"/>
          </a:p>
          <a:p>
            <a:pPr marL="0" indent="0">
              <a:buNone/>
            </a:pPr>
            <a:r>
              <a:rPr lang="en-US" dirty="0"/>
              <a:t># Train the model </a:t>
            </a:r>
          </a:p>
          <a:p>
            <a:pPr marL="0" indent="0">
              <a:buNone/>
            </a:pPr>
            <a:r>
              <a:rPr lang="en-US" dirty="0" err="1"/>
              <a:t>pca.fit</a:t>
            </a:r>
            <a:r>
              <a:rPr lang="en-US" dirty="0"/>
              <a:t>(</a:t>
            </a:r>
            <a:r>
              <a:rPr lang="en-US" dirty="0" err="1"/>
              <a:t>iris_data.data</a:t>
            </a:r>
            <a:r>
              <a:rPr lang="en-US" dirty="0"/>
              <a:t>)</a:t>
            </a:r>
          </a:p>
          <a:p>
            <a:pPr marL="0" indent="0">
              <a:buNone/>
            </a:pPr>
            <a:r>
              <a:rPr lang="en-US" dirty="0" err="1"/>
              <a:t>iris_data_reduced</a:t>
            </a:r>
            <a:r>
              <a:rPr lang="en-US" dirty="0"/>
              <a:t> = </a:t>
            </a:r>
            <a:r>
              <a:rPr lang="en-US" dirty="0" err="1"/>
              <a:t>pca.fit_transform</a:t>
            </a:r>
            <a:r>
              <a:rPr lang="en-US" dirty="0"/>
              <a:t>(</a:t>
            </a:r>
            <a:r>
              <a:rPr lang="en-US" dirty="0" err="1"/>
              <a:t>iris_data.data</a:t>
            </a:r>
            <a:r>
              <a:rPr lang="en-US" dirty="0"/>
              <a:t>)</a:t>
            </a:r>
          </a:p>
          <a:p>
            <a:pPr marL="0" indent="0">
              <a:buNone/>
            </a:pPr>
            <a:endParaRPr lang="en-US" dirty="0"/>
          </a:p>
          <a:p>
            <a:pPr marL="0" indent="0">
              <a:buNone/>
            </a:pPr>
            <a:r>
              <a:rPr lang="en-US" dirty="0"/>
              <a:t># Plot data</a:t>
            </a:r>
          </a:p>
          <a:p>
            <a:pPr marL="0" indent="0">
              <a:buNone/>
            </a:pPr>
            <a:r>
              <a:rPr lang="en-US" dirty="0" err="1"/>
              <a:t>plt.scatter</a:t>
            </a:r>
            <a:r>
              <a:rPr lang="en-US" dirty="0"/>
              <a:t>(</a:t>
            </a:r>
          </a:p>
          <a:p>
            <a:pPr marL="0" indent="0">
              <a:buNone/>
            </a:pPr>
            <a:r>
              <a:rPr lang="en-US" dirty="0"/>
              <a:t>    </a:t>
            </a:r>
            <a:r>
              <a:rPr lang="en-US" dirty="0" err="1"/>
              <a:t>iris_data_reduced</a:t>
            </a:r>
            <a:r>
              <a:rPr lang="en-US" dirty="0"/>
              <a:t>[:,0],</a:t>
            </a:r>
          </a:p>
          <a:p>
            <a:pPr marL="0" indent="0">
              <a:buNone/>
            </a:pPr>
            <a:r>
              <a:rPr lang="en-US" dirty="0"/>
              <a:t>    </a:t>
            </a:r>
            <a:r>
              <a:rPr lang="en-US" dirty="0" err="1"/>
              <a:t>iris_data_reduced</a:t>
            </a:r>
            <a:r>
              <a:rPr lang="en-US" dirty="0"/>
              <a:t>[:,1],</a:t>
            </a:r>
          </a:p>
          <a:p>
            <a:pPr marL="0" indent="0">
              <a:buNone/>
            </a:pPr>
            <a:r>
              <a:rPr lang="en-US" dirty="0"/>
              <a:t>    c=</a:t>
            </a:r>
            <a:r>
              <a:rPr lang="en-US" dirty="0" err="1"/>
              <a:t>iris_data.target</a:t>
            </a:r>
            <a:endParaRPr lang="en-US" dirty="0"/>
          </a:p>
          <a:p>
            <a:pPr marL="0" indent="0">
              <a:buNone/>
            </a:pPr>
            <a:r>
              <a:rPr lang="en-US" dirty="0"/>
              <a:t>)</a:t>
            </a:r>
          </a:p>
          <a:p>
            <a:pPr marL="0" indent="0">
              <a:buNone/>
            </a:pPr>
            <a:r>
              <a:rPr lang="en-US" dirty="0" err="1"/>
              <a:t>plt.show</a:t>
            </a:r>
            <a:r>
              <a:rPr lang="en-US" dirty="0"/>
              <a:t>()</a:t>
            </a:r>
          </a:p>
        </p:txBody>
      </p:sp>
    </p:spTree>
    <p:extLst>
      <p:ext uri="{BB962C8B-B14F-4D97-AF65-F5344CB8AC3E}">
        <p14:creationId xmlns:p14="http://schemas.microsoft.com/office/powerpoint/2010/main" val="1687972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ABBC26-84F0-22F8-DF93-503860D08C52}"/>
              </a:ext>
            </a:extLst>
          </p:cNvPr>
          <p:cNvPicPr>
            <a:picLocks noChangeAspect="1"/>
          </p:cNvPicPr>
          <p:nvPr/>
        </p:nvPicPr>
        <p:blipFill>
          <a:blip r:embed="rId2"/>
          <a:stretch>
            <a:fillRect/>
          </a:stretch>
        </p:blipFill>
        <p:spPr>
          <a:xfrm>
            <a:off x="1215843" y="627454"/>
            <a:ext cx="9174329" cy="4458895"/>
          </a:xfrm>
          <a:prstGeom prst="rect">
            <a:avLst/>
          </a:prstGeom>
        </p:spPr>
      </p:pic>
    </p:spTree>
    <p:extLst>
      <p:ext uri="{BB962C8B-B14F-4D97-AF65-F5344CB8AC3E}">
        <p14:creationId xmlns:p14="http://schemas.microsoft.com/office/powerpoint/2010/main" val="777464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833AD4-6DC9-EE8B-C99A-57D0B3EA2C8C}"/>
              </a:ext>
            </a:extLst>
          </p:cNvPr>
          <p:cNvSpPr>
            <a:spLocks noGrp="1"/>
          </p:cNvSpPr>
          <p:nvPr>
            <p:ph type="title"/>
          </p:nvPr>
        </p:nvSpPr>
        <p:spPr>
          <a:xfrm>
            <a:off x="1043631" y="809898"/>
            <a:ext cx="9942716" cy="1554480"/>
          </a:xfrm>
        </p:spPr>
        <p:txBody>
          <a:bodyPr anchor="ctr">
            <a:normAutofit/>
          </a:bodyPr>
          <a:lstStyle/>
          <a:p>
            <a:r>
              <a:rPr lang="en-US" sz="4800"/>
              <a:t>K-Mean Clustering</a:t>
            </a:r>
          </a:p>
        </p:txBody>
      </p:sp>
      <p:sp>
        <p:nvSpPr>
          <p:cNvPr id="3" name="Content Placeholder 2">
            <a:extLst>
              <a:ext uri="{FF2B5EF4-FFF2-40B4-BE49-F238E27FC236}">
                <a16:creationId xmlns:a16="http://schemas.microsoft.com/office/drawing/2014/main" id="{38C63A12-BDAA-2A60-D01A-0EC24C76F11C}"/>
              </a:ext>
            </a:extLst>
          </p:cNvPr>
          <p:cNvSpPr>
            <a:spLocks noGrp="1"/>
          </p:cNvSpPr>
          <p:nvPr>
            <p:ph idx="1"/>
          </p:nvPr>
        </p:nvSpPr>
        <p:spPr>
          <a:xfrm>
            <a:off x="1045028" y="3017522"/>
            <a:ext cx="9941319" cy="3124658"/>
          </a:xfrm>
        </p:spPr>
        <p:txBody>
          <a:bodyPr anchor="ctr">
            <a:normAutofit/>
          </a:bodyPr>
          <a:lstStyle/>
          <a:p>
            <a:pPr fontAlgn="base"/>
            <a:r>
              <a:rPr lang="en-US" sz="2400" dirty="0"/>
              <a:t>K-Means Clustering groups similar data points into clusters without needing labeled data. It is used to uncover hidden patterns when the goal is to organize data based on similarity.</a:t>
            </a:r>
          </a:p>
          <a:p>
            <a:pPr lvl="1" fontAlgn="base"/>
            <a:r>
              <a:rPr lang="en-US" dirty="0"/>
              <a:t>Helps identify natural groupings in unlabeled datasets</a:t>
            </a:r>
          </a:p>
          <a:p>
            <a:pPr lvl="1" fontAlgn="base"/>
            <a:r>
              <a:rPr lang="en-US" dirty="0"/>
              <a:t>Works by grouping points based on distance to cluster centers</a:t>
            </a:r>
          </a:p>
          <a:p>
            <a:pPr lvl="1" fontAlgn="base"/>
            <a:r>
              <a:rPr lang="en-US" dirty="0"/>
              <a:t>Commonly used in customer segmentation, image compression, and pattern discovery</a:t>
            </a:r>
          </a:p>
          <a:p>
            <a:pPr lvl="1" fontAlgn="base"/>
            <a:r>
              <a:rPr lang="en-US" dirty="0"/>
              <a:t>Useful when you need structure from raw, unorganized data</a:t>
            </a:r>
          </a:p>
          <a:p>
            <a:endParaRPr lang="en-US"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1181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20D5E-C808-E347-B3A8-6FDE5807F61A}"/>
              </a:ext>
            </a:extLst>
          </p:cNvPr>
          <p:cNvSpPr>
            <a:spLocks noGrp="1"/>
          </p:cNvSpPr>
          <p:nvPr>
            <p:ph type="title"/>
          </p:nvPr>
        </p:nvSpPr>
        <p:spPr/>
        <p:txBody>
          <a:bodyPr/>
          <a:lstStyle/>
          <a:p>
            <a:r>
              <a:rPr lang="en-US" b="1" dirty="0"/>
              <a:t>Working of K-Means Clustering</a:t>
            </a:r>
            <a:endParaRPr lang="en-US" dirty="0"/>
          </a:p>
        </p:txBody>
      </p:sp>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4313CA79-93DA-2978-3065-4C1BC6274F87}"/>
                  </a:ext>
                </a:extLst>
              </p:cNvPr>
              <p:cNvSpPr>
                <a:spLocks noGrp="1"/>
              </p:cNvSpPr>
              <p:nvPr>
                <p:ph idx="1"/>
              </p:nvPr>
            </p:nvSpPr>
            <p:spPr/>
            <p:txBody>
              <a:bodyPr>
                <a:normAutofit fontScale="92500" lnSpcReduction="20000"/>
              </a:bodyPr>
              <a:lstStyle/>
              <a:p>
                <a:r>
                  <a:rPr lang="en-US" dirty="0"/>
                  <a:t> The task is to categorize those items into groups. To achieve this we will use the K-means algorithm. "</a:t>
                </a:r>
                <a14:m>
                  <m:oMath xmlns:m="http://schemas.openxmlformats.org/officeDocument/2006/math">
                    <m:r>
                      <a:rPr lang="en-US" i="1"/>
                      <m:t>𝑘</m:t>
                    </m:r>
                  </m:oMath>
                </a14:m>
                <a:r>
                  <a:rPr lang="en-US" dirty="0"/>
                  <a:t>" represents the number of groups or clusters we want to classify our items into.</a:t>
                </a:r>
              </a:p>
              <a:p>
                <a:pPr fontAlgn="base"/>
                <a:r>
                  <a:rPr lang="en-US" dirty="0"/>
                  <a:t>The algorithm will categorize the items into "</a:t>
                </a:r>
                <a14:m>
                  <m:oMath xmlns:m="http://schemas.openxmlformats.org/officeDocument/2006/math">
                    <m:r>
                      <a:rPr lang="en-US" i="1"/>
                      <m:t>𝑘</m:t>
                    </m:r>
                  </m:oMath>
                </a14:m>
                <a:r>
                  <a:rPr lang="en-US" dirty="0"/>
                  <a:t>" groups or clusters of similarity. To calculate that similarity we will use the </a:t>
                </a:r>
                <a:r>
                  <a:rPr lang="en-US" u="sng" dirty="0">
                    <a:hlinkClick r:id="rId2"/>
                  </a:rPr>
                  <a:t>Euclidean distance</a:t>
                </a:r>
                <a:r>
                  <a:rPr lang="en-US" dirty="0"/>
                  <a:t> as a measurement. The algorithm works as follows:  </a:t>
                </a:r>
              </a:p>
              <a:p>
                <a:pPr fontAlgn="base"/>
                <a:r>
                  <a:rPr lang="en-US" b="1" dirty="0"/>
                  <a:t>Initialization:</a:t>
                </a:r>
                <a:r>
                  <a:rPr lang="en-US" dirty="0"/>
                  <a:t> We begin by randomly selecting k cluster centroids.</a:t>
                </a:r>
              </a:p>
              <a:p>
                <a:pPr fontAlgn="base"/>
                <a:r>
                  <a:rPr lang="en-US" b="1" dirty="0"/>
                  <a:t>Assignment Step:</a:t>
                </a:r>
                <a:r>
                  <a:rPr lang="en-US" dirty="0"/>
                  <a:t> Each data point is assigned to the nearest centroid, forming clusters.</a:t>
                </a:r>
              </a:p>
              <a:p>
                <a:pPr fontAlgn="base"/>
                <a:r>
                  <a:rPr lang="en-US" b="1" dirty="0"/>
                  <a:t>Update Step:</a:t>
                </a:r>
                <a:r>
                  <a:rPr lang="en-US" dirty="0"/>
                  <a:t> After the assignment, we recalculate the centroid of each cluster by averaging the points within it.</a:t>
                </a:r>
              </a:p>
              <a:p>
                <a:pPr fontAlgn="base"/>
                <a:r>
                  <a:rPr lang="en-US" b="1" dirty="0"/>
                  <a:t>Repeat: </a:t>
                </a:r>
                <a:r>
                  <a:rPr lang="en-US" dirty="0"/>
                  <a:t>This process repeats until the centroids no longer change or the maximum number of iterations is reached.</a:t>
                </a:r>
              </a:p>
              <a:p>
                <a:endParaRPr lang="en-US" dirty="0"/>
              </a:p>
            </p:txBody>
          </p:sp>
        </mc:Choice>
        <mc:Fallback>
          <p:sp>
            <p:nvSpPr>
              <p:cNvPr id="6" name="Content Placeholder 5">
                <a:extLst>
                  <a:ext uri="{FF2B5EF4-FFF2-40B4-BE49-F238E27FC236}">
                    <a16:creationId xmlns:a16="http://schemas.microsoft.com/office/drawing/2014/main" id="{4313CA79-93DA-2978-3065-4C1BC6274F87}"/>
                  </a:ext>
                </a:extLst>
              </p:cNvPr>
              <p:cNvSpPr>
                <a:spLocks noGrp="1" noRot="1" noChangeAspect="1" noMove="1" noResize="1" noEditPoints="1" noAdjustHandles="1" noChangeArrowheads="1" noChangeShapeType="1" noTextEdit="1"/>
              </p:cNvSpPr>
              <p:nvPr>
                <p:ph idx="1"/>
              </p:nvPr>
            </p:nvSpPr>
            <p:spPr>
              <a:blipFill>
                <a:blip r:embed="rId3"/>
                <a:stretch>
                  <a:fillRect l="-928" t="-3501" r="-986" b="-3641"/>
                </a:stretch>
              </a:blipFill>
            </p:spPr>
            <p:txBody>
              <a:bodyPr/>
              <a:lstStyle/>
              <a:p>
                <a:r>
                  <a:rPr lang="en-US">
                    <a:noFill/>
                  </a:rPr>
                  <a:t> </a:t>
                </a:r>
              </a:p>
            </p:txBody>
          </p:sp>
        </mc:Fallback>
      </mc:AlternateContent>
    </p:spTree>
    <p:extLst>
      <p:ext uri="{BB962C8B-B14F-4D97-AF65-F5344CB8AC3E}">
        <p14:creationId xmlns:p14="http://schemas.microsoft.com/office/powerpoint/2010/main" val="3593552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F75A4-6CF6-D192-EC64-C480176A52B2}"/>
              </a:ext>
            </a:extLst>
          </p:cNvPr>
          <p:cNvSpPr>
            <a:spLocks noGrp="1"/>
          </p:cNvSpPr>
          <p:nvPr>
            <p:ph type="title"/>
          </p:nvPr>
        </p:nvSpPr>
        <p:spPr>
          <a:xfrm>
            <a:off x="576553" y="74568"/>
            <a:ext cx="10515600" cy="1325563"/>
          </a:xfrm>
        </p:spPr>
        <p:txBody>
          <a:bodyPr/>
          <a:lstStyle/>
          <a:p>
            <a:r>
              <a:rPr lang="en-US" b="1" dirty="0"/>
              <a:t>Euclidean Distance</a:t>
            </a:r>
            <a:endParaRPr lang="en-US" dirty="0"/>
          </a:p>
        </p:txBody>
      </p:sp>
      <p:sp>
        <p:nvSpPr>
          <p:cNvPr id="3" name="Content Placeholder 2">
            <a:extLst>
              <a:ext uri="{FF2B5EF4-FFF2-40B4-BE49-F238E27FC236}">
                <a16:creationId xmlns:a16="http://schemas.microsoft.com/office/drawing/2014/main" id="{6DDA8647-B787-332F-FFE7-8BE9DF563D2B}"/>
              </a:ext>
            </a:extLst>
          </p:cNvPr>
          <p:cNvSpPr>
            <a:spLocks noGrp="1"/>
          </p:cNvSpPr>
          <p:nvPr>
            <p:ph idx="1"/>
          </p:nvPr>
        </p:nvSpPr>
        <p:spPr>
          <a:xfrm>
            <a:off x="701040" y="1106530"/>
            <a:ext cx="10515600" cy="5237119"/>
          </a:xfrm>
        </p:spPr>
        <p:txBody>
          <a:bodyPr>
            <a:normAutofit/>
          </a:bodyPr>
          <a:lstStyle/>
          <a:p>
            <a:pPr marL="0" indent="0" fontAlgn="base">
              <a:buNone/>
            </a:pPr>
            <a:r>
              <a:rPr lang="en-US" b="1" dirty="0"/>
              <a:t>It</a:t>
            </a:r>
            <a:r>
              <a:rPr lang="en-US" dirty="0"/>
              <a:t> is defined as the distance between two points in Euclidean space. To find the distance between two points, the length of the line segment that connects the two points should be measured.</a:t>
            </a:r>
          </a:p>
          <a:p>
            <a:pPr fontAlgn="base"/>
            <a:r>
              <a:rPr lang="en-US" dirty="0"/>
              <a:t>Euclidean distance is like </a:t>
            </a:r>
            <a:r>
              <a:rPr lang="en-US" b="1" dirty="0"/>
              <a:t>measuring the straightest and shortest path between two points</a:t>
            </a:r>
            <a:r>
              <a:rPr lang="en-US" dirty="0"/>
              <a:t>.</a:t>
            </a:r>
          </a:p>
          <a:p>
            <a:pPr fontAlgn="base"/>
            <a:endParaRPr lang="en-US" dirty="0"/>
          </a:p>
          <a:p>
            <a:pPr marL="514350" indent="-514350">
              <a:buAutoNum type="arabicPeriod"/>
            </a:pPr>
            <a:r>
              <a:rPr lang="en-US" dirty="0"/>
              <a:t>ED in 2D</a:t>
            </a:r>
          </a:p>
          <a:p>
            <a:pPr marL="514350" indent="-514350">
              <a:buAutoNum type="arabicPeriod"/>
            </a:pPr>
            <a:endParaRPr lang="en-US" dirty="0"/>
          </a:p>
          <a:p>
            <a:pPr marL="514350" indent="-514350">
              <a:buAutoNum type="arabicPeriod"/>
            </a:pPr>
            <a:r>
              <a:rPr lang="en-US" dirty="0"/>
              <a:t>ED in 3D</a:t>
            </a:r>
          </a:p>
          <a:p>
            <a:pPr marL="514350" indent="-514350">
              <a:buAutoNum type="arabicPeriod"/>
            </a:pPr>
            <a:endParaRPr lang="en-US" dirty="0"/>
          </a:p>
          <a:p>
            <a:pPr marL="514350" indent="-514350">
              <a:buAutoNum type="arabicPeriod"/>
            </a:pPr>
            <a:r>
              <a:rPr lang="en-US" dirty="0"/>
              <a:t>Ed in </a:t>
            </a:r>
            <a:r>
              <a:rPr lang="en-US" dirty="0" err="1"/>
              <a:t>nD</a:t>
            </a:r>
            <a:endParaRPr lang="en-US" dirty="0"/>
          </a:p>
        </p:txBody>
      </p:sp>
      <p:pic>
        <p:nvPicPr>
          <p:cNvPr id="5" name="Picture 4">
            <a:extLst>
              <a:ext uri="{FF2B5EF4-FFF2-40B4-BE49-F238E27FC236}">
                <a16:creationId xmlns:a16="http://schemas.microsoft.com/office/drawing/2014/main" id="{6F2C0506-88ED-FA94-BE52-9214BA1BBCB5}"/>
              </a:ext>
            </a:extLst>
          </p:cNvPr>
          <p:cNvPicPr>
            <a:picLocks noChangeAspect="1"/>
          </p:cNvPicPr>
          <p:nvPr/>
        </p:nvPicPr>
        <p:blipFill>
          <a:blip r:embed="rId2"/>
          <a:stretch>
            <a:fillRect/>
          </a:stretch>
        </p:blipFill>
        <p:spPr>
          <a:xfrm>
            <a:off x="3591587" y="3731851"/>
            <a:ext cx="4163006" cy="628738"/>
          </a:xfrm>
          <a:prstGeom prst="rect">
            <a:avLst/>
          </a:prstGeom>
        </p:spPr>
      </p:pic>
      <p:pic>
        <p:nvPicPr>
          <p:cNvPr id="7" name="Picture 6">
            <a:extLst>
              <a:ext uri="{FF2B5EF4-FFF2-40B4-BE49-F238E27FC236}">
                <a16:creationId xmlns:a16="http://schemas.microsoft.com/office/drawing/2014/main" id="{0717E23C-16CD-83A9-16A0-925D65437D71}"/>
              </a:ext>
            </a:extLst>
          </p:cNvPr>
          <p:cNvPicPr>
            <a:picLocks noChangeAspect="1"/>
          </p:cNvPicPr>
          <p:nvPr/>
        </p:nvPicPr>
        <p:blipFill>
          <a:blip r:embed="rId3"/>
          <a:stretch>
            <a:fillRect/>
          </a:stretch>
        </p:blipFill>
        <p:spPr>
          <a:xfrm>
            <a:off x="3591587" y="4613913"/>
            <a:ext cx="5611008" cy="590632"/>
          </a:xfrm>
          <a:prstGeom prst="rect">
            <a:avLst/>
          </a:prstGeom>
        </p:spPr>
      </p:pic>
      <p:pic>
        <p:nvPicPr>
          <p:cNvPr id="9" name="Picture 8">
            <a:extLst>
              <a:ext uri="{FF2B5EF4-FFF2-40B4-BE49-F238E27FC236}">
                <a16:creationId xmlns:a16="http://schemas.microsoft.com/office/drawing/2014/main" id="{7428A9F8-1636-8847-8C39-8335EDA02B02}"/>
              </a:ext>
            </a:extLst>
          </p:cNvPr>
          <p:cNvPicPr>
            <a:picLocks noChangeAspect="1"/>
          </p:cNvPicPr>
          <p:nvPr/>
        </p:nvPicPr>
        <p:blipFill>
          <a:blip r:embed="rId4"/>
          <a:stretch>
            <a:fillRect/>
          </a:stretch>
        </p:blipFill>
        <p:spPr>
          <a:xfrm>
            <a:off x="3591587" y="5705750"/>
            <a:ext cx="3019846" cy="571580"/>
          </a:xfrm>
          <a:prstGeom prst="rect">
            <a:avLst/>
          </a:prstGeom>
        </p:spPr>
      </p:pic>
    </p:spTree>
    <p:extLst>
      <p:ext uri="{BB962C8B-B14F-4D97-AF65-F5344CB8AC3E}">
        <p14:creationId xmlns:p14="http://schemas.microsoft.com/office/powerpoint/2010/main" val="30374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4D000C-C941-E971-AEAA-8122E5666690}"/>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Step 1</a:t>
            </a:r>
          </a:p>
        </p:txBody>
      </p:sp>
      <p:pic>
        <p:nvPicPr>
          <p:cNvPr id="5" name="Picture 4">
            <a:extLst>
              <a:ext uri="{FF2B5EF4-FFF2-40B4-BE49-F238E27FC236}">
                <a16:creationId xmlns:a16="http://schemas.microsoft.com/office/drawing/2014/main" id="{02723256-2191-5A1F-18AE-583D63A8A030}"/>
              </a:ext>
            </a:extLst>
          </p:cNvPr>
          <p:cNvPicPr>
            <a:picLocks noChangeAspect="1"/>
          </p:cNvPicPr>
          <p:nvPr/>
        </p:nvPicPr>
        <p:blipFill>
          <a:blip r:embed="rId2"/>
          <a:stretch>
            <a:fillRect/>
          </a:stretch>
        </p:blipFill>
        <p:spPr>
          <a:xfrm>
            <a:off x="1409516" y="1966293"/>
            <a:ext cx="9372966" cy="4452160"/>
          </a:xfrm>
          <a:prstGeom prst="rect">
            <a:avLst/>
          </a:prstGeom>
        </p:spPr>
      </p:pic>
    </p:spTree>
    <p:extLst>
      <p:ext uri="{BB962C8B-B14F-4D97-AF65-F5344CB8AC3E}">
        <p14:creationId xmlns:p14="http://schemas.microsoft.com/office/powerpoint/2010/main" val="1480309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5B31142-D1B5-7545-FDE1-8CCC2039887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Step 2</a:t>
            </a:r>
          </a:p>
        </p:txBody>
      </p:sp>
      <p:pic>
        <p:nvPicPr>
          <p:cNvPr id="3" name="Picture 2">
            <a:extLst>
              <a:ext uri="{FF2B5EF4-FFF2-40B4-BE49-F238E27FC236}">
                <a16:creationId xmlns:a16="http://schemas.microsoft.com/office/drawing/2014/main" id="{2834822C-66BB-B9B3-1A1B-3CA9A45AA7F9}"/>
              </a:ext>
            </a:extLst>
          </p:cNvPr>
          <p:cNvPicPr>
            <a:picLocks noChangeAspect="1"/>
          </p:cNvPicPr>
          <p:nvPr/>
        </p:nvPicPr>
        <p:blipFill>
          <a:blip r:embed="rId2"/>
          <a:stretch>
            <a:fillRect/>
          </a:stretch>
        </p:blipFill>
        <p:spPr>
          <a:xfrm>
            <a:off x="1334332" y="1966293"/>
            <a:ext cx="9523335" cy="4452160"/>
          </a:xfrm>
          <a:prstGeom prst="rect">
            <a:avLst/>
          </a:prstGeom>
        </p:spPr>
      </p:pic>
    </p:spTree>
    <p:extLst>
      <p:ext uri="{BB962C8B-B14F-4D97-AF65-F5344CB8AC3E}">
        <p14:creationId xmlns:p14="http://schemas.microsoft.com/office/powerpoint/2010/main" val="1438837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490306D-AD5B-5249-F1FF-A233A1561DC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Step 3</a:t>
            </a:r>
          </a:p>
        </p:txBody>
      </p:sp>
      <p:pic>
        <p:nvPicPr>
          <p:cNvPr id="3" name="Picture 2">
            <a:extLst>
              <a:ext uri="{FF2B5EF4-FFF2-40B4-BE49-F238E27FC236}">
                <a16:creationId xmlns:a16="http://schemas.microsoft.com/office/drawing/2014/main" id="{72ECCEA1-1333-6A72-3EA3-99D79E77438F}"/>
              </a:ext>
            </a:extLst>
          </p:cNvPr>
          <p:cNvPicPr>
            <a:picLocks noChangeAspect="1"/>
          </p:cNvPicPr>
          <p:nvPr/>
        </p:nvPicPr>
        <p:blipFill>
          <a:blip r:embed="rId2"/>
          <a:stretch>
            <a:fillRect/>
          </a:stretch>
        </p:blipFill>
        <p:spPr>
          <a:xfrm>
            <a:off x="948993" y="1966293"/>
            <a:ext cx="10294012" cy="4452160"/>
          </a:xfrm>
          <a:prstGeom prst="rect">
            <a:avLst/>
          </a:prstGeom>
        </p:spPr>
      </p:pic>
    </p:spTree>
    <p:extLst>
      <p:ext uri="{BB962C8B-B14F-4D97-AF65-F5344CB8AC3E}">
        <p14:creationId xmlns:p14="http://schemas.microsoft.com/office/powerpoint/2010/main" val="3452563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9BD7279-2DF9-27B1-53B7-0E01DB1ACBC6}"/>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Step 4</a:t>
            </a:r>
          </a:p>
        </p:txBody>
      </p:sp>
      <p:pic>
        <p:nvPicPr>
          <p:cNvPr id="3" name="Picture 2">
            <a:extLst>
              <a:ext uri="{FF2B5EF4-FFF2-40B4-BE49-F238E27FC236}">
                <a16:creationId xmlns:a16="http://schemas.microsoft.com/office/drawing/2014/main" id="{2AAFCE69-0C7D-0D43-B488-D0BFB7F98EDF}"/>
              </a:ext>
            </a:extLst>
          </p:cNvPr>
          <p:cNvPicPr>
            <a:picLocks noChangeAspect="1"/>
          </p:cNvPicPr>
          <p:nvPr/>
        </p:nvPicPr>
        <p:blipFill>
          <a:blip r:embed="rId2"/>
          <a:stretch>
            <a:fillRect/>
          </a:stretch>
        </p:blipFill>
        <p:spPr>
          <a:xfrm>
            <a:off x="1230250" y="1966293"/>
            <a:ext cx="9731499" cy="4452160"/>
          </a:xfrm>
          <a:prstGeom prst="rect">
            <a:avLst/>
          </a:prstGeom>
        </p:spPr>
      </p:pic>
    </p:spTree>
    <p:extLst>
      <p:ext uri="{BB962C8B-B14F-4D97-AF65-F5344CB8AC3E}">
        <p14:creationId xmlns:p14="http://schemas.microsoft.com/office/powerpoint/2010/main" val="2209548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4AF4E8-4403-1BE9-843A-58A7DD0A1FE3}"/>
              </a:ext>
            </a:extLst>
          </p:cNvPr>
          <p:cNvSpPr>
            <a:spLocks noGrp="1"/>
          </p:cNvSpPr>
          <p:nvPr>
            <p:ph idx="1"/>
          </p:nvPr>
        </p:nvSpPr>
        <p:spPr>
          <a:xfrm>
            <a:off x="838200" y="205740"/>
            <a:ext cx="10980420" cy="6320790"/>
          </a:xfrm>
        </p:spPr>
        <p:txBody>
          <a:bodyPr>
            <a:normAutofit fontScale="77500" lnSpcReduction="20000"/>
          </a:bodyPr>
          <a:lstStyle/>
          <a:p>
            <a:pPr marL="514350" indent="-514350">
              <a:buAutoNum type="arabicPeriod"/>
            </a:pPr>
            <a:r>
              <a:rPr lang="en-US" b="1" dirty="0"/>
              <a:t>Step 1</a:t>
            </a:r>
          </a:p>
          <a:p>
            <a:pPr marL="0" indent="0">
              <a:buNone/>
            </a:pPr>
            <a:endParaRPr lang="en-US" b="1" dirty="0"/>
          </a:p>
          <a:p>
            <a:pPr marL="0" indent="0">
              <a:buNone/>
            </a:pPr>
            <a:r>
              <a:rPr lang="en-US" dirty="0"/>
              <a:t>import </a:t>
            </a:r>
            <a:r>
              <a:rPr lang="en-US" dirty="0" err="1"/>
              <a:t>numpy</a:t>
            </a:r>
            <a:r>
              <a:rPr lang="en-US" dirty="0"/>
              <a:t> as np</a:t>
            </a:r>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from </a:t>
            </a:r>
            <a:r>
              <a:rPr lang="en-US" dirty="0" err="1"/>
              <a:t>sklearn.datasets</a:t>
            </a:r>
            <a:r>
              <a:rPr lang="en-US" dirty="0"/>
              <a:t> import </a:t>
            </a:r>
            <a:r>
              <a:rPr lang="en-US" dirty="0" err="1"/>
              <a:t>make_blobs</a:t>
            </a:r>
            <a:endParaRPr lang="en-US" dirty="0"/>
          </a:p>
          <a:p>
            <a:pPr marL="0" indent="0">
              <a:buNone/>
            </a:pPr>
            <a:endParaRPr lang="en-US" dirty="0"/>
          </a:p>
          <a:p>
            <a:pPr marL="0" indent="0">
              <a:buNone/>
            </a:pPr>
            <a:r>
              <a:rPr lang="en-US" b="1" dirty="0"/>
              <a:t>2. Step 2</a:t>
            </a:r>
          </a:p>
          <a:p>
            <a:pPr fontAlgn="base"/>
            <a:r>
              <a:rPr lang="en-US" b="1" dirty="0" err="1"/>
              <a:t>make_blobs</a:t>
            </a:r>
            <a:r>
              <a:rPr lang="en-US" b="1" dirty="0"/>
              <a:t>(</a:t>
            </a:r>
            <a:r>
              <a:rPr lang="en-US" b="1" dirty="0" err="1"/>
              <a:t>n_samples</a:t>
            </a:r>
            <a:r>
              <a:rPr lang="en-US" b="1" dirty="0"/>
              <a:t>=500, </a:t>
            </a:r>
            <a:r>
              <a:rPr lang="en-US" b="1" dirty="0" err="1"/>
              <a:t>n_features</a:t>
            </a:r>
            <a:r>
              <a:rPr lang="en-US" b="1" dirty="0"/>
              <a:t>=2, centers=3):</a:t>
            </a:r>
            <a:r>
              <a:rPr lang="en-US" dirty="0"/>
              <a:t> Generates 500 data points in a 2D space, grouped into 3 clusters.</a:t>
            </a:r>
          </a:p>
          <a:p>
            <a:pPr fontAlgn="base"/>
            <a:r>
              <a:rPr lang="en-US" b="1" dirty="0" err="1"/>
              <a:t>plt.scatter</a:t>
            </a:r>
            <a:r>
              <a:rPr lang="en-US" b="1" dirty="0"/>
              <a:t>(X[:, 0], X[:, 1]):</a:t>
            </a:r>
            <a:r>
              <a:rPr lang="en-US" dirty="0"/>
              <a:t> Plots the dataset in 2D, showing all the points.</a:t>
            </a:r>
          </a:p>
          <a:p>
            <a:pPr fontAlgn="base"/>
            <a:r>
              <a:rPr lang="en-US" b="1" dirty="0" err="1"/>
              <a:t>plt.show</a:t>
            </a:r>
            <a:r>
              <a:rPr lang="en-US" b="1" dirty="0"/>
              <a:t>():</a:t>
            </a:r>
            <a:r>
              <a:rPr lang="en-US" dirty="0"/>
              <a:t> Displays the plot</a:t>
            </a:r>
          </a:p>
          <a:p>
            <a:pPr fontAlgn="base"/>
            <a:endParaRPr lang="en-US" dirty="0"/>
          </a:p>
          <a:p>
            <a:pPr marL="0" indent="0">
              <a:buNone/>
            </a:pPr>
            <a:r>
              <a:rPr lang="en-US" dirty="0" err="1"/>
              <a:t>X,y</a:t>
            </a:r>
            <a:r>
              <a:rPr lang="en-US" dirty="0"/>
              <a:t> = </a:t>
            </a:r>
            <a:r>
              <a:rPr lang="en-US" dirty="0" err="1"/>
              <a:t>make_blobs</a:t>
            </a:r>
            <a:r>
              <a:rPr lang="en-US" dirty="0"/>
              <a:t>(</a:t>
            </a:r>
            <a:r>
              <a:rPr lang="en-US" dirty="0" err="1"/>
              <a:t>n_samples</a:t>
            </a:r>
            <a:r>
              <a:rPr lang="en-US" dirty="0"/>
              <a:t> = 500,n_features = 2,centers = 3,random_state = 23)</a:t>
            </a:r>
          </a:p>
          <a:p>
            <a:pPr marL="0" indent="0">
              <a:buNone/>
            </a:pPr>
            <a:r>
              <a:rPr lang="en-US" dirty="0"/>
              <a:t>fig = </a:t>
            </a:r>
            <a:r>
              <a:rPr lang="en-US" dirty="0" err="1"/>
              <a:t>plt.figure</a:t>
            </a:r>
            <a:r>
              <a:rPr lang="en-US" dirty="0"/>
              <a:t>(0)</a:t>
            </a:r>
          </a:p>
          <a:p>
            <a:pPr marL="0" indent="0">
              <a:buNone/>
            </a:pPr>
            <a:r>
              <a:rPr lang="en-US" dirty="0" err="1"/>
              <a:t>plt.grid</a:t>
            </a:r>
            <a:r>
              <a:rPr lang="en-US" dirty="0"/>
              <a:t>(True)</a:t>
            </a:r>
          </a:p>
          <a:p>
            <a:pPr marL="0" indent="0">
              <a:buNone/>
            </a:pPr>
            <a:r>
              <a:rPr lang="en-US" dirty="0" err="1"/>
              <a:t>plt.scatter</a:t>
            </a:r>
            <a:r>
              <a:rPr lang="en-US" dirty="0"/>
              <a:t>(X[:,0],X[:,1])</a:t>
            </a:r>
          </a:p>
          <a:p>
            <a:pPr marL="0" indent="0">
              <a:buNone/>
            </a:pPr>
            <a:r>
              <a:rPr lang="en-US" dirty="0" err="1"/>
              <a:t>plt.show</a:t>
            </a:r>
            <a:r>
              <a:rPr lang="en-US" dirty="0"/>
              <a:t>()</a:t>
            </a:r>
          </a:p>
        </p:txBody>
      </p:sp>
    </p:spTree>
    <p:extLst>
      <p:ext uri="{BB962C8B-B14F-4D97-AF65-F5344CB8AC3E}">
        <p14:creationId xmlns:p14="http://schemas.microsoft.com/office/powerpoint/2010/main" val="3222116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Clustering dataset - Geeksforgeeks">
            <a:extLst>
              <a:ext uri="{FF2B5EF4-FFF2-40B4-BE49-F238E27FC236}">
                <a16:creationId xmlns:a16="http://schemas.microsoft.com/office/drawing/2014/main" id="{82412FA5-A317-8BBD-B5BE-88DD931517C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73636" y="457200"/>
            <a:ext cx="8044727"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220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81C7-12D1-A49F-2FB6-3B3D6D17B7D2}"/>
              </a:ext>
            </a:extLst>
          </p:cNvPr>
          <p:cNvSpPr>
            <a:spLocks noGrp="1"/>
          </p:cNvSpPr>
          <p:nvPr>
            <p:ph type="title"/>
          </p:nvPr>
        </p:nvSpPr>
        <p:spPr/>
        <p:txBody>
          <a:bodyPr/>
          <a:lstStyle/>
          <a:p>
            <a:r>
              <a:rPr lang="en-US" b="1" dirty="0"/>
              <a:t>Step 3: Initializing Random Centroids</a:t>
            </a:r>
            <a:endParaRPr lang="en-US" dirty="0"/>
          </a:p>
        </p:txBody>
      </p:sp>
      <p:sp>
        <p:nvSpPr>
          <p:cNvPr id="3" name="Content Placeholder 2">
            <a:extLst>
              <a:ext uri="{FF2B5EF4-FFF2-40B4-BE49-F238E27FC236}">
                <a16:creationId xmlns:a16="http://schemas.microsoft.com/office/drawing/2014/main" id="{3038770D-8F9C-00DA-750B-35A679E73A47}"/>
              </a:ext>
            </a:extLst>
          </p:cNvPr>
          <p:cNvSpPr>
            <a:spLocks noGrp="1"/>
          </p:cNvSpPr>
          <p:nvPr>
            <p:ph idx="1"/>
          </p:nvPr>
        </p:nvSpPr>
        <p:spPr>
          <a:xfrm>
            <a:off x="838200" y="1825625"/>
            <a:ext cx="4968240" cy="4351338"/>
          </a:xfrm>
        </p:spPr>
        <p:txBody>
          <a:bodyPr>
            <a:normAutofit/>
          </a:bodyPr>
          <a:lstStyle/>
          <a:p>
            <a:pPr marL="0" indent="0" fontAlgn="base">
              <a:buNone/>
            </a:pPr>
            <a:r>
              <a:rPr lang="en-US" dirty="0"/>
              <a:t>We will randomly initialize the centroids for K-Means clustering</a:t>
            </a:r>
          </a:p>
          <a:p>
            <a:pPr marL="0" indent="0" fontAlgn="base">
              <a:buNone/>
            </a:pPr>
            <a:r>
              <a:rPr lang="en-US" b="1" dirty="0" err="1"/>
              <a:t>np.random.seed</a:t>
            </a:r>
            <a:r>
              <a:rPr lang="en-US" b="1" dirty="0"/>
              <a:t>(23):</a:t>
            </a:r>
            <a:r>
              <a:rPr lang="en-US" dirty="0"/>
              <a:t> Ensures reproducibility by fixing the random seed.</a:t>
            </a:r>
          </a:p>
          <a:p>
            <a:pPr marL="0" indent="0" fontAlgn="base">
              <a:buNone/>
            </a:pPr>
            <a:r>
              <a:rPr lang="en-US" dirty="0"/>
              <a:t>The for loop initializes k random centroids, with values between -2 and 2, for a 2D dataset</a:t>
            </a:r>
          </a:p>
        </p:txBody>
      </p:sp>
      <p:sp>
        <p:nvSpPr>
          <p:cNvPr id="5" name="TextBox 4">
            <a:extLst>
              <a:ext uri="{FF2B5EF4-FFF2-40B4-BE49-F238E27FC236}">
                <a16:creationId xmlns:a16="http://schemas.microsoft.com/office/drawing/2014/main" id="{FE0EA273-8FFE-0596-D811-8218AA1031BE}"/>
              </a:ext>
            </a:extLst>
          </p:cNvPr>
          <p:cNvSpPr txBox="1"/>
          <p:nvPr/>
        </p:nvSpPr>
        <p:spPr>
          <a:xfrm>
            <a:off x="5806440" y="1825625"/>
            <a:ext cx="6097904" cy="4093428"/>
          </a:xfrm>
          <a:prstGeom prst="rect">
            <a:avLst/>
          </a:prstGeom>
          <a:noFill/>
        </p:spPr>
        <p:txBody>
          <a:bodyPr wrap="square">
            <a:spAutoFit/>
          </a:bodyPr>
          <a:lstStyle/>
          <a:p>
            <a:pPr marL="0" indent="0">
              <a:buNone/>
            </a:pPr>
            <a:r>
              <a:rPr lang="en-US" sz="2000" dirty="0"/>
              <a:t>k = 3</a:t>
            </a:r>
          </a:p>
          <a:p>
            <a:pPr marL="0" indent="0">
              <a:buNone/>
            </a:pPr>
            <a:r>
              <a:rPr lang="en-US" sz="2000" dirty="0"/>
              <a:t>clusters = {}</a:t>
            </a:r>
          </a:p>
          <a:p>
            <a:pPr marL="0" indent="0">
              <a:buNone/>
            </a:pPr>
            <a:r>
              <a:rPr lang="en-US" sz="2000" dirty="0" err="1"/>
              <a:t>np.random.seed</a:t>
            </a:r>
            <a:r>
              <a:rPr lang="en-US" sz="2000" dirty="0"/>
              <a:t>(23)</a:t>
            </a:r>
          </a:p>
          <a:p>
            <a:pPr marL="0" indent="0">
              <a:buNone/>
            </a:pPr>
            <a:r>
              <a:rPr lang="en-US" sz="2000" dirty="0"/>
              <a:t>for </a:t>
            </a:r>
            <a:r>
              <a:rPr lang="en-US" sz="2000" dirty="0" err="1"/>
              <a:t>idx</a:t>
            </a:r>
            <a:r>
              <a:rPr lang="en-US" sz="2000" dirty="0"/>
              <a:t> in range(k):</a:t>
            </a:r>
          </a:p>
          <a:p>
            <a:pPr marL="0" indent="0">
              <a:buNone/>
            </a:pPr>
            <a:r>
              <a:rPr lang="en-US" sz="2000" dirty="0"/>
              <a:t>    center = 2*(2*</a:t>
            </a:r>
            <a:r>
              <a:rPr lang="en-US" sz="2000" dirty="0" err="1"/>
              <a:t>np.random.random</a:t>
            </a:r>
            <a:r>
              <a:rPr lang="en-US" sz="2000" dirty="0"/>
              <a:t>((</a:t>
            </a:r>
            <a:r>
              <a:rPr lang="en-US" sz="2000" dirty="0" err="1"/>
              <a:t>X.shape</a:t>
            </a:r>
            <a:r>
              <a:rPr lang="en-US" sz="2000" dirty="0"/>
              <a:t>[1],))-1)</a:t>
            </a:r>
          </a:p>
          <a:p>
            <a:pPr marL="0" indent="0">
              <a:buNone/>
            </a:pPr>
            <a:r>
              <a:rPr lang="en-US" sz="2000" dirty="0"/>
              <a:t>    points = []</a:t>
            </a:r>
          </a:p>
          <a:p>
            <a:pPr marL="0" indent="0">
              <a:buNone/>
            </a:pPr>
            <a:r>
              <a:rPr lang="en-US" sz="2000" dirty="0"/>
              <a:t>    cluster = {</a:t>
            </a:r>
          </a:p>
          <a:p>
            <a:pPr marL="0" indent="0">
              <a:buNone/>
            </a:pPr>
            <a:r>
              <a:rPr lang="en-US" sz="2000" dirty="0"/>
              <a:t>        'center' : center,</a:t>
            </a:r>
          </a:p>
          <a:p>
            <a:pPr marL="0" indent="0">
              <a:buNone/>
            </a:pPr>
            <a:r>
              <a:rPr lang="en-US" sz="2000" dirty="0"/>
              <a:t>        'points' : []</a:t>
            </a:r>
          </a:p>
          <a:p>
            <a:pPr marL="0" indent="0">
              <a:buNone/>
            </a:pPr>
            <a:r>
              <a:rPr lang="en-US" sz="2000" dirty="0"/>
              <a:t>    }</a:t>
            </a:r>
          </a:p>
          <a:p>
            <a:pPr marL="0" indent="0">
              <a:buNone/>
            </a:pPr>
            <a:r>
              <a:rPr lang="en-US" sz="2000" dirty="0"/>
              <a:t>   clusters[</a:t>
            </a:r>
            <a:r>
              <a:rPr lang="en-US" sz="2000" dirty="0" err="1"/>
              <a:t>idx</a:t>
            </a:r>
            <a:r>
              <a:rPr lang="en-US" sz="2000" dirty="0"/>
              <a:t>] = cluster</a:t>
            </a:r>
          </a:p>
          <a:p>
            <a:pPr marL="0" indent="0">
              <a:buNone/>
            </a:pPr>
            <a:r>
              <a:rPr lang="en-US" sz="2000" dirty="0"/>
              <a:t>    </a:t>
            </a:r>
          </a:p>
          <a:p>
            <a:pPr marL="0" indent="0">
              <a:buNone/>
            </a:pPr>
            <a:r>
              <a:rPr lang="en-US" sz="2000" dirty="0"/>
              <a:t>clusters</a:t>
            </a:r>
          </a:p>
        </p:txBody>
      </p:sp>
    </p:spTree>
    <p:extLst>
      <p:ext uri="{BB962C8B-B14F-4D97-AF65-F5344CB8AC3E}">
        <p14:creationId xmlns:p14="http://schemas.microsoft.com/office/powerpoint/2010/main" val="16931887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50375-219C-5D4F-7D0E-7C553A15FBC7}"/>
              </a:ext>
            </a:extLst>
          </p:cNvPr>
          <p:cNvSpPr>
            <a:spLocks noGrp="1"/>
          </p:cNvSpPr>
          <p:nvPr>
            <p:ph type="title"/>
          </p:nvPr>
        </p:nvSpPr>
        <p:spPr/>
        <p:txBody>
          <a:bodyPr>
            <a:normAutofit/>
          </a:bodyPr>
          <a:lstStyle/>
          <a:p>
            <a:r>
              <a:rPr lang="en-US" b="1" dirty="0"/>
              <a:t>Step 4: Plotting Random Initialized Center with Data Points</a:t>
            </a:r>
            <a:endParaRPr lang="en-US" dirty="0"/>
          </a:p>
        </p:txBody>
      </p:sp>
      <p:sp>
        <p:nvSpPr>
          <p:cNvPr id="3" name="Content Placeholder 2">
            <a:extLst>
              <a:ext uri="{FF2B5EF4-FFF2-40B4-BE49-F238E27FC236}">
                <a16:creationId xmlns:a16="http://schemas.microsoft.com/office/drawing/2014/main" id="{9A540F6C-E6A8-08E2-C367-330017FD4BDC}"/>
              </a:ext>
            </a:extLst>
          </p:cNvPr>
          <p:cNvSpPr>
            <a:spLocks noGrp="1"/>
          </p:cNvSpPr>
          <p:nvPr>
            <p:ph idx="1"/>
          </p:nvPr>
        </p:nvSpPr>
        <p:spPr>
          <a:xfrm>
            <a:off x="838200" y="1825625"/>
            <a:ext cx="5013960" cy="4351338"/>
          </a:xfrm>
        </p:spPr>
        <p:txBody>
          <a:bodyPr/>
          <a:lstStyle/>
          <a:p>
            <a:pPr marL="0" indent="0" fontAlgn="base">
              <a:buNone/>
            </a:pPr>
            <a:r>
              <a:rPr lang="en-US" dirty="0"/>
              <a:t>We will now plot the data points and the initial centroids.</a:t>
            </a:r>
          </a:p>
          <a:p>
            <a:pPr marL="0" indent="0" fontAlgn="base">
              <a:buNone/>
            </a:pPr>
            <a:r>
              <a:rPr lang="en-US" b="1" dirty="0" err="1"/>
              <a:t>plt.grid</a:t>
            </a:r>
            <a:r>
              <a:rPr lang="en-US" b="1" dirty="0"/>
              <a:t>()</a:t>
            </a:r>
            <a:r>
              <a:rPr lang="en-US" dirty="0"/>
              <a:t>: Plots a grid.</a:t>
            </a:r>
          </a:p>
          <a:p>
            <a:pPr marL="0" indent="0" fontAlgn="base">
              <a:buNone/>
            </a:pPr>
            <a:r>
              <a:rPr lang="en-US" b="1" dirty="0" err="1"/>
              <a:t>plt.scatter</a:t>
            </a:r>
            <a:r>
              <a:rPr lang="en-US" b="1" dirty="0"/>
              <a:t>(center[0], center[1], marker='*', c='red'):</a:t>
            </a:r>
            <a:r>
              <a:rPr lang="en-US" dirty="0"/>
              <a:t> Plots the cluster center as a red star (* marker).</a:t>
            </a:r>
          </a:p>
          <a:p>
            <a:endParaRPr lang="en-US" dirty="0"/>
          </a:p>
        </p:txBody>
      </p:sp>
      <p:sp>
        <p:nvSpPr>
          <p:cNvPr id="5" name="TextBox 4">
            <a:extLst>
              <a:ext uri="{FF2B5EF4-FFF2-40B4-BE49-F238E27FC236}">
                <a16:creationId xmlns:a16="http://schemas.microsoft.com/office/drawing/2014/main" id="{85E7120E-9B6B-F25A-5242-BA3752E4AA15}"/>
              </a:ext>
            </a:extLst>
          </p:cNvPr>
          <p:cNvSpPr txBox="1"/>
          <p:nvPr/>
        </p:nvSpPr>
        <p:spPr>
          <a:xfrm>
            <a:off x="5646420" y="3815219"/>
            <a:ext cx="6269354" cy="2677656"/>
          </a:xfrm>
          <a:prstGeom prst="rect">
            <a:avLst/>
          </a:prstGeom>
          <a:noFill/>
        </p:spPr>
        <p:txBody>
          <a:bodyPr wrap="square">
            <a:spAutoFit/>
          </a:bodyPr>
          <a:lstStyle/>
          <a:p>
            <a:r>
              <a:rPr lang="en-US" sz="2400" dirty="0" err="1"/>
              <a:t>plt.scatter</a:t>
            </a:r>
            <a:r>
              <a:rPr lang="en-US" sz="2400" dirty="0"/>
              <a:t>(X[:,0],X[:,1])</a:t>
            </a:r>
          </a:p>
          <a:p>
            <a:r>
              <a:rPr lang="en-US" sz="2400" dirty="0" err="1"/>
              <a:t>plt.grid</a:t>
            </a:r>
            <a:r>
              <a:rPr lang="en-US" sz="2400" dirty="0"/>
              <a:t>(True)</a:t>
            </a:r>
          </a:p>
          <a:p>
            <a:r>
              <a:rPr lang="en-US" sz="2400" dirty="0"/>
              <a:t>for </a:t>
            </a:r>
            <a:r>
              <a:rPr lang="en-US" sz="2400" dirty="0" err="1"/>
              <a:t>i</a:t>
            </a:r>
            <a:r>
              <a:rPr lang="en-US" sz="2400" dirty="0"/>
              <a:t> in clusters:</a:t>
            </a:r>
          </a:p>
          <a:p>
            <a:r>
              <a:rPr lang="en-US" sz="2400" dirty="0"/>
              <a:t>    center = clusters[</a:t>
            </a:r>
            <a:r>
              <a:rPr lang="en-US" sz="2400" dirty="0" err="1"/>
              <a:t>i</a:t>
            </a:r>
            <a:r>
              <a:rPr lang="en-US" sz="2400" dirty="0"/>
              <a:t>]['center']</a:t>
            </a:r>
          </a:p>
          <a:p>
            <a:r>
              <a:rPr lang="en-US" sz="2400" dirty="0"/>
              <a:t>    </a:t>
            </a:r>
            <a:r>
              <a:rPr lang="en-US" sz="2400" dirty="0" err="1"/>
              <a:t>plt.scatter</a:t>
            </a:r>
            <a:r>
              <a:rPr lang="en-US" sz="2400" dirty="0"/>
              <a:t>(center[0],center[1],marker = '*',c = 'red')</a:t>
            </a:r>
          </a:p>
          <a:p>
            <a:r>
              <a:rPr lang="en-US" sz="2400" dirty="0" err="1"/>
              <a:t>plt.show</a:t>
            </a:r>
            <a:r>
              <a:rPr lang="en-US" sz="2400" dirty="0"/>
              <a:t>()</a:t>
            </a:r>
          </a:p>
        </p:txBody>
      </p:sp>
    </p:spTree>
    <p:extLst>
      <p:ext uri="{BB962C8B-B14F-4D97-AF65-F5344CB8AC3E}">
        <p14:creationId xmlns:p14="http://schemas.microsoft.com/office/powerpoint/2010/main" val="1545285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ghtbox">
            <a:extLst>
              <a:ext uri="{FF2B5EF4-FFF2-40B4-BE49-F238E27FC236}">
                <a16:creationId xmlns:a16="http://schemas.microsoft.com/office/drawing/2014/main" id="{5B3A5C96-5D8B-F66B-AEBF-83F612D71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363" y="433388"/>
            <a:ext cx="8773477" cy="5730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531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E7AFD-17EA-B4BE-C77C-4B616D26D191}"/>
              </a:ext>
            </a:extLst>
          </p:cNvPr>
          <p:cNvSpPr>
            <a:spLocks noGrp="1"/>
          </p:cNvSpPr>
          <p:nvPr>
            <p:ph type="title"/>
          </p:nvPr>
        </p:nvSpPr>
        <p:spPr/>
        <p:txBody>
          <a:bodyPr/>
          <a:lstStyle/>
          <a:p>
            <a:r>
              <a:rPr lang="en-US" b="1" dirty="0"/>
              <a:t>Step 5: Defining Euclidean Distance</a:t>
            </a:r>
            <a:endParaRPr lang="en-US" dirty="0"/>
          </a:p>
        </p:txBody>
      </p:sp>
      <p:sp>
        <p:nvSpPr>
          <p:cNvPr id="3" name="Content Placeholder 2">
            <a:extLst>
              <a:ext uri="{FF2B5EF4-FFF2-40B4-BE49-F238E27FC236}">
                <a16:creationId xmlns:a16="http://schemas.microsoft.com/office/drawing/2014/main" id="{7FB16C86-8EF1-6CE1-A5CE-83F5E1686272}"/>
              </a:ext>
            </a:extLst>
          </p:cNvPr>
          <p:cNvSpPr>
            <a:spLocks noGrp="1"/>
          </p:cNvSpPr>
          <p:nvPr>
            <p:ph idx="1"/>
          </p:nvPr>
        </p:nvSpPr>
        <p:spPr>
          <a:xfrm>
            <a:off x="838200" y="1825625"/>
            <a:ext cx="10515600" cy="2494915"/>
          </a:xfrm>
        </p:spPr>
        <p:txBody>
          <a:bodyPr/>
          <a:lstStyle/>
          <a:p>
            <a:pPr marL="0" indent="0" fontAlgn="base">
              <a:buNone/>
            </a:pPr>
            <a:r>
              <a:rPr lang="en-US" dirty="0"/>
              <a:t>To assign data points to the nearest centroid, we define a distance function:</a:t>
            </a:r>
          </a:p>
          <a:p>
            <a:pPr fontAlgn="base"/>
            <a:r>
              <a:rPr lang="en-US" b="1" dirty="0" err="1"/>
              <a:t>np.sqrt</a:t>
            </a:r>
            <a:r>
              <a:rPr lang="en-US" b="1" dirty="0"/>
              <a:t>():</a:t>
            </a:r>
            <a:r>
              <a:rPr lang="en-US" dirty="0"/>
              <a:t> Computes the square root of a number or array element-wise.</a:t>
            </a:r>
          </a:p>
          <a:p>
            <a:pPr fontAlgn="base"/>
            <a:r>
              <a:rPr lang="en-US" b="1" dirty="0" err="1"/>
              <a:t>np.sum</a:t>
            </a:r>
            <a:r>
              <a:rPr lang="en-US" b="1" dirty="0"/>
              <a:t>():</a:t>
            </a:r>
            <a:r>
              <a:rPr lang="en-US" dirty="0"/>
              <a:t> Sums all elements in an array or along a specified axis</a:t>
            </a:r>
          </a:p>
          <a:p>
            <a:endParaRPr lang="en-US" dirty="0"/>
          </a:p>
        </p:txBody>
      </p:sp>
      <p:sp>
        <p:nvSpPr>
          <p:cNvPr id="5" name="TextBox 4">
            <a:extLst>
              <a:ext uri="{FF2B5EF4-FFF2-40B4-BE49-F238E27FC236}">
                <a16:creationId xmlns:a16="http://schemas.microsoft.com/office/drawing/2014/main" id="{9B185FD1-97BE-F37B-6771-B85E4C2350F8}"/>
              </a:ext>
            </a:extLst>
          </p:cNvPr>
          <p:cNvSpPr txBox="1"/>
          <p:nvPr/>
        </p:nvSpPr>
        <p:spPr>
          <a:xfrm>
            <a:off x="1414462" y="4455477"/>
            <a:ext cx="7466647" cy="954107"/>
          </a:xfrm>
          <a:prstGeom prst="rect">
            <a:avLst/>
          </a:prstGeom>
          <a:noFill/>
        </p:spPr>
        <p:txBody>
          <a:bodyPr wrap="square">
            <a:spAutoFit/>
          </a:bodyPr>
          <a:lstStyle/>
          <a:p>
            <a:r>
              <a:rPr lang="en-US" sz="2800" dirty="0"/>
              <a:t>def distance(p1,p2):</a:t>
            </a:r>
          </a:p>
          <a:p>
            <a:r>
              <a:rPr lang="en-US" sz="2800" dirty="0"/>
              <a:t>    return </a:t>
            </a:r>
            <a:r>
              <a:rPr lang="en-US" sz="2800" dirty="0" err="1"/>
              <a:t>np.sqrt</a:t>
            </a:r>
            <a:r>
              <a:rPr lang="en-US" sz="2800" dirty="0"/>
              <a:t>(</a:t>
            </a:r>
            <a:r>
              <a:rPr lang="en-US" sz="2800" dirty="0" err="1"/>
              <a:t>np.sum</a:t>
            </a:r>
            <a:r>
              <a:rPr lang="en-US" sz="2800" dirty="0"/>
              <a:t>((p1-p2)**2))</a:t>
            </a:r>
          </a:p>
        </p:txBody>
      </p:sp>
    </p:spTree>
    <p:extLst>
      <p:ext uri="{BB962C8B-B14F-4D97-AF65-F5344CB8AC3E}">
        <p14:creationId xmlns:p14="http://schemas.microsoft.com/office/powerpoint/2010/main" val="4193941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33A88-03A6-1348-9C54-A29DD7A95995}"/>
              </a:ext>
            </a:extLst>
          </p:cNvPr>
          <p:cNvSpPr>
            <a:spLocks noGrp="1"/>
          </p:cNvSpPr>
          <p:nvPr>
            <p:ph type="title"/>
          </p:nvPr>
        </p:nvSpPr>
        <p:spPr/>
        <p:txBody>
          <a:bodyPr>
            <a:normAutofit/>
          </a:bodyPr>
          <a:lstStyle/>
          <a:p>
            <a:r>
              <a:rPr lang="en-US" b="1" dirty="0"/>
              <a:t>Step 6: Creating Assign and Update Functions</a:t>
            </a:r>
            <a:endParaRPr lang="en-US" dirty="0"/>
          </a:p>
        </p:txBody>
      </p:sp>
      <p:sp>
        <p:nvSpPr>
          <p:cNvPr id="3" name="Content Placeholder 2">
            <a:extLst>
              <a:ext uri="{FF2B5EF4-FFF2-40B4-BE49-F238E27FC236}">
                <a16:creationId xmlns:a16="http://schemas.microsoft.com/office/drawing/2014/main" id="{5EFCDC3A-F2B3-312A-CE5B-06E2CACCB3FA}"/>
              </a:ext>
            </a:extLst>
          </p:cNvPr>
          <p:cNvSpPr>
            <a:spLocks noGrp="1"/>
          </p:cNvSpPr>
          <p:nvPr>
            <p:ph idx="1"/>
          </p:nvPr>
        </p:nvSpPr>
        <p:spPr/>
        <p:txBody>
          <a:bodyPr/>
          <a:lstStyle/>
          <a:p>
            <a:pPr marL="0" indent="0" fontAlgn="base">
              <a:buNone/>
            </a:pPr>
            <a:r>
              <a:rPr lang="en-US" dirty="0"/>
              <a:t>Next, we define functions to assign points to the nearest centroid and update the centroids based on the average of the points assigned to each cluster.</a:t>
            </a:r>
          </a:p>
          <a:p>
            <a:pPr fontAlgn="base"/>
            <a:r>
              <a:rPr lang="en-US" b="1" dirty="0" err="1"/>
              <a:t>dist.append</a:t>
            </a:r>
            <a:r>
              <a:rPr lang="en-US" b="1" dirty="0"/>
              <a:t>(dis):</a:t>
            </a:r>
            <a:r>
              <a:rPr lang="en-US" dirty="0"/>
              <a:t> Appends the calculated distance to the list dist.</a:t>
            </a:r>
          </a:p>
          <a:p>
            <a:pPr fontAlgn="base"/>
            <a:r>
              <a:rPr lang="en-US" b="1" dirty="0" err="1"/>
              <a:t>curr_cluster</a:t>
            </a:r>
            <a:r>
              <a:rPr lang="en-US" b="1" dirty="0"/>
              <a:t> = </a:t>
            </a:r>
            <a:r>
              <a:rPr lang="en-US" b="1" dirty="0" err="1"/>
              <a:t>np.argmin</a:t>
            </a:r>
            <a:r>
              <a:rPr lang="en-US" b="1" dirty="0"/>
              <a:t>(</a:t>
            </a:r>
            <a:r>
              <a:rPr lang="en-US" b="1" dirty="0" err="1"/>
              <a:t>dist</a:t>
            </a:r>
            <a:r>
              <a:rPr lang="en-US" b="1" dirty="0"/>
              <a:t>):</a:t>
            </a:r>
            <a:r>
              <a:rPr lang="en-US" dirty="0"/>
              <a:t> Finds the index of the closest cluster by selecting the minimum distance.</a:t>
            </a:r>
          </a:p>
          <a:p>
            <a:pPr fontAlgn="base"/>
            <a:r>
              <a:rPr lang="en-US" b="1" dirty="0" err="1"/>
              <a:t>new_center</a:t>
            </a:r>
            <a:r>
              <a:rPr lang="en-US" b="1" dirty="0"/>
              <a:t> = </a:t>
            </a:r>
            <a:r>
              <a:rPr lang="en-US" b="1" dirty="0" err="1"/>
              <a:t>points.mean</a:t>
            </a:r>
            <a:r>
              <a:rPr lang="en-US" b="1" dirty="0"/>
              <a:t>(axis=0):</a:t>
            </a:r>
            <a:r>
              <a:rPr lang="en-US" dirty="0"/>
              <a:t> Calculates the new centroid by taking the mean of the points in the cluster.</a:t>
            </a:r>
          </a:p>
          <a:p>
            <a:endParaRPr lang="en-US" dirty="0"/>
          </a:p>
        </p:txBody>
      </p:sp>
    </p:spTree>
    <p:extLst>
      <p:ext uri="{BB962C8B-B14F-4D97-AF65-F5344CB8AC3E}">
        <p14:creationId xmlns:p14="http://schemas.microsoft.com/office/powerpoint/2010/main" val="15793697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5410D1-EC88-FA47-966A-44781396348C}"/>
              </a:ext>
            </a:extLst>
          </p:cNvPr>
          <p:cNvSpPr txBox="1"/>
          <p:nvPr/>
        </p:nvSpPr>
        <p:spPr>
          <a:xfrm>
            <a:off x="2488883" y="427286"/>
            <a:ext cx="6097904" cy="5632311"/>
          </a:xfrm>
          <a:prstGeom prst="rect">
            <a:avLst/>
          </a:prstGeom>
          <a:noFill/>
        </p:spPr>
        <p:txBody>
          <a:bodyPr wrap="square">
            <a:spAutoFit/>
          </a:bodyPr>
          <a:lstStyle/>
          <a:p>
            <a:r>
              <a:rPr lang="en-US" dirty="0"/>
              <a:t>def </a:t>
            </a:r>
            <a:r>
              <a:rPr lang="en-US" dirty="0" err="1"/>
              <a:t>assign_clusters</a:t>
            </a:r>
            <a:r>
              <a:rPr lang="en-US" dirty="0"/>
              <a:t>(X, clusters):</a:t>
            </a:r>
          </a:p>
          <a:p>
            <a:r>
              <a:rPr lang="en-US" dirty="0"/>
              <a:t>    for </a:t>
            </a:r>
            <a:r>
              <a:rPr lang="en-US" dirty="0" err="1"/>
              <a:t>idx</a:t>
            </a:r>
            <a:r>
              <a:rPr lang="en-US" dirty="0"/>
              <a:t> in range(</a:t>
            </a:r>
            <a:r>
              <a:rPr lang="en-US" dirty="0" err="1"/>
              <a:t>X.shape</a:t>
            </a:r>
            <a:r>
              <a:rPr lang="en-US" dirty="0"/>
              <a:t>[0]):</a:t>
            </a:r>
          </a:p>
          <a:p>
            <a:r>
              <a:rPr lang="en-US" dirty="0"/>
              <a:t>        </a:t>
            </a:r>
            <a:r>
              <a:rPr lang="en-US" dirty="0" err="1"/>
              <a:t>dist</a:t>
            </a:r>
            <a:r>
              <a:rPr lang="en-US" dirty="0"/>
              <a:t> = []</a:t>
            </a:r>
          </a:p>
          <a:p>
            <a:r>
              <a:rPr lang="en-US" dirty="0"/>
              <a:t>        </a:t>
            </a:r>
            <a:r>
              <a:rPr lang="en-US" dirty="0" err="1"/>
              <a:t>curr_x</a:t>
            </a:r>
            <a:r>
              <a:rPr lang="en-US" dirty="0"/>
              <a:t> = X[</a:t>
            </a:r>
            <a:r>
              <a:rPr lang="en-US" dirty="0" err="1"/>
              <a:t>idx</a:t>
            </a:r>
            <a:r>
              <a:rPr lang="en-US" dirty="0"/>
              <a:t>]</a:t>
            </a:r>
          </a:p>
          <a:p>
            <a:r>
              <a:rPr lang="en-US" dirty="0"/>
              <a:t>        for </a:t>
            </a:r>
            <a:r>
              <a:rPr lang="en-US" dirty="0" err="1"/>
              <a:t>i</a:t>
            </a:r>
            <a:r>
              <a:rPr lang="en-US" dirty="0"/>
              <a:t> in range(k):</a:t>
            </a:r>
          </a:p>
          <a:p>
            <a:r>
              <a:rPr lang="en-US" dirty="0"/>
              <a:t>            dis = distance(</a:t>
            </a:r>
            <a:r>
              <a:rPr lang="en-US" dirty="0" err="1"/>
              <a:t>curr_x,clusters</a:t>
            </a:r>
            <a:r>
              <a:rPr lang="en-US" dirty="0"/>
              <a:t>[</a:t>
            </a:r>
            <a:r>
              <a:rPr lang="en-US" dirty="0" err="1"/>
              <a:t>i</a:t>
            </a:r>
            <a:r>
              <a:rPr lang="en-US" dirty="0"/>
              <a:t>]['center'])</a:t>
            </a:r>
          </a:p>
          <a:p>
            <a:r>
              <a:rPr lang="en-US" dirty="0"/>
              <a:t>            </a:t>
            </a:r>
            <a:r>
              <a:rPr lang="en-US" dirty="0" err="1"/>
              <a:t>dist.append</a:t>
            </a:r>
            <a:r>
              <a:rPr lang="en-US" dirty="0"/>
              <a:t>(dis)</a:t>
            </a:r>
          </a:p>
          <a:p>
            <a:r>
              <a:rPr lang="en-US" dirty="0"/>
              <a:t>        </a:t>
            </a:r>
            <a:r>
              <a:rPr lang="en-US" dirty="0" err="1"/>
              <a:t>curr_cluster</a:t>
            </a:r>
            <a:r>
              <a:rPr lang="en-US" dirty="0"/>
              <a:t> = </a:t>
            </a:r>
            <a:r>
              <a:rPr lang="en-US" dirty="0" err="1"/>
              <a:t>np.argmin</a:t>
            </a:r>
            <a:r>
              <a:rPr lang="en-US" dirty="0"/>
              <a:t>(</a:t>
            </a:r>
            <a:r>
              <a:rPr lang="en-US" dirty="0" err="1"/>
              <a:t>dist</a:t>
            </a:r>
            <a:r>
              <a:rPr lang="en-US" dirty="0"/>
              <a:t>)</a:t>
            </a:r>
          </a:p>
          <a:p>
            <a:r>
              <a:rPr lang="en-US" dirty="0"/>
              <a:t>        clusters[</a:t>
            </a:r>
            <a:r>
              <a:rPr lang="en-US" dirty="0" err="1"/>
              <a:t>curr_cluster</a:t>
            </a:r>
            <a:r>
              <a:rPr lang="en-US" dirty="0"/>
              <a:t>]['points'].append(</a:t>
            </a:r>
            <a:r>
              <a:rPr lang="en-US" dirty="0" err="1"/>
              <a:t>curr_x</a:t>
            </a:r>
            <a:r>
              <a:rPr lang="en-US" dirty="0"/>
              <a:t>)</a:t>
            </a:r>
          </a:p>
          <a:p>
            <a:r>
              <a:rPr lang="en-US" dirty="0"/>
              <a:t>    return clusters</a:t>
            </a:r>
          </a:p>
          <a:p>
            <a:endParaRPr lang="en-US" dirty="0"/>
          </a:p>
          <a:p>
            <a:r>
              <a:rPr lang="en-US" dirty="0"/>
              <a:t>def </a:t>
            </a:r>
            <a:r>
              <a:rPr lang="en-US" dirty="0" err="1"/>
              <a:t>update_clusters</a:t>
            </a:r>
            <a:r>
              <a:rPr lang="en-US" dirty="0"/>
              <a:t>(X, clusters):</a:t>
            </a:r>
          </a:p>
          <a:p>
            <a:r>
              <a:rPr lang="en-US" dirty="0"/>
              <a:t>    for </a:t>
            </a:r>
            <a:r>
              <a:rPr lang="en-US" dirty="0" err="1"/>
              <a:t>i</a:t>
            </a:r>
            <a:r>
              <a:rPr lang="en-US" dirty="0"/>
              <a:t> in range(k):</a:t>
            </a:r>
          </a:p>
          <a:p>
            <a:r>
              <a:rPr lang="en-US" dirty="0"/>
              <a:t>        points = </a:t>
            </a:r>
            <a:r>
              <a:rPr lang="en-US" dirty="0" err="1"/>
              <a:t>np.array</a:t>
            </a:r>
            <a:r>
              <a:rPr lang="en-US" dirty="0"/>
              <a:t>(clusters[</a:t>
            </a:r>
            <a:r>
              <a:rPr lang="en-US" dirty="0" err="1"/>
              <a:t>i</a:t>
            </a:r>
            <a:r>
              <a:rPr lang="en-US" dirty="0"/>
              <a:t>]['points'])</a:t>
            </a:r>
          </a:p>
          <a:p>
            <a:r>
              <a:rPr lang="en-US" dirty="0"/>
              <a:t>        if </a:t>
            </a:r>
            <a:r>
              <a:rPr lang="en-US" dirty="0" err="1"/>
              <a:t>points.shape</a:t>
            </a:r>
            <a:r>
              <a:rPr lang="en-US" dirty="0"/>
              <a:t>[0] &gt; 0:</a:t>
            </a:r>
          </a:p>
          <a:p>
            <a:r>
              <a:rPr lang="en-US" dirty="0"/>
              <a:t>            </a:t>
            </a:r>
            <a:r>
              <a:rPr lang="en-US" dirty="0" err="1"/>
              <a:t>new_center</a:t>
            </a:r>
            <a:r>
              <a:rPr lang="en-US" dirty="0"/>
              <a:t> = </a:t>
            </a:r>
            <a:r>
              <a:rPr lang="en-US" dirty="0" err="1"/>
              <a:t>points.mean</a:t>
            </a:r>
            <a:r>
              <a:rPr lang="en-US" dirty="0"/>
              <a:t>(axis =0)</a:t>
            </a:r>
          </a:p>
          <a:p>
            <a:r>
              <a:rPr lang="en-US" dirty="0"/>
              <a:t>            clusters[</a:t>
            </a:r>
            <a:r>
              <a:rPr lang="en-US" dirty="0" err="1"/>
              <a:t>i</a:t>
            </a:r>
            <a:r>
              <a:rPr lang="en-US" dirty="0"/>
              <a:t>]['center'] = </a:t>
            </a:r>
            <a:r>
              <a:rPr lang="en-US" dirty="0" err="1"/>
              <a:t>new_center</a:t>
            </a:r>
            <a:endParaRPr lang="en-US" dirty="0"/>
          </a:p>
          <a:p>
            <a:r>
              <a:rPr lang="en-US" dirty="0"/>
              <a:t>            </a:t>
            </a:r>
          </a:p>
          <a:p>
            <a:r>
              <a:rPr lang="en-US" dirty="0"/>
              <a:t>            clusters[</a:t>
            </a:r>
            <a:r>
              <a:rPr lang="en-US" dirty="0" err="1"/>
              <a:t>i</a:t>
            </a:r>
            <a:r>
              <a:rPr lang="en-US" dirty="0"/>
              <a:t>]['points'] = []</a:t>
            </a:r>
          </a:p>
          <a:p>
            <a:r>
              <a:rPr lang="en-US" dirty="0"/>
              <a:t>    return clusters</a:t>
            </a:r>
          </a:p>
        </p:txBody>
      </p:sp>
    </p:spTree>
    <p:extLst>
      <p:ext uri="{BB962C8B-B14F-4D97-AF65-F5344CB8AC3E}">
        <p14:creationId xmlns:p14="http://schemas.microsoft.com/office/powerpoint/2010/main" val="22258942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4C7B4-D207-F7FC-0C20-B5EC4D7D4BC3}"/>
              </a:ext>
            </a:extLst>
          </p:cNvPr>
          <p:cNvSpPr>
            <a:spLocks noGrp="1"/>
          </p:cNvSpPr>
          <p:nvPr>
            <p:ph type="title"/>
          </p:nvPr>
        </p:nvSpPr>
        <p:spPr/>
        <p:txBody>
          <a:bodyPr>
            <a:normAutofit/>
          </a:bodyPr>
          <a:lstStyle/>
          <a:p>
            <a:r>
              <a:rPr lang="en-US" b="1" dirty="0"/>
              <a:t>Step 7: Predicting the Cluster for the Data Points</a:t>
            </a:r>
            <a:endParaRPr lang="en-US" dirty="0"/>
          </a:p>
        </p:txBody>
      </p:sp>
      <p:sp>
        <p:nvSpPr>
          <p:cNvPr id="3" name="Content Placeholder 2">
            <a:extLst>
              <a:ext uri="{FF2B5EF4-FFF2-40B4-BE49-F238E27FC236}">
                <a16:creationId xmlns:a16="http://schemas.microsoft.com/office/drawing/2014/main" id="{36100DCF-DD4B-60C5-60BE-DF1CF5C1F20E}"/>
              </a:ext>
            </a:extLst>
          </p:cNvPr>
          <p:cNvSpPr>
            <a:spLocks noGrp="1"/>
          </p:cNvSpPr>
          <p:nvPr>
            <p:ph idx="1"/>
          </p:nvPr>
        </p:nvSpPr>
        <p:spPr>
          <a:xfrm>
            <a:off x="838200" y="1825625"/>
            <a:ext cx="4488180" cy="4351338"/>
          </a:xfrm>
        </p:spPr>
        <p:txBody>
          <a:bodyPr/>
          <a:lstStyle/>
          <a:p>
            <a:pPr fontAlgn="base"/>
            <a:r>
              <a:rPr lang="en-US" dirty="0"/>
              <a:t>We create a function to predict the cluster for each data point based on the final centroids.</a:t>
            </a:r>
          </a:p>
          <a:p>
            <a:pPr fontAlgn="base"/>
            <a:r>
              <a:rPr lang="en-US" b="1" dirty="0" err="1"/>
              <a:t>pred.append</a:t>
            </a:r>
            <a:r>
              <a:rPr lang="en-US" b="1" dirty="0"/>
              <a:t>(</a:t>
            </a:r>
            <a:r>
              <a:rPr lang="en-US" b="1" dirty="0" err="1"/>
              <a:t>np.argmin</a:t>
            </a:r>
            <a:r>
              <a:rPr lang="en-US" b="1" dirty="0"/>
              <a:t>(</a:t>
            </a:r>
            <a:r>
              <a:rPr lang="en-US" b="1" dirty="0" err="1"/>
              <a:t>dist</a:t>
            </a:r>
            <a:r>
              <a:rPr lang="en-US" b="1" dirty="0"/>
              <a:t>)):</a:t>
            </a:r>
            <a:r>
              <a:rPr lang="en-US" dirty="0"/>
              <a:t> Appends the index of the closest cluster (the one with the minimum distance) to pred.</a:t>
            </a:r>
          </a:p>
          <a:p>
            <a:endParaRPr lang="en-US" dirty="0"/>
          </a:p>
        </p:txBody>
      </p:sp>
      <p:sp>
        <p:nvSpPr>
          <p:cNvPr id="5" name="TextBox 4">
            <a:extLst>
              <a:ext uri="{FF2B5EF4-FFF2-40B4-BE49-F238E27FC236}">
                <a16:creationId xmlns:a16="http://schemas.microsoft.com/office/drawing/2014/main" id="{076F6FBF-461D-AD1A-40DE-EF71A72BB2FB}"/>
              </a:ext>
            </a:extLst>
          </p:cNvPr>
          <p:cNvSpPr txBox="1"/>
          <p:nvPr/>
        </p:nvSpPr>
        <p:spPr>
          <a:xfrm>
            <a:off x="5634990" y="1825625"/>
            <a:ext cx="6328410" cy="3416320"/>
          </a:xfrm>
          <a:prstGeom prst="rect">
            <a:avLst/>
          </a:prstGeom>
          <a:noFill/>
        </p:spPr>
        <p:txBody>
          <a:bodyPr wrap="square">
            <a:spAutoFit/>
          </a:bodyPr>
          <a:lstStyle/>
          <a:p>
            <a:r>
              <a:rPr lang="en-US" sz="2400" dirty="0"/>
              <a:t>def </a:t>
            </a:r>
            <a:r>
              <a:rPr lang="en-US" sz="2400" dirty="0" err="1"/>
              <a:t>pred_cluster</a:t>
            </a:r>
            <a:r>
              <a:rPr lang="en-US" sz="2400" dirty="0"/>
              <a:t>(X, clusters):</a:t>
            </a:r>
          </a:p>
          <a:p>
            <a:r>
              <a:rPr lang="en-US" sz="2400" dirty="0"/>
              <a:t>    pred = []</a:t>
            </a:r>
          </a:p>
          <a:p>
            <a:r>
              <a:rPr lang="en-US" sz="2400" dirty="0"/>
              <a:t>    for </a:t>
            </a:r>
            <a:r>
              <a:rPr lang="en-US" sz="2400" dirty="0" err="1"/>
              <a:t>i</a:t>
            </a:r>
            <a:r>
              <a:rPr lang="en-US" sz="2400" dirty="0"/>
              <a:t> in range(</a:t>
            </a:r>
            <a:r>
              <a:rPr lang="en-US" sz="2400" dirty="0" err="1"/>
              <a:t>X.shape</a:t>
            </a:r>
            <a:r>
              <a:rPr lang="en-US" sz="2400" dirty="0"/>
              <a:t>[0]):</a:t>
            </a:r>
          </a:p>
          <a:p>
            <a:r>
              <a:rPr lang="en-US" sz="2400" dirty="0"/>
              <a:t>        </a:t>
            </a:r>
            <a:r>
              <a:rPr lang="en-US" sz="2400" dirty="0" err="1"/>
              <a:t>dist</a:t>
            </a:r>
            <a:r>
              <a:rPr lang="en-US" sz="2400" dirty="0"/>
              <a:t> = []</a:t>
            </a:r>
          </a:p>
          <a:p>
            <a:r>
              <a:rPr lang="en-US" sz="2400" dirty="0"/>
              <a:t>        for j in range(k):</a:t>
            </a:r>
          </a:p>
          <a:p>
            <a:r>
              <a:rPr lang="en-US" sz="2400" dirty="0"/>
              <a:t>            </a:t>
            </a:r>
            <a:r>
              <a:rPr lang="en-US" sz="2400" dirty="0" err="1"/>
              <a:t>dist.append</a:t>
            </a:r>
            <a:r>
              <a:rPr lang="en-US" sz="2400" dirty="0"/>
              <a:t>(distance(X[</a:t>
            </a:r>
            <a:r>
              <a:rPr lang="en-US" sz="2400" dirty="0" err="1"/>
              <a:t>i</a:t>
            </a:r>
            <a:r>
              <a:rPr lang="en-US" sz="2400" dirty="0"/>
              <a:t>],clusters[j]['center']))</a:t>
            </a:r>
          </a:p>
          <a:p>
            <a:r>
              <a:rPr lang="en-US" sz="2400" dirty="0"/>
              <a:t>        </a:t>
            </a:r>
            <a:r>
              <a:rPr lang="en-US" sz="2400" dirty="0" err="1"/>
              <a:t>pred.append</a:t>
            </a:r>
            <a:r>
              <a:rPr lang="en-US" sz="2400" dirty="0"/>
              <a:t>(</a:t>
            </a:r>
            <a:r>
              <a:rPr lang="en-US" sz="2400" dirty="0" err="1"/>
              <a:t>np.argmin</a:t>
            </a:r>
            <a:r>
              <a:rPr lang="en-US" sz="2400" dirty="0"/>
              <a:t>(</a:t>
            </a:r>
            <a:r>
              <a:rPr lang="en-US" sz="2400" dirty="0" err="1"/>
              <a:t>dist</a:t>
            </a:r>
            <a:r>
              <a:rPr lang="en-US" sz="2400" dirty="0"/>
              <a:t>))</a:t>
            </a:r>
          </a:p>
          <a:p>
            <a:r>
              <a:rPr lang="en-US" sz="2400" dirty="0"/>
              <a:t>    return pred</a:t>
            </a:r>
          </a:p>
        </p:txBody>
      </p:sp>
    </p:spTree>
    <p:extLst>
      <p:ext uri="{BB962C8B-B14F-4D97-AF65-F5344CB8AC3E}">
        <p14:creationId xmlns:p14="http://schemas.microsoft.com/office/powerpoint/2010/main" val="29542522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A0F87-C276-BF82-6F57-12C489F22171}"/>
              </a:ext>
            </a:extLst>
          </p:cNvPr>
          <p:cNvSpPr>
            <a:spLocks noGrp="1"/>
          </p:cNvSpPr>
          <p:nvPr>
            <p:ph type="title"/>
          </p:nvPr>
        </p:nvSpPr>
        <p:spPr/>
        <p:txBody>
          <a:bodyPr>
            <a:normAutofit/>
          </a:bodyPr>
          <a:lstStyle/>
          <a:p>
            <a:r>
              <a:rPr lang="en-US" b="1" dirty="0"/>
              <a:t>Step 8: Assigning, Updating and Predicting the Cluster Centers</a:t>
            </a:r>
            <a:endParaRPr lang="en-US" dirty="0"/>
          </a:p>
        </p:txBody>
      </p:sp>
      <p:sp>
        <p:nvSpPr>
          <p:cNvPr id="3" name="Content Placeholder 2">
            <a:extLst>
              <a:ext uri="{FF2B5EF4-FFF2-40B4-BE49-F238E27FC236}">
                <a16:creationId xmlns:a16="http://schemas.microsoft.com/office/drawing/2014/main" id="{E76832F3-1E2A-8E16-CC67-83D916CE75F2}"/>
              </a:ext>
            </a:extLst>
          </p:cNvPr>
          <p:cNvSpPr>
            <a:spLocks noGrp="1"/>
          </p:cNvSpPr>
          <p:nvPr>
            <p:ph idx="1"/>
          </p:nvPr>
        </p:nvSpPr>
        <p:spPr>
          <a:xfrm>
            <a:off x="346710" y="2031365"/>
            <a:ext cx="5916930" cy="4351338"/>
          </a:xfrm>
        </p:spPr>
        <p:txBody>
          <a:bodyPr/>
          <a:lstStyle/>
          <a:p>
            <a:pPr marL="0" indent="0" fontAlgn="base">
              <a:buNone/>
            </a:pPr>
            <a:r>
              <a:rPr lang="en-US" dirty="0"/>
              <a:t>We assign points to clusters, update the centroids and predict the final cluster labels.</a:t>
            </a:r>
          </a:p>
          <a:p>
            <a:pPr lvl="1" fontAlgn="base"/>
            <a:r>
              <a:rPr lang="en-US" b="1" dirty="0" err="1"/>
              <a:t>assign_clusters</a:t>
            </a:r>
            <a:r>
              <a:rPr lang="en-US" b="1" dirty="0"/>
              <a:t>(X, clusters):</a:t>
            </a:r>
            <a:r>
              <a:rPr lang="en-US" dirty="0"/>
              <a:t> Assigns data points to the nearest centroids.</a:t>
            </a:r>
          </a:p>
          <a:p>
            <a:pPr lvl="1" fontAlgn="base"/>
            <a:r>
              <a:rPr lang="en-US" b="1" dirty="0" err="1"/>
              <a:t>update_clusters</a:t>
            </a:r>
            <a:r>
              <a:rPr lang="en-US" b="1" dirty="0"/>
              <a:t>(X, clusters):</a:t>
            </a:r>
            <a:r>
              <a:rPr lang="en-US" dirty="0"/>
              <a:t> Recalculates the centroids.</a:t>
            </a:r>
          </a:p>
          <a:p>
            <a:pPr lvl="1" fontAlgn="base"/>
            <a:r>
              <a:rPr lang="en-US" b="1" dirty="0" err="1"/>
              <a:t>pred_cluster</a:t>
            </a:r>
            <a:r>
              <a:rPr lang="en-US" b="1" dirty="0"/>
              <a:t>(X, clusters):</a:t>
            </a:r>
            <a:r>
              <a:rPr lang="en-US" dirty="0"/>
              <a:t> Predicts the final clusters for all data points.</a:t>
            </a:r>
          </a:p>
          <a:p>
            <a:endParaRPr lang="en-US" dirty="0"/>
          </a:p>
        </p:txBody>
      </p:sp>
      <p:sp>
        <p:nvSpPr>
          <p:cNvPr id="5" name="TextBox 4">
            <a:extLst>
              <a:ext uri="{FF2B5EF4-FFF2-40B4-BE49-F238E27FC236}">
                <a16:creationId xmlns:a16="http://schemas.microsoft.com/office/drawing/2014/main" id="{CB665A73-D4BC-F7BE-7DAE-415F2DB64280}"/>
              </a:ext>
            </a:extLst>
          </p:cNvPr>
          <p:cNvSpPr txBox="1"/>
          <p:nvPr/>
        </p:nvSpPr>
        <p:spPr>
          <a:xfrm>
            <a:off x="6518910" y="3728680"/>
            <a:ext cx="5326380" cy="1200329"/>
          </a:xfrm>
          <a:prstGeom prst="rect">
            <a:avLst/>
          </a:prstGeom>
          <a:noFill/>
        </p:spPr>
        <p:txBody>
          <a:bodyPr wrap="square">
            <a:spAutoFit/>
          </a:bodyPr>
          <a:lstStyle/>
          <a:p>
            <a:r>
              <a:rPr lang="en-US" sz="2400" dirty="0"/>
              <a:t>clusters = </a:t>
            </a:r>
            <a:r>
              <a:rPr lang="en-US" sz="2400" dirty="0" err="1"/>
              <a:t>assign_clusters</a:t>
            </a:r>
            <a:r>
              <a:rPr lang="en-US" sz="2400" dirty="0"/>
              <a:t>(</a:t>
            </a:r>
            <a:r>
              <a:rPr lang="en-US" sz="2400" dirty="0" err="1"/>
              <a:t>X,clusters</a:t>
            </a:r>
            <a:r>
              <a:rPr lang="en-US" sz="2400" dirty="0"/>
              <a:t>)</a:t>
            </a:r>
          </a:p>
          <a:p>
            <a:r>
              <a:rPr lang="en-US" sz="2400" dirty="0"/>
              <a:t>clusters = </a:t>
            </a:r>
            <a:r>
              <a:rPr lang="en-US" sz="2400" dirty="0" err="1"/>
              <a:t>update_clusters</a:t>
            </a:r>
            <a:r>
              <a:rPr lang="en-US" sz="2400" dirty="0"/>
              <a:t>(</a:t>
            </a:r>
            <a:r>
              <a:rPr lang="en-US" sz="2400" dirty="0" err="1"/>
              <a:t>X,clusters</a:t>
            </a:r>
            <a:r>
              <a:rPr lang="en-US" sz="2400" dirty="0"/>
              <a:t>)</a:t>
            </a:r>
          </a:p>
          <a:p>
            <a:r>
              <a:rPr lang="en-US" sz="2400" dirty="0"/>
              <a:t>pred = </a:t>
            </a:r>
            <a:r>
              <a:rPr lang="en-US" sz="2400" dirty="0" err="1"/>
              <a:t>pred_cluster</a:t>
            </a:r>
            <a:r>
              <a:rPr lang="en-US" sz="2400" dirty="0"/>
              <a:t>(</a:t>
            </a:r>
            <a:r>
              <a:rPr lang="en-US" sz="2400" dirty="0" err="1"/>
              <a:t>X,clusters</a:t>
            </a:r>
            <a:r>
              <a:rPr lang="en-US" sz="2400" dirty="0"/>
              <a:t>)</a:t>
            </a:r>
          </a:p>
        </p:txBody>
      </p:sp>
    </p:spTree>
    <p:extLst>
      <p:ext uri="{BB962C8B-B14F-4D97-AF65-F5344CB8AC3E}">
        <p14:creationId xmlns:p14="http://schemas.microsoft.com/office/powerpoint/2010/main" val="9465050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970D5-17C8-2D39-73F9-CD5880E10BDC}"/>
              </a:ext>
            </a:extLst>
          </p:cNvPr>
          <p:cNvSpPr>
            <a:spLocks noGrp="1"/>
          </p:cNvSpPr>
          <p:nvPr>
            <p:ph type="title"/>
          </p:nvPr>
        </p:nvSpPr>
        <p:spPr/>
        <p:txBody>
          <a:bodyPr>
            <a:normAutofit/>
          </a:bodyPr>
          <a:lstStyle/>
          <a:p>
            <a:r>
              <a:rPr lang="en-US" b="1" dirty="0"/>
              <a:t>Step 9: Plotting Data Points with Predicted Cluster Centers</a:t>
            </a:r>
            <a:endParaRPr lang="en-US" dirty="0"/>
          </a:p>
        </p:txBody>
      </p:sp>
      <p:sp>
        <p:nvSpPr>
          <p:cNvPr id="3" name="Content Placeholder 2">
            <a:extLst>
              <a:ext uri="{FF2B5EF4-FFF2-40B4-BE49-F238E27FC236}">
                <a16:creationId xmlns:a16="http://schemas.microsoft.com/office/drawing/2014/main" id="{34883A0E-C434-6973-D9FC-5BC2200325F9}"/>
              </a:ext>
            </a:extLst>
          </p:cNvPr>
          <p:cNvSpPr>
            <a:spLocks noGrp="1"/>
          </p:cNvSpPr>
          <p:nvPr>
            <p:ph idx="1"/>
          </p:nvPr>
        </p:nvSpPr>
        <p:spPr>
          <a:xfrm>
            <a:off x="281940" y="1779905"/>
            <a:ext cx="5814060" cy="4351338"/>
          </a:xfrm>
        </p:spPr>
        <p:txBody>
          <a:bodyPr>
            <a:normAutofit lnSpcReduction="10000"/>
          </a:bodyPr>
          <a:lstStyle/>
          <a:p>
            <a:pPr fontAlgn="base"/>
            <a:r>
              <a:rPr lang="en-US" dirty="0"/>
              <a:t>Finally, we plot the data points, colored by their predicted clusters, along with the updated centroids.</a:t>
            </a:r>
          </a:p>
          <a:p>
            <a:pPr fontAlgn="base"/>
            <a:r>
              <a:rPr lang="en-US" b="1" dirty="0"/>
              <a:t>center = clusters[</a:t>
            </a:r>
            <a:r>
              <a:rPr lang="en-US" b="1" dirty="0" err="1"/>
              <a:t>i</a:t>
            </a:r>
            <a:r>
              <a:rPr lang="en-US" b="1" dirty="0"/>
              <a:t>]['center']: </a:t>
            </a:r>
            <a:r>
              <a:rPr lang="en-US" dirty="0"/>
              <a:t>Retrieves the center (centroid) of the current cluster.</a:t>
            </a:r>
          </a:p>
          <a:p>
            <a:pPr fontAlgn="base"/>
            <a:r>
              <a:rPr lang="en-US" b="1" dirty="0" err="1"/>
              <a:t>plt.scatter</a:t>
            </a:r>
            <a:r>
              <a:rPr lang="en-US" b="1" dirty="0"/>
              <a:t>(center[0], center[1], marker='^', c='red'):</a:t>
            </a:r>
            <a:r>
              <a:rPr lang="en-US" dirty="0"/>
              <a:t> Plots the cluster center as a red triangle (^ marker).</a:t>
            </a:r>
          </a:p>
          <a:p>
            <a:endParaRPr lang="en-US" dirty="0"/>
          </a:p>
        </p:txBody>
      </p:sp>
      <p:sp>
        <p:nvSpPr>
          <p:cNvPr id="5" name="TextBox 4">
            <a:extLst>
              <a:ext uri="{FF2B5EF4-FFF2-40B4-BE49-F238E27FC236}">
                <a16:creationId xmlns:a16="http://schemas.microsoft.com/office/drawing/2014/main" id="{A92301B0-AFEC-E1BB-AAD0-B76DB8068AC9}"/>
              </a:ext>
            </a:extLst>
          </p:cNvPr>
          <p:cNvSpPr txBox="1"/>
          <p:nvPr/>
        </p:nvSpPr>
        <p:spPr>
          <a:xfrm>
            <a:off x="6260783" y="2507456"/>
            <a:ext cx="6097904" cy="2308324"/>
          </a:xfrm>
          <a:prstGeom prst="rect">
            <a:avLst/>
          </a:prstGeom>
          <a:noFill/>
        </p:spPr>
        <p:txBody>
          <a:bodyPr wrap="square">
            <a:spAutoFit/>
          </a:bodyPr>
          <a:lstStyle/>
          <a:p>
            <a:r>
              <a:rPr lang="en-US" sz="2400" dirty="0" err="1"/>
              <a:t>plt.scatter</a:t>
            </a:r>
            <a:r>
              <a:rPr lang="en-US" sz="2400" dirty="0"/>
              <a:t>(X[:,0],X[:,1],c = pred)</a:t>
            </a:r>
          </a:p>
          <a:p>
            <a:r>
              <a:rPr lang="en-US" sz="2400" dirty="0"/>
              <a:t>for </a:t>
            </a:r>
            <a:r>
              <a:rPr lang="en-US" sz="2400" dirty="0" err="1"/>
              <a:t>i</a:t>
            </a:r>
            <a:r>
              <a:rPr lang="en-US" sz="2400" dirty="0"/>
              <a:t> in clusters:</a:t>
            </a:r>
          </a:p>
          <a:p>
            <a:r>
              <a:rPr lang="en-US" sz="2400" dirty="0"/>
              <a:t>    center = clusters[</a:t>
            </a:r>
            <a:r>
              <a:rPr lang="en-US" sz="2400" dirty="0" err="1"/>
              <a:t>i</a:t>
            </a:r>
            <a:r>
              <a:rPr lang="en-US" sz="2400" dirty="0"/>
              <a:t>]['center']</a:t>
            </a:r>
          </a:p>
          <a:p>
            <a:r>
              <a:rPr lang="en-US" sz="2400" dirty="0"/>
              <a:t>    </a:t>
            </a:r>
            <a:r>
              <a:rPr lang="en-US" sz="2400" dirty="0" err="1"/>
              <a:t>plt.scatter</a:t>
            </a:r>
            <a:r>
              <a:rPr lang="en-US" sz="2400" dirty="0"/>
              <a:t>(center[0],center[1],marker = '^',c = 'red')</a:t>
            </a:r>
          </a:p>
          <a:p>
            <a:r>
              <a:rPr lang="en-US" sz="2400" dirty="0" err="1"/>
              <a:t>plt.show</a:t>
            </a:r>
            <a:r>
              <a:rPr lang="en-US" sz="2400" dirty="0"/>
              <a:t>()</a:t>
            </a:r>
          </a:p>
        </p:txBody>
      </p:sp>
    </p:spTree>
    <p:extLst>
      <p:ext uri="{BB962C8B-B14F-4D97-AF65-F5344CB8AC3E}">
        <p14:creationId xmlns:p14="http://schemas.microsoft.com/office/powerpoint/2010/main" val="2928716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Rectangle 513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K-means Clustering - Geeksforgeeks">
            <a:extLst>
              <a:ext uri="{FF2B5EF4-FFF2-40B4-BE49-F238E27FC236}">
                <a16:creationId xmlns:a16="http://schemas.microsoft.com/office/drawing/2014/main" id="{8AB5D47A-E6D8-66FF-EA42-938A37E35F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80055" y="457200"/>
            <a:ext cx="803189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064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C7ADD-12AD-F83E-D5F9-B3DE704730B6}"/>
              </a:ext>
            </a:extLst>
          </p:cNvPr>
          <p:cNvSpPr>
            <a:spLocks noGrp="1"/>
          </p:cNvSpPr>
          <p:nvPr>
            <p:ph type="title"/>
          </p:nvPr>
        </p:nvSpPr>
        <p:spPr/>
        <p:txBody>
          <a:bodyPr/>
          <a:lstStyle/>
          <a:p>
            <a:r>
              <a:rPr lang="en-US" b="1" dirty="0"/>
              <a:t>Challenges with K-Means Clustering</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EB01D12-5253-17DD-F853-6420F27C884C}"/>
                  </a:ext>
                </a:extLst>
              </p:cNvPr>
              <p:cNvSpPr>
                <a:spLocks noGrp="1"/>
              </p:cNvSpPr>
              <p:nvPr>
                <p:ph idx="1"/>
              </p:nvPr>
            </p:nvSpPr>
            <p:spPr/>
            <p:txBody>
              <a:bodyPr/>
              <a:lstStyle/>
              <a:p>
                <a:pPr fontAlgn="base"/>
                <a:r>
                  <a:rPr lang="en-US" b="1" dirty="0"/>
                  <a:t>Choosing the Right Number of Clusters</a:t>
                </a:r>
                <a:r>
                  <a:rPr lang="en-US" dirty="0"/>
                  <a:t> (</a:t>
                </a:r>
                <a14:m>
                  <m:oMath xmlns:m="http://schemas.openxmlformats.org/officeDocument/2006/math">
                    <m:r>
                      <a:rPr lang="en-US" i="1"/>
                      <m:t>𝑘</m:t>
                    </m:r>
                  </m:oMath>
                </a14:m>
                <a:r>
                  <a:rPr lang="en-US" dirty="0"/>
                  <a:t>): One of the biggest challenges is deciding how many clusters to use.</a:t>
                </a:r>
              </a:p>
              <a:p>
                <a:pPr fontAlgn="base"/>
                <a:r>
                  <a:rPr lang="en-US" b="1" dirty="0"/>
                  <a:t>Sensitive to Initial Centroids:</a:t>
                </a:r>
                <a:r>
                  <a:rPr lang="en-US" dirty="0"/>
                  <a:t> The final clusters can vary depending on the initial random placement of centroids.</a:t>
                </a:r>
              </a:p>
              <a:p>
                <a:pPr fontAlgn="base"/>
                <a:r>
                  <a:rPr lang="en-US" b="1" dirty="0"/>
                  <a:t>Non-Spherical Clusters:</a:t>
                </a:r>
                <a:r>
                  <a:rPr lang="en-US" dirty="0"/>
                  <a:t> K-Means assumes that the clusters are spherical and equally sized. This can be a problem when the actual clusters in the data are of different shapes or densities.</a:t>
                </a:r>
              </a:p>
              <a:p>
                <a:pPr fontAlgn="base"/>
                <a:r>
                  <a:rPr lang="en-US" b="1" dirty="0"/>
                  <a:t>Outliers</a:t>
                </a:r>
                <a:r>
                  <a:rPr lang="en-US" dirty="0"/>
                  <a:t>: K-Means is sensitive to outliers, which can distort the centroid and, ultimately, the clusters.</a:t>
                </a:r>
              </a:p>
              <a:p>
                <a:endParaRPr lang="en-US" dirty="0"/>
              </a:p>
            </p:txBody>
          </p:sp>
        </mc:Choice>
        <mc:Fallback>
          <p:sp>
            <p:nvSpPr>
              <p:cNvPr id="3" name="Content Placeholder 2">
                <a:extLst>
                  <a:ext uri="{FF2B5EF4-FFF2-40B4-BE49-F238E27FC236}">
                    <a16:creationId xmlns:a16="http://schemas.microsoft.com/office/drawing/2014/main" id="{BEB01D12-5253-17DD-F853-6420F27C884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462575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B6D55-F051-96AB-302F-60DC1C953EB7}"/>
              </a:ext>
            </a:extLst>
          </p:cNvPr>
          <p:cNvSpPr>
            <a:spLocks noGrp="1"/>
          </p:cNvSpPr>
          <p:nvPr>
            <p:ph type="title"/>
          </p:nvPr>
        </p:nvSpPr>
        <p:spPr/>
        <p:txBody>
          <a:bodyPr>
            <a:normAutofit/>
          </a:bodyPr>
          <a:lstStyle/>
          <a:p>
            <a:r>
              <a:rPr lang="en-US" b="1" dirty="0"/>
              <a:t>Elbow Method for optimal value of k in </a:t>
            </a:r>
            <a:r>
              <a:rPr lang="en-US" b="1" dirty="0" err="1"/>
              <a:t>KMeans</a:t>
            </a:r>
            <a:endParaRPr lang="en-US" dirty="0"/>
          </a:p>
        </p:txBody>
      </p:sp>
      <p:sp>
        <p:nvSpPr>
          <p:cNvPr id="3" name="Content Placeholder 2">
            <a:extLst>
              <a:ext uri="{FF2B5EF4-FFF2-40B4-BE49-F238E27FC236}">
                <a16:creationId xmlns:a16="http://schemas.microsoft.com/office/drawing/2014/main" id="{8DDA26E3-9AF2-BEEF-CDF9-0B0BD04196AB}"/>
              </a:ext>
            </a:extLst>
          </p:cNvPr>
          <p:cNvSpPr>
            <a:spLocks noGrp="1"/>
          </p:cNvSpPr>
          <p:nvPr>
            <p:ph idx="1"/>
          </p:nvPr>
        </p:nvSpPr>
        <p:spPr/>
        <p:txBody>
          <a:bodyPr/>
          <a:lstStyle/>
          <a:p>
            <a:pPr marL="0" indent="0">
              <a:buNone/>
            </a:pPr>
            <a:r>
              <a:rPr lang="en-US" dirty="0"/>
              <a:t>In </a:t>
            </a:r>
            <a:r>
              <a:rPr lang="en-US" u="sng" dirty="0">
                <a:hlinkClick r:id="rId2"/>
              </a:rPr>
              <a:t>K-Means clustering</a:t>
            </a:r>
            <a:r>
              <a:rPr lang="en-US" dirty="0"/>
              <a:t>, the algorithm partitions data into k clusters by minimizing the distances between points and their cluster centroids. However, deciding the ideal k is not straightforward. The Elbow Method helps by plotting the Within-Cluster Sum of Squares (WCSS) against increasing k values and looking for a point where the improvement slows down, this point is called the "elbow."</a:t>
            </a:r>
          </a:p>
        </p:txBody>
      </p:sp>
    </p:spTree>
    <p:extLst>
      <p:ext uri="{BB962C8B-B14F-4D97-AF65-F5344CB8AC3E}">
        <p14:creationId xmlns:p14="http://schemas.microsoft.com/office/powerpoint/2010/main" val="40829547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5C71D1C-5912-922D-E8C9-C3035F7E58D7}"/>
              </a:ext>
            </a:extLst>
          </p:cNvPr>
          <p:cNvPicPr>
            <a:picLocks noChangeAspect="1"/>
          </p:cNvPicPr>
          <p:nvPr/>
        </p:nvPicPr>
        <p:blipFill>
          <a:blip r:embed="rId2"/>
          <a:stretch>
            <a:fillRect/>
          </a:stretch>
        </p:blipFill>
        <p:spPr>
          <a:xfrm>
            <a:off x="488830" y="457200"/>
            <a:ext cx="11214339" cy="5943600"/>
          </a:xfrm>
          <a:prstGeom prst="rect">
            <a:avLst/>
          </a:prstGeom>
        </p:spPr>
      </p:pic>
    </p:spTree>
    <p:extLst>
      <p:ext uri="{BB962C8B-B14F-4D97-AF65-F5344CB8AC3E}">
        <p14:creationId xmlns:p14="http://schemas.microsoft.com/office/powerpoint/2010/main" val="10929700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844E0-F1AB-1455-F18A-207A4A71B4E9}"/>
              </a:ext>
            </a:extLst>
          </p:cNvPr>
          <p:cNvSpPr>
            <a:spLocks noGrp="1"/>
          </p:cNvSpPr>
          <p:nvPr>
            <p:ph type="title"/>
          </p:nvPr>
        </p:nvSpPr>
        <p:spPr/>
        <p:txBody>
          <a:bodyPr/>
          <a:lstStyle/>
          <a:p>
            <a:r>
              <a:rPr lang="en-US" b="1" dirty="0"/>
              <a:t>Working of Elbow Point</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5C0534B-AE59-5A11-BFBD-9533BF906C9E}"/>
                  </a:ext>
                </a:extLst>
              </p:cNvPr>
              <p:cNvSpPr>
                <a:spLocks noGrp="1"/>
              </p:cNvSpPr>
              <p:nvPr>
                <p:ph idx="1"/>
              </p:nvPr>
            </p:nvSpPr>
            <p:spPr/>
            <p:txBody>
              <a:bodyPr>
                <a:normAutofit lnSpcReduction="10000"/>
              </a:bodyPr>
              <a:lstStyle/>
              <a:p>
                <a:pPr marL="0" indent="0" fontAlgn="base">
                  <a:buNone/>
                </a:pPr>
                <a:r>
                  <a:rPr lang="en-US" dirty="0"/>
                  <a:t>The Elbow Method works in the following steps:</a:t>
                </a:r>
              </a:p>
              <a:p>
                <a:pPr marL="0" indent="0" fontAlgn="base">
                  <a:buNone/>
                </a:pPr>
                <a:r>
                  <a:rPr lang="en-US" dirty="0"/>
                  <a:t>1. We begin by selecting a range of k values (for example, 1 to 10).</a:t>
                </a:r>
              </a:p>
              <a:p>
                <a:pPr marL="0" indent="0" fontAlgn="base">
                  <a:buNone/>
                </a:pPr>
                <a:r>
                  <a:rPr lang="en-US" dirty="0"/>
                  <a:t>2. For each k, we run K-Means and calculate WCSS (Within-Cluster Sum of Squares), which shows how close the data points are to their cluster centroids:</a:t>
                </a:r>
              </a:p>
              <a:p>
                <a:endParaRPr lang="en-US" dirty="0"/>
              </a:p>
              <a:p>
                <a:endParaRPr lang="en-US" dirty="0"/>
              </a:p>
              <a:p>
                <a:pPr marL="0" indent="0">
                  <a:buNone/>
                </a:pPr>
                <a:r>
                  <a:rPr lang="en-US" dirty="0"/>
                  <a:t>Where </a:t>
                </a:r>
                <a14:m>
                  <m:oMath xmlns:m="http://schemas.openxmlformats.org/officeDocument/2006/math">
                    <m:r>
                      <m:rPr>
                        <m:nor/>
                      </m:rPr>
                      <a:rPr lang="en-US" b="0"/>
                      <m:t>distance</m:t>
                    </m:r>
                    <m:d>
                      <m:dPr>
                        <m:sepChr m:val=","/>
                        <m:ctrlPr>
                          <a:rPr lang="ar-AE" i="1"/>
                        </m:ctrlPr>
                      </m:dPr>
                      <m:e>
                        <m:sSubSup>
                          <m:sSubSupPr>
                            <m:ctrlPr>
                              <a:rPr lang="ar-AE" i="1"/>
                            </m:ctrlPr>
                          </m:sSubSupPr>
                          <m:e>
                            <m:r>
                              <a:rPr lang="ar-AE" b="0" i="1"/>
                              <m:t>𝑥</m:t>
                            </m:r>
                          </m:e>
                          <m:sub>
                            <m:r>
                              <a:rPr lang="ar-AE" b="0" i="1"/>
                              <m:t>𝑗</m:t>
                            </m:r>
                          </m:sub>
                          <m:sup>
                            <m:d>
                              <m:dPr>
                                <m:ctrlPr>
                                  <a:rPr lang="ar-AE" i="1"/>
                                </m:ctrlPr>
                              </m:dPr>
                              <m:e>
                                <m:r>
                                  <a:rPr lang="ar-AE" b="0" i="1"/>
                                  <m:t>𝑖</m:t>
                                </m:r>
                              </m:e>
                            </m:d>
                          </m:sup>
                        </m:sSubSup>
                      </m:e>
                      <m:e>
                        <m:sSub>
                          <m:sSubPr>
                            <m:ctrlPr>
                              <a:rPr lang="ar-AE" i="1"/>
                            </m:ctrlPr>
                          </m:sSubPr>
                          <m:e>
                            <m:r>
                              <a:rPr lang="ar-AE" i="1"/>
                              <m:t>𝑐</m:t>
                            </m:r>
                          </m:e>
                          <m:sub>
                            <m:r>
                              <a:rPr lang="ar-AE" i="1"/>
                              <m:t>𝑖</m:t>
                            </m:r>
                          </m:sub>
                        </m:sSub>
                      </m:e>
                    </m:d>
                  </m:oMath>
                </a14:m>
                <a:r>
                  <a:rPr lang="en-US" dirty="0"/>
                  <a:t>represents the distance between the </a:t>
                </a:r>
                <a14:m>
                  <m:oMath xmlns:m="http://schemas.openxmlformats.org/officeDocument/2006/math">
                    <m:sSup>
                      <m:sSupPr>
                        <m:ctrlPr>
                          <a:rPr lang="ar-AE"/>
                        </m:ctrlPr>
                      </m:sSupPr>
                      <m:e>
                        <m:r>
                          <a:rPr lang="ar-AE" i="1"/>
                          <m:t>𝑗</m:t>
                        </m:r>
                      </m:e>
                      <m:sup>
                        <m:r>
                          <a:rPr lang="ar-AE" i="1"/>
                          <m:t>𝑡</m:t>
                        </m:r>
                        <m:r>
                          <a:rPr lang="ar-AE" i="1"/>
                          <m:t>h</m:t>
                        </m:r>
                      </m:sup>
                    </m:sSup>
                  </m:oMath>
                </a14:m>
                <a:r>
                  <a:rPr lang="ar-AE" dirty="0"/>
                  <a:t> </a:t>
                </a:r>
                <a:r>
                  <a:rPr lang="en-US" dirty="0"/>
                  <a:t>data point </a:t>
                </a:r>
                <a14:m>
                  <m:oMath xmlns:m="http://schemas.openxmlformats.org/officeDocument/2006/math">
                    <m:sSubSup>
                      <m:sSubSupPr>
                        <m:ctrlPr>
                          <a:rPr lang="ar-AE"/>
                        </m:ctrlPr>
                      </m:sSubSupPr>
                      <m:e>
                        <m:r>
                          <a:rPr lang="ar-AE" i="1"/>
                          <m:t>𝑥</m:t>
                        </m:r>
                      </m:e>
                      <m:sub>
                        <m:r>
                          <a:rPr lang="ar-AE" i="1"/>
                          <m:t>𝑗</m:t>
                        </m:r>
                      </m:sub>
                      <m:sup>
                        <m:d>
                          <m:dPr>
                            <m:ctrlPr>
                              <a:rPr lang="ar-AE" i="1"/>
                            </m:ctrlPr>
                          </m:dPr>
                          <m:e>
                            <m:r>
                              <a:rPr lang="ar-AE" i="1"/>
                              <m:t>𝑖</m:t>
                            </m:r>
                          </m:e>
                        </m:d>
                      </m:sup>
                    </m:sSubSup>
                  </m:oMath>
                </a14:m>
                <a:r>
                  <a:rPr lang="ar-AE" dirty="0"/>
                  <a:t>​ </a:t>
                </a:r>
                <a:r>
                  <a:rPr lang="en-US" dirty="0"/>
                  <a:t>in cluster </a:t>
                </a:r>
                <a:r>
                  <a:rPr lang="en-US" dirty="0" err="1"/>
                  <a:t>i</a:t>
                </a:r>
                <a:r>
                  <a:rPr lang="en-US" dirty="0"/>
                  <a:t> and the centroid </a:t>
                </a:r>
                <a14:m>
                  <m:oMath xmlns:m="http://schemas.openxmlformats.org/officeDocument/2006/math">
                    <m:sSub>
                      <m:sSubPr>
                        <m:ctrlPr>
                          <a:rPr lang="ar-AE"/>
                        </m:ctrlPr>
                      </m:sSubPr>
                      <m:e>
                        <m:r>
                          <a:rPr lang="ar-AE" i="1"/>
                          <m:t>𝑐</m:t>
                        </m:r>
                      </m:e>
                      <m:sub>
                        <m:r>
                          <a:rPr lang="ar-AE" i="1"/>
                          <m:t>𝑖</m:t>
                        </m:r>
                      </m:sub>
                    </m:sSub>
                  </m:oMath>
                </a14:m>
                <a:r>
                  <a:rPr lang="en-US" dirty="0"/>
                  <a:t>of that cluster.</a:t>
                </a:r>
              </a:p>
            </p:txBody>
          </p:sp>
        </mc:Choice>
        <mc:Fallback>
          <p:sp>
            <p:nvSpPr>
              <p:cNvPr id="3" name="Content Placeholder 2">
                <a:extLst>
                  <a:ext uri="{FF2B5EF4-FFF2-40B4-BE49-F238E27FC236}">
                    <a16:creationId xmlns:a16="http://schemas.microsoft.com/office/drawing/2014/main" id="{45C0534B-AE59-5A11-BFBD-9533BF906C9E}"/>
                  </a:ext>
                </a:extLst>
              </p:cNvPr>
              <p:cNvSpPr>
                <a:spLocks noGrp="1" noRot="1" noChangeAspect="1" noMove="1" noResize="1" noEditPoints="1" noAdjustHandles="1" noChangeArrowheads="1" noChangeShapeType="1" noTextEdit="1"/>
              </p:cNvSpPr>
              <p:nvPr>
                <p:ph idx="1"/>
              </p:nvPr>
            </p:nvSpPr>
            <p:spPr>
              <a:blipFill>
                <a:blip r:embed="rId2"/>
                <a:stretch>
                  <a:fillRect l="-1217" t="-3081" r="-23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3322B809-9D0F-3F3D-D99A-4B605710AD5D}"/>
              </a:ext>
            </a:extLst>
          </p:cNvPr>
          <p:cNvPicPr>
            <a:picLocks noChangeAspect="1"/>
          </p:cNvPicPr>
          <p:nvPr/>
        </p:nvPicPr>
        <p:blipFill>
          <a:blip r:embed="rId3"/>
          <a:stretch>
            <a:fillRect/>
          </a:stretch>
        </p:blipFill>
        <p:spPr>
          <a:xfrm>
            <a:off x="2164669" y="3910908"/>
            <a:ext cx="5210902" cy="819264"/>
          </a:xfrm>
          <a:prstGeom prst="rect">
            <a:avLst/>
          </a:prstGeom>
        </p:spPr>
      </p:pic>
    </p:spTree>
    <p:extLst>
      <p:ext uri="{BB962C8B-B14F-4D97-AF65-F5344CB8AC3E}">
        <p14:creationId xmlns:p14="http://schemas.microsoft.com/office/powerpoint/2010/main" val="20414218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EAB6DC-A257-1BCF-4336-5DB8ABE8C19C}"/>
              </a:ext>
            </a:extLst>
          </p:cNvPr>
          <p:cNvSpPr>
            <a:spLocks noGrp="1"/>
          </p:cNvSpPr>
          <p:nvPr>
            <p:ph idx="1"/>
          </p:nvPr>
        </p:nvSpPr>
        <p:spPr>
          <a:xfrm>
            <a:off x="838200" y="811530"/>
            <a:ext cx="10515600" cy="5365433"/>
          </a:xfrm>
        </p:spPr>
        <p:txBody>
          <a:bodyPr>
            <a:normAutofit/>
          </a:bodyPr>
          <a:lstStyle/>
          <a:p>
            <a:pPr marL="0" indent="0" fontAlgn="base">
              <a:buNone/>
            </a:pPr>
            <a:r>
              <a:rPr lang="en-US" dirty="0"/>
              <a:t>3. After computing WCSS for all k values, we plot k vs WCSS.</a:t>
            </a:r>
          </a:p>
          <a:p>
            <a:pPr marL="0" indent="0" fontAlgn="base">
              <a:buNone/>
            </a:pPr>
            <a:r>
              <a:rPr lang="en-US" dirty="0"/>
              <a:t>4. WCSS always decreases as k increases because more clusters reduce the internal spread.</a:t>
            </a:r>
          </a:p>
          <a:p>
            <a:pPr marL="0" indent="0" fontAlgn="base">
              <a:buNone/>
            </a:pPr>
            <a:r>
              <a:rPr lang="en-US" dirty="0"/>
              <a:t>5. However, after a certain point, the improvement becomes very small. This bend or “elbow” in the curve indicates the point where adding more clusters no longer gives meaningful improvement.</a:t>
            </a:r>
          </a:p>
          <a:p>
            <a:pPr marL="457200" lvl="1" indent="0" fontAlgn="base">
              <a:buNone/>
            </a:pPr>
            <a:r>
              <a:rPr lang="en-US" b="1" dirty="0"/>
              <a:t>Before the elbow:</a:t>
            </a:r>
            <a:r>
              <a:rPr lang="en-US" dirty="0"/>
              <a:t> WCSS drops quickly -&gt; clusters become much better.</a:t>
            </a:r>
          </a:p>
          <a:p>
            <a:pPr marL="457200" lvl="1" indent="0" fontAlgn="base">
              <a:buNone/>
            </a:pPr>
            <a:r>
              <a:rPr lang="en-US" b="1" dirty="0"/>
              <a:t>After the elbow:</a:t>
            </a:r>
            <a:r>
              <a:rPr lang="en-US" dirty="0"/>
              <a:t> WCSS drops slowly -&gt; extra clusters add little value and may lead to overfitting.</a:t>
            </a:r>
          </a:p>
          <a:p>
            <a:endParaRPr lang="en-US" dirty="0"/>
          </a:p>
        </p:txBody>
      </p:sp>
    </p:spTree>
    <p:extLst>
      <p:ext uri="{BB962C8B-B14F-4D97-AF65-F5344CB8AC3E}">
        <p14:creationId xmlns:p14="http://schemas.microsoft.com/office/powerpoint/2010/main" val="652166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9" name="Rectangle 7178">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1" name="Rectangle 718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Lightbox">
            <a:extLst>
              <a:ext uri="{FF2B5EF4-FFF2-40B4-BE49-F238E27FC236}">
                <a16:creationId xmlns:a16="http://schemas.microsoft.com/office/drawing/2014/main" id="{257E3263-B343-5225-2543-1B651B664DF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 y="1117092"/>
            <a:ext cx="11277600" cy="4623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4780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45E5-7045-1CD4-D5F1-9EDB16465B78}"/>
              </a:ext>
            </a:extLst>
          </p:cNvPr>
          <p:cNvSpPr>
            <a:spLocks noGrp="1"/>
          </p:cNvSpPr>
          <p:nvPr>
            <p:ph type="title"/>
          </p:nvPr>
        </p:nvSpPr>
        <p:spPr/>
        <p:txBody>
          <a:bodyPr/>
          <a:lstStyle/>
          <a:p>
            <a:r>
              <a:rPr lang="en-US" dirty="0"/>
              <a:t>Import files</a:t>
            </a:r>
          </a:p>
        </p:txBody>
      </p:sp>
      <p:sp>
        <p:nvSpPr>
          <p:cNvPr id="3" name="Content Placeholder 2">
            <a:extLst>
              <a:ext uri="{FF2B5EF4-FFF2-40B4-BE49-F238E27FC236}">
                <a16:creationId xmlns:a16="http://schemas.microsoft.com/office/drawing/2014/main" id="{56B56449-6D7D-D8E6-83DB-14F7049FF511}"/>
              </a:ext>
            </a:extLst>
          </p:cNvPr>
          <p:cNvSpPr>
            <a:spLocks noGrp="1"/>
          </p:cNvSpPr>
          <p:nvPr>
            <p:ph idx="1"/>
          </p:nvPr>
        </p:nvSpPr>
        <p:spPr/>
        <p:txBody>
          <a:bodyPr/>
          <a:lstStyle/>
          <a:p>
            <a:pPr marL="0" indent="0">
              <a:buNone/>
            </a:pPr>
            <a:r>
              <a:rPr lang="en-US" dirty="0"/>
              <a:t>from </a:t>
            </a:r>
            <a:r>
              <a:rPr lang="en-US" dirty="0" err="1"/>
              <a:t>sklearn.cluster</a:t>
            </a:r>
            <a:r>
              <a:rPr lang="en-US" dirty="0"/>
              <a:t> import </a:t>
            </a:r>
            <a:r>
              <a:rPr lang="en-US" dirty="0" err="1"/>
              <a:t>KMeans</a:t>
            </a:r>
            <a:endParaRPr lang="en-US" dirty="0"/>
          </a:p>
          <a:p>
            <a:pPr marL="0" indent="0">
              <a:buNone/>
            </a:pPr>
            <a:r>
              <a:rPr lang="en-US" dirty="0"/>
              <a:t>from </a:t>
            </a:r>
            <a:r>
              <a:rPr lang="en-US" dirty="0" err="1"/>
              <a:t>sklearn</a:t>
            </a:r>
            <a:r>
              <a:rPr lang="en-US" dirty="0"/>
              <a:t> import metrics</a:t>
            </a:r>
          </a:p>
          <a:p>
            <a:pPr marL="0" indent="0">
              <a:buNone/>
            </a:pPr>
            <a:r>
              <a:rPr lang="en-US" dirty="0"/>
              <a:t>from </a:t>
            </a:r>
            <a:r>
              <a:rPr lang="en-US" dirty="0" err="1"/>
              <a:t>scipy.spatial.distance</a:t>
            </a:r>
            <a:r>
              <a:rPr lang="en-US" dirty="0"/>
              <a:t> import </a:t>
            </a:r>
            <a:r>
              <a:rPr lang="en-US" dirty="0" err="1"/>
              <a:t>cdist</a:t>
            </a:r>
            <a:endParaRPr lang="en-US" dirty="0"/>
          </a:p>
          <a:p>
            <a:pPr marL="0" indent="0">
              <a:buNone/>
            </a:pPr>
            <a:r>
              <a:rPr lang="en-US" dirty="0"/>
              <a:t>import </a:t>
            </a:r>
            <a:r>
              <a:rPr lang="en-US" dirty="0" err="1"/>
              <a:t>numpy</a:t>
            </a:r>
            <a:r>
              <a:rPr lang="en-US" dirty="0"/>
              <a:t> as np</a:t>
            </a:r>
          </a:p>
          <a:p>
            <a:pPr marL="0" indent="0">
              <a:buNone/>
            </a:pPr>
            <a:r>
              <a:rPr lang="en-US" dirty="0"/>
              <a:t>import </a:t>
            </a:r>
            <a:r>
              <a:rPr lang="en-US" dirty="0" err="1"/>
              <a:t>matplotlib.pyplot</a:t>
            </a:r>
            <a:r>
              <a:rPr lang="en-US" dirty="0"/>
              <a:t> as </a:t>
            </a:r>
            <a:r>
              <a:rPr lang="en-US" dirty="0" err="1"/>
              <a:t>plt</a:t>
            </a:r>
            <a:endParaRPr lang="en-US" dirty="0"/>
          </a:p>
        </p:txBody>
      </p:sp>
    </p:spTree>
    <p:extLst>
      <p:ext uri="{BB962C8B-B14F-4D97-AF65-F5344CB8AC3E}">
        <p14:creationId xmlns:p14="http://schemas.microsoft.com/office/powerpoint/2010/main" val="11668324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59CC4-82FE-650D-9E2D-0CF50AEE8CB9}"/>
              </a:ext>
            </a:extLst>
          </p:cNvPr>
          <p:cNvSpPr>
            <a:spLocks noGrp="1"/>
          </p:cNvSpPr>
          <p:nvPr>
            <p:ph type="title"/>
          </p:nvPr>
        </p:nvSpPr>
        <p:spPr>
          <a:xfrm>
            <a:off x="701040" y="159385"/>
            <a:ext cx="10515600" cy="1325563"/>
          </a:xfrm>
        </p:spPr>
        <p:txBody>
          <a:bodyPr/>
          <a:lstStyle/>
          <a:p>
            <a:r>
              <a:rPr lang="en-US" b="1" dirty="0"/>
              <a:t>Creating and Visualizing the data</a:t>
            </a:r>
            <a:endParaRPr lang="en-US" dirty="0"/>
          </a:p>
        </p:txBody>
      </p:sp>
      <p:sp>
        <p:nvSpPr>
          <p:cNvPr id="3" name="Content Placeholder 2">
            <a:extLst>
              <a:ext uri="{FF2B5EF4-FFF2-40B4-BE49-F238E27FC236}">
                <a16:creationId xmlns:a16="http://schemas.microsoft.com/office/drawing/2014/main" id="{CDC991B5-6A4A-F196-A729-BE01D40B14D8}"/>
              </a:ext>
            </a:extLst>
          </p:cNvPr>
          <p:cNvSpPr>
            <a:spLocks noGrp="1"/>
          </p:cNvSpPr>
          <p:nvPr>
            <p:ph idx="1"/>
          </p:nvPr>
        </p:nvSpPr>
        <p:spPr>
          <a:xfrm>
            <a:off x="838200" y="1565910"/>
            <a:ext cx="10515600" cy="4834890"/>
          </a:xfrm>
        </p:spPr>
        <p:txBody>
          <a:bodyPr>
            <a:normAutofit fontScale="77500" lnSpcReduction="20000"/>
          </a:bodyPr>
          <a:lstStyle/>
          <a:p>
            <a:pPr marL="0" indent="0">
              <a:buNone/>
            </a:pPr>
            <a:r>
              <a:rPr lang="en-US" dirty="0"/>
              <a:t>x1 = </a:t>
            </a:r>
            <a:r>
              <a:rPr lang="en-US" dirty="0" err="1"/>
              <a:t>np.array</a:t>
            </a:r>
            <a:r>
              <a:rPr lang="en-US" dirty="0"/>
              <a:t>([3, 1, 1, 2, 1, 6, 6, 6, 5, 6,</a:t>
            </a:r>
          </a:p>
          <a:p>
            <a:pPr marL="0" indent="0">
              <a:buNone/>
            </a:pPr>
            <a:r>
              <a:rPr lang="en-US" dirty="0"/>
              <a:t>               7, 8, 9, 8, 9, 9, 8, 4, 4, 5, 4])</a:t>
            </a:r>
          </a:p>
          <a:p>
            <a:pPr marL="0" indent="0">
              <a:buNone/>
            </a:pPr>
            <a:r>
              <a:rPr lang="en-US" dirty="0"/>
              <a:t>x2 = </a:t>
            </a:r>
            <a:r>
              <a:rPr lang="en-US" dirty="0" err="1"/>
              <a:t>np.array</a:t>
            </a:r>
            <a:r>
              <a:rPr lang="en-US" dirty="0"/>
              <a:t>([5, 4, 5, 6, 5, 8, 6, 7, 6, 7,</a:t>
            </a:r>
          </a:p>
          <a:p>
            <a:pPr marL="0" indent="0">
              <a:buNone/>
            </a:pPr>
            <a:r>
              <a:rPr lang="en-US" dirty="0"/>
              <a:t>               1, 2, 1, 2, 3, 2, 3, 9, 10, 9, 10])</a:t>
            </a:r>
          </a:p>
          <a:p>
            <a:pPr marL="0" indent="0">
              <a:buNone/>
            </a:pPr>
            <a:r>
              <a:rPr lang="en-US" dirty="0"/>
              <a:t>X = </a:t>
            </a:r>
            <a:r>
              <a:rPr lang="en-US" dirty="0" err="1"/>
              <a:t>np.array</a:t>
            </a:r>
            <a:r>
              <a:rPr lang="en-US" dirty="0"/>
              <a:t>(list(zip(x1, x2))).reshape(</a:t>
            </a:r>
            <a:r>
              <a:rPr lang="en-US" dirty="0" err="1"/>
              <a:t>len</a:t>
            </a:r>
            <a:r>
              <a:rPr lang="en-US" dirty="0"/>
              <a:t>(x1), 2)</a:t>
            </a:r>
          </a:p>
          <a:p>
            <a:pPr marL="0" indent="0">
              <a:buNone/>
            </a:pPr>
            <a:endParaRPr lang="en-US" dirty="0"/>
          </a:p>
          <a:p>
            <a:pPr marL="0" indent="0">
              <a:buNone/>
            </a:pPr>
            <a:r>
              <a:rPr lang="en-US" dirty="0" err="1"/>
              <a:t>plt.scatter</a:t>
            </a:r>
            <a:r>
              <a:rPr lang="en-US" dirty="0"/>
              <a:t>(x1, x2, marker='o')</a:t>
            </a:r>
          </a:p>
          <a:p>
            <a:pPr marL="0" indent="0">
              <a:buNone/>
            </a:pPr>
            <a:r>
              <a:rPr lang="en-US" dirty="0" err="1"/>
              <a:t>plt.xlim</a:t>
            </a:r>
            <a:r>
              <a:rPr lang="en-US" dirty="0"/>
              <a:t>([0, 10])</a:t>
            </a:r>
          </a:p>
          <a:p>
            <a:pPr marL="0" indent="0">
              <a:buNone/>
            </a:pPr>
            <a:r>
              <a:rPr lang="en-US" dirty="0" err="1"/>
              <a:t>plt.ylim</a:t>
            </a:r>
            <a:r>
              <a:rPr lang="en-US" dirty="0"/>
              <a:t>([0, 10])</a:t>
            </a:r>
          </a:p>
          <a:p>
            <a:pPr marL="0" indent="0">
              <a:buNone/>
            </a:pPr>
            <a:r>
              <a:rPr lang="en-US" dirty="0" err="1"/>
              <a:t>plt.title</a:t>
            </a:r>
            <a:r>
              <a:rPr lang="en-US" dirty="0"/>
              <a:t>('Dataset Visualization')</a:t>
            </a:r>
          </a:p>
          <a:p>
            <a:pPr marL="0" indent="0">
              <a:buNone/>
            </a:pPr>
            <a:r>
              <a:rPr lang="en-US" dirty="0" err="1"/>
              <a:t>plt.xlabel</a:t>
            </a:r>
            <a:r>
              <a:rPr lang="en-US" dirty="0"/>
              <a:t>('Feature 1')</a:t>
            </a:r>
          </a:p>
          <a:p>
            <a:pPr marL="0" indent="0">
              <a:buNone/>
            </a:pPr>
            <a:r>
              <a:rPr lang="en-US" dirty="0" err="1"/>
              <a:t>plt.ylabel</a:t>
            </a:r>
            <a:r>
              <a:rPr lang="en-US" dirty="0"/>
              <a:t>('Feature 2')</a:t>
            </a:r>
          </a:p>
          <a:p>
            <a:pPr marL="0" indent="0">
              <a:buNone/>
            </a:pPr>
            <a:r>
              <a:rPr lang="en-US" dirty="0" err="1"/>
              <a:t>plt.show</a:t>
            </a:r>
            <a:r>
              <a:rPr lang="en-US" dirty="0"/>
              <a:t>()</a:t>
            </a:r>
          </a:p>
        </p:txBody>
      </p:sp>
    </p:spTree>
    <p:extLst>
      <p:ext uri="{BB962C8B-B14F-4D97-AF65-F5344CB8AC3E}">
        <p14:creationId xmlns:p14="http://schemas.microsoft.com/office/powerpoint/2010/main" val="24338234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3" name="Rectangle 820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5" name="Rectangle 820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Visualizing the data using matplotlib library">
            <a:extLst>
              <a:ext uri="{FF2B5EF4-FFF2-40B4-BE49-F238E27FC236}">
                <a16:creationId xmlns:a16="http://schemas.microsoft.com/office/drawing/2014/main" id="{7334620F-5B5A-24F4-4485-469492064A5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73546" y="354330"/>
            <a:ext cx="7547428" cy="5943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2E95EA4-36E2-7E16-89A9-D10201404425}"/>
              </a:ext>
            </a:extLst>
          </p:cNvPr>
          <p:cNvSpPr txBox="1"/>
          <p:nvPr/>
        </p:nvSpPr>
        <p:spPr>
          <a:xfrm>
            <a:off x="9209541" y="2191435"/>
            <a:ext cx="2391909" cy="1938992"/>
          </a:xfrm>
          <a:prstGeom prst="rect">
            <a:avLst/>
          </a:prstGeom>
          <a:noFill/>
        </p:spPr>
        <p:txBody>
          <a:bodyPr wrap="square">
            <a:spAutoFit/>
          </a:bodyPr>
          <a:lstStyle/>
          <a:p>
            <a:r>
              <a:rPr lang="en-US" sz="2400" b="0" i="0" dirty="0">
                <a:solidFill>
                  <a:schemeClr val="bg1"/>
                </a:solidFill>
                <a:effectLst/>
                <a:latin typeface="Nunito" pitchFamily="2" charset="0"/>
              </a:rPr>
              <a:t> we can see that the optimal number of clusters should be around 3. </a:t>
            </a:r>
            <a:endParaRPr lang="en-US" sz="2400" dirty="0">
              <a:solidFill>
                <a:schemeClr val="bg1"/>
              </a:solidFill>
            </a:endParaRPr>
          </a:p>
        </p:txBody>
      </p:sp>
    </p:spTree>
    <p:extLst>
      <p:ext uri="{BB962C8B-B14F-4D97-AF65-F5344CB8AC3E}">
        <p14:creationId xmlns:p14="http://schemas.microsoft.com/office/powerpoint/2010/main" val="39090703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56B65-1D9D-24D9-6CB3-4A8A137C628B}"/>
              </a:ext>
            </a:extLst>
          </p:cNvPr>
          <p:cNvSpPr>
            <a:spLocks noGrp="1"/>
          </p:cNvSpPr>
          <p:nvPr>
            <p:ph type="title"/>
          </p:nvPr>
        </p:nvSpPr>
        <p:spPr/>
        <p:txBody>
          <a:bodyPr>
            <a:normAutofit/>
          </a:bodyPr>
          <a:lstStyle/>
          <a:p>
            <a:r>
              <a:rPr lang="en-US" b="1" dirty="0"/>
              <a:t>Building the Clustering Model </a:t>
            </a:r>
            <a:endParaRPr lang="en-US" dirty="0"/>
          </a:p>
        </p:txBody>
      </p:sp>
      <p:sp>
        <p:nvSpPr>
          <p:cNvPr id="3" name="Content Placeholder 2">
            <a:extLst>
              <a:ext uri="{FF2B5EF4-FFF2-40B4-BE49-F238E27FC236}">
                <a16:creationId xmlns:a16="http://schemas.microsoft.com/office/drawing/2014/main" id="{377797BA-8E77-21E2-8DFC-94BB32976112}"/>
              </a:ext>
            </a:extLst>
          </p:cNvPr>
          <p:cNvSpPr>
            <a:spLocks noGrp="1"/>
          </p:cNvSpPr>
          <p:nvPr>
            <p:ph idx="1"/>
          </p:nvPr>
        </p:nvSpPr>
        <p:spPr>
          <a:xfrm>
            <a:off x="0" y="1690688"/>
            <a:ext cx="12192000" cy="4351338"/>
          </a:xfrm>
        </p:spPr>
        <p:txBody>
          <a:bodyPr>
            <a:normAutofit fontScale="77500" lnSpcReduction="20000"/>
          </a:bodyPr>
          <a:lstStyle/>
          <a:p>
            <a:pPr marL="0" indent="0">
              <a:buNone/>
            </a:pPr>
            <a:r>
              <a:rPr lang="en-US" dirty="0"/>
              <a:t>distortions = []</a:t>
            </a:r>
          </a:p>
          <a:p>
            <a:pPr marL="0" indent="0">
              <a:buNone/>
            </a:pPr>
            <a:r>
              <a:rPr lang="en-US" dirty="0"/>
              <a:t>inertias = []</a:t>
            </a:r>
          </a:p>
          <a:p>
            <a:pPr marL="0" indent="0">
              <a:buNone/>
            </a:pPr>
            <a:r>
              <a:rPr lang="en-US" dirty="0"/>
              <a:t>mapping1 = {}</a:t>
            </a:r>
          </a:p>
          <a:p>
            <a:pPr marL="0" indent="0">
              <a:buNone/>
            </a:pPr>
            <a:r>
              <a:rPr lang="en-US" dirty="0"/>
              <a:t>mapping2 = {}</a:t>
            </a:r>
          </a:p>
          <a:p>
            <a:pPr marL="0" indent="0">
              <a:buNone/>
            </a:pPr>
            <a:r>
              <a:rPr lang="en-US" dirty="0"/>
              <a:t>K = range(1, 10)</a:t>
            </a:r>
          </a:p>
          <a:p>
            <a:pPr marL="0" indent="0">
              <a:buNone/>
            </a:pPr>
            <a:r>
              <a:rPr lang="en-US" dirty="0"/>
              <a:t>for k in K:</a:t>
            </a:r>
          </a:p>
          <a:p>
            <a:pPr marL="0" indent="0">
              <a:buNone/>
            </a:pPr>
            <a:r>
              <a:rPr lang="en-US" dirty="0"/>
              <a:t>    </a:t>
            </a:r>
            <a:r>
              <a:rPr lang="en-US" dirty="0" err="1"/>
              <a:t>kmeanModel</a:t>
            </a:r>
            <a:r>
              <a:rPr lang="en-US" dirty="0"/>
              <a:t> = </a:t>
            </a:r>
            <a:r>
              <a:rPr lang="en-US" dirty="0" err="1"/>
              <a:t>KMeans</a:t>
            </a:r>
            <a:r>
              <a:rPr lang="en-US" dirty="0"/>
              <a:t>(</a:t>
            </a:r>
            <a:r>
              <a:rPr lang="en-US" dirty="0" err="1"/>
              <a:t>n_clusters</a:t>
            </a:r>
            <a:r>
              <a:rPr lang="en-US" dirty="0"/>
              <a:t>=k, </a:t>
            </a:r>
            <a:r>
              <a:rPr lang="en-US" dirty="0" err="1"/>
              <a:t>random_state</a:t>
            </a:r>
            <a:r>
              <a:rPr lang="en-US" dirty="0"/>
              <a:t>=42).fit(X)</a:t>
            </a:r>
          </a:p>
          <a:p>
            <a:pPr marL="0" indent="0">
              <a:buNone/>
            </a:pPr>
            <a:r>
              <a:rPr lang="en-US" dirty="0"/>
              <a:t>   </a:t>
            </a:r>
            <a:r>
              <a:rPr lang="en-US" dirty="0" err="1"/>
              <a:t>distortions.append</a:t>
            </a:r>
            <a:r>
              <a:rPr lang="en-US" dirty="0"/>
              <a:t>(sum(</a:t>
            </a:r>
            <a:r>
              <a:rPr lang="en-US" dirty="0" err="1"/>
              <a:t>np.min</a:t>
            </a:r>
            <a:r>
              <a:rPr lang="en-US" dirty="0"/>
              <a:t>(</a:t>
            </a:r>
            <a:r>
              <a:rPr lang="en-US" dirty="0" err="1"/>
              <a:t>cdist</a:t>
            </a:r>
            <a:r>
              <a:rPr lang="en-US" dirty="0"/>
              <a:t>(X, </a:t>
            </a:r>
            <a:r>
              <a:rPr lang="en-US" dirty="0" err="1"/>
              <a:t>kmeanModel.cluster_centers</a:t>
            </a:r>
            <a:r>
              <a:rPr lang="en-US" dirty="0"/>
              <a:t>_, '</a:t>
            </a:r>
            <a:r>
              <a:rPr lang="en-US" dirty="0" err="1"/>
              <a:t>euclidean</a:t>
            </a:r>
            <a:r>
              <a:rPr lang="en-US" dirty="0"/>
              <a:t>'), axis=1)**2) /                    </a:t>
            </a:r>
            <a:r>
              <a:rPr lang="en-US" dirty="0" err="1"/>
              <a:t>X.shape</a:t>
            </a:r>
            <a:r>
              <a:rPr lang="en-US" dirty="0"/>
              <a:t>[0])</a:t>
            </a:r>
          </a:p>
          <a:p>
            <a:pPr marL="0" indent="0">
              <a:buNone/>
            </a:pPr>
            <a:r>
              <a:rPr lang="en-US" dirty="0"/>
              <a:t>    </a:t>
            </a:r>
            <a:r>
              <a:rPr lang="en-US" dirty="0" err="1"/>
              <a:t>inertias.append</a:t>
            </a:r>
            <a:r>
              <a:rPr lang="en-US" dirty="0"/>
              <a:t>(</a:t>
            </a:r>
            <a:r>
              <a:rPr lang="en-US" dirty="0" err="1"/>
              <a:t>kmeanModel.inertia</a:t>
            </a:r>
            <a:r>
              <a:rPr lang="en-US" dirty="0"/>
              <a:t>_)</a:t>
            </a:r>
          </a:p>
          <a:p>
            <a:pPr marL="0" indent="0">
              <a:buNone/>
            </a:pPr>
            <a:r>
              <a:rPr lang="en-US" dirty="0"/>
              <a:t>    mapping1[k] = distortions[-1]</a:t>
            </a:r>
          </a:p>
          <a:p>
            <a:pPr marL="0" indent="0">
              <a:buNone/>
            </a:pPr>
            <a:r>
              <a:rPr lang="en-US" dirty="0"/>
              <a:t>    mapping2[k] = inertias[-1]</a:t>
            </a:r>
          </a:p>
        </p:txBody>
      </p:sp>
    </p:spTree>
    <p:extLst>
      <p:ext uri="{BB962C8B-B14F-4D97-AF65-F5344CB8AC3E}">
        <p14:creationId xmlns:p14="http://schemas.microsoft.com/office/powerpoint/2010/main" val="30570932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861C-7778-180B-A11D-8EB6A089A15D}"/>
              </a:ext>
            </a:extLst>
          </p:cNvPr>
          <p:cNvSpPr>
            <a:spLocks noGrp="1"/>
          </p:cNvSpPr>
          <p:nvPr>
            <p:ph type="title"/>
          </p:nvPr>
        </p:nvSpPr>
        <p:spPr/>
        <p:txBody>
          <a:bodyPr/>
          <a:lstStyle/>
          <a:p>
            <a:r>
              <a:rPr lang="en-US" b="1" dirty="0"/>
              <a:t>Tabulating and Visualizing the Results</a:t>
            </a:r>
            <a:br>
              <a:rPr lang="en-US" b="1" dirty="0"/>
            </a:br>
            <a:r>
              <a:rPr lang="en-US" b="1" dirty="0"/>
              <a:t>Displaying Distortion Values</a:t>
            </a:r>
            <a:endParaRPr lang="en-US" dirty="0"/>
          </a:p>
        </p:txBody>
      </p:sp>
      <p:sp>
        <p:nvSpPr>
          <p:cNvPr id="3" name="Content Placeholder 2">
            <a:extLst>
              <a:ext uri="{FF2B5EF4-FFF2-40B4-BE49-F238E27FC236}">
                <a16:creationId xmlns:a16="http://schemas.microsoft.com/office/drawing/2014/main" id="{449720A5-512B-8D2B-F2E9-95D70CC2EA73}"/>
              </a:ext>
            </a:extLst>
          </p:cNvPr>
          <p:cNvSpPr>
            <a:spLocks noGrp="1"/>
          </p:cNvSpPr>
          <p:nvPr>
            <p:ph idx="1"/>
          </p:nvPr>
        </p:nvSpPr>
        <p:spPr/>
        <p:txBody>
          <a:bodyPr>
            <a:normAutofit lnSpcReduction="10000"/>
          </a:bodyPr>
          <a:lstStyle/>
          <a:p>
            <a:pPr marL="0" indent="0">
              <a:buNone/>
            </a:pPr>
            <a:r>
              <a:rPr lang="en-US" dirty="0"/>
              <a:t>print("Distortion values:")</a:t>
            </a:r>
          </a:p>
          <a:p>
            <a:pPr marL="0" indent="0">
              <a:buNone/>
            </a:pPr>
            <a:r>
              <a:rPr lang="en-US" dirty="0"/>
              <a:t>for key, </a:t>
            </a:r>
            <a:r>
              <a:rPr lang="en-US" dirty="0" err="1"/>
              <a:t>val</a:t>
            </a:r>
            <a:r>
              <a:rPr lang="en-US" dirty="0"/>
              <a:t> in mapping1.items():</a:t>
            </a:r>
          </a:p>
          <a:p>
            <a:pPr marL="0" indent="0">
              <a:buNone/>
            </a:pPr>
            <a:r>
              <a:rPr lang="en-US" dirty="0"/>
              <a:t>    print(f'{key} : {</a:t>
            </a:r>
            <a:r>
              <a:rPr lang="en-US" dirty="0" err="1"/>
              <a:t>val</a:t>
            </a:r>
            <a:r>
              <a:rPr lang="en-US" dirty="0"/>
              <a:t>}')</a:t>
            </a:r>
          </a:p>
          <a:p>
            <a:pPr marL="0" indent="0">
              <a:buNone/>
            </a:pPr>
            <a:endParaRPr lang="en-US" dirty="0"/>
          </a:p>
          <a:p>
            <a:pPr marL="0" indent="0">
              <a:buNone/>
            </a:pPr>
            <a:r>
              <a:rPr lang="en-US" dirty="0" err="1"/>
              <a:t>plt.plot</a:t>
            </a:r>
            <a:r>
              <a:rPr lang="en-US" dirty="0"/>
              <a:t>(K, distortions, 'bx-')</a:t>
            </a:r>
          </a:p>
          <a:p>
            <a:pPr marL="0" indent="0">
              <a:buNone/>
            </a:pPr>
            <a:r>
              <a:rPr lang="en-US" dirty="0" err="1"/>
              <a:t>plt.xlabel</a:t>
            </a:r>
            <a:r>
              <a:rPr lang="en-US" dirty="0"/>
              <a:t>('Number of Clusters (k)')</a:t>
            </a:r>
          </a:p>
          <a:p>
            <a:pPr marL="0" indent="0">
              <a:buNone/>
            </a:pPr>
            <a:r>
              <a:rPr lang="en-US" dirty="0" err="1"/>
              <a:t>plt.ylabel</a:t>
            </a:r>
            <a:r>
              <a:rPr lang="en-US" dirty="0"/>
              <a:t>('Distortion')</a:t>
            </a:r>
          </a:p>
          <a:p>
            <a:pPr marL="0" indent="0">
              <a:buNone/>
            </a:pPr>
            <a:r>
              <a:rPr lang="en-US" dirty="0" err="1"/>
              <a:t>plt.title</a:t>
            </a:r>
            <a:r>
              <a:rPr lang="en-US" dirty="0"/>
              <a:t>('The Elbow Method using Distortion')</a:t>
            </a:r>
          </a:p>
          <a:p>
            <a:pPr marL="0" indent="0">
              <a:buNone/>
            </a:pPr>
            <a:r>
              <a:rPr lang="en-US" dirty="0" err="1"/>
              <a:t>plt.show</a:t>
            </a:r>
            <a:r>
              <a:rPr lang="en-US" dirty="0"/>
              <a:t>()</a:t>
            </a:r>
          </a:p>
        </p:txBody>
      </p:sp>
    </p:spTree>
    <p:extLst>
      <p:ext uri="{BB962C8B-B14F-4D97-AF65-F5344CB8AC3E}">
        <p14:creationId xmlns:p14="http://schemas.microsoft.com/office/powerpoint/2010/main" val="11048920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istortion">
            <a:extLst>
              <a:ext uri="{FF2B5EF4-FFF2-40B4-BE49-F238E27FC236}">
                <a16:creationId xmlns:a16="http://schemas.microsoft.com/office/drawing/2014/main" id="{D3EA7FEF-9D59-6BA5-68F4-485D93921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6364" y="576263"/>
            <a:ext cx="7999096" cy="5856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158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C3757-601B-5E77-B50C-38834CC4E4D9}"/>
              </a:ext>
            </a:extLst>
          </p:cNvPr>
          <p:cNvSpPr>
            <a:spLocks noGrp="1"/>
          </p:cNvSpPr>
          <p:nvPr>
            <p:ph type="title"/>
          </p:nvPr>
        </p:nvSpPr>
        <p:spPr/>
        <p:txBody>
          <a:bodyPr/>
          <a:lstStyle/>
          <a:p>
            <a:r>
              <a:rPr lang="en-US" b="1" dirty="0"/>
              <a:t>Displaying Inertia Values:</a:t>
            </a:r>
            <a:endParaRPr lang="en-US" dirty="0"/>
          </a:p>
        </p:txBody>
      </p:sp>
      <p:sp>
        <p:nvSpPr>
          <p:cNvPr id="3" name="Content Placeholder 2">
            <a:extLst>
              <a:ext uri="{FF2B5EF4-FFF2-40B4-BE49-F238E27FC236}">
                <a16:creationId xmlns:a16="http://schemas.microsoft.com/office/drawing/2014/main" id="{E6557E6A-229B-3D0C-B955-ADEE48E623CC}"/>
              </a:ext>
            </a:extLst>
          </p:cNvPr>
          <p:cNvSpPr>
            <a:spLocks noGrp="1"/>
          </p:cNvSpPr>
          <p:nvPr>
            <p:ph idx="1"/>
          </p:nvPr>
        </p:nvSpPr>
        <p:spPr/>
        <p:txBody>
          <a:bodyPr>
            <a:normAutofit lnSpcReduction="10000"/>
          </a:bodyPr>
          <a:lstStyle/>
          <a:p>
            <a:pPr marL="0" indent="0">
              <a:buNone/>
            </a:pPr>
            <a:r>
              <a:rPr lang="en-US" dirty="0"/>
              <a:t>print("Inertia values:")</a:t>
            </a:r>
          </a:p>
          <a:p>
            <a:pPr marL="0" indent="0">
              <a:buNone/>
            </a:pPr>
            <a:r>
              <a:rPr lang="en-US" dirty="0"/>
              <a:t>for key, </a:t>
            </a:r>
            <a:r>
              <a:rPr lang="en-US" dirty="0" err="1"/>
              <a:t>val</a:t>
            </a:r>
            <a:r>
              <a:rPr lang="en-US" dirty="0"/>
              <a:t> in mapping2.items():</a:t>
            </a:r>
          </a:p>
          <a:p>
            <a:pPr marL="0" indent="0">
              <a:buNone/>
            </a:pPr>
            <a:r>
              <a:rPr lang="en-US" dirty="0"/>
              <a:t>    print(f'{key} : {</a:t>
            </a:r>
            <a:r>
              <a:rPr lang="en-US" dirty="0" err="1"/>
              <a:t>val</a:t>
            </a:r>
            <a:r>
              <a:rPr lang="en-US" dirty="0"/>
              <a:t>}')</a:t>
            </a:r>
          </a:p>
          <a:p>
            <a:pPr marL="0" indent="0">
              <a:buNone/>
            </a:pPr>
            <a:endParaRPr lang="en-US" dirty="0"/>
          </a:p>
          <a:p>
            <a:pPr marL="0" indent="0">
              <a:buNone/>
            </a:pPr>
            <a:r>
              <a:rPr lang="en-US" dirty="0" err="1"/>
              <a:t>plt.plot</a:t>
            </a:r>
            <a:r>
              <a:rPr lang="en-US" dirty="0"/>
              <a:t>(K, inertias, 'bx-')</a:t>
            </a:r>
          </a:p>
          <a:p>
            <a:pPr marL="0" indent="0">
              <a:buNone/>
            </a:pPr>
            <a:r>
              <a:rPr lang="en-US" dirty="0" err="1"/>
              <a:t>plt.xlabel</a:t>
            </a:r>
            <a:r>
              <a:rPr lang="en-US" dirty="0"/>
              <a:t>('Number of Clusters (k)')</a:t>
            </a:r>
          </a:p>
          <a:p>
            <a:pPr marL="0" indent="0">
              <a:buNone/>
            </a:pPr>
            <a:r>
              <a:rPr lang="en-US" dirty="0" err="1"/>
              <a:t>plt.ylabel</a:t>
            </a:r>
            <a:r>
              <a:rPr lang="en-US" dirty="0"/>
              <a:t>('Inertia')</a:t>
            </a:r>
          </a:p>
          <a:p>
            <a:pPr marL="0" indent="0">
              <a:buNone/>
            </a:pPr>
            <a:r>
              <a:rPr lang="en-US" dirty="0" err="1"/>
              <a:t>plt.title</a:t>
            </a:r>
            <a:r>
              <a:rPr lang="en-US" dirty="0"/>
              <a:t>('The Elbow Method using Inertia')</a:t>
            </a:r>
          </a:p>
          <a:p>
            <a:pPr marL="0" indent="0">
              <a:buNone/>
            </a:pPr>
            <a:r>
              <a:rPr lang="en-US" dirty="0" err="1"/>
              <a:t>plt.show</a:t>
            </a:r>
            <a:r>
              <a:rPr lang="en-US" dirty="0"/>
              <a:t>()</a:t>
            </a:r>
          </a:p>
        </p:txBody>
      </p:sp>
    </p:spTree>
    <p:extLst>
      <p:ext uri="{BB962C8B-B14F-4D97-AF65-F5344CB8AC3E}">
        <p14:creationId xmlns:p14="http://schemas.microsoft.com/office/powerpoint/2010/main" val="27892629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9" name="Rectangle 1024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1" name="Rectangle 1025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3" name="Rectangle 1025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descr="Lightbox">
            <a:extLst>
              <a:ext uri="{FF2B5EF4-FFF2-40B4-BE49-F238E27FC236}">
                <a16:creationId xmlns:a16="http://schemas.microsoft.com/office/drawing/2014/main" id="{12EC9987-3D81-FEF3-B403-1F80488B02B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69605" y="457200"/>
            <a:ext cx="745279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8614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0F495-D3B1-5020-116C-C7F9D34B71F3}"/>
              </a:ext>
            </a:extLst>
          </p:cNvPr>
          <p:cNvSpPr>
            <a:spLocks noGrp="1"/>
          </p:cNvSpPr>
          <p:nvPr>
            <p:ph type="title"/>
          </p:nvPr>
        </p:nvSpPr>
        <p:spPr/>
        <p:txBody>
          <a:bodyPr>
            <a:normAutofit fontScale="90000"/>
          </a:bodyPr>
          <a:lstStyle/>
          <a:p>
            <a:r>
              <a:rPr lang="en-US" b="1" dirty="0"/>
              <a:t>Clustered Data Points For Different k Values</a:t>
            </a:r>
            <a:br>
              <a:rPr lang="en-US" b="1" dirty="0"/>
            </a:br>
            <a:endParaRPr lang="en-US" dirty="0"/>
          </a:p>
        </p:txBody>
      </p:sp>
      <p:sp>
        <p:nvSpPr>
          <p:cNvPr id="3" name="Content Placeholder 2">
            <a:extLst>
              <a:ext uri="{FF2B5EF4-FFF2-40B4-BE49-F238E27FC236}">
                <a16:creationId xmlns:a16="http://schemas.microsoft.com/office/drawing/2014/main" id="{FCFEBB37-9DA6-1CD9-523A-3EFB560A21C2}"/>
              </a:ext>
            </a:extLst>
          </p:cNvPr>
          <p:cNvSpPr>
            <a:spLocks noGrp="1"/>
          </p:cNvSpPr>
          <p:nvPr>
            <p:ph idx="1"/>
          </p:nvPr>
        </p:nvSpPr>
        <p:spPr>
          <a:xfrm>
            <a:off x="838200" y="1165860"/>
            <a:ext cx="10980420" cy="5011103"/>
          </a:xfrm>
        </p:spPr>
        <p:txBody>
          <a:bodyPr>
            <a:normAutofit fontScale="70000" lnSpcReduction="20000"/>
          </a:bodyPr>
          <a:lstStyle/>
          <a:p>
            <a:pPr marL="0" indent="0">
              <a:buNone/>
            </a:pPr>
            <a:r>
              <a:rPr lang="en-US" dirty="0" err="1"/>
              <a:t>k_range</a:t>
            </a:r>
            <a:r>
              <a:rPr lang="en-US" dirty="0"/>
              <a:t> = range(1, 5)</a:t>
            </a:r>
          </a:p>
          <a:p>
            <a:pPr marL="0" indent="0">
              <a:buNone/>
            </a:pPr>
            <a:r>
              <a:rPr lang="en-US" dirty="0"/>
              <a:t>for k in </a:t>
            </a:r>
            <a:r>
              <a:rPr lang="en-US" dirty="0" err="1"/>
              <a:t>k_range</a:t>
            </a:r>
            <a:r>
              <a:rPr lang="en-US" dirty="0"/>
              <a:t>:</a:t>
            </a:r>
          </a:p>
          <a:p>
            <a:pPr marL="0" indent="0">
              <a:buNone/>
            </a:pPr>
            <a:r>
              <a:rPr lang="en-US" dirty="0"/>
              <a:t>    </a:t>
            </a:r>
            <a:r>
              <a:rPr lang="en-US" dirty="0" err="1"/>
              <a:t>kmeans</a:t>
            </a:r>
            <a:r>
              <a:rPr lang="en-US" dirty="0"/>
              <a:t> = </a:t>
            </a:r>
            <a:r>
              <a:rPr lang="en-US" dirty="0" err="1"/>
              <a:t>KMeans</a:t>
            </a:r>
            <a:r>
              <a:rPr lang="en-US" dirty="0"/>
              <a:t>(</a:t>
            </a:r>
            <a:r>
              <a:rPr lang="en-US" dirty="0" err="1"/>
              <a:t>n_clusters</a:t>
            </a:r>
            <a:r>
              <a:rPr lang="en-US" dirty="0"/>
              <a:t>=k, </a:t>
            </a:r>
            <a:r>
              <a:rPr lang="en-US" dirty="0" err="1"/>
              <a:t>init</a:t>
            </a:r>
            <a:r>
              <a:rPr lang="en-US" dirty="0"/>
              <a:t>='k-means++', </a:t>
            </a:r>
            <a:r>
              <a:rPr lang="en-US" dirty="0" err="1"/>
              <a:t>random_state</a:t>
            </a:r>
            <a:r>
              <a:rPr lang="en-US" dirty="0"/>
              <a:t>=42)</a:t>
            </a:r>
          </a:p>
          <a:p>
            <a:pPr marL="0" indent="0">
              <a:buNone/>
            </a:pPr>
            <a:r>
              <a:rPr lang="en-US" dirty="0"/>
              <a:t>    </a:t>
            </a:r>
            <a:r>
              <a:rPr lang="en-US" dirty="0" err="1"/>
              <a:t>y_kmeans</a:t>
            </a:r>
            <a:r>
              <a:rPr lang="en-US" dirty="0"/>
              <a:t> = </a:t>
            </a:r>
            <a:r>
              <a:rPr lang="en-US" dirty="0" err="1"/>
              <a:t>kmeans.fit_predict</a:t>
            </a:r>
            <a:r>
              <a:rPr lang="en-US" dirty="0"/>
              <a:t>(X)</a:t>
            </a:r>
          </a:p>
          <a:p>
            <a:pPr marL="0" indent="0">
              <a:buNone/>
            </a:pPr>
            <a:r>
              <a:rPr lang="en-US" dirty="0"/>
              <a:t>    </a:t>
            </a:r>
          </a:p>
          <a:p>
            <a:pPr marL="0" indent="0">
              <a:buNone/>
            </a:pPr>
            <a:r>
              <a:rPr lang="en-US" dirty="0"/>
              <a:t>    </a:t>
            </a:r>
            <a:r>
              <a:rPr lang="en-US" dirty="0" err="1"/>
              <a:t>plt.scatter</a:t>
            </a:r>
            <a:r>
              <a:rPr lang="en-US" dirty="0"/>
              <a:t>(X[:, 0], X[:, 1], c=</a:t>
            </a:r>
            <a:r>
              <a:rPr lang="en-US" dirty="0" err="1"/>
              <a:t>y_kmeans</a:t>
            </a:r>
            <a:r>
              <a:rPr lang="en-US" dirty="0"/>
              <a:t>, </a:t>
            </a:r>
            <a:r>
              <a:rPr lang="en-US" dirty="0" err="1"/>
              <a:t>cmap</a:t>
            </a:r>
            <a:r>
              <a:rPr lang="en-US" dirty="0"/>
              <a:t>='</a:t>
            </a:r>
            <a:r>
              <a:rPr lang="en-US" dirty="0" err="1"/>
              <a:t>viridis</a:t>
            </a:r>
            <a:r>
              <a:rPr lang="en-US" dirty="0"/>
              <a:t>', marker='o', </a:t>
            </a:r>
            <a:r>
              <a:rPr lang="en-US" dirty="0" err="1"/>
              <a:t>edgecolor</a:t>
            </a:r>
            <a:r>
              <a:rPr lang="en-US" dirty="0"/>
              <a:t>='k', s=100)</a:t>
            </a:r>
          </a:p>
          <a:p>
            <a:pPr marL="0" indent="0">
              <a:buNone/>
            </a:pPr>
            <a:r>
              <a:rPr lang="en-US" dirty="0"/>
              <a:t>    </a:t>
            </a:r>
            <a:r>
              <a:rPr lang="en-US" dirty="0" err="1"/>
              <a:t>plt.scatter</a:t>
            </a:r>
            <a:r>
              <a:rPr lang="en-US" dirty="0"/>
              <a:t>(</a:t>
            </a:r>
            <a:r>
              <a:rPr lang="en-US" dirty="0" err="1"/>
              <a:t>kmeans.cluster_centers</a:t>
            </a:r>
            <a:r>
              <a:rPr lang="en-US" dirty="0"/>
              <a:t>_[:, 0], </a:t>
            </a:r>
            <a:r>
              <a:rPr lang="en-US" dirty="0" err="1"/>
              <a:t>kmeans.cluster_centers</a:t>
            </a:r>
            <a:r>
              <a:rPr lang="en-US" dirty="0"/>
              <a:t>_[:, 1],</a:t>
            </a:r>
          </a:p>
          <a:p>
            <a:pPr marL="0" indent="0">
              <a:buNone/>
            </a:pPr>
            <a:r>
              <a:rPr lang="en-US" dirty="0"/>
              <a:t>                s=300, c='red', label='Centroids', </a:t>
            </a:r>
            <a:r>
              <a:rPr lang="en-US" dirty="0" err="1"/>
              <a:t>edgecolor</a:t>
            </a:r>
            <a:r>
              <a:rPr lang="en-US" dirty="0"/>
              <a:t>='k')</a:t>
            </a:r>
          </a:p>
          <a:p>
            <a:pPr marL="0" indent="0">
              <a:buNone/>
            </a:pPr>
            <a:r>
              <a:rPr lang="en-US" dirty="0"/>
              <a:t>    </a:t>
            </a:r>
            <a:r>
              <a:rPr lang="en-US" dirty="0" err="1"/>
              <a:t>plt.title</a:t>
            </a:r>
            <a:r>
              <a:rPr lang="en-US" dirty="0"/>
              <a:t>(</a:t>
            </a:r>
            <a:r>
              <a:rPr lang="en-US" dirty="0" err="1"/>
              <a:t>f'K</a:t>
            </a:r>
            <a:r>
              <a:rPr lang="en-US" dirty="0"/>
              <a:t>-means Clustering (k={k})')</a:t>
            </a:r>
          </a:p>
          <a:p>
            <a:pPr marL="0" indent="0">
              <a:buNone/>
            </a:pPr>
            <a:r>
              <a:rPr lang="en-US" dirty="0"/>
              <a:t>    </a:t>
            </a:r>
            <a:r>
              <a:rPr lang="en-US" dirty="0" err="1"/>
              <a:t>plt.xlabel</a:t>
            </a:r>
            <a:r>
              <a:rPr lang="en-US" dirty="0"/>
              <a:t>('Feature 1')</a:t>
            </a:r>
          </a:p>
          <a:p>
            <a:pPr marL="0" indent="0">
              <a:buNone/>
            </a:pPr>
            <a:r>
              <a:rPr lang="en-US" dirty="0"/>
              <a:t>    </a:t>
            </a:r>
            <a:r>
              <a:rPr lang="en-US" dirty="0" err="1"/>
              <a:t>plt.ylabel</a:t>
            </a:r>
            <a:r>
              <a:rPr lang="en-US" dirty="0"/>
              <a:t>('Feature 2')</a:t>
            </a:r>
          </a:p>
          <a:p>
            <a:pPr marL="0" indent="0">
              <a:buNone/>
            </a:pPr>
            <a:r>
              <a:rPr lang="en-US" dirty="0"/>
              <a:t>    </a:t>
            </a:r>
            <a:r>
              <a:rPr lang="en-US" dirty="0" err="1"/>
              <a:t>plt.legend</a:t>
            </a:r>
            <a:r>
              <a:rPr lang="en-US" dirty="0"/>
              <a:t>()</a:t>
            </a:r>
          </a:p>
          <a:p>
            <a:pPr marL="0" indent="0">
              <a:buNone/>
            </a:pPr>
            <a:r>
              <a:rPr lang="en-US" dirty="0"/>
              <a:t>    </a:t>
            </a:r>
            <a:r>
              <a:rPr lang="en-US" dirty="0" err="1"/>
              <a:t>plt.grid</a:t>
            </a:r>
            <a:r>
              <a:rPr lang="en-US" dirty="0"/>
              <a:t>()</a:t>
            </a:r>
          </a:p>
          <a:p>
            <a:pPr marL="0" indent="0">
              <a:buNone/>
            </a:pPr>
            <a:r>
              <a:rPr lang="en-US" dirty="0"/>
              <a:t>    </a:t>
            </a:r>
            <a:r>
              <a:rPr lang="en-US" dirty="0" err="1"/>
              <a:t>plt.show</a:t>
            </a:r>
            <a:r>
              <a:rPr lang="en-US" dirty="0"/>
              <a:t>()</a:t>
            </a:r>
          </a:p>
        </p:txBody>
      </p:sp>
    </p:spTree>
    <p:extLst>
      <p:ext uri="{BB962C8B-B14F-4D97-AF65-F5344CB8AC3E}">
        <p14:creationId xmlns:p14="http://schemas.microsoft.com/office/powerpoint/2010/main" val="41781777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Visualizing-Clustered-Data-Points">
            <a:extLst>
              <a:ext uri="{FF2B5EF4-FFF2-40B4-BE49-F238E27FC236}">
                <a16:creationId xmlns:a16="http://schemas.microsoft.com/office/drawing/2014/main" id="{15C6B912-3E9C-5F5F-784E-9BADA59F94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8" y="619125"/>
            <a:ext cx="8467725"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9422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E622-097A-4588-D34D-D2012D43D6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1B41CA-D2ED-D8CA-08B5-68E42EEB3AC8}"/>
              </a:ext>
            </a:extLst>
          </p:cNvPr>
          <p:cNvSpPr>
            <a:spLocks noGrp="1"/>
          </p:cNvSpPr>
          <p:nvPr>
            <p:ph idx="1"/>
          </p:nvPr>
        </p:nvSpPr>
        <p:spPr/>
        <p:txBody>
          <a:bodyPr/>
          <a:lstStyle/>
          <a:p>
            <a:r>
              <a:rPr lang="en-US" dirty="0">
                <a:hlinkClick r:id="rId2"/>
              </a:rPr>
              <a:t>https://scikit-learn.org/stable/auto_examples/text/plot_document_classification_20newsgroups.html</a:t>
            </a:r>
            <a:endParaRPr lang="en-US" dirty="0"/>
          </a:p>
          <a:p>
            <a:endParaRPr lang="en-US" dirty="0"/>
          </a:p>
          <a:p>
            <a:r>
              <a:rPr lang="en-US" dirty="0"/>
              <a:t>https://scikit-learn.org/stable/auto_examples/text/plot_document_clustering.html</a:t>
            </a:r>
          </a:p>
        </p:txBody>
      </p:sp>
    </p:spTree>
    <p:extLst>
      <p:ext uri="{BB962C8B-B14F-4D97-AF65-F5344CB8AC3E}">
        <p14:creationId xmlns:p14="http://schemas.microsoft.com/office/powerpoint/2010/main" val="1532502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15CFEF-7988-90B1-5581-304E71856AE6}"/>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br>
              <a:rPr lang="en-US" sz="4800" kern="1200">
                <a:solidFill>
                  <a:srgbClr val="FFFFFF"/>
                </a:solidFill>
                <a:latin typeface="+mj-lt"/>
                <a:ea typeface="+mj-ea"/>
                <a:cs typeface="+mj-cs"/>
              </a:rPr>
            </a:br>
            <a:r>
              <a:rPr lang="en-US" sz="4800" kern="1200">
                <a:solidFill>
                  <a:srgbClr val="FFFFFF"/>
                </a:solidFill>
                <a:latin typeface="+mj-lt"/>
                <a:ea typeface="+mj-ea"/>
                <a:cs typeface="+mj-cs"/>
              </a:rPr>
              <a:t>Thank you</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7356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2916</TotalTime>
  <Words>3553</Words>
  <Application>Microsoft Office PowerPoint</Application>
  <PresentationFormat>Widescreen</PresentationFormat>
  <Paragraphs>347</Paragraphs>
  <Slides>57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Aptos</vt:lpstr>
      <vt:lpstr>Aptos Display</vt:lpstr>
      <vt:lpstr>Arial</vt:lpstr>
      <vt:lpstr>Nunito</vt:lpstr>
      <vt:lpstr>Studio-Feixen-Sans</vt:lpstr>
      <vt:lpstr>Office Theme</vt:lpstr>
      <vt:lpstr>Module – 3  ML Concepts, Algorithms &amp; Model Evaluation</vt:lpstr>
      <vt:lpstr>PowerPoint Presentation</vt:lpstr>
      <vt:lpstr>Module 3: Machine Learning </vt:lpstr>
      <vt:lpstr>PowerPoint Presentation</vt:lpstr>
      <vt:lpstr>Unsupervised Learning</vt:lpstr>
      <vt:lpstr>Introduction </vt:lpstr>
      <vt:lpstr>PowerPoint Presentation</vt:lpstr>
      <vt:lpstr>PowerPoint Presentation</vt:lpstr>
      <vt:lpstr>PowerPoint Presentation</vt:lpstr>
      <vt:lpstr>PowerPoint Presentation</vt:lpstr>
      <vt:lpstr>Working of Unsupervised Learning</vt:lpstr>
      <vt:lpstr>Unsupervised Learning Algorithms</vt:lpstr>
      <vt:lpstr>Applications of Unsupervised learning</vt:lpstr>
      <vt:lpstr>Business Use Cases</vt:lpstr>
      <vt:lpstr>Principal component analysis (PCA)</vt:lpstr>
      <vt:lpstr>PCA - Example</vt:lpstr>
      <vt:lpstr>PowerPoint Presentation</vt:lpstr>
      <vt:lpstr>PowerPoint Presentation</vt:lpstr>
      <vt:lpstr>PowerPoint Presentation</vt:lpstr>
      <vt:lpstr>PowerPoint Presentation</vt:lpstr>
      <vt:lpstr>K-Mean Clustering</vt:lpstr>
      <vt:lpstr>Working of K-Means Clustering</vt:lpstr>
      <vt:lpstr>Euclidean Distance</vt:lpstr>
      <vt:lpstr>Step 1</vt:lpstr>
      <vt:lpstr>Step 2</vt:lpstr>
      <vt:lpstr>Step 3</vt:lpstr>
      <vt:lpstr>Step 4</vt:lpstr>
      <vt:lpstr>PowerPoint Presentation</vt:lpstr>
      <vt:lpstr>PowerPoint Presentation</vt:lpstr>
      <vt:lpstr>Step 3: Initializing Random Centroids</vt:lpstr>
      <vt:lpstr>Step 4: Plotting Random Initialized Center with Data Points</vt:lpstr>
      <vt:lpstr>PowerPoint Presentation</vt:lpstr>
      <vt:lpstr>Step 5: Defining Euclidean Distance</vt:lpstr>
      <vt:lpstr>Step 6: Creating Assign and Update Functions</vt:lpstr>
      <vt:lpstr>PowerPoint Presentation</vt:lpstr>
      <vt:lpstr>Step 7: Predicting the Cluster for the Data Points</vt:lpstr>
      <vt:lpstr>Step 8: Assigning, Updating and Predicting the Cluster Centers</vt:lpstr>
      <vt:lpstr>Step 9: Plotting Data Points with Predicted Cluster Centers</vt:lpstr>
      <vt:lpstr>PowerPoint Presentation</vt:lpstr>
      <vt:lpstr>Challenges with K-Means Clustering</vt:lpstr>
      <vt:lpstr>Elbow Method for optimal value of k in KMeans</vt:lpstr>
      <vt:lpstr>PowerPoint Presentation</vt:lpstr>
      <vt:lpstr>Working of Elbow Point</vt:lpstr>
      <vt:lpstr>PowerPoint Presentation</vt:lpstr>
      <vt:lpstr>PowerPoint Presentation</vt:lpstr>
      <vt:lpstr>Import files</vt:lpstr>
      <vt:lpstr>Creating and Visualizing the data</vt:lpstr>
      <vt:lpstr>PowerPoint Presentation</vt:lpstr>
      <vt:lpstr>Building the Clustering Model </vt:lpstr>
      <vt:lpstr>Tabulating and Visualizing the Results Displaying Distortion Values</vt:lpstr>
      <vt:lpstr>PowerPoint Presentation</vt:lpstr>
      <vt:lpstr>Displaying Inertia Values:</vt:lpstr>
      <vt:lpstr>PowerPoint Presentation</vt:lpstr>
      <vt:lpstr>Clustered Data Points For Different k Values </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11</cp:revision>
  <dcterms:created xsi:type="dcterms:W3CDTF">2025-12-13T12:31:17Z</dcterms:created>
  <dcterms:modified xsi:type="dcterms:W3CDTF">2025-12-21T18:34:51Z</dcterms:modified>
</cp:coreProperties>
</file>
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5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72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1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2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72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7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2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5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31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26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A4ECF069-B77D-3907-7B98-29B03EA2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F00E3-8B6C-49F8-CE6C-CBCD0542C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487" y="1562101"/>
            <a:ext cx="3551402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RoadMap For Gen-AI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3FA66-81AA-5460-0379-B07B2BB90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487" y="4358566"/>
            <a:ext cx="3579790" cy="875824"/>
          </a:xfrm>
        </p:spPr>
        <p:txBody>
          <a:bodyPr>
            <a:normAutofit/>
          </a:bodyPr>
          <a:lstStyle/>
          <a:p>
            <a:r>
              <a:rPr lang="en-US" dirty="0"/>
              <a:t>Dr. Rakhee Chhibber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101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59BC-5C3D-F7F5-7AB6-F8B6B472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69" y="205741"/>
            <a:ext cx="10890929" cy="1097280"/>
          </a:xfrm>
        </p:spPr>
        <p:txBody>
          <a:bodyPr/>
          <a:lstStyle/>
          <a:p>
            <a:r>
              <a:rPr lang="en-US" dirty="0"/>
              <a:t>Module 1: Foundations (Weeks 1–2)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52B803-2B29-9137-22CC-DB322C52B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682698"/>
              </p:ext>
            </p:extLst>
          </p:nvPr>
        </p:nvGraphicFramePr>
        <p:xfrm>
          <a:off x="741002" y="1405466"/>
          <a:ext cx="1018607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429">
                  <a:extLst>
                    <a:ext uri="{9D8B030D-6E8A-4147-A177-3AD203B41FA5}">
                      <a16:colId xmlns:a16="http://schemas.microsoft.com/office/drawing/2014/main" val="1623673706"/>
                    </a:ext>
                  </a:extLst>
                </a:gridCol>
                <a:gridCol w="5401649">
                  <a:extLst>
                    <a:ext uri="{9D8B030D-6E8A-4147-A177-3AD203B41FA5}">
                      <a16:colId xmlns:a16="http://schemas.microsoft.com/office/drawing/2014/main" val="3797974077"/>
                    </a:ext>
                  </a:extLst>
                </a:gridCol>
              </a:tblGrid>
              <a:tr h="709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Python for AI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Tools  and  Assignments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669834"/>
                  </a:ext>
                </a:extLst>
              </a:tr>
              <a:tr h="3754044">
                <a:tc>
                  <a:txBody>
                    <a:bodyPr/>
                    <a:lstStyle/>
                    <a:p>
                      <a:pPr lvl="0"/>
                      <a:r>
                        <a:rPr lang="en-US" sz="2400" b="1" dirty="0"/>
                        <a:t>Python basics</a:t>
                      </a:r>
                    </a:p>
                    <a:p>
                      <a:pPr lvl="0"/>
                      <a:r>
                        <a:rPr lang="en-US" sz="2400" b="1" dirty="0"/>
                        <a:t>OOPs</a:t>
                      </a:r>
                    </a:p>
                    <a:p>
                      <a:pPr lvl="0"/>
                      <a:r>
                        <a:rPr lang="en-US" sz="2400" b="1" dirty="0"/>
                        <a:t>File handling</a:t>
                      </a:r>
                    </a:p>
                    <a:p>
                      <a:pPr lvl="0"/>
                      <a:r>
                        <a:rPr lang="en-US" sz="2400" b="1" dirty="0"/>
                        <a:t>Error handling &amp; logging</a:t>
                      </a:r>
                    </a:p>
                    <a:p>
                      <a:pPr lvl="0"/>
                      <a:r>
                        <a:rPr lang="en-US" sz="2400" b="1" dirty="0"/>
                        <a:t>API Integration (REST)</a:t>
                      </a:r>
                    </a:p>
                    <a:p>
                      <a:pPr lvl="0"/>
                      <a:r>
                        <a:rPr lang="en-US" sz="2400" b="1" dirty="0"/>
                        <a:t>Regex</a:t>
                      </a:r>
                    </a:p>
                    <a:p>
                      <a:pPr lvl="0"/>
                      <a:r>
                        <a:rPr lang="en-US" sz="2400" b="1" dirty="0"/>
                        <a:t>Virtual environments &amp; package management</a:t>
                      </a:r>
                    </a:p>
                    <a:p>
                      <a:pPr lvl="0"/>
                      <a:r>
                        <a:rPr lang="en-US" sz="2400" b="1" dirty="0"/>
                        <a:t>Data structures (lists, tuples, </a:t>
                      </a:r>
                      <a:r>
                        <a:rPr lang="en-US" sz="2400" b="1" dirty="0" err="1"/>
                        <a:t>dict</a:t>
                      </a:r>
                      <a:r>
                        <a:rPr lang="en-US" sz="2400" b="1" dirty="0"/>
                        <a:t>, sets)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✔ Python, VS Code, </a:t>
                      </a:r>
                      <a:r>
                        <a:rPr lang="en-US" sz="2400" b="1" dirty="0" err="1"/>
                        <a:t>Jupyter</a:t>
                      </a:r>
                      <a:r>
                        <a:rPr lang="en-US" sz="2400" b="1" dirty="0"/>
                        <a:t>, PyCharm</a:t>
                      </a:r>
                    </a:p>
                    <a:p>
                      <a:endParaRPr lang="en-US" sz="2400" b="1" dirty="0"/>
                    </a:p>
                    <a:p>
                      <a:pPr lvl="0"/>
                      <a:r>
                        <a:rPr lang="en-US" sz="2400" b="1" dirty="0"/>
                        <a:t>Build a CSV analyzer</a:t>
                      </a:r>
                    </a:p>
                    <a:p>
                      <a:pPr lvl="0"/>
                      <a:r>
                        <a:rPr lang="en-US" sz="2400" b="1" dirty="0"/>
                        <a:t>Mini API client (fetch weather, news, stock)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42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74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21C3-F836-3086-A9A0-49F3B853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2: Data &amp; Math Foundations (Weeks 3–4)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C1C4EC-F2F8-845B-3CC1-64E41BDD4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39190"/>
              </p:ext>
            </p:extLst>
          </p:nvPr>
        </p:nvGraphicFramePr>
        <p:xfrm>
          <a:off x="681905" y="1207008"/>
          <a:ext cx="10870016" cy="476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008">
                  <a:extLst>
                    <a:ext uri="{9D8B030D-6E8A-4147-A177-3AD203B41FA5}">
                      <a16:colId xmlns:a16="http://schemas.microsoft.com/office/drawing/2014/main" val="1829834404"/>
                    </a:ext>
                  </a:extLst>
                </a:gridCol>
                <a:gridCol w="5435008">
                  <a:extLst>
                    <a:ext uri="{9D8B030D-6E8A-4147-A177-3AD203B41FA5}">
                      <a16:colId xmlns:a16="http://schemas.microsoft.com/office/drawing/2014/main" val="1541418356"/>
                    </a:ext>
                  </a:extLst>
                </a:gridCol>
              </a:tblGrid>
              <a:tr h="610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/>
                        <a:t>1. Math for AI</a:t>
                      </a:r>
                      <a:endParaRPr lang="en-US" sz="2000" dirty="0"/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/>
                        <a:t>2. Data Handling</a:t>
                      </a:r>
                      <a:endParaRPr lang="en-US" sz="2000" dirty="0"/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20900"/>
                  </a:ext>
                </a:extLst>
              </a:tr>
              <a:tr h="78181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dirty="0"/>
                        <a:t>Linear algebra (vectors, matrix operations)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Calculus (derivatives, gradients)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Probability &amp; Statistics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2000" dirty="0"/>
                        <a:t>NumPy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Pandas (Joins, </a:t>
                      </a:r>
                      <a:r>
                        <a:rPr lang="en-US" sz="2000" dirty="0" err="1"/>
                        <a:t>groupby</a:t>
                      </a:r>
                      <a:r>
                        <a:rPr lang="en-US" sz="2000" dirty="0"/>
                        <a:t>, pivot, merges)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Data cleaning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Data visualization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Handling missing data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4443"/>
                  </a:ext>
                </a:extLst>
              </a:tr>
              <a:tr h="525780">
                <a:tc gridSpan="2"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Tools And Assignments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62206"/>
                  </a:ext>
                </a:extLst>
              </a:tr>
              <a:tr h="781812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✔ NumPy, Pandas, Matplotlib</a:t>
                      </a:r>
                    </a:p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2000" dirty="0"/>
                        <a:t>Data cleaning on a messy dataset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/>
                        <a:t>Build interactive visualizations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9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89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0C17-BCD2-6112-12ED-A5BA6A57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3: Machine Learning (Week 5–8)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B8FFB1-434E-7EAC-9C24-7A83BF6D7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109439"/>
              </p:ext>
            </p:extLst>
          </p:nvPr>
        </p:nvGraphicFramePr>
        <p:xfrm>
          <a:off x="681905" y="772668"/>
          <a:ext cx="10870016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008">
                  <a:extLst>
                    <a:ext uri="{9D8B030D-6E8A-4147-A177-3AD203B41FA5}">
                      <a16:colId xmlns:a16="http://schemas.microsoft.com/office/drawing/2014/main" val="1829834404"/>
                    </a:ext>
                  </a:extLst>
                </a:gridCol>
                <a:gridCol w="5435008">
                  <a:extLst>
                    <a:ext uri="{9D8B030D-6E8A-4147-A177-3AD203B41FA5}">
                      <a16:colId xmlns:a16="http://schemas.microsoft.com/office/drawing/2014/main" val="1541418356"/>
                    </a:ext>
                  </a:extLst>
                </a:gridCol>
              </a:tblGrid>
              <a:tr h="6103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ML Concepts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ML Algorithms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20900"/>
                  </a:ext>
                </a:extLst>
              </a:tr>
              <a:tr h="781812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Supervised vs Unsupervised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Semi-supervised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Reinforcement learning basics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 workflow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engineering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training, validation, testing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Hyperparameter tuning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&amp; Logistic Regression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Trees &amp; Random Forest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Ensemble Learning</a:t>
                      </a:r>
                    </a:p>
                    <a:p>
                      <a:pPr lvl="0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KMeans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DBSCAN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PCA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444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Model Evaluation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Tools And Assignments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62206"/>
                  </a:ext>
                </a:extLst>
              </a:tr>
              <a:tr h="781812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Classification metrics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 metrics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Confusion matrix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ROC/AUC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Scikit-learn,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Jupyter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regression &amp; classification models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Fraud detection model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Clustering customer segmentation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9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2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A8C4-C235-EEAE-B705-D80790BF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4: Deep Learning (Weeks 9–12)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C3EC7D-E412-4C31-BF75-DDB4052BE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939769"/>
              </p:ext>
            </p:extLst>
          </p:nvPr>
        </p:nvGraphicFramePr>
        <p:xfrm>
          <a:off x="650536" y="896112"/>
          <a:ext cx="10890928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464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445464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707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Neural Networks Basics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Architectures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920847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Perceptron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Forward/backpropagation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Activation functions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functions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 algorithms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 (images)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RNN, LSTM, GRU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Transformers (foundation for LLMs)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707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Training Concepts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and Assignments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1617555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 normalization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Dropout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 learning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GPUs vs CPUs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PyTorch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TensorFlow, CUDA, Google </a:t>
                      </a: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Colab</a:t>
                      </a:r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 classifier (CNN)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sentiment classifier (LSTM)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08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4626-0482-CFB6-7406-6D2F821D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01168"/>
            <a:ext cx="1148714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5: Natural Language Processing (Weeks 13–14)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CFB62B-BC65-D151-7E5A-FD965D09D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05589"/>
              </p:ext>
            </p:extLst>
          </p:nvPr>
        </p:nvGraphicFramePr>
        <p:xfrm>
          <a:off x="697230" y="1218438"/>
          <a:ext cx="10427970" cy="5421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7869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310101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755033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NLP Basics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Modern NLP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2049376">
                <a:tc rowSpan="3"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Perceptron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Forward/backpropagation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Activation functions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 functions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Optimization algorithms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 (images)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RNN, LSTM, GRU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Transformers (foundation for LLMs)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755033">
                <a:tc vMerge="1"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and Assignments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1725790">
                <a:tc vMerge="1"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NLTK, </a:t>
                      </a: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HuggingFace</a:t>
                      </a:r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text summarizer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keyword extractor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62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B829-4C17-0B6E-25E8-AFA1A065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0"/>
            <a:ext cx="11715751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6: Large Language Models (LLMs) (Weeks 15–18)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C699B6-F78B-DD3C-790A-231A75768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358410"/>
              </p:ext>
            </p:extLst>
          </p:nvPr>
        </p:nvGraphicFramePr>
        <p:xfrm>
          <a:off x="640080" y="937261"/>
          <a:ext cx="10081260" cy="5736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630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040630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5240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Understanding LLMs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Working with LLMs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568784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 architecture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Llama, Falcon, Mistral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Attention mechanism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Pre-training vs Fine-tuning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Tokenization (BPE)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engineering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 completion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generation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Multi-turn conversation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Knowledge grounding</a:t>
                      </a:r>
                    </a:p>
                    <a:p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Tuning Techniques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and Assignments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2813851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tuning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PEFT (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QLoRA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Fine-tuning LLMs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 (Retrieval Augmented Generation)</a:t>
                      </a:r>
                    </a:p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HuggingFace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Transformers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LlamaIndex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OpenAI APIs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Weaviate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Pinecone / FAISS for vector search</a:t>
                      </a:r>
                    </a:p>
                    <a:p>
                      <a:endParaRPr lang="en-US" sz="1800" b="1" dirty="0"/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your own small chatbot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Fine-tune a model using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embedding-based Q&amp;A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43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CE08-9C67-3DBB-E792-8011EE36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5090-4414-F75C-5562-93B9C38C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7: GenAI Systems (Weeks 19–22)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71401F-95AD-2003-53C3-A78D76267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24414"/>
              </p:ext>
            </p:extLst>
          </p:nvPr>
        </p:nvGraphicFramePr>
        <p:xfrm>
          <a:off x="650535" y="882632"/>
          <a:ext cx="10081260" cy="587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630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040630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54829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GenAI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GenAI Application 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641426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LLMs (text generation)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Diffusion models (image generation)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Speech models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Multimodal models (GPT-4o, Gemini)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 systems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Chatbot development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 Q&amp;A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Agent-based systems</a:t>
                      </a:r>
                    </a:p>
                    <a:p>
                      <a:pPr lvl="0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state models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calling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36738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Evaluation of GenAI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 and Assignments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2944145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Hallucination control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evaluation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 feedback loop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and alignment</a:t>
                      </a:r>
                    </a:p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Milvus,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Weaviate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Pinecone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ChromaDB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Streamlit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Docker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PDF QA System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GenAI Data Analyst (CSV Analyst)</a:t>
                      </a:r>
                    </a:p>
                    <a:p>
                      <a:pPr lvl="0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a multimodal image + text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75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7C44-8602-2B22-F41F-16E33C2B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F544-6276-6F1F-EFF1-9780B93E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8: Deployment &amp; </a:t>
            </a:r>
            <a:r>
              <a:rPr lang="en-US" dirty="0" err="1"/>
              <a:t>MLOps</a:t>
            </a:r>
            <a:r>
              <a:rPr lang="en-US" dirty="0"/>
              <a:t> (Weeks 23–26)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65C149-4EBC-F39D-4E07-9F40A8CC4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599543"/>
              </p:ext>
            </p:extLst>
          </p:nvPr>
        </p:nvGraphicFramePr>
        <p:xfrm>
          <a:off x="650535" y="981100"/>
          <a:ext cx="10081260" cy="576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630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040630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349173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API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658570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endpoints for GenAI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Async processing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Nginx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deployment:</a:t>
                      </a:r>
                    </a:p>
                    <a:p>
                      <a:pPr lvl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</a:p>
                    <a:p>
                      <a:pPr lvl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GCP</a:t>
                      </a:r>
                    </a:p>
                    <a:p>
                      <a:pPr lvl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349173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Model 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MLOps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1439012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TorchServe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OpenAI-compatible serving</a:t>
                      </a:r>
                    </a:p>
                    <a:p>
                      <a:pPr lvl="0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HuggingFace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Inference Endpoints</a:t>
                      </a:r>
                    </a:p>
                    <a:p>
                      <a:pPr lvl="0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LangServe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CI/CD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registry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monitoring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drift + model drift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  <a:tr h="143901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 an LLM API on cloud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CI/CD pipeline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 model with Prometheus + Grafana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/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7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80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A646-E2D8-840F-478F-2EB8CCB6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17C9-7CFB-5B30-67E5-84966968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9: Capstone Projects (Weeks 27–30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1131AE-0AF6-5AA2-2D02-6DD3D65C2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892237"/>
              </p:ext>
            </p:extLst>
          </p:nvPr>
        </p:nvGraphicFramePr>
        <p:xfrm>
          <a:off x="650535" y="1373886"/>
          <a:ext cx="100812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630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040630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349173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Enterprise RAG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Medical Insurance Policy Q&amp;A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658570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PDF ingestion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Embedding store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 interface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Guardrails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 PDF reader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Multi-document ingestion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 + summarization</a:t>
                      </a:r>
                    </a:p>
                    <a:p>
                      <a:pPr lvl="0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349173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GenAI Email Automation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E-commerce GenAI System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1439012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Reads inbox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Summarizes emails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Draft replies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LLM tool calling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title generator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 writer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summarizer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SEO keyword generator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68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A062A-C36C-F279-102C-63518E5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E2714-2848-A2D9-BD85-907D6C06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Bonus Modules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41760C-FA1E-832D-D813-CD64C4B2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84366"/>
              </p:ext>
            </p:extLst>
          </p:nvPr>
        </p:nvGraphicFramePr>
        <p:xfrm>
          <a:off x="650535" y="1373886"/>
          <a:ext cx="100812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630">
                  <a:extLst>
                    <a:ext uri="{9D8B030D-6E8A-4147-A177-3AD203B41FA5}">
                      <a16:colId xmlns:a16="http://schemas.microsoft.com/office/drawing/2014/main" val="2534900047"/>
                    </a:ext>
                  </a:extLst>
                </a:gridCol>
                <a:gridCol w="5040630">
                  <a:extLst>
                    <a:ext uri="{9D8B030D-6E8A-4147-A177-3AD203B41FA5}">
                      <a16:colId xmlns:a16="http://schemas.microsoft.com/office/drawing/2014/main" val="4226395344"/>
                    </a:ext>
                  </a:extLst>
                </a:gridCol>
              </a:tblGrid>
              <a:tr h="349173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 Prompt Engineering (Advanced)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 Vector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65503"/>
                  </a:ext>
                </a:extLst>
              </a:tr>
              <a:tr h="1658570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Chain of Thought prompting</a:t>
                      </a:r>
                    </a:p>
                    <a:p>
                      <a:pPr lvl="0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prompting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Self-consistency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calling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Multimodal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FAISS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Pinecone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Chroma</a:t>
                      </a: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Milvus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02558"/>
                  </a:ext>
                </a:extLst>
              </a:tr>
              <a:tr h="349173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C. Agents &amp;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382892"/>
                  </a:ext>
                </a:extLst>
              </a:tr>
              <a:tr h="1439012">
                <a:tc>
                  <a:txBody>
                    <a:bodyPr/>
                    <a:lstStyle/>
                    <a:p>
                      <a:pPr lvl="0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LangGraph</a:t>
                      </a:r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CrewAI</a:t>
                      </a:r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Multi-agent systems</a:t>
                      </a:r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 sz="24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913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C0598-94E7-8258-DE19-30885439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400" dirty="0"/>
            </a:br>
            <a:r>
              <a:rPr lang="en-US" sz="4400" dirty="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E62C956E-A26F-3277-3848-67D25A9C9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8229" y="1098734"/>
            <a:ext cx="4729112" cy="47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504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802</Words>
  <Application>Microsoft Office PowerPoint</Application>
  <PresentationFormat>Widescreen</PresentationFormat>
  <Paragraphs>213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RoadMap For Gen-AI</vt:lpstr>
      <vt:lpstr>Module 1: Foundations (Weeks 1–2)</vt:lpstr>
      <vt:lpstr>Module 2: Data &amp; Math Foundations (Weeks 3–4) </vt:lpstr>
      <vt:lpstr>Module 3: Machine Learning (Week 5–8) </vt:lpstr>
      <vt:lpstr>Module 4: Deep Learning (Weeks 9–12) </vt:lpstr>
      <vt:lpstr>Module 5: Natural Language Processing (Weeks 13–14)</vt:lpstr>
      <vt:lpstr>Module 6: Large Language Models (LLMs) (Weeks 15–18)</vt:lpstr>
      <vt:lpstr>Module 7: GenAI Systems (Weeks 19–22)  </vt:lpstr>
      <vt:lpstr>Module 8: Deployment &amp; MLOps (Weeks 23–26)  </vt:lpstr>
      <vt:lpstr>Module 9: Capstone Projects (Weeks 27–30  </vt:lpstr>
      <vt:lpstr>Bonus Modules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3</cp:revision>
  <dcterms:created xsi:type="dcterms:W3CDTF">2025-12-10T16:49:17Z</dcterms:created>
  <dcterms:modified xsi:type="dcterms:W3CDTF">2025-12-11T08:49:01Z</dcterms:modified>
</cp:coreProperties>
</file>
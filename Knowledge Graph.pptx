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handoutMasterIdLst>
    <p:handoutMasterId r:id="rId60"/>
  </p:handoutMasterIdLst>
  <p:sldIdLst>
    <p:sldId id="265" r:id="rId2"/>
    <p:sldId id="320" r:id="rId3"/>
    <p:sldId id="322" r:id="rId4"/>
    <p:sldId id="321" r:id="rId5"/>
    <p:sldId id="368" r:id="rId6"/>
    <p:sldId id="369" r:id="rId7"/>
    <p:sldId id="367" r:id="rId8"/>
    <p:sldId id="370" r:id="rId9"/>
    <p:sldId id="371" r:id="rId10"/>
    <p:sldId id="372" r:id="rId11"/>
    <p:sldId id="373" r:id="rId12"/>
    <p:sldId id="374" r:id="rId13"/>
    <p:sldId id="375" r:id="rId14"/>
    <p:sldId id="376" r:id="rId15"/>
    <p:sldId id="323" r:id="rId16"/>
    <p:sldId id="324" r:id="rId17"/>
    <p:sldId id="325" r:id="rId18"/>
    <p:sldId id="326" r:id="rId19"/>
    <p:sldId id="327" r:id="rId20"/>
    <p:sldId id="334" r:id="rId21"/>
    <p:sldId id="328" r:id="rId22"/>
    <p:sldId id="335" r:id="rId23"/>
    <p:sldId id="366" r:id="rId24"/>
    <p:sldId id="329" r:id="rId25"/>
    <p:sldId id="330" r:id="rId26"/>
    <p:sldId id="331" r:id="rId27"/>
    <p:sldId id="332" r:id="rId28"/>
    <p:sldId id="333" r:id="rId29"/>
    <p:sldId id="336" r:id="rId30"/>
    <p:sldId id="341" r:id="rId31"/>
    <p:sldId id="337" r:id="rId32"/>
    <p:sldId id="338" r:id="rId33"/>
    <p:sldId id="339" r:id="rId34"/>
    <p:sldId id="342" r:id="rId35"/>
    <p:sldId id="340" r:id="rId36"/>
    <p:sldId id="343" r:id="rId37"/>
    <p:sldId id="344" r:id="rId38"/>
    <p:sldId id="347" r:id="rId39"/>
    <p:sldId id="345" r:id="rId40"/>
    <p:sldId id="346" r:id="rId41"/>
    <p:sldId id="348" r:id="rId42"/>
    <p:sldId id="349" r:id="rId43"/>
    <p:sldId id="350" r:id="rId44"/>
    <p:sldId id="351" r:id="rId45"/>
    <p:sldId id="352" r:id="rId46"/>
    <p:sldId id="353" r:id="rId47"/>
    <p:sldId id="354" r:id="rId48"/>
    <p:sldId id="358" r:id="rId49"/>
    <p:sldId id="359" r:id="rId50"/>
    <p:sldId id="364" r:id="rId51"/>
    <p:sldId id="360" r:id="rId52"/>
    <p:sldId id="361" r:id="rId53"/>
    <p:sldId id="362" r:id="rId54"/>
    <p:sldId id="365" r:id="rId55"/>
    <p:sldId id="363" r:id="rId56"/>
    <p:sldId id="355" r:id="rId57"/>
    <p:sldId id="377" r:id="rId58"/>
  </p:sldIdLst>
  <p:sldSz cx="12188825" cy="6858000"/>
  <p:notesSz cx="6858000" cy="9144000"/>
  <p:custDataLst>
    <p:tags r:id="rId6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29" autoAdjust="0"/>
  </p:normalViewPr>
  <p:slideViewPr>
    <p:cSldViewPr showGuides="1">
      <p:cViewPr varScale="1">
        <p:scale>
          <a:sx n="60" d="100"/>
          <a:sy n="60" d="100"/>
        </p:scale>
        <p:origin x="840" y="44"/>
      </p:cViewPr>
      <p:guideLst>
        <p:guide pos="3839"/>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howGuides="1">
      <p:cViewPr varScale="1">
        <p:scale>
          <a:sx n="63" d="100"/>
          <a:sy n="63" d="100"/>
        </p:scale>
        <p:origin x="1986" y="10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tags" Target="tags/tag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88EAF-6ECA-4616-85EF-35AA19C641F3}" type="datetimeFigureOut">
              <a:rPr lang="en-US"/>
              <a:t>5/6/2026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F912AB-2776-42F2-A957-313FC7EFEDB9}" type="slidenum">
              <a:rPr/>
              <a:t>‹#›</a:t>
            </a:fld>
            <a:endParaRPr/>
          </a:p>
        </p:txBody>
      </p:sp>
    </p:spTree>
    <p:extLst>
      <p:ext uri="{BB962C8B-B14F-4D97-AF65-F5344CB8AC3E}">
        <p14:creationId xmlns:p14="http://schemas.microsoft.com/office/powerpoint/2010/main" val="39320657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D2D7A-D230-4F91-BD59-0A39C2703BA8}" type="datetimeFigureOut">
              <a:rPr lang="en-US"/>
              <a:t>5/6/2026</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199CD-3E1B-4AE6-990F-76F925F5EA9F}" type="slidenum">
              <a:rPr/>
              <a:t>‹#›</a:t>
            </a:fld>
            <a:endParaRPr/>
          </a:p>
        </p:txBody>
      </p:sp>
    </p:spTree>
    <p:extLst>
      <p:ext uri="{BB962C8B-B14F-4D97-AF65-F5344CB8AC3E}">
        <p14:creationId xmlns:p14="http://schemas.microsoft.com/office/powerpoint/2010/main" val="42765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65214" y="1828800"/>
            <a:ext cx="8229600" cy="2895600"/>
          </a:xfrm>
        </p:spPr>
        <p:txBody>
          <a:bodyPr anchor="b">
            <a:normAutofit/>
          </a:bodyPr>
          <a:lstStyle>
            <a:lvl1pPr>
              <a:lnSpc>
                <a:spcPct val="80000"/>
              </a:lnSpc>
              <a:defRPr sz="6600">
                <a:solidFill>
                  <a:schemeClr val="tx1"/>
                </a:solidFill>
              </a:defRPr>
            </a:lvl1pPr>
          </a:lstStyle>
          <a:p>
            <a:r>
              <a:rPr lang="en-US"/>
              <a:t>Click to edit Master title style</a:t>
            </a:r>
            <a:endParaRPr/>
          </a:p>
        </p:txBody>
      </p:sp>
      <p:sp>
        <p:nvSpPr>
          <p:cNvPr id="3" name="Subtitle 2"/>
          <p:cNvSpPr>
            <a:spLocks noGrp="1"/>
          </p:cNvSpPr>
          <p:nvPr>
            <p:ph type="subTitle" idx="1"/>
          </p:nvPr>
        </p:nvSpPr>
        <p:spPr>
          <a:xfrm>
            <a:off x="1065213" y="4800600"/>
            <a:ext cx="8229600" cy="1219200"/>
          </a:xfrm>
        </p:spPr>
        <p:txBody>
          <a:bodyPr>
            <a:normAutofit/>
          </a:bodyPr>
          <a:lstStyle>
            <a:lvl1pPr marL="0" indent="0" algn="l">
              <a:spcBef>
                <a:spcPts val="0"/>
              </a:spcBef>
              <a:buNone/>
              <a:defRPr sz="2000" cap="all" spc="200" baseline="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9499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t>5/6/2026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73825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9614" y="2514600"/>
            <a:ext cx="8692399" cy="2819400"/>
          </a:xfrm>
        </p:spPr>
        <p:txBody>
          <a:bodyPr anchor="b">
            <a:normAutofit/>
          </a:bodyPr>
          <a:lstStyle>
            <a:lvl1pPr algn="l">
              <a:lnSpc>
                <a:spcPct val="80000"/>
              </a:lnSpc>
              <a:defRPr sz="4800" b="0" cap="none" baseline="0"/>
            </a:lvl1pPr>
          </a:lstStyle>
          <a:p>
            <a:r>
              <a:rPr lang="en-US"/>
              <a:t>Click to edit Master title style</a:t>
            </a:r>
            <a:endParaRPr/>
          </a:p>
        </p:txBody>
      </p:sp>
      <p:sp>
        <p:nvSpPr>
          <p:cNvPr id="3" name="Text Placeholder 2"/>
          <p:cNvSpPr>
            <a:spLocks noGrp="1"/>
          </p:cNvSpPr>
          <p:nvPr>
            <p:ph type="body" idx="1"/>
          </p:nvPr>
        </p:nvSpPr>
        <p:spPr>
          <a:xfrm>
            <a:off x="1065213" y="5410200"/>
            <a:ext cx="8687333" cy="609601"/>
          </a:xfrm>
        </p:spPr>
        <p:txBody>
          <a:bodyPr anchor="t">
            <a:normAutofit/>
          </a:bodyPr>
          <a:lstStyle>
            <a:lvl1pPr marL="0" indent="0">
              <a:spcBef>
                <a:spcPts val="0"/>
              </a:spcBef>
              <a:buNone/>
              <a:defRPr sz="2000" cap="all" spc="200" baseline="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t>5/6/2026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76181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504781" y="1905001"/>
            <a:ext cx="4419599"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29183" y="1905001"/>
            <a:ext cx="4419600"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t>5/6/2026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825340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411" y="1905000"/>
            <a:ext cx="441655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1" y="2743201"/>
            <a:ext cx="441655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1" y="1905000"/>
            <a:ext cx="441655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1" y="2743201"/>
            <a:ext cx="441655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dirty="0"/>
          </a:p>
        </p:txBody>
      </p:sp>
      <p:sp>
        <p:nvSpPr>
          <p:cNvPr id="7" name="Date Placeholder 6"/>
          <p:cNvSpPr>
            <a:spLocks noGrp="1"/>
          </p:cNvSpPr>
          <p:nvPr>
            <p:ph type="dt" sz="half" idx="10"/>
          </p:nvPr>
        </p:nvSpPr>
        <p:spPr/>
        <p:txBody>
          <a:bodyPr/>
          <a:lstStyle/>
          <a:p>
            <a:fld id="{03F41C87-7AD9-4845-A077-840E4A0F3F06}" type="datetimeFigureOut">
              <a:rPr lang="en-US"/>
              <a:t>5/6/2026</a:t>
            </a:fld>
            <a:endParaRPr/>
          </a:p>
        </p:txBody>
      </p:sp>
      <p:sp>
        <p:nvSpPr>
          <p:cNvPr id="9" name="Slide Number Placeholder 8"/>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20841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03F41C87-7AD9-4845-A077-840E4A0F3F06}" type="datetimeFigureOut">
              <a:rPr lang="en-US"/>
              <a:t>5/6/2026</a:t>
            </a:fld>
            <a:endParaRPr/>
          </a:p>
        </p:txBody>
      </p:sp>
      <p:sp>
        <p:nvSpPr>
          <p:cNvPr id="5" name="Slide Number Placeholder 4"/>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62663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03F41C87-7AD9-4845-A077-840E4A0F3F06}" type="datetimeFigureOut">
              <a:rPr lang="en-US"/>
              <a:t>5/6/2026</a:t>
            </a:fld>
            <a:endParaRPr/>
          </a:p>
        </p:txBody>
      </p:sp>
      <p:sp>
        <p:nvSpPr>
          <p:cNvPr id="4" name="Slide Number Placeholder 3"/>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3607540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604" y="1905000"/>
            <a:ext cx="3596607" cy="2667000"/>
          </a:xfrm>
        </p:spPr>
        <p:txBody>
          <a:bodyPr anchor="b">
            <a:noAutofit/>
          </a:bodyPr>
          <a:lstStyle>
            <a:lvl1pPr algn="l">
              <a:lnSpc>
                <a:spcPct val="90000"/>
              </a:lnSpc>
              <a:defRPr sz="3600" b="0" baseline="0">
                <a:solidFill>
                  <a:schemeClr val="tx1"/>
                </a:solidFill>
              </a:defRPr>
            </a:lvl1pPr>
          </a:lstStyle>
          <a:p>
            <a:r>
              <a:rPr lang="en-US"/>
              <a:t>Click to edit Master title style</a:t>
            </a:r>
            <a:endParaRPr/>
          </a:p>
        </p:txBody>
      </p:sp>
      <p:sp>
        <p:nvSpPr>
          <p:cNvPr id="4" name="Text Placeholder 3"/>
          <p:cNvSpPr>
            <a:spLocks noGrp="1"/>
          </p:cNvSpPr>
          <p:nvPr>
            <p:ph type="body" sz="half" idx="2"/>
          </p:nvPr>
        </p:nvSpPr>
        <p:spPr>
          <a:xfrm>
            <a:off x="1065213" y="4648200"/>
            <a:ext cx="3581399"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951414" y="685800"/>
            <a:ext cx="6400800" cy="53340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03F41C87-7AD9-4845-A077-840E4A0F3F06}" type="datetimeFigureOut">
              <a:rPr lang="en-US"/>
              <a:t>5/6/2026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54498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604" y="1905000"/>
            <a:ext cx="3596607" cy="2667000"/>
          </a:xfrm>
        </p:spPr>
        <p:txBody>
          <a:bodyPr anchor="b">
            <a:normAutofit/>
          </a:bodyPr>
          <a:lstStyle>
            <a:lvl1pPr algn="l">
              <a:lnSpc>
                <a:spcPct val="90000"/>
              </a:lnSpc>
              <a:defRPr sz="3600" b="0" i="0" baseline="0">
                <a:solidFill>
                  <a:schemeClr val="tx1"/>
                </a:solidFill>
              </a:defRPr>
            </a:lvl1pPr>
          </a:lstStyle>
          <a:p>
            <a:r>
              <a:rPr lang="en-US"/>
              <a:t>Click to edit Master title style</a:t>
            </a:r>
            <a:endParaRPr/>
          </a:p>
        </p:txBody>
      </p:sp>
      <p:sp>
        <p:nvSpPr>
          <p:cNvPr id="4" name="Text Placeholder 3"/>
          <p:cNvSpPr>
            <a:spLocks noGrp="1"/>
          </p:cNvSpPr>
          <p:nvPr>
            <p:ph type="body" sz="half" idx="2"/>
          </p:nvPr>
        </p:nvSpPr>
        <p:spPr>
          <a:xfrm>
            <a:off x="1065213" y="4648200"/>
            <a:ext cx="3581399"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951414" y="685800"/>
            <a:ext cx="6400799" cy="5334000"/>
          </a:xfrm>
          <a:solidFill>
            <a:schemeClr val="bg2"/>
          </a:solidFill>
          <a:ln w="76200">
            <a:solidFill>
              <a:schemeClr val="tx1"/>
            </a:solidFill>
            <a:miter lim="800000"/>
          </a:ln>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pPr/>
              <a:t>5/6/2026</a:t>
            </a:fld>
            <a:endParaRPr/>
          </a:p>
        </p:txBody>
      </p:sp>
      <p:sp>
        <p:nvSpPr>
          <p:cNvPr id="7" name="Slide Number Placeholder 6"/>
          <p:cNvSpPr>
            <a:spLocks noGrp="1"/>
          </p:cNvSpPr>
          <p:nvPr>
            <p:ph type="sldNum" sz="quarter" idx="12"/>
          </p:nvPr>
        </p:nvSpPr>
        <p:spPr/>
        <p:txBody>
          <a:bodyPr/>
          <a:lstStyle/>
          <a:p>
            <a:fld id="{2A013F82-EE5E-44EE-A61D-E31C6657F26F}" type="slidenum">
              <a:rPr/>
              <a:pPr/>
              <a:t>‹#›</a:t>
            </a:fld>
            <a:endParaRPr/>
          </a:p>
        </p:txBody>
      </p:sp>
    </p:spTree>
    <p:extLst>
      <p:ext uri="{BB962C8B-B14F-4D97-AF65-F5344CB8AC3E}">
        <p14:creationId xmlns:p14="http://schemas.microsoft.com/office/powerpoint/2010/main" val="2249172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5/6/2026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6009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2412" y="381001"/>
            <a:ext cx="1524001" cy="56388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522412" y="381001"/>
            <a:ext cx="7391399"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5/6/2026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07903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3" y="381000"/>
            <a:ext cx="9144001" cy="13716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3" y="1904999"/>
            <a:ext cx="9134391"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0"/>
            <a:ext cx="6553199" cy="276228"/>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4" name="Date Placeholder 3"/>
          <p:cNvSpPr>
            <a:spLocks noGrp="1"/>
          </p:cNvSpPr>
          <p:nvPr>
            <p:ph type="dt" sz="half" idx="2"/>
          </p:nvPr>
        </p:nvSpPr>
        <p:spPr>
          <a:xfrm>
            <a:off x="8226422" y="6400800"/>
            <a:ext cx="1449389"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03F41C87-7AD9-4845-A077-840E4A0F3F06}" type="datetimeFigureOut">
              <a:rPr lang="en-US" smtClean="0"/>
              <a:pPr/>
              <a:t>5/6/2026</a:t>
            </a:fld>
            <a:endParaRPr lang="en-US"/>
          </a:p>
        </p:txBody>
      </p:sp>
      <p:sp>
        <p:nvSpPr>
          <p:cNvPr id="6" name="Slide Number Placeholder 5"/>
          <p:cNvSpPr>
            <a:spLocks noGrp="1"/>
          </p:cNvSpPr>
          <p:nvPr>
            <p:ph type="sldNum" sz="quarter" idx="4"/>
          </p:nvPr>
        </p:nvSpPr>
        <p:spPr>
          <a:xfrm>
            <a:off x="9828211" y="6400800"/>
            <a:ext cx="838201"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2A013F82-EE5E-44EE-A61D-E31C6657F26F}" type="slidenum">
              <a:rPr lang="en-US" smtClean="0"/>
              <a:pPr/>
              <a:t>‹#›</a:t>
            </a:fld>
            <a:endParaRPr lang="en-US"/>
          </a:p>
        </p:txBody>
      </p:sp>
    </p:spTree>
    <p:extLst>
      <p:ext uri="{BB962C8B-B14F-4D97-AF65-F5344CB8AC3E}">
        <p14:creationId xmlns:p14="http://schemas.microsoft.com/office/powerpoint/2010/main" val="1403059996"/>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accent1"/>
        </a:buClr>
        <a:buSzPct val="100000"/>
        <a:buFont typeface="Arial" pitchFamily="34" charset="0"/>
        <a:buChar char="•"/>
        <a:defRPr sz="2400" kern="1200">
          <a:solidFill>
            <a:schemeClr val="tx1"/>
          </a:solidFill>
          <a:latin typeface="+mn-lt"/>
          <a:ea typeface="+mn-ea"/>
          <a:cs typeface="+mn-cs"/>
        </a:defRPr>
      </a:lvl1pPr>
      <a:lvl2pPr marL="463550" indent="-231775" algn="l" defTabSz="914400" rtl="0" eaLnBrk="1" latinLnBrk="0" hangingPunct="1">
        <a:lnSpc>
          <a:spcPct val="90000"/>
        </a:lnSpc>
        <a:spcBef>
          <a:spcPts val="1200"/>
        </a:spcBef>
        <a:buClr>
          <a:schemeClr val="accent1"/>
        </a:buClr>
        <a:buSzPct val="100000"/>
        <a:buFont typeface="Arial" pitchFamily="34" charset="0"/>
        <a:buChar char="•"/>
        <a:defRPr sz="2000" kern="1200">
          <a:solidFill>
            <a:schemeClr val="tx1"/>
          </a:solidFill>
          <a:latin typeface="+mn-lt"/>
          <a:ea typeface="+mn-ea"/>
          <a:cs typeface="+mn-cs"/>
        </a:defRPr>
      </a:lvl2pPr>
      <a:lvl3pPr marL="682625" indent="-219075" algn="l" defTabSz="914400" rtl="0" eaLnBrk="1" latinLnBrk="0" hangingPunct="1">
        <a:lnSpc>
          <a:spcPct val="90000"/>
        </a:lnSpc>
        <a:spcBef>
          <a:spcPts val="600"/>
        </a:spcBef>
        <a:buClr>
          <a:schemeClr val="accent1"/>
        </a:buClr>
        <a:buSzPct val="100000"/>
        <a:buFont typeface="Arial" pitchFamily="34" charset="0"/>
        <a:buChar char="•"/>
        <a:defRPr sz="1800" kern="1200">
          <a:solidFill>
            <a:schemeClr val="tx1"/>
          </a:solidFill>
          <a:latin typeface="+mn-lt"/>
          <a:ea typeface="+mn-ea"/>
          <a:cs typeface="+mn-cs"/>
        </a:defRPr>
      </a:lvl3pPr>
      <a:lvl4pPr marL="857250" indent="-174625"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4pPr>
      <a:lvl5pPr marL="1030288" indent="-173038"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9"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github.com/SmartDataAnalytics/Knowledge-Graph-Analysis-Programming-Exercises" TargetMode="External"/><Relationship Id="rId2" Type="http://schemas.openxmlformats.org/officeDocument/2006/relationships/hyperlink" Target="https://neo4j.com/blog/genai/text-to-knowledge-graph-information-extraction-pipeline/"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s://neo4j.com/blog/graph-visualization/graph-databases-for-beginners-wait-what-do-you-mean-by-graph/?ref=blo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neo4j.com/blog/graph-database/why-graph-databases-are-the-future/?re=blog"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github.com/dylanhogg/llmgraph"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nlp.stanford.edu/projects/tacred/"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hyperlink" Target="https://uswest.ensembl.org/index.html" TargetMode="External"/><Relationship Id="rId2" Type="http://schemas.openxmlformats.org/officeDocument/2006/relationships/hyperlink" Target="https://pubmed.ncbi.nlm.nih.gov/" TargetMode="External"/><Relationship Id="rId1" Type="http://schemas.openxmlformats.org/officeDocument/2006/relationships/slideLayout" Target="../slideLayouts/slideLayout2.xml"/><Relationship Id="rId5" Type="http://schemas.openxmlformats.org/officeDocument/2006/relationships/hyperlink" Target="https://www.nlm.nih.gov/medline/medline_overview.html" TargetMode="External"/><Relationship Id="rId4" Type="http://schemas.openxmlformats.org/officeDocument/2006/relationships/hyperlink" Target="https://www.ebi.ac.uk/chebi/"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neo4j.com/whitepapers/knowledge-graphs-unlimited-insights/?ref=blog"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github.com/stephenc222/example-graphrag/blob/main/app.py" TargetMode="Externa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hyperlink" Target="https://www.ibm.com/content/adobe-cms/us/en/think/topics/graphrag.html#f01" TargetMode="External"/><Relationship Id="rId2" Type="http://schemas.openxmlformats.org/officeDocument/2006/relationships/hyperlink" Target="https://www.ibm.com/think/topics/retrieval-augmented-generation" TargetMode="External"/><Relationship Id="rId1" Type="http://schemas.openxmlformats.org/officeDocument/2006/relationships/slideLayout" Target="../slideLayouts/slideLayout2.xml"/><Relationship Id="rId5" Type="http://schemas.openxmlformats.org/officeDocument/2006/relationships/hyperlink" Target="https://www.ibm.com/think/topics/workflow" TargetMode="External"/><Relationship Id="rId4" Type="http://schemas.openxmlformats.org/officeDocument/2006/relationships/hyperlink" Target="https://www.ibm.com/think/topics/graphrag#f02"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s://www.ibm.com/think/topics/generative-ai" TargetMode="External"/><Relationship Id="rId2" Type="http://schemas.openxmlformats.org/officeDocument/2006/relationships/hyperlink" Target="https://www.ibm.com/think/topics/vector-database" TargetMode="External"/><Relationship Id="rId1" Type="http://schemas.openxmlformats.org/officeDocument/2006/relationships/slideLayout" Target="../slideLayouts/slideLayout2.xml"/><Relationship Id="rId4" Type="http://schemas.openxmlformats.org/officeDocument/2006/relationships/hyperlink" Target="https://www.ibm.com/think/topics/knowledge-graph" TargetMode="Externa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www.ibm.com/think/topics/machine-learning"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www.ibm.com/think/topics/embedding"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www.ibm.com/think/topics/generative-ai"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www.ibm.com/think/topics/vector-search"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www.ibm.com/think/topics/graphrag#f03" TargetMode="External"/><Relationship Id="rId2" Type="http://schemas.openxmlformats.org/officeDocument/2006/relationships/hyperlink" Target="https://www.ibm.com/think/topics/text-summarization"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www.ibm.com/think/topics/chatbots"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s://www.ibm.com/think/topics/graphrag#f05"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s://www.ibm.com/think/topics/llamaindex" TargetMode="External"/><Relationship Id="rId7" Type="http://schemas.openxmlformats.org/officeDocument/2006/relationships/hyperlink" Target="https://www.ibm.com/think/topics/api" TargetMode="External"/><Relationship Id="rId2" Type="http://schemas.openxmlformats.org/officeDocument/2006/relationships/hyperlink" Target="https://www.ibm.com/think/topics/langchain" TargetMode="External"/><Relationship Id="rId1" Type="http://schemas.openxmlformats.org/officeDocument/2006/relationships/slideLayout" Target="../slideLayouts/slideLayout2.xml"/><Relationship Id="rId6" Type="http://schemas.openxmlformats.org/officeDocument/2006/relationships/hyperlink" Target="https://www.ibm.com/think/topics/gpt" TargetMode="External"/><Relationship Id="rId5" Type="http://schemas.openxmlformats.org/officeDocument/2006/relationships/hyperlink" Target="https://www.ibm.com/think/topics/metadata" TargetMode="External"/><Relationship Id="rId4" Type="http://schemas.openxmlformats.org/officeDocument/2006/relationships/hyperlink" Target="https://www.ibm.com/think/tutorials/knowledge-graph-rag"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1065213" y="1524000"/>
            <a:ext cx="9067798" cy="2895600"/>
          </a:xfrm>
        </p:spPr>
        <p:txBody>
          <a:bodyPr>
            <a:normAutofit fontScale="90000"/>
          </a:bodyPr>
          <a:lstStyle/>
          <a:p>
            <a:r>
              <a:rPr lang="en-US" dirty="0"/>
              <a:t>From Text to a Knowledge Graph: The Information Extraction Pipeline</a:t>
            </a:r>
          </a:p>
        </p:txBody>
      </p:sp>
      <p:sp>
        <p:nvSpPr>
          <p:cNvPr id="4" name="Subtitle 3"/>
          <p:cNvSpPr>
            <a:spLocks noGrp="1"/>
          </p:cNvSpPr>
          <p:nvPr>
            <p:ph type="subTitle" idx="1"/>
          </p:nvPr>
        </p:nvSpPr>
        <p:spPr/>
        <p:txBody>
          <a:bodyPr>
            <a:normAutofit fontScale="85000" lnSpcReduction="20000"/>
          </a:bodyPr>
          <a:lstStyle/>
          <a:p>
            <a:r>
              <a:rPr lang="it-IT" dirty="0"/>
              <a:t>Dr. Rakhee Chhibber</a:t>
            </a:r>
          </a:p>
          <a:p>
            <a:r>
              <a:rPr lang="it-IT" dirty="0">
                <a:hlinkClick r:id="rId2"/>
              </a:rPr>
              <a:t>https://neo4j.com/blog/genai/text-to-knowledge-graph-information-extraction-pipeline/</a:t>
            </a:r>
            <a:endParaRPr lang="it-IT" dirty="0"/>
          </a:p>
          <a:p>
            <a:r>
              <a:rPr lang="it-IT" dirty="0">
                <a:hlinkClick r:id="rId3"/>
              </a:rPr>
              <a:t>https://github.com/SmartDataAnalytics/Knowledge-Graph-Analysis-Programming-Exercises</a:t>
            </a:r>
            <a:endParaRPr lang="it-IT" dirty="0"/>
          </a:p>
          <a:p>
            <a:r>
              <a:rPr lang="it-IT" dirty="0"/>
              <a:t>https://www.ibm.com/think/topics/graphrag</a:t>
            </a:r>
          </a:p>
        </p:txBody>
      </p:sp>
    </p:spTree>
    <p:extLst>
      <p:ext uri="{BB962C8B-B14F-4D97-AF65-F5344CB8AC3E}">
        <p14:creationId xmlns:p14="http://schemas.microsoft.com/office/powerpoint/2010/main" val="2808920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16FAF-5778-8214-A056-BFBAB20CCC4D}"/>
              </a:ext>
            </a:extLst>
          </p:cNvPr>
          <p:cNvSpPr>
            <a:spLocks noGrp="1"/>
          </p:cNvSpPr>
          <p:nvPr>
            <p:ph type="title"/>
          </p:nvPr>
        </p:nvSpPr>
        <p:spPr/>
        <p:txBody>
          <a:bodyPr/>
          <a:lstStyle/>
          <a:p>
            <a:r>
              <a:rPr lang="en-US" dirty="0"/>
              <a:t>Introduction to knowledge Graph</a:t>
            </a:r>
          </a:p>
        </p:txBody>
      </p:sp>
      <p:sp>
        <p:nvSpPr>
          <p:cNvPr id="3" name="Content Placeholder 2">
            <a:extLst>
              <a:ext uri="{FF2B5EF4-FFF2-40B4-BE49-F238E27FC236}">
                <a16:creationId xmlns:a16="http://schemas.microsoft.com/office/drawing/2014/main" id="{35BABF07-CEB1-ABAE-FD18-66C00F016ADC}"/>
              </a:ext>
            </a:extLst>
          </p:cNvPr>
          <p:cNvSpPr>
            <a:spLocks noGrp="1"/>
          </p:cNvSpPr>
          <p:nvPr>
            <p:ph idx="1"/>
          </p:nvPr>
        </p:nvSpPr>
        <p:spPr>
          <a:xfrm>
            <a:off x="836612" y="1904999"/>
            <a:ext cx="9982199" cy="4267201"/>
          </a:xfrm>
        </p:spPr>
        <p:txBody>
          <a:bodyPr/>
          <a:lstStyle/>
          <a:p>
            <a:pPr algn="just"/>
            <a:r>
              <a:rPr lang="en-US" sz="3200" dirty="0"/>
              <a:t>Building an information extraction pipeline allows a developer to take these texts as inputs, process them with NLP (Natural Language Processing) techniques, and use the resulting structures to populate or enrich their knowledge graph. In this blog, I will explain how to build an information extraction pipeline to transform unstructured text inputs into a useful knowledge graph.</a:t>
            </a:r>
          </a:p>
          <a:p>
            <a:endParaRPr lang="en-US" dirty="0"/>
          </a:p>
        </p:txBody>
      </p:sp>
    </p:spTree>
    <p:extLst>
      <p:ext uri="{BB962C8B-B14F-4D97-AF65-F5344CB8AC3E}">
        <p14:creationId xmlns:p14="http://schemas.microsoft.com/office/powerpoint/2010/main" val="3597451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9AB64F7B-C099-0DA7-42BF-B09DB0B022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212" y="457200"/>
            <a:ext cx="9982200" cy="601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9653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96DDC-5A5A-2616-F4DC-550A5537CA9D}"/>
              </a:ext>
            </a:extLst>
          </p:cNvPr>
          <p:cNvSpPr>
            <a:spLocks noGrp="1"/>
          </p:cNvSpPr>
          <p:nvPr>
            <p:ph type="title"/>
          </p:nvPr>
        </p:nvSpPr>
        <p:spPr/>
        <p:txBody>
          <a:bodyPr/>
          <a:lstStyle/>
          <a:p>
            <a:r>
              <a:rPr lang="en-US" dirty="0"/>
              <a:t>How It Work?</a:t>
            </a:r>
            <a:br>
              <a:rPr lang="en-US" dirty="0"/>
            </a:br>
            <a:endParaRPr lang="en-US" dirty="0"/>
          </a:p>
        </p:txBody>
      </p:sp>
      <p:sp>
        <p:nvSpPr>
          <p:cNvPr id="3" name="Content Placeholder 2">
            <a:extLst>
              <a:ext uri="{FF2B5EF4-FFF2-40B4-BE49-F238E27FC236}">
                <a16:creationId xmlns:a16="http://schemas.microsoft.com/office/drawing/2014/main" id="{1BC99EF0-8833-C6A0-3761-A6BDFEE535CE}"/>
              </a:ext>
            </a:extLst>
          </p:cNvPr>
          <p:cNvSpPr>
            <a:spLocks noGrp="1"/>
          </p:cNvSpPr>
          <p:nvPr>
            <p:ph idx="1"/>
          </p:nvPr>
        </p:nvSpPr>
        <p:spPr>
          <a:xfrm>
            <a:off x="760413" y="1600200"/>
            <a:ext cx="10820400" cy="4724400"/>
          </a:xfrm>
        </p:spPr>
        <p:txBody>
          <a:bodyPr>
            <a:normAutofit fontScale="92500"/>
          </a:bodyPr>
          <a:lstStyle/>
          <a:p>
            <a:pPr algn="just"/>
            <a:r>
              <a:rPr lang="en-US" sz="3200" dirty="0"/>
              <a:t>To begin,  input text to the pipeline which can be from any PDFs or scraped from web pages, new slides, text files etc. </a:t>
            </a:r>
          </a:p>
          <a:p>
            <a:pPr algn="just"/>
            <a:r>
              <a:rPr lang="en-US" sz="3200" dirty="0"/>
              <a:t>Input messages from your messaging platform into the information extraction pipeline.</a:t>
            </a:r>
          </a:p>
          <a:p>
            <a:pPr algn="just"/>
            <a:r>
              <a:rPr lang="en-US" sz="3200" dirty="0"/>
              <a:t>A knowledge graph </a:t>
            </a:r>
            <a:r>
              <a:rPr lang="en-US" sz="3200" u="sng" dirty="0">
                <a:hlinkClick r:id="rId2"/>
              </a:rPr>
              <a:t>opens in new </a:t>
            </a:r>
            <a:r>
              <a:rPr lang="en-US" sz="3200" u="sng" dirty="0" err="1">
                <a:hlinkClick r:id="rId2"/>
              </a:rPr>
              <a:t>tabgraph</a:t>
            </a:r>
            <a:r>
              <a:rPr lang="en-US" sz="3200" dirty="0"/>
              <a:t> has nodes that represent levels, entities, or concepts. There are many types of nodes, such as person, course, or city, and there are relationships between those nodes, such as </a:t>
            </a:r>
            <a:r>
              <a:rPr lang="en-US" sz="3200" i="1" dirty="0"/>
              <a:t>located in</a:t>
            </a:r>
            <a:r>
              <a:rPr lang="en-US" sz="3200" dirty="0"/>
              <a:t>, </a:t>
            </a:r>
            <a:r>
              <a:rPr lang="en-US" sz="3200" i="1" dirty="0"/>
              <a:t>lives in</a:t>
            </a:r>
            <a:r>
              <a:rPr lang="en-US" sz="3200" dirty="0"/>
              <a:t>, or </a:t>
            </a:r>
            <a:r>
              <a:rPr lang="en-US" sz="3200" i="1" dirty="0"/>
              <a:t>works with</a:t>
            </a:r>
            <a:r>
              <a:rPr lang="en-US" sz="3200" dirty="0"/>
              <a:t>. If you have a single relationship type, you are not yet dealing with a knowledge graph until you have more relationship types.</a:t>
            </a:r>
          </a:p>
        </p:txBody>
      </p:sp>
    </p:spTree>
    <p:extLst>
      <p:ext uri="{BB962C8B-B14F-4D97-AF65-F5344CB8AC3E}">
        <p14:creationId xmlns:p14="http://schemas.microsoft.com/office/powerpoint/2010/main" val="1281595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AF127C-9A39-8468-F98A-146D93BD4859}"/>
              </a:ext>
            </a:extLst>
          </p:cNvPr>
          <p:cNvPicPr>
            <a:picLocks noChangeAspect="1"/>
          </p:cNvPicPr>
          <p:nvPr/>
        </p:nvPicPr>
        <p:blipFill>
          <a:blip r:embed="rId2"/>
          <a:stretch>
            <a:fillRect/>
          </a:stretch>
        </p:blipFill>
        <p:spPr>
          <a:xfrm>
            <a:off x="303211" y="304800"/>
            <a:ext cx="11533775" cy="5867400"/>
          </a:xfrm>
          <a:prstGeom prst="rect">
            <a:avLst/>
          </a:prstGeom>
        </p:spPr>
      </p:pic>
    </p:spTree>
    <p:extLst>
      <p:ext uri="{BB962C8B-B14F-4D97-AF65-F5344CB8AC3E}">
        <p14:creationId xmlns:p14="http://schemas.microsoft.com/office/powerpoint/2010/main" val="1677119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DAEA77-49B2-A14B-22B2-C0D59E475347}"/>
              </a:ext>
            </a:extLst>
          </p:cNvPr>
          <p:cNvPicPr>
            <a:picLocks noChangeAspect="1"/>
          </p:cNvPicPr>
          <p:nvPr/>
        </p:nvPicPr>
        <p:blipFill>
          <a:blip r:embed="rId2"/>
          <a:stretch>
            <a:fillRect/>
          </a:stretch>
        </p:blipFill>
        <p:spPr>
          <a:xfrm>
            <a:off x="2208212" y="381000"/>
            <a:ext cx="6363588" cy="1991003"/>
          </a:xfrm>
          <a:prstGeom prst="rect">
            <a:avLst/>
          </a:prstGeom>
        </p:spPr>
      </p:pic>
      <p:sp>
        <p:nvSpPr>
          <p:cNvPr id="5" name="TextBox 4">
            <a:extLst>
              <a:ext uri="{FF2B5EF4-FFF2-40B4-BE49-F238E27FC236}">
                <a16:creationId xmlns:a16="http://schemas.microsoft.com/office/drawing/2014/main" id="{AE863D35-B53D-92AC-8894-C5F97537557A}"/>
              </a:ext>
            </a:extLst>
          </p:cNvPr>
          <p:cNvSpPr txBox="1"/>
          <p:nvPr/>
        </p:nvSpPr>
        <p:spPr>
          <a:xfrm>
            <a:off x="684212" y="2967335"/>
            <a:ext cx="10972800" cy="830997"/>
          </a:xfrm>
          <a:prstGeom prst="rect">
            <a:avLst/>
          </a:prstGeom>
          <a:noFill/>
        </p:spPr>
        <p:txBody>
          <a:bodyPr wrap="square">
            <a:spAutoFit/>
          </a:bodyPr>
          <a:lstStyle/>
          <a:p>
            <a:r>
              <a:rPr lang="en-US" sz="2400" b="0" i="0" dirty="0">
                <a:effectLst/>
                <a:latin typeface="Inter"/>
              </a:rPr>
              <a:t>Knowledge Graph’s come in a variety of shapes and sizes. For example, the knowledge graph of </a:t>
            </a:r>
            <a:r>
              <a:rPr lang="en-US" sz="2400" b="0" i="0" dirty="0" err="1">
                <a:effectLst/>
                <a:latin typeface="Inter"/>
              </a:rPr>
              <a:t>Wikidata</a:t>
            </a:r>
            <a:r>
              <a:rPr lang="en-US" sz="2400" b="0" i="0" dirty="0">
                <a:effectLst/>
                <a:latin typeface="Inter"/>
              </a:rPr>
              <a:t> had 59,910,568 nodes by October 2019.</a:t>
            </a:r>
            <a:endParaRPr lang="en-US" sz="2400" dirty="0"/>
          </a:p>
        </p:txBody>
      </p:sp>
      <p:pic>
        <p:nvPicPr>
          <p:cNvPr id="7" name="Picture 6">
            <a:extLst>
              <a:ext uri="{FF2B5EF4-FFF2-40B4-BE49-F238E27FC236}">
                <a16:creationId xmlns:a16="http://schemas.microsoft.com/office/drawing/2014/main" id="{A92F3813-9570-0122-0943-185D8B2F670D}"/>
              </a:ext>
            </a:extLst>
          </p:cNvPr>
          <p:cNvPicPr>
            <a:picLocks noChangeAspect="1"/>
          </p:cNvPicPr>
          <p:nvPr/>
        </p:nvPicPr>
        <p:blipFill>
          <a:blip r:embed="rId3"/>
          <a:stretch>
            <a:fillRect/>
          </a:stretch>
        </p:blipFill>
        <p:spPr>
          <a:xfrm>
            <a:off x="2208212" y="4000154"/>
            <a:ext cx="6868484" cy="2476846"/>
          </a:xfrm>
          <a:prstGeom prst="rect">
            <a:avLst/>
          </a:prstGeom>
        </p:spPr>
      </p:pic>
    </p:spTree>
    <p:extLst>
      <p:ext uri="{BB962C8B-B14F-4D97-AF65-F5344CB8AC3E}">
        <p14:creationId xmlns:p14="http://schemas.microsoft.com/office/powerpoint/2010/main" val="2001754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E6F85-94F6-2574-6F52-18F787A32DBE}"/>
              </a:ext>
            </a:extLst>
          </p:cNvPr>
          <p:cNvSpPr>
            <a:spLocks noGrp="1"/>
          </p:cNvSpPr>
          <p:nvPr>
            <p:ph type="title"/>
          </p:nvPr>
        </p:nvSpPr>
        <p:spPr/>
        <p:txBody>
          <a:bodyPr/>
          <a:lstStyle/>
          <a:p>
            <a:r>
              <a:rPr lang="en-US" b="1" dirty="0"/>
              <a:t>A node or an entity can have multiple relations as well.</a:t>
            </a:r>
            <a:endParaRPr lang="en-US" dirty="0"/>
          </a:p>
        </p:txBody>
      </p:sp>
      <p:pic>
        <p:nvPicPr>
          <p:cNvPr id="5" name="Picture 4">
            <a:extLst>
              <a:ext uri="{FF2B5EF4-FFF2-40B4-BE49-F238E27FC236}">
                <a16:creationId xmlns:a16="http://schemas.microsoft.com/office/drawing/2014/main" id="{21A2FAFE-AC8B-A663-BE04-8D0E574535C1}"/>
              </a:ext>
            </a:extLst>
          </p:cNvPr>
          <p:cNvPicPr>
            <a:picLocks noChangeAspect="1"/>
          </p:cNvPicPr>
          <p:nvPr/>
        </p:nvPicPr>
        <p:blipFill>
          <a:blip r:embed="rId2"/>
          <a:stretch>
            <a:fillRect/>
          </a:stretch>
        </p:blipFill>
        <p:spPr>
          <a:xfrm>
            <a:off x="0" y="2362201"/>
            <a:ext cx="5053264" cy="2743200"/>
          </a:xfrm>
          <a:prstGeom prst="rect">
            <a:avLst/>
          </a:prstGeom>
        </p:spPr>
      </p:pic>
      <p:pic>
        <p:nvPicPr>
          <p:cNvPr id="7" name="Picture 6">
            <a:extLst>
              <a:ext uri="{FF2B5EF4-FFF2-40B4-BE49-F238E27FC236}">
                <a16:creationId xmlns:a16="http://schemas.microsoft.com/office/drawing/2014/main" id="{DA7B026F-41B8-3F07-288A-6B1C895277CF}"/>
              </a:ext>
            </a:extLst>
          </p:cNvPr>
          <p:cNvPicPr>
            <a:picLocks noChangeAspect="1"/>
          </p:cNvPicPr>
          <p:nvPr/>
        </p:nvPicPr>
        <p:blipFill>
          <a:blip r:embed="rId3"/>
          <a:stretch>
            <a:fillRect/>
          </a:stretch>
        </p:blipFill>
        <p:spPr>
          <a:xfrm>
            <a:off x="5484812" y="2057400"/>
            <a:ext cx="6503890" cy="3515421"/>
          </a:xfrm>
          <a:prstGeom prst="rect">
            <a:avLst/>
          </a:prstGeom>
        </p:spPr>
      </p:pic>
    </p:spTree>
    <p:extLst>
      <p:ext uri="{BB962C8B-B14F-4D97-AF65-F5344CB8AC3E}">
        <p14:creationId xmlns:p14="http://schemas.microsoft.com/office/powerpoint/2010/main" val="154727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8E2FD-D39C-D0E3-B9E1-2ACC97FD00D9}"/>
              </a:ext>
            </a:extLst>
          </p:cNvPr>
          <p:cNvSpPr>
            <a:spLocks noGrp="1"/>
          </p:cNvSpPr>
          <p:nvPr>
            <p:ph type="title"/>
          </p:nvPr>
        </p:nvSpPr>
        <p:spPr>
          <a:xfrm>
            <a:off x="608012" y="76200"/>
            <a:ext cx="10134602" cy="1371600"/>
          </a:xfrm>
        </p:spPr>
        <p:txBody>
          <a:bodyPr/>
          <a:lstStyle/>
          <a:p>
            <a:r>
              <a:rPr lang="en-US" dirty="0"/>
              <a:t>Traditional NLP technique</a:t>
            </a:r>
          </a:p>
        </p:txBody>
      </p:sp>
      <p:sp>
        <p:nvSpPr>
          <p:cNvPr id="3" name="Content Placeholder 2">
            <a:extLst>
              <a:ext uri="{FF2B5EF4-FFF2-40B4-BE49-F238E27FC236}">
                <a16:creationId xmlns:a16="http://schemas.microsoft.com/office/drawing/2014/main" id="{F06C2FE3-F036-A09C-814B-CA931814E90F}"/>
              </a:ext>
            </a:extLst>
          </p:cNvPr>
          <p:cNvSpPr>
            <a:spLocks noGrp="1"/>
          </p:cNvSpPr>
          <p:nvPr>
            <p:ph idx="1"/>
          </p:nvPr>
        </p:nvSpPr>
        <p:spPr>
          <a:xfrm>
            <a:off x="684212" y="1904999"/>
            <a:ext cx="11049000" cy="4419601"/>
          </a:xfrm>
        </p:spPr>
        <p:txBody>
          <a:bodyPr>
            <a:normAutofit/>
          </a:bodyPr>
          <a:lstStyle/>
          <a:p>
            <a:pPr marL="0" indent="0">
              <a:buNone/>
            </a:pPr>
            <a:r>
              <a:rPr lang="en-US" sz="2800" dirty="0"/>
              <a:t>using NLP techniques such as sentence segmentation, dependency parsing, parts of speech tagging, and entity recognition. </a:t>
            </a:r>
          </a:p>
          <a:p>
            <a:pPr marL="0" indent="0">
              <a:buNone/>
            </a:pPr>
            <a:r>
              <a:rPr lang="en-US" sz="2800" dirty="0"/>
              <a:t>1. </a:t>
            </a:r>
            <a:r>
              <a:rPr lang="en-US" dirty="0"/>
              <a:t>Sentence Segmentation</a:t>
            </a:r>
          </a:p>
          <a:p>
            <a:r>
              <a:rPr lang="en-US" b="1" dirty="0"/>
              <a:t>The first step in building a knowledge graph python is to split the text document or article into sentences.</a:t>
            </a:r>
            <a:r>
              <a:rPr lang="en-US" dirty="0"/>
              <a:t> Then, we will shortlist only those sentences in which there is exactly 1 subject and 1 object. Let’s look at a sample text below:</a:t>
            </a:r>
          </a:p>
          <a:p>
            <a:r>
              <a:rPr lang="en-US" i="1" dirty="0"/>
              <a:t>“Indian tennis player Sumit Nagal moved up six places from 135 to a career-best 129 in the latest men’s singles ranking. The 22-year-old recently won the </a:t>
            </a:r>
            <a:r>
              <a:rPr lang="en-US" dirty="0"/>
              <a:t>ATP</a:t>
            </a:r>
            <a:r>
              <a:rPr lang="en-US" i="1" dirty="0"/>
              <a:t> Challenger tournament. He made his Grand Slam debut against Federer in the 2019 US Open. Nagal won the first set.”</a:t>
            </a:r>
            <a:endParaRPr lang="en-US" dirty="0"/>
          </a:p>
          <a:p>
            <a:pPr marL="0" indent="0">
              <a:buNone/>
            </a:pPr>
            <a:endParaRPr lang="en-US" sz="2800" dirty="0"/>
          </a:p>
        </p:txBody>
      </p:sp>
    </p:spTree>
    <p:extLst>
      <p:ext uri="{BB962C8B-B14F-4D97-AF65-F5344CB8AC3E}">
        <p14:creationId xmlns:p14="http://schemas.microsoft.com/office/powerpoint/2010/main" val="2195647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A8335-B811-1BD2-E187-584AAE5338C5}"/>
              </a:ext>
            </a:extLst>
          </p:cNvPr>
          <p:cNvSpPr>
            <a:spLocks noGrp="1"/>
          </p:cNvSpPr>
          <p:nvPr>
            <p:ph type="title"/>
          </p:nvPr>
        </p:nvSpPr>
        <p:spPr>
          <a:xfrm>
            <a:off x="912812" y="152400"/>
            <a:ext cx="9144001" cy="762000"/>
          </a:xfrm>
        </p:spPr>
        <p:txBody>
          <a:bodyPr/>
          <a:lstStyle/>
          <a:p>
            <a:r>
              <a:rPr lang="en-US" dirty="0"/>
              <a:t>Example of sentence segmentation</a:t>
            </a:r>
          </a:p>
        </p:txBody>
      </p:sp>
      <p:sp>
        <p:nvSpPr>
          <p:cNvPr id="3" name="Content Placeholder 2">
            <a:extLst>
              <a:ext uri="{FF2B5EF4-FFF2-40B4-BE49-F238E27FC236}">
                <a16:creationId xmlns:a16="http://schemas.microsoft.com/office/drawing/2014/main" id="{4BAB9053-50E4-4A5C-073D-FCEFE7E670A4}"/>
              </a:ext>
            </a:extLst>
          </p:cNvPr>
          <p:cNvSpPr>
            <a:spLocks noGrp="1"/>
          </p:cNvSpPr>
          <p:nvPr>
            <p:ph idx="1"/>
          </p:nvPr>
        </p:nvSpPr>
        <p:spPr>
          <a:xfrm>
            <a:off x="1217612" y="1295400"/>
            <a:ext cx="9982199" cy="2590800"/>
          </a:xfrm>
        </p:spPr>
        <p:txBody>
          <a:bodyPr/>
          <a:lstStyle/>
          <a:p>
            <a:r>
              <a:rPr lang="en-US" i="1" dirty="0"/>
              <a:t>Indian tennis player Sumit Nagal moved up six places from 135 to a career-best 129 in the latest men’s singles ranking</a:t>
            </a:r>
            <a:endParaRPr lang="en-US" dirty="0"/>
          </a:p>
          <a:p>
            <a:r>
              <a:rPr lang="en-US" i="1" dirty="0"/>
              <a:t>The 22-year-old recently won the ATP Challenger tournament</a:t>
            </a:r>
            <a:endParaRPr lang="en-US" dirty="0"/>
          </a:p>
          <a:p>
            <a:r>
              <a:rPr lang="en-US" i="1" dirty="0"/>
              <a:t>He made his Grand Slam debut against Federer in the 2019 US Open</a:t>
            </a:r>
            <a:endParaRPr lang="en-US" dirty="0"/>
          </a:p>
          <a:p>
            <a:r>
              <a:rPr lang="en-US" i="1" dirty="0"/>
              <a:t>Nagal won the first set</a:t>
            </a:r>
            <a:endParaRPr lang="en-US" dirty="0"/>
          </a:p>
        </p:txBody>
      </p:sp>
      <p:sp>
        <p:nvSpPr>
          <p:cNvPr id="5" name="TextBox 4">
            <a:extLst>
              <a:ext uri="{FF2B5EF4-FFF2-40B4-BE49-F238E27FC236}">
                <a16:creationId xmlns:a16="http://schemas.microsoft.com/office/drawing/2014/main" id="{E2800C8E-02BF-7F0E-35D9-506CCE318191}"/>
              </a:ext>
            </a:extLst>
          </p:cNvPr>
          <p:cNvSpPr txBox="1"/>
          <p:nvPr/>
        </p:nvSpPr>
        <p:spPr>
          <a:xfrm>
            <a:off x="1210708" y="4065181"/>
            <a:ext cx="9601200" cy="1938992"/>
          </a:xfrm>
          <a:prstGeom prst="rect">
            <a:avLst/>
          </a:prstGeom>
          <a:noFill/>
        </p:spPr>
        <p:txBody>
          <a:bodyPr wrap="square">
            <a:spAutoFit/>
          </a:bodyPr>
          <a:lstStyle/>
          <a:p>
            <a:r>
              <a:rPr lang="en-US" sz="2400" b="0" i="0" dirty="0">
                <a:effectLst/>
                <a:latin typeface="Inter"/>
              </a:rPr>
              <a:t>Out of these four sentences, we will shortlist the second and the fourth sentences because each of them contains 1 subject and 1 object. In the second sentence, “22-year-old” is the subject and the object is “ATP Challenger tournament”. In the fourth sentence, the subject is “Nagal” and “first set” is the object:</a:t>
            </a:r>
            <a:endParaRPr lang="en-US" sz="2400" dirty="0"/>
          </a:p>
        </p:txBody>
      </p:sp>
    </p:spTree>
    <p:extLst>
      <p:ext uri="{BB962C8B-B14F-4D97-AF65-F5344CB8AC3E}">
        <p14:creationId xmlns:p14="http://schemas.microsoft.com/office/powerpoint/2010/main" val="2630390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B0FAE2-AF5B-2A8E-85D5-CF76A389C73F}"/>
              </a:ext>
            </a:extLst>
          </p:cNvPr>
          <p:cNvPicPr>
            <a:picLocks noChangeAspect="1"/>
          </p:cNvPicPr>
          <p:nvPr/>
        </p:nvPicPr>
        <p:blipFill>
          <a:blip r:embed="rId2"/>
          <a:stretch>
            <a:fillRect/>
          </a:stretch>
        </p:blipFill>
        <p:spPr>
          <a:xfrm>
            <a:off x="0" y="2035512"/>
            <a:ext cx="12188825" cy="2786976"/>
          </a:xfrm>
          <a:prstGeom prst="rect">
            <a:avLst/>
          </a:prstGeom>
        </p:spPr>
      </p:pic>
    </p:spTree>
    <p:extLst>
      <p:ext uri="{BB962C8B-B14F-4D97-AF65-F5344CB8AC3E}">
        <p14:creationId xmlns:p14="http://schemas.microsoft.com/office/powerpoint/2010/main" val="3444379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11B93-B9EE-9DE6-2A4D-36A8FD3CB424}"/>
              </a:ext>
            </a:extLst>
          </p:cNvPr>
          <p:cNvSpPr>
            <a:spLocks noGrp="1"/>
          </p:cNvSpPr>
          <p:nvPr>
            <p:ph type="title"/>
          </p:nvPr>
        </p:nvSpPr>
        <p:spPr/>
        <p:txBody>
          <a:bodyPr/>
          <a:lstStyle/>
          <a:p>
            <a:r>
              <a:rPr lang="en-US" dirty="0"/>
              <a:t>Entities Extraction</a:t>
            </a:r>
            <a:br>
              <a:rPr lang="en-US" dirty="0"/>
            </a:br>
            <a:endParaRPr lang="en-US" dirty="0"/>
          </a:p>
        </p:txBody>
      </p:sp>
      <p:sp>
        <p:nvSpPr>
          <p:cNvPr id="3" name="Content Placeholder 2">
            <a:extLst>
              <a:ext uri="{FF2B5EF4-FFF2-40B4-BE49-F238E27FC236}">
                <a16:creationId xmlns:a16="http://schemas.microsoft.com/office/drawing/2014/main" id="{1A48F1AE-FAE0-AA5E-5947-D40499023B0C}"/>
              </a:ext>
            </a:extLst>
          </p:cNvPr>
          <p:cNvSpPr>
            <a:spLocks noGrp="1"/>
          </p:cNvSpPr>
          <p:nvPr>
            <p:ph idx="1"/>
          </p:nvPr>
        </p:nvSpPr>
        <p:spPr/>
        <p:txBody>
          <a:bodyPr>
            <a:normAutofit/>
          </a:bodyPr>
          <a:lstStyle/>
          <a:p>
            <a:pPr algn="just"/>
            <a:r>
              <a:rPr lang="en-US" sz="3200" dirty="0"/>
              <a:t>The extraction of a single word entity from a sentence is not a tough task. We can easily do this with the help of parts of speech (POS) tags. The nouns and the proper nouns would be our entities.</a:t>
            </a:r>
          </a:p>
          <a:p>
            <a:pPr algn="just"/>
            <a:r>
              <a:rPr lang="en-US" sz="3200" dirty="0"/>
              <a:t>However, when an entity spans across multiple words, then POS tags alone are not sufficient. We need to parse the dependency tree of the sentence.</a:t>
            </a:r>
          </a:p>
        </p:txBody>
      </p:sp>
    </p:spTree>
    <p:extLst>
      <p:ext uri="{BB962C8B-B14F-4D97-AF65-F5344CB8AC3E}">
        <p14:creationId xmlns:p14="http://schemas.microsoft.com/office/powerpoint/2010/main" val="945630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E298B-AD53-7DA2-AA55-D1AC67ACB5BC}"/>
              </a:ext>
            </a:extLst>
          </p:cNvPr>
          <p:cNvSpPr>
            <a:spLocks noGrp="1"/>
          </p:cNvSpPr>
          <p:nvPr>
            <p:ph type="title"/>
          </p:nvPr>
        </p:nvSpPr>
        <p:spPr>
          <a:xfrm>
            <a:off x="1370012" y="74280"/>
            <a:ext cx="9144001" cy="1371600"/>
          </a:xfrm>
        </p:spPr>
        <p:txBody>
          <a:bodyPr/>
          <a:lstStyle/>
          <a:p>
            <a:r>
              <a:rPr lang="en-US" dirty="0"/>
              <a:t>Extract Relations</a:t>
            </a:r>
            <a:br>
              <a:rPr lang="en-US" dirty="0"/>
            </a:br>
            <a:endParaRPr lang="en-US" dirty="0"/>
          </a:p>
        </p:txBody>
      </p:sp>
      <p:sp>
        <p:nvSpPr>
          <p:cNvPr id="3" name="Content Placeholder 2">
            <a:extLst>
              <a:ext uri="{FF2B5EF4-FFF2-40B4-BE49-F238E27FC236}">
                <a16:creationId xmlns:a16="http://schemas.microsoft.com/office/drawing/2014/main" id="{798649F2-E616-20E9-86D1-F89E3D27B54E}"/>
              </a:ext>
            </a:extLst>
          </p:cNvPr>
          <p:cNvSpPr>
            <a:spLocks noGrp="1"/>
          </p:cNvSpPr>
          <p:nvPr>
            <p:ph idx="1"/>
          </p:nvPr>
        </p:nvSpPr>
        <p:spPr>
          <a:xfrm>
            <a:off x="531812" y="1169141"/>
            <a:ext cx="11125200" cy="2133601"/>
          </a:xfrm>
        </p:spPr>
        <p:txBody>
          <a:bodyPr>
            <a:normAutofit lnSpcReduction="10000"/>
          </a:bodyPr>
          <a:lstStyle/>
          <a:p>
            <a:r>
              <a:rPr lang="en-US" sz="2800" b="1" dirty="0"/>
              <a:t>To build a knowledge graph, we need edges to connect the nodes (entities) to one another.</a:t>
            </a:r>
            <a:r>
              <a:rPr lang="en-US" sz="2800" dirty="0"/>
              <a:t> These edges are the relations between a pair of nodes.</a:t>
            </a:r>
          </a:p>
          <a:p>
            <a:r>
              <a:rPr lang="en-US" sz="2800" dirty="0"/>
              <a:t>Let’s go back to the example in the last section. We shortlisted a couple of sentences to build a knowledge graph python:</a:t>
            </a:r>
          </a:p>
          <a:p>
            <a:endParaRPr lang="en-US" dirty="0"/>
          </a:p>
        </p:txBody>
      </p:sp>
      <p:pic>
        <p:nvPicPr>
          <p:cNvPr id="5" name="Picture 4">
            <a:extLst>
              <a:ext uri="{FF2B5EF4-FFF2-40B4-BE49-F238E27FC236}">
                <a16:creationId xmlns:a16="http://schemas.microsoft.com/office/drawing/2014/main" id="{0D7DDCF4-4D92-DFF7-57A6-256043416663}"/>
              </a:ext>
            </a:extLst>
          </p:cNvPr>
          <p:cNvPicPr>
            <a:picLocks noChangeAspect="1"/>
          </p:cNvPicPr>
          <p:nvPr/>
        </p:nvPicPr>
        <p:blipFill>
          <a:blip r:embed="rId2"/>
          <a:stretch>
            <a:fillRect/>
          </a:stretch>
        </p:blipFill>
        <p:spPr>
          <a:xfrm>
            <a:off x="1522413" y="3328762"/>
            <a:ext cx="7916380" cy="3248478"/>
          </a:xfrm>
          <a:prstGeom prst="rect">
            <a:avLst/>
          </a:prstGeom>
        </p:spPr>
      </p:pic>
    </p:spTree>
    <p:extLst>
      <p:ext uri="{BB962C8B-B14F-4D97-AF65-F5344CB8AC3E}">
        <p14:creationId xmlns:p14="http://schemas.microsoft.com/office/powerpoint/2010/main" val="1076855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9CAA6B-5392-1509-ACAC-5CBF5D1AE768}"/>
              </a:ext>
            </a:extLst>
          </p:cNvPr>
          <p:cNvPicPr>
            <a:picLocks noChangeAspect="1"/>
          </p:cNvPicPr>
          <p:nvPr/>
        </p:nvPicPr>
        <p:blipFill>
          <a:blip r:embed="rId2"/>
          <a:stretch>
            <a:fillRect/>
          </a:stretch>
        </p:blipFill>
        <p:spPr>
          <a:xfrm>
            <a:off x="2731618" y="633022"/>
            <a:ext cx="6725589" cy="5591955"/>
          </a:xfrm>
          <a:prstGeom prst="rect">
            <a:avLst/>
          </a:prstGeom>
        </p:spPr>
      </p:pic>
    </p:spTree>
    <p:extLst>
      <p:ext uri="{BB962C8B-B14F-4D97-AF65-F5344CB8AC3E}">
        <p14:creationId xmlns:p14="http://schemas.microsoft.com/office/powerpoint/2010/main" val="2098574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E6971-76F5-196E-7982-1FFBF3860EAD}"/>
              </a:ext>
            </a:extLst>
          </p:cNvPr>
          <p:cNvSpPr>
            <a:spLocks noGrp="1"/>
          </p:cNvSpPr>
          <p:nvPr>
            <p:ph type="title"/>
          </p:nvPr>
        </p:nvSpPr>
        <p:spPr/>
        <p:txBody>
          <a:bodyPr/>
          <a:lstStyle/>
          <a:p>
            <a:r>
              <a:rPr lang="en-US" dirty="0"/>
              <a:t>Entity Pairs Extraction</a:t>
            </a:r>
            <a:br>
              <a:rPr lang="en-US" dirty="0"/>
            </a:br>
            <a:endParaRPr lang="en-US" dirty="0"/>
          </a:p>
        </p:txBody>
      </p:sp>
      <p:sp>
        <p:nvSpPr>
          <p:cNvPr id="3" name="Content Placeholder 2">
            <a:extLst>
              <a:ext uri="{FF2B5EF4-FFF2-40B4-BE49-F238E27FC236}">
                <a16:creationId xmlns:a16="http://schemas.microsoft.com/office/drawing/2014/main" id="{953DC44B-B21E-316D-E441-6F7745AC327B}"/>
              </a:ext>
            </a:extLst>
          </p:cNvPr>
          <p:cNvSpPr>
            <a:spLocks noGrp="1"/>
          </p:cNvSpPr>
          <p:nvPr>
            <p:ph idx="1"/>
          </p:nvPr>
        </p:nvSpPr>
        <p:spPr>
          <a:xfrm>
            <a:off x="760412" y="1524000"/>
            <a:ext cx="10201192" cy="4114801"/>
          </a:xfrm>
        </p:spPr>
        <p:txBody>
          <a:bodyPr>
            <a:normAutofit/>
          </a:bodyPr>
          <a:lstStyle/>
          <a:p>
            <a:r>
              <a:rPr lang="en-US" dirty="0"/>
              <a:t>To build a knowledge graph, the most important things are the nodes and the edges between them.</a:t>
            </a:r>
          </a:p>
          <a:p>
            <a:r>
              <a:rPr lang="en-US" dirty="0"/>
              <a:t>These nodes are going to be the entities that are present in the Wikipedia sentences. Edges are the relationships connecting these entities to one another. We will extract these elements in an unsupervised manner, i.e., we will use the grammar of the sentences.</a:t>
            </a:r>
          </a:p>
          <a:p>
            <a:r>
              <a:rPr lang="en-US" b="1" dirty="0"/>
              <a:t>The main idea is to go through a sentence and extract the subject and the object as and when they are encountered.</a:t>
            </a:r>
            <a:r>
              <a:rPr lang="en-US" dirty="0"/>
              <a:t> However, there are a few challenges ⁠— an entity can span across multiple words, </a:t>
            </a:r>
            <a:r>
              <a:rPr lang="en-US" dirty="0" err="1"/>
              <a:t>eg.</a:t>
            </a:r>
            <a:r>
              <a:rPr lang="en-US" dirty="0"/>
              <a:t>, “red wine”, and the dependency parsers tag only the individual words as subjects or objects.</a:t>
            </a:r>
          </a:p>
          <a:p>
            <a:endParaRPr lang="en-US" dirty="0"/>
          </a:p>
        </p:txBody>
      </p:sp>
    </p:spTree>
    <p:extLst>
      <p:ext uri="{BB962C8B-B14F-4D97-AF65-F5344CB8AC3E}">
        <p14:creationId xmlns:p14="http://schemas.microsoft.com/office/powerpoint/2010/main" val="2065439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0F330-E6B1-C9CD-474E-2720F2B5ED60}"/>
              </a:ext>
            </a:extLst>
          </p:cNvPr>
          <p:cNvSpPr>
            <a:spLocks noGrp="1"/>
          </p:cNvSpPr>
          <p:nvPr>
            <p:ph type="title"/>
          </p:nvPr>
        </p:nvSpPr>
        <p:spPr/>
        <p:txBody>
          <a:bodyPr/>
          <a:lstStyle/>
          <a:p>
            <a:r>
              <a:rPr lang="en-US" dirty="0"/>
              <a:t>4-Step Pipeline</a:t>
            </a:r>
            <a:br>
              <a:rPr lang="en-US" dirty="0"/>
            </a:br>
            <a:endParaRPr lang="en-US" dirty="0"/>
          </a:p>
        </p:txBody>
      </p:sp>
      <p:pic>
        <p:nvPicPr>
          <p:cNvPr id="2050" name="Picture 2">
            <a:extLst>
              <a:ext uri="{FF2B5EF4-FFF2-40B4-BE49-F238E27FC236}">
                <a16:creationId xmlns:a16="http://schemas.microsoft.com/office/drawing/2014/main" id="{A11DF1CA-A36C-C594-73E0-B9475C3603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74863"/>
            <a:ext cx="12188825" cy="2708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404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30B2F-3A77-08F6-E93F-B202872835D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F2BAEF-9C20-4158-9039-C4E14E9542B8}"/>
              </a:ext>
            </a:extLst>
          </p:cNvPr>
          <p:cNvSpPr>
            <a:spLocks noGrp="1"/>
          </p:cNvSpPr>
          <p:nvPr>
            <p:ph idx="1"/>
          </p:nvPr>
        </p:nvSpPr>
        <p:spPr/>
        <p:txBody>
          <a:bodyPr>
            <a:normAutofit fontScale="92500"/>
          </a:bodyPr>
          <a:lstStyle/>
          <a:p>
            <a:pPr algn="just"/>
            <a:r>
              <a:rPr lang="en-US" sz="2800" dirty="0"/>
              <a:t>Information extraction pipeline consists of four steps. </a:t>
            </a:r>
          </a:p>
          <a:p>
            <a:pPr lvl="1" algn="just"/>
            <a:r>
              <a:rPr lang="en-US" sz="2800" dirty="0"/>
              <a:t>The first three steps are NLP techniques, and then we store the results of the NLP techniques into a </a:t>
            </a:r>
            <a:r>
              <a:rPr lang="en-US" sz="2800" u="sng" dirty="0">
                <a:hlinkClick r:id="rId2"/>
              </a:rPr>
              <a:t>opens in new </a:t>
            </a:r>
            <a:r>
              <a:rPr lang="en-US" sz="2800" u="sng" dirty="0" err="1">
                <a:hlinkClick r:id="rId2"/>
              </a:rPr>
              <a:t>tabgraph</a:t>
            </a:r>
            <a:r>
              <a:rPr lang="en-US" sz="2800" u="sng" dirty="0">
                <a:hlinkClick r:id="rId2"/>
              </a:rPr>
              <a:t> database</a:t>
            </a:r>
            <a:r>
              <a:rPr lang="en-US" sz="2800" dirty="0"/>
              <a:t>. </a:t>
            </a:r>
          </a:p>
          <a:p>
            <a:pPr lvl="1" algn="just"/>
            <a:r>
              <a:rPr lang="en-US" sz="2800" dirty="0"/>
              <a:t>Constructing a knowledge graph is important because there is a wealth of information generated every day. Businesses have emails or PDFs with large amounts of text generated in addition to relevant texts available on the internet, including photos and scrape pages. In the future, information extraction pipelines will become more and more relevant.</a:t>
            </a:r>
          </a:p>
          <a:p>
            <a:endParaRPr lang="en-US" dirty="0"/>
          </a:p>
        </p:txBody>
      </p:sp>
    </p:spTree>
    <p:extLst>
      <p:ext uri="{BB962C8B-B14F-4D97-AF65-F5344CB8AC3E}">
        <p14:creationId xmlns:p14="http://schemas.microsoft.com/office/powerpoint/2010/main" val="1335450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239D6-79E2-C839-45D9-CA6CEC023624}"/>
              </a:ext>
            </a:extLst>
          </p:cNvPr>
          <p:cNvSpPr>
            <a:spLocks noGrp="1"/>
          </p:cNvSpPr>
          <p:nvPr>
            <p:ph type="title"/>
          </p:nvPr>
        </p:nvSpPr>
        <p:spPr>
          <a:xfrm>
            <a:off x="1505899" y="152400"/>
            <a:ext cx="9144001" cy="1371600"/>
          </a:xfrm>
        </p:spPr>
        <p:txBody>
          <a:bodyPr/>
          <a:lstStyle/>
          <a:p>
            <a:r>
              <a:rPr lang="en-US" dirty="0"/>
              <a:t>Step 1: Coreference Resolution</a:t>
            </a:r>
            <a:br>
              <a:rPr lang="en-US" dirty="0"/>
            </a:br>
            <a:endParaRPr lang="en-US" dirty="0"/>
          </a:p>
        </p:txBody>
      </p:sp>
      <p:sp>
        <p:nvSpPr>
          <p:cNvPr id="3" name="Content Placeholder 2">
            <a:extLst>
              <a:ext uri="{FF2B5EF4-FFF2-40B4-BE49-F238E27FC236}">
                <a16:creationId xmlns:a16="http://schemas.microsoft.com/office/drawing/2014/main" id="{1E77FC5F-EE3C-5688-2A95-D0D688863EE6}"/>
              </a:ext>
            </a:extLst>
          </p:cNvPr>
          <p:cNvSpPr>
            <a:spLocks noGrp="1"/>
          </p:cNvSpPr>
          <p:nvPr>
            <p:ph idx="1"/>
          </p:nvPr>
        </p:nvSpPr>
        <p:spPr>
          <a:xfrm>
            <a:off x="912812" y="1447799"/>
            <a:ext cx="10363200" cy="1981201"/>
          </a:xfrm>
        </p:spPr>
        <p:txBody>
          <a:bodyPr>
            <a:noAutofit/>
          </a:bodyPr>
          <a:lstStyle/>
          <a:p>
            <a:pPr algn="just"/>
            <a:r>
              <a:rPr lang="en-US" sz="2800" dirty="0"/>
              <a:t>The first step is the coreference resolution, which is an NLP language technique that finds all expressions that refer to the same entity in a text. It finds all the pronouns and then replaces those with their reference entities. Pronouns can be personal, location, or possessive. Here’s a simple example.</a:t>
            </a:r>
          </a:p>
        </p:txBody>
      </p:sp>
      <p:pic>
        <p:nvPicPr>
          <p:cNvPr id="3074" name="Picture 2">
            <a:extLst>
              <a:ext uri="{FF2B5EF4-FFF2-40B4-BE49-F238E27FC236}">
                <a16:creationId xmlns:a16="http://schemas.microsoft.com/office/drawing/2014/main" id="{321B9249-2858-C4B2-CF8E-2CF2901121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012" y="3733800"/>
            <a:ext cx="10858500" cy="2533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5608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63233-C52C-1652-61ED-E6D0ACE4A529}"/>
              </a:ext>
            </a:extLst>
          </p:cNvPr>
          <p:cNvSpPr>
            <a:spLocks noGrp="1"/>
          </p:cNvSpPr>
          <p:nvPr>
            <p:ph type="title"/>
          </p:nvPr>
        </p:nvSpPr>
        <p:spPr/>
        <p:txBody>
          <a:bodyPr/>
          <a:lstStyle/>
          <a:p>
            <a:r>
              <a:rPr lang="en-US" dirty="0" err="1"/>
              <a:t>explaination</a:t>
            </a:r>
            <a:endParaRPr lang="en-US" dirty="0"/>
          </a:p>
        </p:txBody>
      </p:sp>
      <p:sp>
        <p:nvSpPr>
          <p:cNvPr id="3" name="Content Placeholder 2">
            <a:extLst>
              <a:ext uri="{FF2B5EF4-FFF2-40B4-BE49-F238E27FC236}">
                <a16:creationId xmlns:a16="http://schemas.microsoft.com/office/drawing/2014/main" id="{608E1936-0BF0-EE5F-3BE6-B8D12C8B6B2D}"/>
              </a:ext>
            </a:extLst>
          </p:cNvPr>
          <p:cNvSpPr>
            <a:spLocks noGrp="1"/>
          </p:cNvSpPr>
          <p:nvPr>
            <p:ph idx="1"/>
          </p:nvPr>
        </p:nvSpPr>
        <p:spPr>
          <a:xfrm>
            <a:off x="912812" y="1904999"/>
            <a:ext cx="10439399" cy="4495801"/>
          </a:xfrm>
        </p:spPr>
        <p:txBody>
          <a:bodyPr>
            <a:normAutofit lnSpcReduction="10000"/>
          </a:bodyPr>
          <a:lstStyle/>
          <a:p>
            <a:pPr algn="just"/>
            <a:r>
              <a:rPr lang="en-US" sz="2800" i="1" dirty="0"/>
              <a:t>Elon Musk was born in South Africa.</a:t>
            </a:r>
            <a:r>
              <a:rPr lang="en-US" sz="2800" dirty="0"/>
              <a:t> </a:t>
            </a:r>
            <a:r>
              <a:rPr lang="en-US" sz="2800" i="1" dirty="0"/>
              <a:t>There, he briefly attended classes at the University of Pretoria.</a:t>
            </a:r>
            <a:r>
              <a:rPr lang="en-US" sz="2800" dirty="0"/>
              <a:t> You can see that the first sentence doesn’t have any pronouns, but the second sentence has two pronouns, one locational and one personal. The ideal result of the coreference resolution model would be an output that replaces </a:t>
            </a:r>
            <a:r>
              <a:rPr lang="en-US" sz="2800" i="1" dirty="0"/>
              <a:t>There</a:t>
            </a:r>
            <a:r>
              <a:rPr lang="en-US" sz="2800" dirty="0"/>
              <a:t> with </a:t>
            </a:r>
            <a:r>
              <a:rPr lang="en-US" sz="2800" i="1" dirty="0"/>
              <a:t>South Africa</a:t>
            </a:r>
            <a:r>
              <a:rPr lang="en-US" sz="2800" dirty="0"/>
              <a:t> and replaces </a:t>
            </a:r>
            <a:r>
              <a:rPr lang="en-US" sz="2800" i="1" dirty="0"/>
              <a:t>he</a:t>
            </a:r>
            <a:r>
              <a:rPr lang="en-US" sz="2800" dirty="0"/>
              <a:t> with </a:t>
            </a:r>
            <a:r>
              <a:rPr lang="en-US" sz="2800" i="1" dirty="0"/>
              <a:t>Elon Musk</a:t>
            </a:r>
            <a:r>
              <a:rPr lang="en-US" sz="2800" dirty="0"/>
              <a:t>. We end up with:</a:t>
            </a:r>
            <a:r>
              <a:rPr lang="en-US" sz="2800" i="1" dirty="0"/>
              <a:t> In South Africa, Elon Musk briefly attended classes at the University of Pretoria.</a:t>
            </a:r>
            <a:endParaRPr lang="en-US" sz="2800" dirty="0"/>
          </a:p>
          <a:p>
            <a:pPr algn="just"/>
            <a:r>
              <a:rPr lang="en-US" sz="2800" dirty="0"/>
              <a:t>This might seem really basic, but real-world examples of coreference resolution could get quite complicated. Plus, it is a very important step in the information extraction pipeline.</a:t>
            </a:r>
          </a:p>
          <a:p>
            <a:pPr algn="just"/>
            <a:endParaRPr lang="en-US" sz="2800" dirty="0"/>
          </a:p>
        </p:txBody>
      </p:sp>
    </p:spTree>
    <p:extLst>
      <p:ext uri="{BB962C8B-B14F-4D97-AF65-F5344CB8AC3E}">
        <p14:creationId xmlns:p14="http://schemas.microsoft.com/office/powerpoint/2010/main" val="3223241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9527B-6A04-0BD8-8C66-F0264225F96C}"/>
              </a:ext>
            </a:extLst>
          </p:cNvPr>
          <p:cNvSpPr>
            <a:spLocks noGrp="1"/>
          </p:cNvSpPr>
          <p:nvPr>
            <p:ph type="title"/>
          </p:nvPr>
        </p:nvSpPr>
        <p:spPr>
          <a:xfrm>
            <a:off x="1527913" y="110961"/>
            <a:ext cx="9144001" cy="1371600"/>
          </a:xfrm>
        </p:spPr>
        <p:txBody>
          <a:bodyPr/>
          <a:lstStyle/>
          <a:p>
            <a:r>
              <a:rPr lang="en-US" dirty="0"/>
              <a:t>Step 2: Named Entity Recognition</a:t>
            </a:r>
            <a:br>
              <a:rPr lang="en-US" dirty="0"/>
            </a:br>
            <a:endParaRPr lang="en-US" dirty="0"/>
          </a:p>
        </p:txBody>
      </p:sp>
      <p:sp>
        <p:nvSpPr>
          <p:cNvPr id="3" name="Content Placeholder 2">
            <a:extLst>
              <a:ext uri="{FF2B5EF4-FFF2-40B4-BE49-F238E27FC236}">
                <a16:creationId xmlns:a16="http://schemas.microsoft.com/office/drawing/2014/main" id="{0C5663FA-0DAF-9647-86B4-1E4E21E5E0AA}"/>
              </a:ext>
            </a:extLst>
          </p:cNvPr>
          <p:cNvSpPr>
            <a:spLocks noGrp="1"/>
          </p:cNvSpPr>
          <p:nvPr>
            <p:ph idx="1"/>
          </p:nvPr>
        </p:nvSpPr>
        <p:spPr>
          <a:xfrm>
            <a:off x="912812" y="1219201"/>
            <a:ext cx="10439399" cy="2514600"/>
          </a:xfrm>
        </p:spPr>
        <p:txBody>
          <a:bodyPr>
            <a:normAutofit/>
          </a:bodyPr>
          <a:lstStyle/>
          <a:p>
            <a:pPr algn="just"/>
            <a:r>
              <a:rPr lang="en-US" sz="2800" dirty="0"/>
              <a:t>Once we’ve dealt with the coreference resolution, we move on to named entity recognition, which is a task for recognizing all the mentioned entities in the text. Those entities could be of various types; for example, we could have a person, location, or geopolitical entity.</a:t>
            </a:r>
          </a:p>
        </p:txBody>
      </p:sp>
      <p:pic>
        <p:nvPicPr>
          <p:cNvPr id="4100" name="Picture 4">
            <a:extLst>
              <a:ext uri="{FF2B5EF4-FFF2-40B4-BE49-F238E27FC236}">
                <a16:creationId xmlns:a16="http://schemas.microsoft.com/office/drawing/2014/main" id="{A94B3E9B-3423-3FEE-0F85-7A7BF4A2E9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887" y="3268087"/>
            <a:ext cx="11591925" cy="11525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D493889-B872-0864-658F-401427100B72}"/>
              </a:ext>
            </a:extLst>
          </p:cNvPr>
          <p:cNvSpPr txBox="1"/>
          <p:nvPr/>
        </p:nvSpPr>
        <p:spPr>
          <a:xfrm>
            <a:off x="369887" y="4724401"/>
            <a:ext cx="11591925" cy="1938992"/>
          </a:xfrm>
          <a:prstGeom prst="rect">
            <a:avLst/>
          </a:prstGeom>
          <a:noFill/>
        </p:spPr>
        <p:txBody>
          <a:bodyPr wrap="square">
            <a:spAutoFit/>
          </a:bodyPr>
          <a:lstStyle/>
          <a:p>
            <a:r>
              <a:rPr lang="en-US" sz="2400" b="0" i="0" dirty="0">
                <a:effectLst/>
                <a:latin typeface="Public Sans"/>
              </a:rPr>
              <a:t>We also have organizational entities, which will find the entities that the NLP model is trained on. The training data really depends on the domain or the intended obligations that you’re using your information extraction pipeline for. There are a couple of limitations for named entity recognition. I will just point out the most obvious with the example I’ve shown using Elon Musk in three different sentences.</a:t>
            </a:r>
            <a:endParaRPr lang="en-US" sz="2400" dirty="0"/>
          </a:p>
        </p:txBody>
      </p:sp>
    </p:spTree>
    <p:extLst>
      <p:ext uri="{BB962C8B-B14F-4D97-AF65-F5344CB8AC3E}">
        <p14:creationId xmlns:p14="http://schemas.microsoft.com/office/powerpoint/2010/main" val="1107368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AD4D512A-016A-5125-C0CE-FF6C2C2BCB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012" y="609600"/>
            <a:ext cx="11734800" cy="12858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D11CBE2-370C-182C-CBFD-1C474EFFEDA5}"/>
              </a:ext>
            </a:extLst>
          </p:cNvPr>
          <p:cNvSpPr txBox="1"/>
          <p:nvPr/>
        </p:nvSpPr>
        <p:spPr>
          <a:xfrm>
            <a:off x="379412" y="2057400"/>
            <a:ext cx="11277600" cy="4524315"/>
          </a:xfrm>
          <a:prstGeom prst="rect">
            <a:avLst/>
          </a:prstGeom>
          <a:noFill/>
        </p:spPr>
        <p:txBody>
          <a:bodyPr wrap="square">
            <a:spAutoFit/>
          </a:bodyPr>
          <a:lstStyle/>
          <a:p>
            <a:pPr algn="just">
              <a:buNone/>
            </a:pPr>
            <a:r>
              <a:rPr lang="en-US" sz="2400" b="0" i="0" dirty="0">
                <a:effectLst/>
                <a:latin typeface="Public Sans"/>
              </a:rPr>
              <a:t>The first sentence uses Elon Musk’s full name, and the second time, he’s mentioned as Mr. Musk. In the third sentence, he’s mentioned as Elon. In an output knowledge graph, we ideally want a single real-world entity to be represented with a single node. We really don’t want to have three different nodes representing the same entity as you would have here. Remember, the named entity recognition order depends on the domain of the intended application. Most of today’s open-sourced models are based on different types of texts. For example, if you wanted to analyze biomedical text and extract biomedical concepts, like genes, drugs, or diseases, then you would need to use a different NLP model that was trained to extract biomedical concepts.</a:t>
            </a:r>
          </a:p>
          <a:p>
            <a:pPr algn="just">
              <a:buNone/>
            </a:pPr>
            <a:r>
              <a:rPr lang="en-US" sz="2400" b="0" i="0" dirty="0">
                <a:effectLst/>
                <a:latin typeface="Public Sans"/>
              </a:rPr>
              <a:t>No model is 100% accurate. Even when I was preparing this example, if in the third sentence, I started the sentence with </a:t>
            </a:r>
            <a:r>
              <a:rPr lang="en-US" sz="2400" b="0" i="1" dirty="0">
                <a:effectLst/>
                <a:latin typeface="Public Sans"/>
              </a:rPr>
              <a:t>Elon</a:t>
            </a:r>
            <a:r>
              <a:rPr lang="en-US" sz="2400" b="0" i="0" dirty="0">
                <a:effectLst/>
                <a:latin typeface="Public Sans"/>
              </a:rPr>
              <a:t> to say </a:t>
            </a:r>
            <a:r>
              <a:rPr lang="en-US" sz="2400" b="0" i="1" dirty="0">
                <a:effectLst/>
                <a:latin typeface="Public Sans"/>
              </a:rPr>
              <a:t>Elon’s favorite lessons were engineering,</a:t>
            </a:r>
            <a:r>
              <a:rPr lang="en-US" sz="2400" b="0" i="0" dirty="0">
                <a:effectLst/>
                <a:latin typeface="Public Sans"/>
              </a:rPr>
              <a:t> then </a:t>
            </a:r>
            <a:r>
              <a:rPr lang="en-US" sz="2400" b="0" i="1" dirty="0">
                <a:effectLst/>
                <a:latin typeface="Public Sans"/>
              </a:rPr>
              <a:t>Elon</a:t>
            </a:r>
            <a:r>
              <a:rPr lang="en-US" sz="2400" b="0" i="0" dirty="0">
                <a:effectLst/>
                <a:latin typeface="Public Sans"/>
              </a:rPr>
              <a:t> was not recognized as a person in the spacing model.</a:t>
            </a:r>
          </a:p>
        </p:txBody>
      </p:sp>
    </p:spTree>
    <p:extLst>
      <p:ext uri="{BB962C8B-B14F-4D97-AF65-F5344CB8AC3E}">
        <p14:creationId xmlns:p14="http://schemas.microsoft.com/office/powerpoint/2010/main" val="3136338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5DC43-87E9-B355-B1ED-4A2BFF0B3456}"/>
              </a:ext>
            </a:extLst>
          </p:cNvPr>
          <p:cNvSpPr>
            <a:spLocks noGrp="1"/>
          </p:cNvSpPr>
          <p:nvPr>
            <p:ph type="title"/>
          </p:nvPr>
        </p:nvSpPr>
        <p:spPr>
          <a:xfrm>
            <a:off x="1522413" y="381000"/>
            <a:ext cx="9144001" cy="914400"/>
          </a:xfrm>
        </p:spPr>
        <p:txBody>
          <a:bodyPr/>
          <a:lstStyle/>
          <a:p>
            <a:r>
              <a:rPr lang="en-US" b="1" dirty="0"/>
              <a:t>Entity Disambiguation and Entity Linking</a:t>
            </a:r>
            <a:endParaRPr lang="en-US" dirty="0"/>
          </a:p>
        </p:txBody>
      </p:sp>
      <p:sp>
        <p:nvSpPr>
          <p:cNvPr id="3" name="Content Placeholder 2">
            <a:extLst>
              <a:ext uri="{FF2B5EF4-FFF2-40B4-BE49-F238E27FC236}">
                <a16:creationId xmlns:a16="http://schemas.microsoft.com/office/drawing/2014/main" id="{C0D3334E-3FF4-EAED-F117-61C112DF0D8E}"/>
              </a:ext>
            </a:extLst>
          </p:cNvPr>
          <p:cNvSpPr>
            <a:spLocks noGrp="1"/>
          </p:cNvSpPr>
          <p:nvPr>
            <p:ph idx="1"/>
          </p:nvPr>
        </p:nvSpPr>
        <p:spPr>
          <a:xfrm>
            <a:off x="455612" y="1455421"/>
            <a:ext cx="11277600" cy="2518410"/>
          </a:xfrm>
        </p:spPr>
        <p:txBody>
          <a:bodyPr/>
          <a:lstStyle/>
          <a:p>
            <a:r>
              <a:rPr lang="en-US" dirty="0"/>
              <a:t>How could we solve the entity disambiguation so that a single real-world entity would be represented as a single node in a knowledge graph? The answer is entity linking. To go from name entity recognition to name entity linking means that we aggregate the name entity recognition to first recognize all the entities, and then map those entities to a target knowledge base. Very frequently, that target knowledge base is Wikipedia. In essence, you recognize the name entity linking model as entities in the text, and then link them to a Wikipedia ID.</a:t>
            </a:r>
          </a:p>
        </p:txBody>
      </p:sp>
      <p:pic>
        <p:nvPicPr>
          <p:cNvPr id="6146" name="Picture 2">
            <a:extLst>
              <a:ext uri="{FF2B5EF4-FFF2-40B4-BE49-F238E27FC236}">
                <a16:creationId xmlns:a16="http://schemas.microsoft.com/office/drawing/2014/main" id="{EEE2C116-A194-6057-E4E4-F8E829795F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300" y="4329113"/>
            <a:ext cx="11820525" cy="1552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7035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387935-E6DF-C50C-0411-74F2D5B73152}"/>
              </a:ext>
            </a:extLst>
          </p:cNvPr>
          <p:cNvSpPr>
            <a:spLocks noGrp="1"/>
          </p:cNvSpPr>
          <p:nvPr>
            <p:ph idx="1"/>
          </p:nvPr>
        </p:nvSpPr>
        <p:spPr>
          <a:xfrm>
            <a:off x="608012" y="533401"/>
            <a:ext cx="11048999" cy="5486400"/>
          </a:xfrm>
        </p:spPr>
        <p:txBody>
          <a:bodyPr>
            <a:normAutofit fontScale="92500"/>
          </a:bodyPr>
          <a:lstStyle/>
          <a:p>
            <a:r>
              <a:rPr lang="en-US" dirty="0"/>
              <a:t>Here you can see that I’ve added Wikipedia ID for all the entities. Ideally, the result would be that even though we have three different titles of texts for Elon Musk, they would all link to the same entity on Wikipedia. We could use that Wikipedia ID as identities for nodes in our knowledge graph, and we would end up with a single node in our knowledge graph.</a:t>
            </a:r>
          </a:p>
          <a:p>
            <a:r>
              <a:rPr lang="en-US" dirty="0"/>
              <a:t>This process is so common that linking entities to Wikipedia is actually called “</a:t>
            </a:r>
            <a:r>
              <a:rPr lang="en-US" dirty="0" err="1"/>
              <a:t>wikification</a:t>
            </a:r>
            <a:r>
              <a:rPr lang="en-US" dirty="0"/>
              <a:t>”. The plus side is we don’t have to worry about which text record is correct because here we have three different text records that refer to the same entity. We could just use the Wikipedia ID and then use the different texts and names, and link them all back to the entity name on Wikipedia.</a:t>
            </a:r>
          </a:p>
          <a:p>
            <a:r>
              <a:rPr lang="en-US" dirty="0"/>
              <a:t>Whilst we have Wikipedia IDs for the entities, we can also use Wikipedia to enrich our knowledge graph. You could combine the information that you get from the information extraction pipeline with online information available on Wikipedia, and use that to create a more full knowledge graph, starting with NLP techniques. Some of you might say that Wikipedia is not the most accurate source, but Google uses Wikipedia extensively. So I say, if it’s good enough for Google, it’s good enough for me.</a:t>
            </a:r>
          </a:p>
        </p:txBody>
      </p:sp>
    </p:spTree>
    <p:extLst>
      <p:ext uri="{BB962C8B-B14F-4D97-AF65-F5344CB8AC3E}">
        <p14:creationId xmlns:p14="http://schemas.microsoft.com/office/powerpoint/2010/main" val="4125361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C5AE5-5E57-C880-0AB5-B9B5C5D76AB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E2AC266-6302-48FE-48CF-214182D35709}"/>
              </a:ext>
            </a:extLst>
          </p:cNvPr>
          <p:cNvSpPr>
            <a:spLocks noGrp="1"/>
          </p:cNvSpPr>
          <p:nvPr>
            <p:ph idx="1"/>
          </p:nvPr>
        </p:nvSpPr>
        <p:spPr/>
        <p:txBody>
          <a:bodyPr>
            <a:normAutofit lnSpcReduction="10000"/>
          </a:bodyPr>
          <a:lstStyle/>
          <a:p>
            <a:r>
              <a:rPr lang="en-US" dirty="0"/>
              <a:t>Knowledge </a:t>
            </a:r>
            <a:r>
              <a:rPr lang="en-US" dirty="0" err="1"/>
              <a:t>Grpah</a:t>
            </a:r>
            <a:r>
              <a:rPr lang="en-US" dirty="0"/>
              <a:t> using Traditional NLP Approach (</a:t>
            </a:r>
            <a:r>
              <a:rPr lang="en-US" dirty="0" err="1"/>
              <a:t>spaCy</a:t>
            </a:r>
            <a:r>
              <a:rPr lang="en-US" dirty="0"/>
              <a:t> + </a:t>
            </a:r>
            <a:r>
              <a:rPr lang="en-US" dirty="0" err="1"/>
              <a:t>NetworkX</a:t>
            </a:r>
            <a:r>
              <a:rPr lang="en-US" dirty="0"/>
              <a:t>).</a:t>
            </a:r>
            <a:r>
              <a:rPr lang="en-US" dirty="0" err="1"/>
              <a:t>ipynb</a:t>
            </a:r>
            <a:endParaRPr lang="en-US" dirty="0"/>
          </a:p>
          <a:p>
            <a:endParaRPr lang="en-US" dirty="0"/>
          </a:p>
          <a:p>
            <a:r>
              <a:rPr lang="en-US" dirty="0"/>
              <a:t>Knowledge graph of </a:t>
            </a:r>
            <a:r>
              <a:rPr lang="en-US" dirty="0" err="1"/>
              <a:t>wikipedia.ipynb</a:t>
            </a:r>
            <a:endParaRPr lang="en-US" dirty="0"/>
          </a:p>
          <a:p>
            <a:endParaRPr lang="en-US" dirty="0"/>
          </a:p>
          <a:p>
            <a:r>
              <a:rPr lang="en-US" dirty="0" err="1"/>
              <a:t>llmgraph_example.ipynb</a:t>
            </a:r>
            <a:endParaRPr lang="en-US" dirty="0"/>
          </a:p>
          <a:p>
            <a:r>
              <a:rPr lang="en-US" dirty="0"/>
              <a:t>https://www.analyticsvidhya.com/blog/2019/10/how-to-build-knowledge-graph-text-using-spacy/</a:t>
            </a:r>
          </a:p>
          <a:p>
            <a:r>
              <a:rPr lang="en-US" dirty="0">
                <a:hlinkClick r:id="rId2"/>
              </a:rPr>
              <a:t>https://github.com/dylanhogg/llmgraph</a:t>
            </a:r>
            <a:endParaRPr lang="en-US" dirty="0"/>
          </a:p>
          <a:p>
            <a:endParaRPr lang="en-US" dirty="0"/>
          </a:p>
        </p:txBody>
      </p:sp>
    </p:spTree>
    <p:extLst>
      <p:ext uri="{BB962C8B-B14F-4D97-AF65-F5344CB8AC3E}">
        <p14:creationId xmlns:p14="http://schemas.microsoft.com/office/powerpoint/2010/main" val="3875897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D1163-362C-CEAF-4CE4-784B1D9E4B90}"/>
              </a:ext>
            </a:extLst>
          </p:cNvPr>
          <p:cNvSpPr>
            <a:spLocks noGrp="1"/>
          </p:cNvSpPr>
          <p:nvPr>
            <p:ph type="title"/>
          </p:nvPr>
        </p:nvSpPr>
        <p:spPr>
          <a:xfrm>
            <a:off x="1522413" y="381000"/>
            <a:ext cx="9144001" cy="1066800"/>
          </a:xfrm>
        </p:spPr>
        <p:txBody>
          <a:bodyPr anchor="b">
            <a:normAutofit/>
          </a:bodyPr>
          <a:lstStyle/>
          <a:p>
            <a:r>
              <a:rPr lang="en-US" b="1" dirty="0"/>
              <a:t>Co-Occurrence Graphs</a:t>
            </a:r>
            <a:endParaRPr lang="en-US" dirty="0"/>
          </a:p>
        </p:txBody>
      </p:sp>
      <p:sp>
        <p:nvSpPr>
          <p:cNvPr id="3" name="Content Placeholder 2">
            <a:extLst>
              <a:ext uri="{FF2B5EF4-FFF2-40B4-BE49-F238E27FC236}">
                <a16:creationId xmlns:a16="http://schemas.microsoft.com/office/drawing/2014/main" id="{090E1BED-47EA-E406-DA66-EC65002A38F7}"/>
              </a:ext>
            </a:extLst>
          </p:cNvPr>
          <p:cNvSpPr>
            <a:spLocks noGrp="1"/>
          </p:cNvSpPr>
          <p:nvPr>
            <p:ph sz="half" idx="1"/>
          </p:nvPr>
        </p:nvSpPr>
        <p:spPr>
          <a:xfrm>
            <a:off x="1141412" y="1676400"/>
            <a:ext cx="4419599" cy="4114800"/>
          </a:xfrm>
        </p:spPr>
        <p:txBody>
          <a:bodyPr>
            <a:normAutofit/>
          </a:bodyPr>
          <a:lstStyle/>
          <a:p>
            <a:r>
              <a:rPr lang="en-US" dirty="0"/>
              <a:t>Co-occurrence networks for graphs are basically when you’re inferring relationships between a pair of entities based on their presence within a specified unit of text.</a:t>
            </a:r>
          </a:p>
        </p:txBody>
      </p:sp>
      <p:pic>
        <p:nvPicPr>
          <p:cNvPr id="7170" name="Picture 2">
            <a:extLst>
              <a:ext uri="{FF2B5EF4-FFF2-40B4-BE49-F238E27FC236}">
                <a16:creationId xmlns:a16="http://schemas.microsoft.com/office/drawing/2014/main" id="{DE0D8513-BA76-7233-55B4-77904A5027A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713411" y="1905000"/>
            <a:ext cx="6154615" cy="3200400"/>
          </a:xfrm>
          <a:prstGeom prst="rect">
            <a:avLst/>
          </a:prstGeom>
          <a:solidFill>
            <a:srgbClr val="FFFFFF"/>
          </a:solidFill>
        </p:spPr>
      </p:pic>
    </p:spTree>
    <p:extLst>
      <p:ext uri="{BB962C8B-B14F-4D97-AF65-F5344CB8AC3E}">
        <p14:creationId xmlns:p14="http://schemas.microsoft.com/office/powerpoint/2010/main" val="478100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EA6CE-9F4D-94F8-D001-42024764D0A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49243D7-77D8-1794-0049-6E64BD758AB2}"/>
              </a:ext>
            </a:extLst>
          </p:cNvPr>
          <p:cNvSpPr>
            <a:spLocks noGrp="1"/>
          </p:cNvSpPr>
          <p:nvPr>
            <p:ph idx="1"/>
          </p:nvPr>
        </p:nvSpPr>
        <p:spPr/>
        <p:txBody>
          <a:bodyPr/>
          <a:lstStyle/>
          <a:p>
            <a:r>
              <a:rPr lang="en-US" dirty="0"/>
              <a:t>For example, we could say that if two entities co-occur or are present in the same sentence, that they are somehow related. We don’t really know how, but we know that they are somehow related because they appeared in the same sentence. Here you can also see that the coreference resolution is quite important; if we split the specified unit of text into a sentence and don’t use coreference resolution here in the second sentence, we’ll have a single entity with two pronouns. That would lead to our information extraction not being full, but we can avoid this by using coreference resolution.</a:t>
            </a:r>
          </a:p>
        </p:txBody>
      </p:sp>
    </p:spTree>
    <p:extLst>
      <p:ext uri="{BB962C8B-B14F-4D97-AF65-F5344CB8AC3E}">
        <p14:creationId xmlns:p14="http://schemas.microsoft.com/office/powerpoint/2010/main" val="4110131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3A578-8E74-B6F2-0524-6FC5D7A9B304}"/>
              </a:ext>
            </a:extLst>
          </p:cNvPr>
          <p:cNvSpPr>
            <a:spLocks noGrp="1"/>
          </p:cNvSpPr>
          <p:nvPr>
            <p:ph type="title"/>
          </p:nvPr>
        </p:nvSpPr>
        <p:spPr/>
        <p:txBody>
          <a:bodyPr/>
          <a:lstStyle/>
          <a:p>
            <a:r>
              <a:rPr lang="en-US" dirty="0"/>
              <a:t>Step 3: Relationship Extraction</a:t>
            </a:r>
            <a:br>
              <a:rPr lang="en-US" dirty="0"/>
            </a:br>
            <a:endParaRPr lang="en-US" dirty="0"/>
          </a:p>
        </p:txBody>
      </p:sp>
      <p:sp>
        <p:nvSpPr>
          <p:cNvPr id="3" name="Content Placeholder 2">
            <a:extLst>
              <a:ext uri="{FF2B5EF4-FFF2-40B4-BE49-F238E27FC236}">
                <a16:creationId xmlns:a16="http://schemas.microsoft.com/office/drawing/2014/main" id="{1322A02D-30C6-AAE4-44A3-7D82BA3F5498}"/>
              </a:ext>
            </a:extLst>
          </p:cNvPr>
          <p:cNvSpPr>
            <a:spLocks noGrp="1"/>
          </p:cNvSpPr>
          <p:nvPr>
            <p:ph idx="1"/>
          </p:nvPr>
        </p:nvSpPr>
        <p:spPr>
          <a:xfrm>
            <a:off x="1522413" y="1904999"/>
            <a:ext cx="9134391" cy="1752601"/>
          </a:xfrm>
        </p:spPr>
        <p:txBody>
          <a:bodyPr/>
          <a:lstStyle/>
          <a:p>
            <a:r>
              <a:rPr lang="en-US" dirty="0"/>
              <a:t>What if we want to extract semantic relationships from text and don’t just want a generic relationship between them, where they all just co-occur? We want to define a semantic type to the relationship between a pair of entities.</a:t>
            </a:r>
          </a:p>
        </p:txBody>
      </p:sp>
      <p:pic>
        <p:nvPicPr>
          <p:cNvPr id="8194" name="Picture 2">
            <a:extLst>
              <a:ext uri="{FF2B5EF4-FFF2-40B4-BE49-F238E27FC236}">
                <a16:creationId xmlns:a16="http://schemas.microsoft.com/office/drawing/2014/main" id="{1BCB23D2-ABE4-E3B8-179B-2C01C617F8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4812" y="3790949"/>
            <a:ext cx="7038975" cy="212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3274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13A2A-6A62-8C84-1AD6-A4754C2261C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0E130FE-C0EC-8A0B-65FB-BCF782E9DE86}"/>
              </a:ext>
            </a:extLst>
          </p:cNvPr>
          <p:cNvSpPr>
            <a:spLocks noGrp="1"/>
          </p:cNvSpPr>
          <p:nvPr>
            <p:ph idx="1"/>
          </p:nvPr>
        </p:nvSpPr>
        <p:spPr/>
        <p:txBody>
          <a:bodyPr/>
          <a:lstStyle/>
          <a:p>
            <a:r>
              <a:rPr lang="en-US" dirty="0"/>
              <a:t>The relationships are usually categorized for the readability of your narrative. There are two different approaches to categorizing relationships between pairs of entities. One approach is the rule based relationship extraction, where you use grammatical dependencies of the texts to extract relationships. The second approach is to train an NLP model to extract relationships between a pair of entities. First, we’ll take a look at rule-based relationship extraction.</a:t>
            </a:r>
          </a:p>
        </p:txBody>
      </p:sp>
    </p:spTree>
    <p:extLst>
      <p:ext uri="{BB962C8B-B14F-4D97-AF65-F5344CB8AC3E}">
        <p14:creationId xmlns:p14="http://schemas.microsoft.com/office/powerpoint/2010/main" val="2452420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B90B3-CF97-E140-38A2-AC796B607507}"/>
              </a:ext>
            </a:extLst>
          </p:cNvPr>
          <p:cNvSpPr>
            <a:spLocks noGrp="1"/>
          </p:cNvSpPr>
          <p:nvPr>
            <p:ph type="title"/>
          </p:nvPr>
        </p:nvSpPr>
        <p:spPr/>
        <p:txBody>
          <a:bodyPr/>
          <a:lstStyle/>
          <a:p>
            <a:r>
              <a:rPr lang="en-US" b="1" dirty="0"/>
              <a:t>Rule-Based Relationship Extraction</a:t>
            </a:r>
            <a:endParaRPr lang="en-US" dirty="0"/>
          </a:p>
        </p:txBody>
      </p:sp>
      <p:sp>
        <p:nvSpPr>
          <p:cNvPr id="3" name="Content Placeholder 2">
            <a:extLst>
              <a:ext uri="{FF2B5EF4-FFF2-40B4-BE49-F238E27FC236}">
                <a16:creationId xmlns:a16="http://schemas.microsoft.com/office/drawing/2014/main" id="{760240C6-5167-1F15-2C98-9F73D5015234}"/>
              </a:ext>
            </a:extLst>
          </p:cNvPr>
          <p:cNvSpPr>
            <a:spLocks noGrp="1"/>
          </p:cNvSpPr>
          <p:nvPr>
            <p:ph idx="1"/>
          </p:nvPr>
        </p:nvSpPr>
        <p:spPr>
          <a:xfrm>
            <a:off x="608012" y="1904999"/>
            <a:ext cx="11048999" cy="1752601"/>
          </a:xfrm>
        </p:spPr>
        <p:txBody>
          <a:bodyPr/>
          <a:lstStyle/>
          <a:p>
            <a:r>
              <a:rPr lang="en-US" dirty="0"/>
              <a:t>I’ve used spacing to visualize the grammatical dependencies of the sentence, </a:t>
            </a:r>
            <a:r>
              <a:rPr lang="en-US" i="1" dirty="0"/>
              <a:t>Elon Musk was born in South Africa.</a:t>
            </a:r>
            <a:r>
              <a:rPr lang="en-US" dirty="0"/>
              <a:t> RDF (Resource Description Framework) graphs use a data selection tree post, where they have a subject, verb, predicate, and object. The predicate is the relationship between the two entities.</a:t>
            </a:r>
          </a:p>
        </p:txBody>
      </p:sp>
      <p:pic>
        <p:nvPicPr>
          <p:cNvPr id="9218" name="Picture 2">
            <a:extLst>
              <a:ext uri="{FF2B5EF4-FFF2-40B4-BE49-F238E27FC236}">
                <a16:creationId xmlns:a16="http://schemas.microsoft.com/office/drawing/2014/main" id="{61E942F6-58EC-1C41-8476-14EBD73FBF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636" y="3276600"/>
            <a:ext cx="10953750" cy="3419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848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C378-78B4-4C14-E833-C22E4ECCA1C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4825C97-7C2A-B5EC-07E4-47D108BBA166}"/>
              </a:ext>
            </a:extLst>
          </p:cNvPr>
          <p:cNvSpPr>
            <a:spLocks noGrp="1"/>
          </p:cNvSpPr>
          <p:nvPr>
            <p:ph idx="1"/>
          </p:nvPr>
        </p:nvSpPr>
        <p:spPr/>
        <p:txBody>
          <a:bodyPr>
            <a:normAutofit fontScale="92500" lnSpcReduction="10000"/>
          </a:bodyPr>
          <a:lstStyle/>
          <a:p>
            <a:r>
              <a:rPr lang="en-US" dirty="0"/>
              <a:t>As you can see in the image above, we have the verb in the middle, and the subject is Elon Musk. The object is South Africa. We can infer that Elon Musk was born in South Africa instead of just having a co-occurrence generic relationship between them. There are some pros and cons to this. You’re not really doing any semantic categorization of your relationships because you’re just taking the verb, which has the time component, meaning it could be present, future, or past tense. This may or may not be a good idea to have in a knowledge graph . There could be synonyms of verbs that have different relationship types with similar, identical semantic values.</a:t>
            </a:r>
          </a:p>
          <a:p>
            <a:r>
              <a:rPr lang="en-US" dirty="0"/>
              <a:t>My suggestion would be that if you use the rule-based relation extraction, then you also should do some post-processing of the verbs and try to fill them into some semantic categories. This way you don’t end up with so many relationship types. For example, you could use synonyms to drop some verbs into the same category.</a:t>
            </a:r>
          </a:p>
          <a:p>
            <a:endParaRPr lang="en-US" dirty="0"/>
          </a:p>
        </p:txBody>
      </p:sp>
    </p:spTree>
    <p:extLst>
      <p:ext uri="{BB962C8B-B14F-4D97-AF65-F5344CB8AC3E}">
        <p14:creationId xmlns:p14="http://schemas.microsoft.com/office/powerpoint/2010/main" val="2539707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A1967-A100-D207-2917-19C2D203C765}"/>
              </a:ext>
            </a:extLst>
          </p:cNvPr>
          <p:cNvSpPr>
            <a:spLocks noGrp="1"/>
          </p:cNvSpPr>
          <p:nvPr>
            <p:ph type="title"/>
          </p:nvPr>
        </p:nvSpPr>
        <p:spPr/>
        <p:txBody>
          <a:bodyPr/>
          <a:lstStyle/>
          <a:p>
            <a:r>
              <a:rPr lang="en-US" b="1" dirty="0"/>
              <a:t>NLP Model Based Relationship Extraction</a:t>
            </a:r>
            <a:endParaRPr lang="en-US" dirty="0"/>
          </a:p>
        </p:txBody>
      </p:sp>
      <p:sp>
        <p:nvSpPr>
          <p:cNvPr id="3" name="Content Placeholder 2">
            <a:extLst>
              <a:ext uri="{FF2B5EF4-FFF2-40B4-BE49-F238E27FC236}">
                <a16:creationId xmlns:a16="http://schemas.microsoft.com/office/drawing/2014/main" id="{78F83BC7-D40B-2694-F562-50989F822990}"/>
              </a:ext>
            </a:extLst>
          </p:cNvPr>
          <p:cNvSpPr>
            <a:spLocks noGrp="1"/>
          </p:cNvSpPr>
          <p:nvPr>
            <p:ph idx="1"/>
          </p:nvPr>
        </p:nvSpPr>
        <p:spPr/>
        <p:txBody>
          <a:bodyPr/>
          <a:lstStyle/>
          <a:p>
            <a:r>
              <a:rPr lang="en-US" dirty="0"/>
              <a:t>The other approach that applies to relation extraction is using an NLP model again. You have to train your NLP model to infer the relations between pairs of entities, and the types of relationships that I would infer depend on the training data that is used to train the model. For example, if you’re analyzing news articles, you want to have a different model than if you are analyzing biomedical articles. </a:t>
            </a:r>
            <a:r>
              <a:rPr lang="en-US" u="sng" dirty="0">
                <a:hlinkClick r:id="rId2"/>
              </a:rPr>
              <a:t>opens in new </a:t>
            </a:r>
            <a:r>
              <a:rPr lang="en-US" u="sng" dirty="0" err="1">
                <a:hlinkClick r:id="rId2"/>
              </a:rPr>
              <a:t>tabTACRED</a:t>
            </a:r>
            <a:r>
              <a:rPr lang="en-US" dirty="0"/>
              <a:t> is a dataset made available by Stanford, and then there is the Wiki80 dataset, which we’ll now take a closer look at.</a:t>
            </a:r>
          </a:p>
        </p:txBody>
      </p:sp>
    </p:spTree>
    <p:extLst>
      <p:ext uri="{BB962C8B-B14F-4D97-AF65-F5344CB8AC3E}">
        <p14:creationId xmlns:p14="http://schemas.microsoft.com/office/powerpoint/2010/main" val="1423771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83F0-DD94-662A-1416-1B9FE2516EA8}"/>
              </a:ext>
            </a:extLst>
          </p:cNvPr>
          <p:cNvSpPr>
            <a:spLocks noGrp="1"/>
          </p:cNvSpPr>
          <p:nvPr>
            <p:ph type="title"/>
          </p:nvPr>
        </p:nvSpPr>
        <p:spPr/>
        <p:txBody>
          <a:bodyPr/>
          <a:lstStyle/>
          <a:p>
            <a:r>
              <a:rPr lang="en-US" b="1" dirty="0"/>
              <a:t>Training Your NLP Model Using Wiki80</a:t>
            </a:r>
            <a:endParaRPr lang="en-US" dirty="0"/>
          </a:p>
        </p:txBody>
      </p:sp>
      <p:sp>
        <p:nvSpPr>
          <p:cNvPr id="3" name="Content Placeholder 2">
            <a:extLst>
              <a:ext uri="{FF2B5EF4-FFF2-40B4-BE49-F238E27FC236}">
                <a16:creationId xmlns:a16="http://schemas.microsoft.com/office/drawing/2014/main" id="{4402E568-1080-4C52-8251-0E6FE87048FC}"/>
              </a:ext>
            </a:extLst>
          </p:cNvPr>
          <p:cNvSpPr>
            <a:spLocks noGrp="1"/>
          </p:cNvSpPr>
          <p:nvPr>
            <p:ph idx="1"/>
          </p:nvPr>
        </p:nvSpPr>
        <p:spPr/>
        <p:txBody>
          <a:bodyPr/>
          <a:lstStyle/>
          <a:p>
            <a:r>
              <a:rPr lang="en-US" dirty="0"/>
              <a:t>The Wiki80 training dataset contains 80 different relationship packs. The same semantic categories of relationships used on Wikipedia are also used in the training data. For me, it’s really interesting to see that if you use Wikipedia as the target database for entity linking, you’re using the Wiki80 training dataset. You can further train the relationships that fall to the Wikipedia ontology between pairs of entities. If you do this, you’re actually constructing a long mini Wikipedia-like knowledge graph. I find that quite awesome!</a:t>
            </a:r>
          </a:p>
        </p:txBody>
      </p:sp>
    </p:spTree>
    <p:extLst>
      <p:ext uri="{BB962C8B-B14F-4D97-AF65-F5344CB8AC3E}">
        <p14:creationId xmlns:p14="http://schemas.microsoft.com/office/powerpoint/2010/main" val="3677511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A4E0B-2588-2025-9BAE-04091EC6D97F}"/>
              </a:ext>
            </a:extLst>
          </p:cNvPr>
          <p:cNvSpPr>
            <a:spLocks noGrp="1"/>
          </p:cNvSpPr>
          <p:nvPr>
            <p:ph type="title"/>
          </p:nvPr>
        </p:nvSpPr>
        <p:spPr>
          <a:xfrm>
            <a:off x="1055604" y="1905000"/>
            <a:ext cx="3596607" cy="2667000"/>
          </a:xfrm>
        </p:spPr>
        <p:txBody>
          <a:bodyPr anchor="b">
            <a:normAutofit/>
          </a:bodyPr>
          <a:lstStyle/>
          <a:p>
            <a:r>
              <a:rPr lang="en-US" b="1" dirty="0"/>
              <a:t>Real World Example: Drug Repurposing</a:t>
            </a:r>
            <a:endParaRPr lang="en-US" dirty="0"/>
          </a:p>
        </p:txBody>
      </p:sp>
      <p:sp>
        <p:nvSpPr>
          <p:cNvPr id="10247" name="Text Placeholder 2">
            <a:extLst>
              <a:ext uri="{FF2B5EF4-FFF2-40B4-BE49-F238E27FC236}">
                <a16:creationId xmlns:a16="http://schemas.microsoft.com/office/drawing/2014/main" id="{6728FD52-014F-FD9D-3DDC-9DC8F78EC675}"/>
              </a:ext>
            </a:extLst>
          </p:cNvPr>
          <p:cNvSpPr>
            <a:spLocks noGrp="1"/>
          </p:cNvSpPr>
          <p:nvPr>
            <p:ph type="body" sz="half" idx="2"/>
          </p:nvPr>
        </p:nvSpPr>
        <p:spPr>
          <a:xfrm>
            <a:off x="1065213" y="4648200"/>
            <a:ext cx="3581399" cy="1371600"/>
          </a:xfrm>
        </p:spPr>
        <p:txBody>
          <a:bodyPr/>
          <a:lstStyle/>
          <a:p>
            <a:endParaRPr lang="en-US"/>
          </a:p>
        </p:txBody>
      </p:sp>
      <p:pic>
        <p:nvPicPr>
          <p:cNvPr id="10242" name="Picture 2">
            <a:extLst>
              <a:ext uri="{FF2B5EF4-FFF2-40B4-BE49-F238E27FC236}">
                <a16:creationId xmlns:a16="http://schemas.microsoft.com/office/drawing/2014/main" id="{F00181F3-7C0A-2ED7-84AE-48D52A99E2A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951414" y="712470"/>
            <a:ext cx="6400800" cy="5280660"/>
          </a:xfrm>
          <a:prstGeom prst="rect">
            <a:avLst/>
          </a:prstGeom>
          <a:solidFill>
            <a:srgbClr val="FFFFFF"/>
          </a:solidFill>
        </p:spPr>
      </p:pic>
    </p:spTree>
    <p:extLst>
      <p:ext uri="{BB962C8B-B14F-4D97-AF65-F5344CB8AC3E}">
        <p14:creationId xmlns:p14="http://schemas.microsoft.com/office/powerpoint/2010/main" val="586455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B2F4C4-332A-6175-02EB-C7C6787BA32E}"/>
              </a:ext>
            </a:extLst>
          </p:cNvPr>
          <p:cNvSpPr>
            <a:spLocks noGrp="1"/>
          </p:cNvSpPr>
          <p:nvPr>
            <p:ph idx="1"/>
          </p:nvPr>
        </p:nvSpPr>
        <p:spPr>
          <a:xfrm>
            <a:off x="1141412" y="685800"/>
            <a:ext cx="10363200" cy="5334000"/>
          </a:xfrm>
        </p:spPr>
        <p:txBody>
          <a:bodyPr/>
          <a:lstStyle/>
          <a:p>
            <a:pPr algn="just"/>
            <a:r>
              <a:rPr lang="en-US" sz="3200" dirty="0"/>
              <a:t>Now we’ll look at a real-world example of an information extraction pipeline for drug repurposing. You need a knowledge graph with medical concepts, so you can have many types of nodes. These node types could be genes, drugs, diseases, or other types of nodes. There are many types of relationships between these medical concepts, as shown above: TREATS, CAUSES, PREDISPOSES, and others</a:t>
            </a:r>
            <a:r>
              <a:rPr lang="en-US" dirty="0"/>
              <a:t>.</a:t>
            </a:r>
          </a:p>
        </p:txBody>
      </p:sp>
    </p:spTree>
    <p:extLst>
      <p:ext uri="{BB962C8B-B14F-4D97-AF65-F5344CB8AC3E}">
        <p14:creationId xmlns:p14="http://schemas.microsoft.com/office/powerpoint/2010/main" val="375639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a:extLst>
              <a:ext uri="{FF2B5EF4-FFF2-40B4-BE49-F238E27FC236}">
                <a16:creationId xmlns:a16="http://schemas.microsoft.com/office/drawing/2014/main" id="{EB0379A4-1D85-E653-8BFF-8F4E1242CD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412" y="415552"/>
            <a:ext cx="10744200" cy="5985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004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985B0E-57E4-0F86-8A93-B6403D62F44D}"/>
              </a:ext>
            </a:extLst>
          </p:cNvPr>
          <p:cNvSpPr>
            <a:spLocks noGrp="1"/>
          </p:cNvSpPr>
          <p:nvPr>
            <p:ph idx="1"/>
          </p:nvPr>
        </p:nvSpPr>
        <p:spPr>
          <a:xfrm>
            <a:off x="608012" y="457201"/>
            <a:ext cx="11277599" cy="5562600"/>
          </a:xfrm>
        </p:spPr>
        <p:txBody>
          <a:bodyPr>
            <a:normAutofit/>
          </a:bodyPr>
          <a:lstStyle/>
          <a:p>
            <a:pPr marL="0" indent="0">
              <a:buNone/>
            </a:pPr>
            <a:r>
              <a:rPr lang="en-US" sz="2800" dirty="0"/>
              <a:t>Then you can make link predictions for the TREATS relationship, which would predict new uses for a drug. This is drug repurposing. You use text input into the information extraction pipeline, such as medical journals, including the </a:t>
            </a:r>
            <a:r>
              <a:rPr lang="en-US" sz="2800" u="sng" dirty="0">
                <a:hlinkClick r:id="rId2"/>
              </a:rPr>
              <a:t>opens in new </a:t>
            </a:r>
            <a:r>
              <a:rPr lang="en-US" sz="2800" u="sng" dirty="0" err="1">
                <a:hlinkClick r:id="rId2"/>
              </a:rPr>
              <a:t>tabPubMed</a:t>
            </a:r>
            <a:r>
              <a:rPr lang="en-US" sz="2800" dirty="0"/>
              <a:t> dataset, or medical papers, and then perform a named entity linking. Like Wikipedia, you could use online medical databases, including </a:t>
            </a:r>
            <a:r>
              <a:rPr lang="en-US" sz="2800" u="sng" dirty="0">
                <a:hlinkClick r:id="rId3"/>
              </a:rPr>
              <a:t>opens in new </a:t>
            </a:r>
            <a:r>
              <a:rPr lang="en-US" sz="2800" u="sng" dirty="0" err="1">
                <a:hlinkClick r:id="rId3"/>
              </a:rPr>
              <a:t>tabENSEMBL</a:t>
            </a:r>
            <a:r>
              <a:rPr lang="en-US" sz="2800" dirty="0"/>
              <a:t>, to map genes to the corresponding IDs in the target database. There is also </a:t>
            </a:r>
            <a:r>
              <a:rPr lang="en-US" sz="2800" u="sng" dirty="0">
                <a:hlinkClick r:id="rId4"/>
              </a:rPr>
              <a:t>opens in new </a:t>
            </a:r>
            <a:r>
              <a:rPr lang="en-US" sz="2800" u="sng" dirty="0" err="1">
                <a:hlinkClick r:id="rId4"/>
              </a:rPr>
              <a:t>tabCHEBI</a:t>
            </a:r>
            <a:r>
              <a:rPr lang="en-US" sz="2800" dirty="0"/>
              <a:t> for chemical substances. Basically, you do the name entity linking and extract your biomedical concepts. To extract relationships between those entities is challenging since there are no existing training datasets available, but there is a semantic </a:t>
            </a:r>
            <a:r>
              <a:rPr lang="en-US" sz="2800" u="sng" dirty="0">
                <a:hlinkClick r:id="rId5"/>
              </a:rPr>
              <a:t>opens in new </a:t>
            </a:r>
            <a:r>
              <a:rPr lang="en-US" sz="2800" u="sng" dirty="0" err="1">
                <a:hlinkClick r:id="rId5"/>
              </a:rPr>
              <a:t>tabMEDLINE</a:t>
            </a:r>
            <a:r>
              <a:rPr lang="en-US" sz="2800" dirty="0"/>
              <a:t> Database where a group of scientists and doctors have a base relation extraction for data available on their website. You could also use that to try extracting relations with your own NLP model.</a:t>
            </a:r>
          </a:p>
        </p:txBody>
      </p:sp>
    </p:spTree>
    <p:extLst>
      <p:ext uri="{BB962C8B-B14F-4D97-AF65-F5344CB8AC3E}">
        <p14:creationId xmlns:p14="http://schemas.microsoft.com/office/powerpoint/2010/main" val="4133424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34F9F-38C5-F424-34F7-38B90B44F840}"/>
              </a:ext>
            </a:extLst>
          </p:cNvPr>
          <p:cNvSpPr>
            <a:spLocks noGrp="1"/>
          </p:cNvSpPr>
          <p:nvPr>
            <p:ph type="title"/>
          </p:nvPr>
        </p:nvSpPr>
        <p:spPr/>
        <p:txBody>
          <a:bodyPr/>
          <a:lstStyle/>
          <a:p>
            <a:r>
              <a:rPr lang="en-US" dirty="0"/>
              <a:t>Step 4: Knowledge Graph</a:t>
            </a:r>
            <a:br>
              <a:rPr lang="en-US" dirty="0"/>
            </a:br>
            <a:endParaRPr lang="en-US" dirty="0"/>
          </a:p>
        </p:txBody>
      </p:sp>
      <p:sp>
        <p:nvSpPr>
          <p:cNvPr id="3" name="Content Placeholder 2">
            <a:extLst>
              <a:ext uri="{FF2B5EF4-FFF2-40B4-BE49-F238E27FC236}">
                <a16:creationId xmlns:a16="http://schemas.microsoft.com/office/drawing/2014/main" id="{5E60A7C1-4DD8-2DDD-098F-A1F19E17D96E}"/>
              </a:ext>
            </a:extLst>
          </p:cNvPr>
          <p:cNvSpPr>
            <a:spLocks noGrp="1"/>
          </p:cNvSpPr>
          <p:nvPr>
            <p:ph idx="1"/>
          </p:nvPr>
        </p:nvSpPr>
        <p:spPr>
          <a:xfrm>
            <a:off x="150812" y="1904999"/>
            <a:ext cx="4495800" cy="3962401"/>
          </a:xfrm>
        </p:spPr>
        <p:txBody>
          <a:bodyPr>
            <a:normAutofit/>
          </a:bodyPr>
          <a:lstStyle/>
          <a:p>
            <a:pPr marL="0" indent="0">
              <a:buNone/>
            </a:pPr>
            <a:r>
              <a:rPr lang="en-US" dirty="0"/>
              <a:t>Now that you have biomedical concepts as entities and the relationships between them, you create a </a:t>
            </a:r>
            <a:r>
              <a:rPr lang="en-US" u="sng" dirty="0">
                <a:hlinkClick r:id="rId2"/>
              </a:rPr>
              <a:t>opens in new tab knowledge graph</a:t>
            </a:r>
            <a:r>
              <a:rPr lang="en-US" dirty="0"/>
              <a:t> and try to predict new use cases for existing drugs.</a:t>
            </a:r>
          </a:p>
        </p:txBody>
      </p:sp>
      <p:pic>
        <p:nvPicPr>
          <p:cNvPr id="12290" name="Picture 2">
            <a:extLst>
              <a:ext uri="{FF2B5EF4-FFF2-40B4-BE49-F238E27FC236}">
                <a16:creationId xmlns:a16="http://schemas.microsoft.com/office/drawing/2014/main" id="{331EFFC3-45F8-2B4F-5B9F-7CB392F01B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2812" y="1775460"/>
            <a:ext cx="6134100" cy="4486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6204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74665F-A2EB-3320-A013-A25C54089524}"/>
              </a:ext>
            </a:extLst>
          </p:cNvPr>
          <p:cNvSpPr>
            <a:spLocks noGrp="1"/>
          </p:cNvSpPr>
          <p:nvPr>
            <p:ph idx="1"/>
          </p:nvPr>
        </p:nvSpPr>
        <p:spPr>
          <a:xfrm>
            <a:off x="1141412" y="533401"/>
            <a:ext cx="10058399" cy="5486400"/>
          </a:xfrm>
        </p:spPr>
        <p:txBody>
          <a:bodyPr>
            <a:normAutofit/>
          </a:bodyPr>
          <a:lstStyle/>
          <a:p>
            <a:pPr marL="0" indent="0" algn="just">
              <a:buNone/>
            </a:pPr>
            <a:r>
              <a:rPr lang="en-US" sz="3200" dirty="0"/>
              <a:t>Here, I’ve created a simple example where we have drugs and diseases. The real-world example is of course much more complicated because you could also have genes, meaning a headache could be associated with the same genes for migraines, and then there are relationships between genes. It quickly gets complicated, but I’ll just give you a simple idea for drug repurposing. When you try to predict new links, what you do is length reduction, or what is called a knowledge graph completion, since it’s quite different if this new predicted relationship is TREATS or CAUSES.</a:t>
            </a:r>
          </a:p>
        </p:txBody>
      </p:sp>
    </p:spTree>
    <p:extLst>
      <p:ext uri="{BB962C8B-B14F-4D97-AF65-F5344CB8AC3E}">
        <p14:creationId xmlns:p14="http://schemas.microsoft.com/office/powerpoint/2010/main" val="252030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31208-17D6-808C-158C-2B91C790ECCA}"/>
              </a:ext>
            </a:extLst>
          </p:cNvPr>
          <p:cNvSpPr>
            <a:spLocks noGrp="1"/>
          </p:cNvSpPr>
          <p:nvPr>
            <p:ph type="ctrTitle"/>
          </p:nvPr>
        </p:nvSpPr>
        <p:spPr/>
        <p:txBody>
          <a:bodyPr/>
          <a:lstStyle/>
          <a:p>
            <a:r>
              <a:rPr lang="en-US" dirty="0" err="1"/>
              <a:t>GraphRAG</a:t>
            </a:r>
            <a:endParaRPr lang="en-US" dirty="0"/>
          </a:p>
        </p:txBody>
      </p:sp>
      <p:sp>
        <p:nvSpPr>
          <p:cNvPr id="3" name="Subtitle 2">
            <a:extLst>
              <a:ext uri="{FF2B5EF4-FFF2-40B4-BE49-F238E27FC236}">
                <a16:creationId xmlns:a16="http://schemas.microsoft.com/office/drawing/2014/main" id="{A9492441-432B-E354-6AFA-AFE9AD69A66E}"/>
              </a:ext>
            </a:extLst>
          </p:cNvPr>
          <p:cNvSpPr>
            <a:spLocks noGrp="1"/>
          </p:cNvSpPr>
          <p:nvPr>
            <p:ph type="subTitle" idx="1"/>
          </p:nvPr>
        </p:nvSpPr>
        <p:spPr/>
        <p:txBody>
          <a:bodyPr/>
          <a:lstStyle/>
          <a:p>
            <a:r>
              <a:rPr lang="en-US" dirty="0">
                <a:hlinkClick r:id="rId2"/>
              </a:rPr>
              <a:t>https://github.com/stephenc222/example-graphrag/blob/main/app.py</a:t>
            </a:r>
            <a:endParaRPr lang="en-US" dirty="0"/>
          </a:p>
          <a:p>
            <a:endParaRPr lang="en-US" dirty="0"/>
          </a:p>
        </p:txBody>
      </p:sp>
    </p:spTree>
    <p:extLst>
      <p:ext uri="{BB962C8B-B14F-4D97-AF65-F5344CB8AC3E}">
        <p14:creationId xmlns:p14="http://schemas.microsoft.com/office/powerpoint/2010/main" val="4287862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B2C1F0-E111-EB0D-E777-21A162D8BE9B}"/>
              </a:ext>
            </a:extLst>
          </p:cNvPr>
          <p:cNvSpPr>
            <a:spLocks noGrp="1"/>
          </p:cNvSpPr>
          <p:nvPr>
            <p:ph idx="1"/>
          </p:nvPr>
        </p:nvSpPr>
        <p:spPr>
          <a:xfrm>
            <a:off x="836612" y="533401"/>
            <a:ext cx="10668000" cy="5486400"/>
          </a:xfrm>
        </p:spPr>
        <p:txBody>
          <a:bodyPr>
            <a:noAutofit/>
          </a:bodyPr>
          <a:lstStyle/>
          <a:p>
            <a:pPr algn="just"/>
            <a:r>
              <a:rPr lang="en-US" sz="2800" dirty="0" err="1"/>
              <a:t>GraphRAG</a:t>
            </a:r>
            <a:r>
              <a:rPr lang="en-US" sz="2800" dirty="0"/>
              <a:t> is an advanced version of </a:t>
            </a:r>
            <a:r>
              <a:rPr lang="en-US" sz="2800" dirty="0">
                <a:hlinkClick r:id="rId2"/>
              </a:rPr>
              <a:t>retrieval-augmented generation (RAG)</a:t>
            </a:r>
            <a:r>
              <a:rPr lang="en-US" sz="2800" dirty="0"/>
              <a:t> that incorporates graph-structured data, such as knowledge graphs (KGs).</a:t>
            </a:r>
            <a:r>
              <a:rPr lang="en-US" sz="2800" baseline="30000" dirty="0">
                <a:hlinkClick r:id="rId3"/>
              </a:rPr>
              <a:t>1</a:t>
            </a:r>
            <a:r>
              <a:rPr lang="en-US" sz="2800" dirty="0"/>
              <a:t> Unlike baseline RAG systems that rely on vector search to retrieve semantically similar text, </a:t>
            </a:r>
            <a:r>
              <a:rPr lang="en-US" sz="2800" dirty="0" err="1"/>
              <a:t>GraphRAG</a:t>
            </a:r>
            <a:r>
              <a:rPr lang="en-US" sz="2800" dirty="0"/>
              <a:t> leverages the relational structure of graphs to retrieve and process information based on domain-specific queries. </a:t>
            </a:r>
          </a:p>
          <a:p>
            <a:pPr algn="just"/>
            <a:r>
              <a:rPr lang="en-US" sz="2800" dirty="0" err="1"/>
              <a:t>GraphRAG</a:t>
            </a:r>
            <a:r>
              <a:rPr lang="en-US" sz="2800" dirty="0"/>
              <a:t> was introduced by Microsoft research in 2024 to address the limitations of large language models (LLMs).</a:t>
            </a:r>
            <a:r>
              <a:rPr lang="en-US" sz="2800" baseline="30000" dirty="0">
                <a:hlinkClick r:id="rId4"/>
              </a:rPr>
              <a:t>2</a:t>
            </a:r>
            <a:r>
              <a:rPr lang="en-US" sz="2800" dirty="0"/>
              <a:t> Traditional LLMs often struggle with complex </a:t>
            </a:r>
            <a:r>
              <a:rPr lang="en-US" sz="2800" dirty="0">
                <a:hlinkClick r:id="rId5"/>
              </a:rPr>
              <a:t>workflows</a:t>
            </a:r>
            <a:r>
              <a:rPr lang="en-US" sz="2800" dirty="0"/>
              <a:t>, especially in reasoning private or structured data, because they lack the ability to understand relationships between entities. </a:t>
            </a:r>
            <a:r>
              <a:rPr lang="en-US" sz="2800" dirty="0" err="1"/>
              <a:t>GraphRAG</a:t>
            </a:r>
            <a:r>
              <a:rPr lang="en-US" sz="2800" dirty="0"/>
              <a:t> solves this issue by using graph databases to model these relationships, enabling it to handle complex queries, retrieve contextual information and improve accuracy in generative AI (gen AI) applications.</a:t>
            </a:r>
          </a:p>
        </p:txBody>
      </p:sp>
    </p:spTree>
    <p:extLst>
      <p:ext uri="{BB962C8B-B14F-4D97-AF65-F5344CB8AC3E}">
        <p14:creationId xmlns:p14="http://schemas.microsoft.com/office/powerpoint/2010/main" val="654749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7FF4A-0D82-840B-3017-04F8E8BB6DD5}"/>
              </a:ext>
            </a:extLst>
          </p:cNvPr>
          <p:cNvSpPr>
            <a:spLocks noGrp="1"/>
          </p:cNvSpPr>
          <p:nvPr>
            <p:ph type="title"/>
          </p:nvPr>
        </p:nvSpPr>
        <p:spPr>
          <a:xfrm>
            <a:off x="989012" y="-76199"/>
            <a:ext cx="9144001" cy="1371600"/>
          </a:xfrm>
        </p:spPr>
        <p:txBody>
          <a:bodyPr/>
          <a:lstStyle/>
          <a:p>
            <a:r>
              <a:rPr lang="en-US" dirty="0"/>
              <a:t>How does </a:t>
            </a:r>
            <a:r>
              <a:rPr lang="en-US" dirty="0" err="1"/>
              <a:t>GraphRAG</a:t>
            </a:r>
            <a:r>
              <a:rPr lang="en-US" dirty="0"/>
              <a:t> work?</a:t>
            </a:r>
            <a:br>
              <a:rPr lang="en-US" dirty="0"/>
            </a:br>
            <a:endParaRPr lang="en-US" dirty="0"/>
          </a:p>
        </p:txBody>
      </p:sp>
      <p:sp>
        <p:nvSpPr>
          <p:cNvPr id="3" name="Content Placeholder 2">
            <a:extLst>
              <a:ext uri="{FF2B5EF4-FFF2-40B4-BE49-F238E27FC236}">
                <a16:creationId xmlns:a16="http://schemas.microsoft.com/office/drawing/2014/main" id="{ABF74A92-F7B9-8120-9065-C4A385B62C83}"/>
              </a:ext>
            </a:extLst>
          </p:cNvPr>
          <p:cNvSpPr>
            <a:spLocks noGrp="1"/>
          </p:cNvSpPr>
          <p:nvPr>
            <p:ph idx="1"/>
          </p:nvPr>
        </p:nvSpPr>
        <p:spPr>
          <a:xfrm>
            <a:off x="455612" y="1066800"/>
            <a:ext cx="11353799" cy="4953001"/>
          </a:xfrm>
        </p:spPr>
        <p:txBody>
          <a:bodyPr>
            <a:noAutofit/>
          </a:bodyPr>
          <a:lstStyle/>
          <a:p>
            <a:pPr algn="just" fontAlgn="base"/>
            <a:r>
              <a:rPr lang="en-US" dirty="0"/>
              <a:t>Retrieval-augmented generation (RAG) is a technique that retrieves relevant information by using similarity search from </a:t>
            </a:r>
            <a:r>
              <a:rPr lang="en-US" dirty="0">
                <a:hlinkClick r:id="rId2"/>
              </a:rPr>
              <a:t>vector databases</a:t>
            </a:r>
            <a:r>
              <a:rPr lang="en-US" dirty="0"/>
              <a:t>, external knowledge sources and internal knowledge bases. It then combines this retrieved information with LLMs to generate accurate and context-aware outputs. While traditional RAG applications enhance the functionality of LLMs in </a:t>
            </a:r>
            <a:r>
              <a:rPr lang="en-US" dirty="0">
                <a:hlinkClick r:id="rId3"/>
              </a:rPr>
              <a:t>generative AI</a:t>
            </a:r>
            <a:r>
              <a:rPr lang="en-US" dirty="0"/>
              <a:t> applications, it lacks the ability to capture complex data relationships in data. It struggles to perform tasks such as </a:t>
            </a:r>
            <a:r>
              <a:rPr lang="en-US" dirty="0" err="1"/>
              <a:t>multihop</a:t>
            </a:r>
            <a:r>
              <a:rPr lang="en-US" dirty="0"/>
              <a:t> reasoning (combining information from multiple sources to derive answers through logical connections and indirect inferences), relational context and understanding hierarchical data. </a:t>
            </a:r>
          </a:p>
          <a:p>
            <a:pPr algn="just" fontAlgn="base"/>
            <a:r>
              <a:rPr lang="en-US" dirty="0" err="1"/>
              <a:t>GraphRAG</a:t>
            </a:r>
            <a:r>
              <a:rPr lang="en-US" dirty="0"/>
              <a:t> overcomes this issue by incorporating graph-structured data, which organizes information as a network of nodes (entities like people or places), edges (relationships between those entities) and labels (attributes that define the category of a node and edge). For example, a </a:t>
            </a:r>
            <a:r>
              <a:rPr lang="en-US" dirty="0">
                <a:hlinkClick r:id="rId4"/>
              </a:rPr>
              <a:t>knowledge graph</a:t>
            </a:r>
            <a:r>
              <a:rPr lang="en-US" dirty="0"/>
              <a:t> might represent "Albert Einstein—developed—the theory of relativity." as a graph-structured pieces of information, making it easier for </a:t>
            </a:r>
            <a:r>
              <a:rPr lang="en-US" dirty="0" err="1"/>
              <a:t>GraphRAG</a:t>
            </a:r>
            <a:r>
              <a:rPr lang="en-US" dirty="0"/>
              <a:t> to retrieve and process this information. In this example, the nodes are ‘Albert Einstein’ and ‘theory of relativity’, and the edge is ‘developed’.</a:t>
            </a:r>
          </a:p>
          <a:p>
            <a:pPr algn="just"/>
            <a:endParaRPr lang="en-US" dirty="0"/>
          </a:p>
        </p:txBody>
      </p:sp>
    </p:spTree>
    <p:extLst>
      <p:ext uri="{BB962C8B-B14F-4D97-AF65-F5344CB8AC3E}">
        <p14:creationId xmlns:p14="http://schemas.microsoft.com/office/powerpoint/2010/main" val="3157660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28779A-F266-51A4-161B-E87B05F68CCC}"/>
              </a:ext>
            </a:extLst>
          </p:cNvPr>
          <p:cNvPicPr>
            <a:picLocks noChangeAspect="1"/>
          </p:cNvPicPr>
          <p:nvPr/>
        </p:nvPicPr>
        <p:blipFill>
          <a:blip r:embed="rId2"/>
          <a:stretch>
            <a:fillRect/>
          </a:stretch>
        </p:blipFill>
        <p:spPr>
          <a:xfrm>
            <a:off x="2589212" y="99548"/>
            <a:ext cx="6620310" cy="6658904"/>
          </a:xfrm>
          <a:prstGeom prst="rect">
            <a:avLst/>
          </a:prstGeom>
        </p:spPr>
      </p:pic>
    </p:spTree>
    <p:extLst>
      <p:ext uri="{BB962C8B-B14F-4D97-AF65-F5344CB8AC3E}">
        <p14:creationId xmlns:p14="http://schemas.microsoft.com/office/powerpoint/2010/main" val="2312313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BA160-F3EC-6D76-F930-E2DA75F34BB0}"/>
              </a:ext>
            </a:extLst>
          </p:cNvPr>
          <p:cNvSpPr>
            <a:spLocks noGrp="1"/>
          </p:cNvSpPr>
          <p:nvPr>
            <p:ph type="title"/>
          </p:nvPr>
        </p:nvSpPr>
        <p:spPr/>
        <p:txBody>
          <a:bodyPr/>
          <a:lstStyle/>
          <a:p>
            <a:r>
              <a:rPr lang="en-US" dirty="0"/>
              <a:t>Components of </a:t>
            </a:r>
            <a:r>
              <a:rPr lang="en-US" dirty="0" err="1"/>
              <a:t>GraphRAG</a:t>
            </a:r>
            <a:br>
              <a:rPr lang="en-US" dirty="0"/>
            </a:br>
            <a:endParaRPr lang="en-US" dirty="0"/>
          </a:p>
        </p:txBody>
      </p:sp>
      <p:sp>
        <p:nvSpPr>
          <p:cNvPr id="3" name="Content Placeholder 2">
            <a:extLst>
              <a:ext uri="{FF2B5EF4-FFF2-40B4-BE49-F238E27FC236}">
                <a16:creationId xmlns:a16="http://schemas.microsoft.com/office/drawing/2014/main" id="{45D796BE-19C1-C63B-89A6-50DF1CCAECA5}"/>
              </a:ext>
            </a:extLst>
          </p:cNvPr>
          <p:cNvSpPr>
            <a:spLocks noGrp="1"/>
          </p:cNvSpPr>
          <p:nvPr>
            <p:ph idx="1"/>
          </p:nvPr>
        </p:nvSpPr>
        <p:spPr/>
        <p:txBody>
          <a:bodyPr>
            <a:normAutofit/>
          </a:bodyPr>
          <a:lstStyle/>
          <a:p>
            <a:pPr marL="0" indent="0" fontAlgn="base">
              <a:buNone/>
            </a:pPr>
            <a:r>
              <a:rPr lang="en-US" sz="2800" dirty="0" err="1"/>
              <a:t>GraphRAG</a:t>
            </a:r>
            <a:r>
              <a:rPr lang="en-US" sz="2800" dirty="0"/>
              <a:t> works through four main components:</a:t>
            </a:r>
          </a:p>
          <a:p>
            <a:pPr fontAlgn="base"/>
            <a:r>
              <a:rPr lang="en-US" sz="2800" dirty="0"/>
              <a:t>Query processor</a:t>
            </a:r>
          </a:p>
          <a:p>
            <a:pPr fontAlgn="base"/>
            <a:r>
              <a:rPr lang="en-US" sz="2800" dirty="0"/>
              <a:t>Retriever</a:t>
            </a:r>
          </a:p>
          <a:p>
            <a:pPr fontAlgn="base"/>
            <a:r>
              <a:rPr lang="en-US" sz="2800" dirty="0"/>
              <a:t> Organizer</a:t>
            </a:r>
            <a:br>
              <a:rPr lang="en-US" sz="2800" dirty="0"/>
            </a:br>
            <a:endParaRPr lang="en-US" sz="2800" dirty="0"/>
          </a:p>
          <a:p>
            <a:pPr fontAlgn="base"/>
            <a:r>
              <a:rPr lang="en-US" sz="2800" dirty="0"/>
              <a:t>Generator</a:t>
            </a:r>
          </a:p>
          <a:p>
            <a:endParaRPr lang="en-US" dirty="0"/>
          </a:p>
        </p:txBody>
      </p:sp>
    </p:spTree>
    <p:extLst>
      <p:ext uri="{BB962C8B-B14F-4D97-AF65-F5344CB8AC3E}">
        <p14:creationId xmlns:p14="http://schemas.microsoft.com/office/powerpoint/2010/main" val="3494645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6B3D6-FE69-BCBC-29F7-9F54D6405C6D}"/>
              </a:ext>
            </a:extLst>
          </p:cNvPr>
          <p:cNvSpPr>
            <a:spLocks noGrp="1"/>
          </p:cNvSpPr>
          <p:nvPr>
            <p:ph type="title"/>
          </p:nvPr>
        </p:nvSpPr>
        <p:spPr/>
        <p:txBody>
          <a:bodyPr/>
          <a:lstStyle/>
          <a:p>
            <a:r>
              <a:rPr lang="en-US" dirty="0"/>
              <a:t>Query processor</a:t>
            </a:r>
            <a:br>
              <a:rPr lang="en-US" dirty="0"/>
            </a:br>
            <a:endParaRPr lang="en-US" dirty="0"/>
          </a:p>
        </p:txBody>
      </p:sp>
      <p:sp>
        <p:nvSpPr>
          <p:cNvPr id="3" name="Content Placeholder 2">
            <a:extLst>
              <a:ext uri="{FF2B5EF4-FFF2-40B4-BE49-F238E27FC236}">
                <a16:creationId xmlns:a16="http://schemas.microsoft.com/office/drawing/2014/main" id="{7EF21E04-DEC1-116C-00FF-25CC13893675}"/>
              </a:ext>
            </a:extLst>
          </p:cNvPr>
          <p:cNvSpPr>
            <a:spLocks noGrp="1"/>
          </p:cNvSpPr>
          <p:nvPr>
            <p:ph idx="1"/>
          </p:nvPr>
        </p:nvSpPr>
        <p:spPr>
          <a:xfrm>
            <a:off x="1221341" y="1752600"/>
            <a:ext cx="9749871" cy="4114801"/>
          </a:xfrm>
        </p:spPr>
        <p:txBody>
          <a:bodyPr>
            <a:normAutofit/>
          </a:bodyPr>
          <a:lstStyle/>
          <a:p>
            <a:pPr marL="0" indent="0" algn="just">
              <a:buNone/>
            </a:pPr>
            <a:r>
              <a:rPr lang="en-US" sz="2800" dirty="0"/>
              <a:t>The user’s query is preprocessed to identify key entities and relationships relevant to the graph structure. Techniques such as named-entity recognition (NER) and relational extraction from </a:t>
            </a:r>
            <a:r>
              <a:rPr lang="en-US" sz="2800" dirty="0">
                <a:hlinkClick r:id="rId2"/>
              </a:rPr>
              <a:t>machine learning</a:t>
            </a:r>
            <a:r>
              <a:rPr lang="en-US" sz="2800" dirty="0"/>
              <a:t> are used to map the query to nodes and edges within the graph. For example, a query like "Who developed the theory of relativity?" identifies "Albert Einstein" as a node and "developed " as the relationship to be searched in the graph. Tools like Cypher, a graph query language, are used to fetch domain-specific data from knowledge graphs. </a:t>
            </a:r>
          </a:p>
        </p:txBody>
      </p:sp>
    </p:spTree>
    <p:extLst>
      <p:ext uri="{BB962C8B-B14F-4D97-AF65-F5344CB8AC3E}">
        <p14:creationId xmlns:p14="http://schemas.microsoft.com/office/powerpoint/2010/main" val="1797526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EE97E-7C42-C1A4-4B94-C5D2327AA358}"/>
              </a:ext>
            </a:extLst>
          </p:cNvPr>
          <p:cNvSpPr>
            <a:spLocks noGrp="1"/>
          </p:cNvSpPr>
          <p:nvPr>
            <p:ph type="title"/>
          </p:nvPr>
        </p:nvSpPr>
        <p:spPr/>
        <p:txBody>
          <a:bodyPr/>
          <a:lstStyle/>
          <a:p>
            <a:r>
              <a:rPr lang="en-US" dirty="0"/>
              <a:t>Retriever</a:t>
            </a:r>
            <a:br>
              <a:rPr lang="en-US" dirty="0"/>
            </a:br>
            <a:endParaRPr lang="en-US" dirty="0"/>
          </a:p>
        </p:txBody>
      </p:sp>
      <p:sp>
        <p:nvSpPr>
          <p:cNvPr id="3" name="Content Placeholder 2">
            <a:extLst>
              <a:ext uri="{FF2B5EF4-FFF2-40B4-BE49-F238E27FC236}">
                <a16:creationId xmlns:a16="http://schemas.microsoft.com/office/drawing/2014/main" id="{E3442FC0-A56C-4EC8-6F1E-6DE316A701D2}"/>
              </a:ext>
            </a:extLst>
          </p:cNvPr>
          <p:cNvSpPr>
            <a:spLocks noGrp="1"/>
          </p:cNvSpPr>
          <p:nvPr>
            <p:ph idx="1"/>
          </p:nvPr>
        </p:nvSpPr>
        <p:spPr>
          <a:xfrm>
            <a:off x="989012" y="1752601"/>
            <a:ext cx="10210799" cy="4267200"/>
          </a:xfrm>
        </p:spPr>
        <p:txBody>
          <a:bodyPr>
            <a:normAutofit lnSpcReduction="10000"/>
          </a:bodyPr>
          <a:lstStyle/>
          <a:p>
            <a:pPr marL="0" indent="0" algn="just">
              <a:buNone/>
            </a:pPr>
            <a:r>
              <a:rPr lang="en-US" dirty="0"/>
              <a:t>The retriever locates and extracts relevant content from external graph data sources based on the processed query. Unlike traditional RAG systems that rely on vector </a:t>
            </a:r>
            <a:r>
              <a:rPr lang="en-US" dirty="0">
                <a:hlinkClick r:id="rId2"/>
              </a:rPr>
              <a:t>embeddings</a:t>
            </a:r>
            <a:r>
              <a:rPr lang="en-US" dirty="0"/>
              <a:t> for text or images, </a:t>
            </a:r>
            <a:r>
              <a:rPr lang="en-US" dirty="0" err="1"/>
              <a:t>GraphRAG</a:t>
            </a:r>
            <a:r>
              <a:rPr lang="en-US" dirty="0"/>
              <a:t> retrievers handle graph-structured data by leveraging both semantic and structural signals. They use techniques such as graph traversal algorithms (methods like breadth-first search (BFS) or depth-first search (DFS) that explore the graph to locate relevant nodes and edges). Additional techniques include graph neural networks (GNNs) (advanced AI models that learn the structure of graphs to retrieve data effectively), adaptive retrieval (dynamically adjusts how much of the graph to search, reducing irrelevant information or noise) and embedding models. For the query "Who developed the theory of relativity?", the retriever locates the node "theory of relativity" in the graph and follows the "developed by" relationship to find "Albert Einstein."</a:t>
            </a:r>
          </a:p>
        </p:txBody>
      </p:sp>
    </p:spTree>
    <p:extLst>
      <p:ext uri="{BB962C8B-B14F-4D97-AF65-F5344CB8AC3E}">
        <p14:creationId xmlns:p14="http://schemas.microsoft.com/office/powerpoint/2010/main" val="4099506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A7C00-44D9-CE65-DEA7-8541B910479F}"/>
              </a:ext>
            </a:extLst>
          </p:cNvPr>
          <p:cNvSpPr>
            <a:spLocks noGrp="1"/>
          </p:cNvSpPr>
          <p:nvPr>
            <p:ph type="title"/>
          </p:nvPr>
        </p:nvSpPr>
        <p:spPr/>
        <p:txBody>
          <a:bodyPr/>
          <a:lstStyle/>
          <a:p>
            <a:r>
              <a:rPr lang="en-US" dirty="0"/>
              <a:t>Organizer</a:t>
            </a:r>
            <a:br>
              <a:rPr lang="en-US" dirty="0"/>
            </a:br>
            <a:endParaRPr lang="en-US" dirty="0"/>
          </a:p>
        </p:txBody>
      </p:sp>
      <p:sp>
        <p:nvSpPr>
          <p:cNvPr id="3" name="Content Placeholder 2">
            <a:extLst>
              <a:ext uri="{FF2B5EF4-FFF2-40B4-BE49-F238E27FC236}">
                <a16:creationId xmlns:a16="http://schemas.microsoft.com/office/drawing/2014/main" id="{208C66D1-72E2-A973-4C54-516AA2B8E504}"/>
              </a:ext>
            </a:extLst>
          </p:cNvPr>
          <p:cNvSpPr>
            <a:spLocks noGrp="1"/>
          </p:cNvSpPr>
          <p:nvPr>
            <p:ph idx="1"/>
          </p:nvPr>
        </p:nvSpPr>
        <p:spPr>
          <a:xfrm>
            <a:off x="760412" y="1904999"/>
            <a:ext cx="10210799" cy="4114801"/>
          </a:xfrm>
        </p:spPr>
        <p:txBody>
          <a:bodyPr/>
          <a:lstStyle/>
          <a:p>
            <a:pPr marL="0" indent="0" algn="just">
              <a:buNone/>
            </a:pPr>
            <a:r>
              <a:rPr lang="en-US" dirty="0"/>
              <a:t>The retrieved graph data is refined to remove irrelevant or noisy information through techniques like graph pruning, reranking and augmentation. The organizer helps ensure the retrieved graph is clean, compact and ready for processing while preserving critical contextual information. For the query "Who developed the theory of relativity?" the organizer refines the retrieved graph data by removing irrelevant nodes and edges, helping ensure only the relevant relationship, "Albert Einstein—developed—theory of relativity," is retained. </a:t>
            </a:r>
          </a:p>
        </p:txBody>
      </p:sp>
    </p:spTree>
    <p:extLst>
      <p:ext uri="{BB962C8B-B14F-4D97-AF65-F5344CB8AC3E}">
        <p14:creationId xmlns:p14="http://schemas.microsoft.com/office/powerpoint/2010/main" val="115241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0DC63-514D-2FB1-5F18-21BE4723023C}"/>
              </a:ext>
            </a:extLst>
          </p:cNvPr>
          <p:cNvSpPr>
            <a:spLocks noGrp="1"/>
          </p:cNvSpPr>
          <p:nvPr>
            <p:ph type="title"/>
          </p:nvPr>
        </p:nvSpPr>
        <p:spPr/>
        <p:txBody>
          <a:bodyPr/>
          <a:lstStyle/>
          <a:p>
            <a:r>
              <a:rPr lang="en-US" dirty="0"/>
              <a:t>Generator</a:t>
            </a:r>
            <a:br>
              <a:rPr lang="en-US" dirty="0"/>
            </a:br>
            <a:endParaRPr lang="en-US" dirty="0"/>
          </a:p>
        </p:txBody>
      </p:sp>
      <p:sp>
        <p:nvSpPr>
          <p:cNvPr id="3" name="Content Placeholder 2">
            <a:extLst>
              <a:ext uri="{FF2B5EF4-FFF2-40B4-BE49-F238E27FC236}">
                <a16:creationId xmlns:a16="http://schemas.microsoft.com/office/drawing/2014/main" id="{BF1B638A-EEA4-AC60-4943-F46CF6A04E2A}"/>
              </a:ext>
            </a:extLst>
          </p:cNvPr>
          <p:cNvSpPr>
            <a:spLocks noGrp="1"/>
          </p:cNvSpPr>
          <p:nvPr>
            <p:ph idx="1"/>
          </p:nvPr>
        </p:nvSpPr>
        <p:spPr>
          <a:xfrm>
            <a:off x="1085455" y="1371600"/>
            <a:ext cx="9575825" cy="2514601"/>
          </a:xfrm>
        </p:spPr>
        <p:txBody>
          <a:bodyPr>
            <a:normAutofit/>
          </a:bodyPr>
          <a:lstStyle/>
          <a:p>
            <a:pPr marL="0" indent="0" algn="just">
              <a:buNone/>
            </a:pPr>
            <a:r>
              <a:rPr lang="en-US" dirty="0"/>
              <a:t>The cleaned graph data is then used to produce the final output. This can involve generating text-based answers using LLMs or creating new graph structures for scientific tasks, such as molecule design or knowledge graph expansion. For the query "Who developed the theory of relativity?", </a:t>
            </a:r>
            <a:r>
              <a:rPr lang="en-US" dirty="0" err="1"/>
              <a:t>GraphRAG</a:t>
            </a:r>
            <a:r>
              <a:rPr lang="en-US" dirty="0"/>
              <a:t> retrieves "Albert Einstein" from the graph and generates the answer: "Albert Einstein developed the theory of relativity." </a:t>
            </a:r>
            <a:r>
              <a:rPr lang="en-US" dirty="0">
                <a:hlinkClick r:id="rId2"/>
              </a:rPr>
              <a:t>Generative AI</a:t>
            </a:r>
            <a:r>
              <a:rPr lang="en-US" dirty="0"/>
              <a:t> techniques are used to synthesize the final response. </a:t>
            </a:r>
          </a:p>
        </p:txBody>
      </p:sp>
      <p:pic>
        <p:nvPicPr>
          <p:cNvPr id="5" name="Picture 4">
            <a:extLst>
              <a:ext uri="{FF2B5EF4-FFF2-40B4-BE49-F238E27FC236}">
                <a16:creationId xmlns:a16="http://schemas.microsoft.com/office/drawing/2014/main" id="{43A8EB21-B5CA-8E7D-08BF-A9D619BD97A4}"/>
              </a:ext>
            </a:extLst>
          </p:cNvPr>
          <p:cNvPicPr>
            <a:picLocks noChangeAspect="1"/>
          </p:cNvPicPr>
          <p:nvPr/>
        </p:nvPicPr>
        <p:blipFill>
          <a:blip r:embed="rId3"/>
          <a:stretch>
            <a:fillRect/>
          </a:stretch>
        </p:blipFill>
        <p:spPr>
          <a:xfrm>
            <a:off x="1370012" y="4114800"/>
            <a:ext cx="9291268" cy="2362200"/>
          </a:xfrm>
          <a:prstGeom prst="rect">
            <a:avLst/>
          </a:prstGeom>
        </p:spPr>
      </p:pic>
    </p:spTree>
    <p:extLst>
      <p:ext uri="{BB962C8B-B14F-4D97-AF65-F5344CB8AC3E}">
        <p14:creationId xmlns:p14="http://schemas.microsoft.com/office/powerpoint/2010/main" val="913933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59214-E6CE-72F1-1E61-41E315CC3B11}"/>
              </a:ext>
            </a:extLst>
          </p:cNvPr>
          <p:cNvSpPr>
            <a:spLocks noGrp="1"/>
          </p:cNvSpPr>
          <p:nvPr>
            <p:ph type="title"/>
          </p:nvPr>
        </p:nvSpPr>
        <p:spPr/>
        <p:txBody>
          <a:bodyPr/>
          <a:lstStyle/>
          <a:p>
            <a:r>
              <a:rPr lang="en-US" dirty="0"/>
              <a:t>Applications of </a:t>
            </a:r>
            <a:r>
              <a:rPr lang="en-US" dirty="0" err="1"/>
              <a:t>GraphRAG</a:t>
            </a:r>
            <a:br>
              <a:rPr lang="en-US" dirty="0"/>
            </a:br>
            <a:endParaRPr lang="en-US" dirty="0"/>
          </a:p>
        </p:txBody>
      </p:sp>
      <p:sp>
        <p:nvSpPr>
          <p:cNvPr id="3" name="Content Placeholder 2">
            <a:extLst>
              <a:ext uri="{FF2B5EF4-FFF2-40B4-BE49-F238E27FC236}">
                <a16:creationId xmlns:a16="http://schemas.microsoft.com/office/drawing/2014/main" id="{C43F00F5-34EE-3565-FAB1-6A4E4CED932C}"/>
              </a:ext>
            </a:extLst>
          </p:cNvPr>
          <p:cNvSpPr>
            <a:spLocks noGrp="1"/>
          </p:cNvSpPr>
          <p:nvPr>
            <p:ph idx="1"/>
          </p:nvPr>
        </p:nvSpPr>
        <p:spPr>
          <a:xfrm>
            <a:off x="684212" y="1736651"/>
            <a:ext cx="10820400" cy="4114801"/>
          </a:xfrm>
        </p:spPr>
        <p:txBody>
          <a:bodyPr>
            <a:noAutofit/>
          </a:bodyPr>
          <a:lstStyle/>
          <a:p>
            <a:pPr marL="0" indent="0" fontAlgn="base">
              <a:buNone/>
            </a:pPr>
            <a:r>
              <a:rPr lang="en-US" dirty="0" err="1"/>
              <a:t>GraphRAG</a:t>
            </a:r>
            <a:r>
              <a:rPr lang="en-US" dirty="0"/>
              <a:t> is transformative across industries, combining graph-based reasoning, </a:t>
            </a:r>
            <a:r>
              <a:rPr lang="en-US" dirty="0">
                <a:hlinkClick r:id="rId2"/>
              </a:rPr>
              <a:t>vector search</a:t>
            </a:r>
            <a:r>
              <a:rPr lang="en-US" dirty="0"/>
              <a:t> and generative AI to handle domain-specific tasks that demand deep contextual information. Below, we explore some of the key applications of </a:t>
            </a:r>
            <a:r>
              <a:rPr lang="en-US" dirty="0" err="1"/>
              <a:t>GraphRAG</a:t>
            </a:r>
            <a:r>
              <a:rPr lang="en-US" dirty="0"/>
              <a:t>:</a:t>
            </a:r>
          </a:p>
          <a:p>
            <a:pPr fontAlgn="base"/>
            <a:r>
              <a:rPr lang="en-US" dirty="0"/>
              <a:t>Query-focused text summarization (QFS)</a:t>
            </a:r>
          </a:p>
          <a:p>
            <a:pPr fontAlgn="base"/>
            <a:r>
              <a:rPr lang="en-US" dirty="0"/>
              <a:t>Personalized recommendations</a:t>
            </a:r>
          </a:p>
          <a:p>
            <a:pPr fontAlgn="base"/>
            <a:r>
              <a:rPr lang="en-US" dirty="0"/>
              <a:t>Decision support</a:t>
            </a:r>
          </a:p>
          <a:p>
            <a:pPr fontAlgn="base"/>
            <a:r>
              <a:rPr lang="en-US" dirty="0"/>
              <a:t>Fraud detection and prevention</a:t>
            </a:r>
          </a:p>
          <a:p>
            <a:pPr fontAlgn="base"/>
            <a:r>
              <a:rPr lang="en-US" dirty="0"/>
              <a:t>Knowledge management and retrieval</a:t>
            </a:r>
          </a:p>
        </p:txBody>
      </p:sp>
    </p:spTree>
    <p:extLst>
      <p:ext uri="{BB962C8B-B14F-4D97-AF65-F5344CB8AC3E}">
        <p14:creationId xmlns:p14="http://schemas.microsoft.com/office/powerpoint/2010/main" val="2947356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F748F-9A4D-E6DE-B52E-735211FFCB3B}"/>
              </a:ext>
            </a:extLst>
          </p:cNvPr>
          <p:cNvSpPr>
            <a:spLocks noGrp="1"/>
          </p:cNvSpPr>
          <p:nvPr>
            <p:ph type="title"/>
          </p:nvPr>
        </p:nvSpPr>
        <p:spPr>
          <a:xfrm>
            <a:off x="1293812" y="76200"/>
            <a:ext cx="9144001" cy="1371600"/>
          </a:xfrm>
        </p:spPr>
        <p:txBody>
          <a:bodyPr/>
          <a:lstStyle/>
          <a:p>
            <a:r>
              <a:rPr lang="en-US" dirty="0"/>
              <a:t>Query-focused text summarization (QFS)</a:t>
            </a:r>
            <a:br>
              <a:rPr lang="en-US" dirty="0"/>
            </a:br>
            <a:endParaRPr lang="en-US" dirty="0"/>
          </a:p>
        </p:txBody>
      </p:sp>
      <p:sp>
        <p:nvSpPr>
          <p:cNvPr id="3" name="Content Placeholder 2">
            <a:extLst>
              <a:ext uri="{FF2B5EF4-FFF2-40B4-BE49-F238E27FC236}">
                <a16:creationId xmlns:a16="http://schemas.microsoft.com/office/drawing/2014/main" id="{FD9174D3-213A-3D57-A5B0-285E17720B40}"/>
              </a:ext>
            </a:extLst>
          </p:cNvPr>
          <p:cNvSpPr>
            <a:spLocks noGrp="1"/>
          </p:cNvSpPr>
          <p:nvPr>
            <p:ph idx="1"/>
          </p:nvPr>
        </p:nvSpPr>
        <p:spPr>
          <a:xfrm>
            <a:off x="608012" y="1295400"/>
            <a:ext cx="10820399" cy="5257800"/>
          </a:xfrm>
        </p:spPr>
        <p:txBody>
          <a:bodyPr>
            <a:normAutofit fontScale="92500" lnSpcReduction="10000"/>
          </a:bodyPr>
          <a:lstStyle/>
          <a:p>
            <a:pPr algn="just" fontAlgn="base"/>
            <a:r>
              <a:rPr lang="en-US" dirty="0" err="1"/>
              <a:t>GraphRAG</a:t>
            </a:r>
            <a:r>
              <a:rPr lang="en-US" dirty="0"/>
              <a:t> can be used for query-focused </a:t>
            </a:r>
            <a:r>
              <a:rPr lang="en-US" dirty="0">
                <a:hlinkClick r:id="rId2"/>
              </a:rPr>
              <a:t>text summarization</a:t>
            </a:r>
            <a:r>
              <a:rPr lang="en-US" dirty="0"/>
              <a:t>. It focuses on answering specific user queries by retrieving and synthesizing information from a graph-structured representation of the text. A study demonstrated </a:t>
            </a:r>
            <a:r>
              <a:rPr lang="en-US" dirty="0" err="1"/>
              <a:t>GraphRAG’s</a:t>
            </a:r>
            <a:r>
              <a:rPr lang="en-US" dirty="0"/>
              <a:t> effectiveness in answering global, exploratory questions over large datasets, such as podcast transcripts and news articles.</a:t>
            </a:r>
            <a:r>
              <a:rPr lang="en-US" baseline="30000" dirty="0">
                <a:hlinkClick r:id="rId3"/>
              </a:rPr>
              <a:t>3</a:t>
            </a:r>
            <a:r>
              <a:rPr lang="en-US" dirty="0"/>
              <a:t> It outperformed traditional vector-based RAG systems in tasks requiring comprehensive and diverse insights. For example, </a:t>
            </a:r>
            <a:r>
              <a:rPr lang="en-US" dirty="0" err="1"/>
              <a:t>GraphRAG</a:t>
            </a:r>
            <a:r>
              <a:rPr lang="en-US" dirty="0"/>
              <a:t> was tested on a podcast dataset (~1M tokens) featuring conversations with tech leaders and a news dataset (~1.7M tokens) covering health, business and technology topics. Questions included “How do tech leaders view privacy laws?” and “What are the key public health priorities?” </a:t>
            </a:r>
          </a:p>
          <a:p>
            <a:pPr algn="just" fontAlgn="base"/>
            <a:r>
              <a:rPr lang="en-US" dirty="0" err="1"/>
              <a:t>GraphRAG</a:t>
            </a:r>
            <a:r>
              <a:rPr lang="en-US" dirty="0"/>
              <a:t> processes these datasets by building a knowledge graph with entities (for example, “privacy laws”) and relationships (for example, “impact on tech”), organizing them into hierarchical communities (group of connected nodes organizing high-level topics to specific sub-topics). </a:t>
            </a:r>
            <a:r>
              <a:rPr lang="en-US" dirty="0" err="1"/>
              <a:t>Pregenerated</a:t>
            </a:r>
            <a:r>
              <a:rPr lang="en-US" dirty="0"/>
              <a:t> community summaries allow the system to retrieve and combine relevant insights efficiently. Compared to traditional RAG, </a:t>
            </a:r>
            <a:r>
              <a:rPr lang="en-US" dirty="0" err="1"/>
              <a:t>GraphRAG</a:t>
            </a:r>
            <a:r>
              <a:rPr lang="en-US" dirty="0"/>
              <a:t> achieved higher comprehensiveness (72–83%) and diversity (62–82%) in generated answers while requiring up to 97% fewer tokens for root-level summaries. This ability makes </a:t>
            </a:r>
            <a:r>
              <a:rPr lang="en-US" dirty="0" err="1"/>
              <a:t>GraphRAG</a:t>
            </a:r>
            <a:r>
              <a:rPr lang="en-US" dirty="0"/>
              <a:t> an ideal tool for sense-making tasks in domains like journalism, education and research.</a:t>
            </a:r>
          </a:p>
          <a:p>
            <a:endParaRPr lang="en-US" dirty="0"/>
          </a:p>
        </p:txBody>
      </p:sp>
    </p:spTree>
    <p:extLst>
      <p:ext uri="{BB962C8B-B14F-4D97-AF65-F5344CB8AC3E}">
        <p14:creationId xmlns:p14="http://schemas.microsoft.com/office/powerpoint/2010/main" val="3593619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3C2B1-F7CB-01D8-E133-57220CC03739}"/>
              </a:ext>
            </a:extLst>
          </p:cNvPr>
          <p:cNvSpPr>
            <a:spLocks noGrp="1"/>
          </p:cNvSpPr>
          <p:nvPr>
            <p:ph type="title"/>
          </p:nvPr>
        </p:nvSpPr>
        <p:spPr/>
        <p:txBody>
          <a:bodyPr/>
          <a:lstStyle/>
          <a:p>
            <a:r>
              <a:rPr lang="en-US" dirty="0"/>
              <a:t>Personalized recommendations</a:t>
            </a:r>
            <a:br>
              <a:rPr lang="en-US" dirty="0"/>
            </a:br>
            <a:endParaRPr lang="en-US" dirty="0"/>
          </a:p>
        </p:txBody>
      </p:sp>
      <p:sp>
        <p:nvSpPr>
          <p:cNvPr id="3" name="Content Placeholder 2">
            <a:extLst>
              <a:ext uri="{FF2B5EF4-FFF2-40B4-BE49-F238E27FC236}">
                <a16:creationId xmlns:a16="http://schemas.microsoft.com/office/drawing/2014/main" id="{7B038269-BCEB-B98C-7033-BC563B38306E}"/>
              </a:ext>
            </a:extLst>
          </p:cNvPr>
          <p:cNvSpPr>
            <a:spLocks noGrp="1"/>
          </p:cNvSpPr>
          <p:nvPr>
            <p:ph idx="1"/>
          </p:nvPr>
        </p:nvSpPr>
        <p:spPr>
          <a:xfrm>
            <a:off x="684212" y="1904999"/>
            <a:ext cx="10515599" cy="4114801"/>
          </a:xfrm>
        </p:spPr>
        <p:txBody>
          <a:bodyPr/>
          <a:lstStyle/>
          <a:p>
            <a:pPr marL="0" indent="0" algn="just">
              <a:buNone/>
            </a:pPr>
            <a:r>
              <a:rPr lang="en-US" dirty="0"/>
              <a:t>In domains like e-commerce and entertainment, </a:t>
            </a:r>
            <a:r>
              <a:rPr lang="en-US" dirty="0" err="1"/>
              <a:t>GraphRAG</a:t>
            </a:r>
            <a:r>
              <a:rPr lang="en-US" dirty="0"/>
              <a:t> enables </a:t>
            </a:r>
            <a:r>
              <a:rPr lang="en-US" dirty="0">
                <a:hlinkClick r:id="rId2"/>
              </a:rPr>
              <a:t>chatbots</a:t>
            </a:r>
            <a:r>
              <a:rPr lang="en-US" dirty="0"/>
              <a:t> and recommendation engines to deliver personalized experiences. For example, in e-commerce, the past interactions between users and products can form a graph. </a:t>
            </a:r>
            <a:r>
              <a:rPr lang="en-US" dirty="0" err="1"/>
              <a:t>GraphRAG</a:t>
            </a:r>
            <a:r>
              <a:rPr lang="en-US" dirty="0"/>
              <a:t> helps manage the growing volume of user interaction data by extracting key subgraphs that reveal user preferences and behaviors. Research has demonstrated that using multiple retrievers to extract relevant subgraphs enhances user action prediction, while retrieving subgraphs of similar past issues improves the quality of customer service question-answering systems.</a:t>
            </a:r>
            <a:r>
              <a:rPr lang="en-US" baseline="30000" dirty="0"/>
              <a:t>4</a:t>
            </a:r>
            <a:endParaRPr lang="en-US" dirty="0"/>
          </a:p>
        </p:txBody>
      </p:sp>
    </p:spTree>
    <p:extLst>
      <p:ext uri="{BB962C8B-B14F-4D97-AF65-F5344CB8AC3E}">
        <p14:creationId xmlns:p14="http://schemas.microsoft.com/office/powerpoint/2010/main" val="3998553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D63CD-E4FB-0343-BFE0-B38C53E90F03}"/>
              </a:ext>
            </a:extLst>
          </p:cNvPr>
          <p:cNvSpPr>
            <a:spLocks noGrp="1"/>
          </p:cNvSpPr>
          <p:nvPr>
            <p:ph type="title"/>
          </p:nvPr>
        </p:nvSpPr>
        <p:spPr>
          <a:xfrm>
            <a:off x="1136608" y="152400"/>
            <a:ext cx="9144001" cy="1371600"/>
          </a:xfrm>
        </p:spPr>
        <p:txBody>
          <a:bodyPr/>
          <a:lstStyle/>
          <a:p>
            <a:r>
              <a:rPr lang="en-US" dirty="0"/>
              <a:t>Decision support</a:t>
            </a:r>
            <a:br>
              <a:rPr lang="en-US" dirty="0"/>
            </a:br>
            <a:endParaRPr lang="en-US" dirty="0"/>
          </a:p>
        </p:txBody>
      </p:sp>
      <p:sp>
        <p:nvSpPr>
          <p:cNvPr id="3" name="Content Placeholder 2">
            <a:extLst>
              <a:ext uri="{FF2B5EF4-FFF2-40B4-BE49-F238E27FC236}">
                <a16:creationId xmlns:a16="http://schemas.microsoft.com/office/drawing/2014/main" id="{DE2DC7D6-55F6-16D1-74E3-CA937C20F1E2}"/>
              </a:ext>
            </a:extLst>
          </p:cNvPr>
          <p:cNvSpPr>
            <a:spLocks noGrp="1"/>
          </p:cNvSpPr>
          <p:nvPr>
            <p:ph idx="1"/>
          </p:nvPr>
        </p:nvSpPr>
        <p:spPr>
          <a:xfrm>
            <a:off x="684212" y="1295400"/>
            <a:ext cx="10591799" cy="4952999"/>
          </a:xfrm>
        </p:spPr>
        <p:txBody>
          <a:bodyPr>
            <a:normAutofit fontScale="92500"/>
          </a:bodyPr>
          <a:lstStyle/>
          <a:p>
            <a:pPr algn="just" fontAlgn="base"/>
            <a:r>
              <a:rPr lang="en-US" dirty="0"/>
              <a:t>In healthcare, </a:t>
            </a:r>
            <a:r>
              <a:rPr lang="en-US" dirty="0" err="1"/>
              <a:t>GraphRAG</a:t>
            </a:r>
            <a:r>
              <a:rPr lang="en-US" dirty="0"/>
              <a:t> assists doctors in diagnosing patients with complex symptoms by analyzing relationships between diseases, symptoms and treatments within a graph database. It retrieves relevant medical studies, case reports and drug information to suggest possible diagnoses, highlight effective treatment options and even warn of potential drug interactions. This capability allows healthcare professionals to make more informed decisions, reduce diagnostic errors and provide personalized care to patients.  </a:t>
            </a:r>
          </a:p>
          <a:p>
            <a:pPr algn="just" fontAlgn="base"/>
            <a:r>
              <a:rPr lang="en-US" dirty="0"/>
              <a:t>For example, a recent study introduced </a:t>
            </a:r>
            <a:r>
              <a:rPr lang="en-US" dirty="0" err="1"/>
              <a:t>MedGraphRAG</a:t>
            </a:r>
            <a:r>
              <a:rPr lang="en-US" dirty="0"/>
              <a:t>, a framework designed for medical applications.</a:t>
            </a:r>
            <a:r>
              <a:rPr lang="en-US" baseline="30000" dirty="0">
                <a:hlinkClick r:id="rId2"/>
              </a:rPr>
              <a:t>5</a:t>
            </a:r>
            <a:r>
              <a:rPr lang="en-US" dirty="0"/>
              <a:t> It organizes medical data into three levels: private user data (for example, medical reports), recent peer-reviewed medical literature and foundational medical dictionaries, helping ensure accuracy, traceability and relevance. Using a hierarchical graph structure and a "U-retrieve" strategy, it efficiently retrieves and synthesizes information for user queries, improving the performance of LLMs by generating reliable, evidence-based responses with source citations. This framework demonstrates the potential for secure, transparent and efficient clinical workflows, aiding healthcare professionals with grounded, actionable insights.</a:t>
            </a:r>
          </a:p>
          <a:p>
            <a:endParaRPr lang="en-US" dirty="0"/>
          </a:p>
        </p:txBody>
      </p:sp>
    </p:spTree>
    <p:extLst>
      <p:ext uri="{BB962C8B-B14F-4D97-AF65-F5344CB8AC3E}">
        <p14:creationId xmlns:p14="http://schemas.microsoft.com/office/powerpoint/2010/main" val="850346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926F9-29F8-3165-6E3D-091CE91D1199}"/>
              </a:ext>
            </a:extLst>
          </p:cNvPr>
          <p:cNvSpPr>
            <a:spLocks noGrp="1"/>
          </p:cNvSpPr>
          <p:nvPr>
            <p:ph type="title"/>
          </p:nvPr>
        </p:nvSpPr>
        <p:spPr>
          <a:xfrm>
            <a:off x="989012" y="304800"/>
            <a:ext cx="9144001" cy="1371600"/>
          </a:xfrm>
        </p:spPr>
        <p:txBody>
          <a:bodyPr/>
          <a:lstStyle/>
          <a:p>
            <a:r>
              <a:rPr lang="en-US" dirty="0"/>
              <a:t>Fraud detection and prevention</a:t>
            </a:r>
            <a:br>
              <a:rPr lang="en-US" dirty="0"/>
            </a:br>
            <a:endParaRPr lang="en-US" dirty="0"/>
          </a:p>
        </p:txBody>
      </p:sp>
      <p:sp>
        <p:nvSpPr>
          <p:cNvPr id="3" name="Content Placeholder 2">
            <a:extLst>
              <a:ext uri="{FF2B5EF4-FFF2-40B4-BE49-F238E27FC236}">
                <a16:creationId xmlns:a16="http://schemas.microsoft.com/office/drawing/2014/main" id="{CCBFC307-F294-731D-F182-8E7803733DEC}"/>
              </a:ext>
            </a:extLst>
          </p:cNvPr>
          <p:cNvSpPr>
            <a:spLocks noGrp="1"/>
          </p:cNvSpPr>
          <p:nvPr>
            <p:ph idx="1"/>
          </p:nvPr>
        </p:nvSpPr>
        <p:spPr>
          <a:xfrm>
            <a:off x="760412" y="1904999"/>
            <a:ext cx="10439399" cy="4114801"/>
          </a:xfrm>
        </p:spPr>
        <p:txBody>
          <a:bodyPr/>
          <a:lstStyle/>
          <a:p>
            <a:pPr marL="0" indent="0" algn="just">
              <a:buNone/>
            </a:pPr>
            <a:r>
              <a:rPr lang="en-US" dirty="0" err="1"/>
              <a:t>GraphRAG</a:t>
            </a:r>
            <a:r>
              <a:rPr lang="en-US" dirty="0"/>
              <a:t> identifies unusual patterns that deviate from expected behavior. For example, in financial services, it can detect suspicious transaction patterns to prevent fraud or uncover cross-selling opportunities by analyzing customer behavior. By connecting multiple small transactions across accounts, </a:t>
            </a:r>
            <a:r>
              <a:rPr lang="en-US" dirty="0" err="1"/>
              <a:t>GraphRAG</a:t>
            </a:r>
            <a:r>
              <a:rPr lang="en-US" dirty="0"/>
              <a:t> can reveal larger fraudulent schemes, helping banks enhance risk management and provide more personalized services. </a:t>
            </a:r>
          </a:p>
        </p:txBody>
      </p:sp>
    </p:spTree>
    <p:extLst>
      <p:ext uri="{BB962C8B-B14F-4D97-AF65-F5344CB8AC3E}">
        <p14:creationId xmlns:p14="http://schemas.microsoft.com/office/powerpoint/2010/main" val="744069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1A2B6-9D7B-0B51-FC01-063673561E66}"/>
              </a:ext>
            </a:extLst>
          </p:cNvPr>
          <p:cNvSpPr>
            <a:spLocks noGrp="1"/>
          </p:cNvSpPr>
          <p:nvPr>
            <p:ph type="title"/>
          </p:nvPr>
        </p:nvSpPr>
        <p:spPr/>
        <p:txBody>
          <a:bodyPr/>
          <a:lstStyle/>
          <a:p>
            <a:r>
              <a:rPr lang="en-US" dirty="0"/>
              <a:t>Knowledge management and retrieval</a:t>
            </a:r>
            <a:br>
              <a:rPr lang="en-US" dirty="0"/>
            </a:br>
            <a:endParaRPr lang="en-US" dirty="0"/>
          </a:p>
        </p:txBody>
      </p:sp>
      <p:sp>
        <p:nvSpPr>
          <p:cNvPr id="3" name="Content Placeholder 2">
            <a:extLst>
              <a:ext uri="{FF2B5EF4-FFF2-40B4-BE49-F238E27FC236}">
                <a16:creationId xmlns:a16="http://schemas.microsoft.com/office/drawing/2014/main" id="{3F747DE9-37B3-02CB-8B14-8CE191334D61}"/>
              </a:ext>
            </a:extLst>
          </p:cNvPr>
          <p:cNvSpPr>
            <a:spLocks noGrp="1"/>
          </p:cNvSpPr>
          <p:nvPr>
            <p:ph idx="1"/>
          </p:nvPr>
        </p:nvSpPr>
        <p:spPr/>
        <p:txBody>
          <a:bodyPr/>
          <a:lstStyle/>
          <a:p>
            <a:pPr marL="0" indent="0" algn="just">
              <a:buNone/>
            </a:pPr>
            <a:r>
              <a:rPr lang="en-US" dirty="0" err="1"/>
              <a:t>GraphRAG</a:t>
            </a:r>
            <a:r>
              <a:rPr lang="en-US" dirty="0"/>
              <a:t> can enhance knowledge management by organizing and retrieving documents in a way that makes knowledge more accessible and tailored to specific queries. It analyzes the context and relationships between various documents and helps extract the most relevant information quickly and effectively. For example, one prominent use case of </a:t>
            </a:r>
            <a:r>
              <a:rPr lang="en-US" dirty="0" err="1"/>
              <a:t>GraphRAG</a:t>
            </a:r>
            <a:r>
              <a:rPr lang="en-US" dirty="0"/>
              <a:t> is in law firms, where it excels at managing vast collections of legal documents. By analyzing the relationships and context within thousands of legal documents, </a:t>
            </a:r>
            <a:r>
              <a:rPr lang="en-US" dirty="0" err="1"/>
              <a:t>GraphRAG</a:t>
            </a:r>
            <a:r>
              <a:rPr lang="en-US" dirty="0"/>
              <a:t> can efficiently retrieve relevant case precedents or legal references, streamlining research workflows and significantly improving accuracy.</a:t>
            </a:r>
          </a:p>
        </p:txBody>
      </p:sp>
    </p:spTree>
    <p:extLst>
      <p:ext uri="{BB962C8B-B14F-4D97-AF65-F5344CB8AC3E}">
        <p14:creationId xmlns:p14="http://schemas.microsoft.com/office/powerpoint/2010/main" val="2996888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01020-E019-1BCB-E8B7-87477FF1C5A7}"/>
              </a:ext>
            </a:extLst>
          </p:cNvPr>
          <p:cNvSpPr>
            <a:spLocks noGrp="1"/>
          </p:cNvSpPr>
          <p:nvPr>
            <p:ph type="title"/>
          </p:nvPr>
        </p:nvSpPr>
        <p:spPr>
          <a:xfrm>
            <a:off x="1141412" y="0"/>
            <a:ext cx="9144001" cy="1371600"/>
          </a:xfrm>
        </p:spPr>
        <p:txBody>
          <a:bodyPr/>
          <a:lstStyle/>
          <a:p>
            <a:r>
              <a:rPr lang="en-US" dirty="0"/>
              <a:t>Challenges of </a:t>
            </a:r>
            <a:r>
              <a:rPr lang="en-US" dirty="0" err="1"/>
              <a:t>GraphRAG</a:t>
            </a:r>
            <a:br>
              <a:rPr lang="en-US" dirty="0"/>
            </a:br>
            <a:endParaRPr lang="en-US" dirty="0"/>
          </a:p>
        </p:txBody>
      </p:sp>
      <p:sp>
        <p:nvSpPr>
          <p:cNvPr id="3" name="Content Placeholder 2">
            <a:extLst>
              <a:ext uri="{FF2B5EF4-FFF2-40B4-BE49-F238E27FC236}">
                <a16:creationId xmlns:a16="http://schemas.microsoft.com/office/drawing/2014/main" id="{D83319D1-2B27-B00F-CA42-0D4D10169A2E}"/>
              </a:ext>
            </a:extLst>
          </p:cNvPr>
          <p:cNvSpPr>
            <a:spLocks noGrp="1"/>
          </p:cNvSpPr>
          <p:nvPr>
            <p:ph idx="1"/>
          </p:nvPr>
        </p:nvSpPr>
        <p:spPr>
          <a:xfrm>
            <a:off x="836612" y="1295401"/>
            <a:ext cx="10515599" cy="4724400"/>
          </a:xfrm>
        </p:spPr>
        <p:txBody>
          <a:bodyPr>
            <a:normAutofit fontScale="32500" lnSpcReduction="20000"/>
          </a:bodyPr>
          <a:lstStyle/>
          <a:p>
            <a:pPr fontAlgn="base"/>
            <a:r>
              <a:rPr lang="en-US" sz="8600" dirty="0" err="1"/>
              <a:t>GraphRAG</a:t>
            </a:r>
            <a:r>
              <a:rPr lang="en-US" sz="8600" dirty="0"/>
              <a:t> systems present challenges such as managing complex data relationships, helping ensure efficient retrieval and integrating with language models. These challenges can be addressed through careful graph schema design, optimized query strategies and leveraging robust tools. The primary challenges associated with </a:t>
            </a:r>
            <a:r>
              <a:rPr lang="en-US" sz="8600" dirty="0" err="1"/>
              <a:t>GraphRAG</a:t>
            </a:r>
            <a:r>
              <a:rPr lang="en-US" sz="8600" dirty="0"/>
              <a:t> are:</a:t>
            </a:r>
          </a:p>
          <a:p>
            <a:pPr fontAlgn="base"/>
            <a:r>
              <a:rPr lang="en-US" sz="8600" dirty="0"/>
              <a:t>Scalability</a:t>
            </a:r>
          </a:p>
          <a:p>
            <a:pPr fontAlgn="base"/>
            <a:r>
              <a:rPr lang="en-US" sz="8600" dirty="0"/>
              <a:t>Streamlining component integration</a:t>
            </a:r>
          </a:p>
          <a:p>
            <a:pPr fontAlgn="base"/>
            <a:r>
              <a:rPr lang="en-US" sz="8600" dirty="0"/>
              <a:t>Reliability</a:t>
            </a:r>
          </a:p>
          <a:p>
            <a:pPr fontAlgn="base"/>
            <a:r>
              <a:rPr lang="en-US" sz="8600" dirty="0"/>
              <a:t>Privacy and safety</a:t>
            </a:r>
          </a:p>
          <a:p>
            <a:pPr fontAlgn="base"/>
            <a:r>
              <a:rPr lang="en-US" sz="8600" dirty="0"/>
              <a:t>Explainability</a:t>
            </a:r>
          </a:p>
          <a:p>
            <a:endParaRPr lang="en-US" dirty="0"/>
          </a:p>
        </p:txBody>
      </p:sp>
    </p:spTree>
    <p:extLst>
      <p:ext uri="{BB962C8B-B14F-4D97-AF65-F5344CB8AC3E}">
        <p14:creationId xmlns:p14="http://schemas.microsoft.com/office/powerpoint/2010/main" val="2202002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4B9CF-41DA-A689-C480-E6B8351DB233}"/>
              </a:ext>
            </a:extLst>
          </p:cNvPr>
          <p:cNvSpPr>
            <a:spLocks noGrp="1"/>
          </p:cNvSpPr>
          <p:nvPr>
            <p:ph type="title"/>
          </p:nvPr>
        </p:nvSpPr>
        <p:spPr>
          <a:xfrm>
            <a:off x="1250908" y="152400"/>
            <a:ext cx="9144001" cy="1371600"/>
          </a:xfrm>
        </p:spPr>
        <p:txBody>
          <a:bodyPr>
            <a:normAutofit fontScale="90000"/>
          </a:bodyPr>
          <a:lstStyle/>
          <a:p>
            <a:r>
              <a:rPr lang="en-US" dirty="0"/>
              <a:t>Frameworks for building a </a:t>
            </a:r>
            <a:r>
              <a:rPr lang="en-US" dirty="0" err="1"/>
              <a:t>GraphRAG</a:t>
            </a:r>
            <a:r>
              <a:rPr lang="en-US" dirty="0"/>
              <a:t> system</a:t>
            </a:r>
            <a:br>
              <a:rPr lang="en-US" dirty="0"/>
            </a:br>
            <a:endParaRPr lang="en-US" dirty="0"/>
          </a:p>
        </p:txBody>
      </p:sp>
      <p:sp>
        <p:nvSpPr>
          <p:cNvPr id="3" name="Content Placeholder 2">
            <a:extLst>
              <a:ext uri="{FF2B5EF4-FFF2-40B4-BE49-F238E27FC236}">
                <a16:creationId xmlns:a16="http://schemas.microsoft.com/office/drawing/2014/main" id="{E1DB898B-5E69-D729-58AF-F197B5B4D1A3}"/>
              </a:ext>
            </a:extLst>
          </p:cNvPr>
          <p:cNvSpPr>
            <a:spLocks noGrp="1"/>
          </p:cNvSpPr>
          <p:nvPr>
            <p:ph idx="1"/>
          </p:nvPr>
        </p:nvSpPr>
        <p:spPr>
          <a:xfrm>
            <a:off x="989012" y="1904999"/>
            <a:ext cx="10439399" cy="4343401"/>
          </a:xfrm>
        </p:spPr>
        <p:txBody>
          <a:bodyPr>
            <a:normAutofit fontScale="92500" lnSpcReduction="10000"/>
          </a:bodyPr>
          <a:lstStyle/>
          <a:p>
            <a:pPr algn="just" fontAlgn="base"/>
            <a:r>
              <a:rPr lang="en-US" dirty="0" err="1"/>
              <a:t>GraphRAG</a:t>
            </a:r>
            <a:r>
              <a:rPr lang="en-US" dirty="0"/>
              <a:t> systems can be implemented by using various tools and frameworks, including open source options, to support document processing, knowledge graph creation, semantic search and LLM integration. Popular tools include </a:t>
            </a:r>
            <a:r>
              <a:rPr lang="en-US" dirty="0" err="1">
                <a:hlinkClick r:id="rId2"/>
              </a:rPr>
              <a:t>LangChain</a:t>
            </a:r>
            <a:r>
              <a:rPr lang="en-US" dirty="0"/>
              <a:t>, </a:t>
            </a:r>
            <a:r>
              <a:rPr lang="en-US" dirty="0" err="1">
                <a:hlinkClick r:id="rId3"/>
              </a:rPr>
              <a:t>LlamaIndex</a:t>
            </a:r>
            <a:r>
              <a:rPr lang="en-US" dirty="0"/>
              <a:t>, </a:t>
            </a:r>
            <a:r>
              <a:rPr lang="en-US" dirty="0" err="1"/>
              <a:t>Langflow</a:t>
            </a:r>
            <a:r>
              <a:rPr lang="en-US" dirty="0"/>
              <a:t>, </a:t>
            </a:r>
            <a:r>
              <a:rPr lang="en-US" dirty="0" err="1"/>
              <a:t>AstraDB</a:t>
            </a:r>
            <a:r>
              <a:rPr lang="en-US" dirty="0"/>
              <a:t> from IBM® </a:t>
            </a:r>
            <a:r>
              <a:rPr lang="en-US" dirty="0" err="1"/>
              <a:t>watsonx.data</a:t>
            </a:r>
            <a:r>
              <a:rPr lang="en-US" dirty="0"/>
              <a:t>® and OpenAI, with additional resources and </a:t>
            </a:r>
            <a:r>
              <a:rPr lang="en-US" dirty="0">
                <a:hlinkClick r:id="rId4"/>
              </a:rPr>
              <a:t>tutorials</a:t>
            </a:r>
            <a:r>
              <a:rPr lang="en-US" dirty="0"/>
              <a:t> available on platforms such as GitHub.  </a:t>
            </a:r>
          </a:p>
          <a:p>
            <a:pPr algn="just" fontAlgn="base"/>
            <a:r>
              <a:rPr lang="en-US" dirty="0"/>
              <a:t>These tools work together to enable semantic search by using vector embeddings, </a:t>
            </a:r>
            <a:r>
              <a:rPr lang="en-US" dirty="0">
                <a:hlinkClick r:id="rId5"/>
              </a:rPr>
              <a:t>metadata</a:t>
            </a:r>
            <a:r>
              <a:rPr lang="en-US" dirty="0"/>
              <a:t> handling for transparency and context-aware response generation. LLMs including OpenAI </a:t>
            </a:r>
            <a:r>
              <a:rPr lang="en-US" dirty="0">
                <a:hlinkClick r:id="rId6"/>
              </a:rPr>
              <a:t>GPT</a:t>
            </a:r>
            <a:r>
              <a:rPr lang="en-US" dirty="0"/>
              <a:t> models, integrated through </a:t>
            </a:r>
            <a:r>
              <a:rPr lang="en-US" dirty="0">
                <a:hlinkClick r:id="rId7"/>
              </a:rPr>
              <a:t>API</a:t>
            </a:r>
            <a:r>
              <a:rPr lang="en-US" dirty="0"/>
              <a:t>s, help produce accurate and relevant answers based on retrieved graph data. </a:t>
            </a:r>
          </a:p>
          <a:p>
            <a:pPr algn="just" fontAlgn="base"/>
            <a:r>
              <a:rPr lang="en-US" dirty="0" err="1"/>
              <a:t>GraphRAG</a:t>
            </a:r>
            <a:r>
              <a:rPr lang="en-US" dirty="0"/>
              <a:t> is a big step forward from traditional RAG systems, which are limited by linear retrieval methods. It combines the power of knowledge graphs, semantic search and advanced language models. As industries demand deeper understanding and interconnected insights, </a:t>
            </a:r>
            <a:r>
              <a:rPr lang="en-US" dirty="0" err="1"/>
              <a:t>GraphRAG</a:t>
            </a:r>
            <a:r>
              <a:rPr lang="en-US" dirty="0"/>
              <a:t> is set to become a key technology. It will enable smarter, more dynamic and highly adaptive information systems in the future.</a:t>
            </a:r>
          </a:p>
          <a:p>
            <a:pPr algn="just"/>
            <a:endParaRPr lang="en-US" dirty="0"/>
          </a:p>
        </p:txBody>
      </p:sp>
    </p:spTree>
    <p:extLst>
      <p:ext uri="{BB962C8B-B14F-4D97-AF65-F5344CB8AC3E}">
        <p14:creationId xmlns:p14="http://schemas.microsoft.com/office/powerpoint/2010/main" val="1172793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17CFB-9509-44A4-C26D-5EF4DE22E78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75BF0B1-2AB4-4D37-C992-7FEDFC286AFA}"/>
              </a:ext>
            </a:extLst>
          </p:cNvPr>
          <p:cNvSpPr>
            <a:spLocks noGrp="1"/>
          </p:cNvSpPr>
          <p:nvPr>
            <p:ph idx="1"/>
          </p:nvPr>
        </p:nvSpPr>
        <p:spPr/>
        <p:txBody>
          <a:bodyPr/>
          <a:lstStyle/>
          <a:p>
            <a:r>
              <a:rPr lang="en-US" dirty="0" err="1"/>
              <a:t>graph_maker_example.ipynb</a:t>
            </a:r>
            <a:endParaRPr lang="en-US" dirty="0"/>
          </a:p>
          <a:p>
            <a:endParaRPr lang="en-US" dirty="0"/>
          </a:p>
          <a:p>
            <a:r>
              <a:rPr lang="en-US" dirty="0"/>
              <a:t>https://towardsdatascience.com/text-to-knowledge-graph-made-easy-with-graph-maker-f3f890c0dbe8/?source=post_page-----19822c0c0477---------------------------------------</a:t>
            </a:r>
          </a:p>
        </p:txBody>
      </p:sp>
    </p:spTree>
    <p:extLst>
      <p:ext uri="{BB962C8B-B14F-4D97-AF65-F5344CB8AC3E}">
        <p14:creationId xmlns:p14="http://schemas.microsoft.com/office/powerpoint/2010/main" val="2782657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B476D-3C39-6A30-1E7F-230084B29A31}"/>
              </a:ext>
            </a:extLst>
          </p:cNvPr>
          <p:cNvSpPr>
            <a:spLocks noGrp="1"/>
          </p:cNvSpPr>
          <p:nvPr>
            <p:ph type="title"/>
          </p:nvPr>
        </p:nvSpPr>
        <p:spPr/>
        <p:txBody>
          <a:bodyPr/>
          <a:lstStyle/>
          <a:p>
            <a:r>
              <a:rPr lang="en-US"/>
              <a:t>Knowledge Graph</a:t>
            </a:r>
          </a:p>
        </p:txBody>
      </p:sp>
      <p:pic>
        <p:nvPicPr>
          <p:cNvPr id="5" name="Picture 4">
            <a:extLst>
              <a:ext uri="{FF2B5EF4-FFF2-40B4-BE49-F238E27FC236}">
                <a16:creationId xmlns:a16="http://schemas.microsoft.com/office/drawing/2014/main" id="{AEE996D8-4ACE-9D72-B8E5-EF6343D6C884}"/>
              </a:ext>
            </a:extLst>
          </p:cNvPr>
          <p:cNvPicPr>
            <a:picLocks noChangeAspect="1"/>
          </p:cNvPicPr>
          <p:nvPr/>
        </p:nvPicPr>
        <p:blipFill>
          <a:blip r:embed="rId2"/>
          <a:stretch>
            <a:fillRect/>
          </a:stretch>
        </p:blipFill>
        <p:spPr>
          <a:xfrm>
            <a:off x="1558039" y="2018678"/>
            <a:ext cx="8954750" cy="4458322"/>
          </a:xfrm>
          <a:prstGeom prst="rect">
            <a:avLst/>
          </a:prstGeom>
        </p:spPr>
      </p:pic>
    </p:spTree>
    <p:extLst>
      <p:ext uri="{BB962C8B-B14F-4D97-AF65-F5344CB8AC3E}">
        <p14:creationId xmlns:p14="http://schemas.microsoft.com/office/powerpoint/2010/main" val="3747186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1BEAC-D670-866B-E300-D4C37E7D9B7B}"/>
              </a:ext>
            </a:extLst>
          </p:cNvPr>
          <p:cNvSpPr>
            <a:spLocks noGrp="1"/>
          </p:cNvSpPr>
          <p:nvPr>
            <p:ph type="title"/>
          </p:nvPr>
        </p:nvSpPr>
        <p:spPr>
          <a:xfrm>
            <a:off x="1827212" y="2667000"/>
            <a:ext cx="9144001" cy="1371600"/>
          </a:xfrm>
        </p:spPr>
        <p:txBody>
          <a:bodyPr>
            <a:noAutofit/>
          </a:bodyPr>
          <a:lstStyle/>
          <a:p>
            <a:r>
              <a:rPr lang="en-US" sz="9600" dirty="0"/>
              <a:t>Thank You</a:t>
            </a:r>
          </a:p>
        </p:txBody>
      </p:sp>
    </p:spTree>
    <p:extLst>
      <p:ext uri="{BB962C8B-B14F-4D97-AF65-F5344CB8AC3E}">
        <p14:creationId xmlns:p14="http://schemas.microsoft.com/office/powerpoint/2010/main" val="524397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Digital Blue Tunnel 16x9">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2895261.potx" id="{4CBF9558-C12D-4F51-9AA3-9D0796951DBC}" vid="{FFC159E6-A134-46E7-B1A0-C306E39FC295}"/>
    </a:ext>
  </a:extLst>
</a:theme>
</file>

<file path=ppt/theme/theme2.xml><?xml version="1.0" encoding="utf-8"?>
<a:theme xmlns:a="http://schemas.openxmlformats.org/drawingml/2006/main" name="Office Theme">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digital blue tunnel presentation (widescreen)</Template>
  <TotalTime>890</TotalTime>
  <Words>4759</Words>
  <Application>Microsoft Office PowerPoint</Application>
  <PresentationFormat>Custom</PresentationFormat>
  <Paragraphs>136</Paragraphs>
  <Slides>57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57</vt:i4>
      </vt:variant>
    </vt:vector>
  </HeadingPairs>
  <TitlesOfParts>
    <vt:vector size="62" baseType="lpstr">
      <vt:lpstr>Arial</vt:lpstr>
      <vt:lpstr>Corbel</vt:lpstr>
      <vt:lpstr>Inter</vt:lpstr>
      <vt:lpstr>Public Sans</vt:lpstr>
      <vt:lpstr>Digital Blue Tunnel 16x9</vt:lpstr>
      <vt:lpstr>From Text to a Knowledge Graph: The Information Extraction Pipeline</vt:lpstr>
      <vt:lpstr>Introduction to knowledge Graph</vt:lpstr>
      <vt:lpstr>PowerPoint Presentation</vt:lpstr>
      <vt:lpstr>How It Work? </vt:lpstr>
      <vt:lpstr>PowerPoint Presentation</vt:lpstr>
      <vt:lpstr>PowerPoint Presentation</vt:lpstr>
      <vt:lpstr>A node or an entity can have multiple relations as well.</vt:lpstr>
      <vt:lpstr>Traditional NLP technique</vt:lpstr>
      <vt:lpstr>Example of sentence segmentation</vt:lpstr>
      <vt:lpstr>PowerPoint Presentation</vt:lpstr>
      <vt:lpstr>Entities Extraction </vt:lpstr>
      <vt:lpstr>Extract Relations </vt:lpstr>
      <vt:lpstr>PowerPoint Presentation</vt:lpstr>
      <vt:lpstr>Entity Pairs Extraction </vt:lpstr>
      <vt:lpstr>4-Step Pipeline </vt:lpstr>
      <vt:lpstr>PowerPoint Presentation</vt:lpstr>
      <vt:lpstr>Step 1: Coreference Resolution </vt:lpstr>
      <vt:lpstr>explaination</vt:lpstr>
      <vt:lpstr>Step 2: Named Entity Recognition </vt:lpstr>
      <vt:lpstr>PowerPoint Presentation</vt:lpstr>
      <vt:lpstr>Entity Disambiguation and Entity Linking</vt:lpstr>
      <vt:lpstr>PowerPoint Presentation</vt:lpstr>
      <vt:lpstr>PowerPoint Presentation</vt:lpstr>
      <vt:lpstr>Co-Occurrence Graphs</vt:lpstr>
      <vt:lpstr>PowerPoint Presentation</vt:lpstr>
      <vt:lpstr>Step 3: Relationship Extraction </vt:lpstr>
      <vt:lpstr>PowerPoint Presentation</vt:lpstr>
      <vt:lpstr>Rule-Based Relationship Extraction</vt:lpstr>
      <vt:lpstr>PowerPoint Presentation</vt:lpstr>
      <vt:lpstr>NLP Model Based Relationship Extraction</vt:lpstr>
      <vt:lpstr>Training Your NLP Model Using Wiki80</vt:lpstr>
      <vt:lpstr>Real World Example: Drug Repurposing</vt:lpstr>
      <vt:lpstr>PowerPoint Presentation</vt:lpstr>
      <vt:lpstr>PowerPoint Presentation</vt:lpstr>
      <vt:lpstr>PowerPoint Presentation</vt:lpstr>
      <vt:lpstr>Step 4: Knowledge Graph </vt:lpstr>
      <vt:lpstr>PowerPoint Presentation</vt:lpstr>
      <vt:lpstr>GraphRAG</vt:lpstr>
      <vt:lpstr>PowerPoint Presentation</vt:lpstr>
      <vt:lpstr>How does GraphRAG work? </vt:lpstr>
      <vt:lpstr>PowerPoint Presentation</vt:lpstr>
      <vt:lpstr>Components of GraphRAG </vt:lpstr>
      <vt:lpstr>Query processor </vt:lpstr>
      <vt:lpstr>Retriever </vt:lpstr>
      <vt:lpstr>Organizer </vt:lpstr>
      <vt:lpstr>Generator </vt:lpstr>
      <vt:lpstr>Applications of GraphRAG </vt:lpstr>
      <vt:lpstr>Query-focused text summarization (QFS) </vt:lpstr>
      <vt:lpstr>Personalized recommendations </vt:lpstr>
      <vt:lpstr>Decision support </vt:lpstr>
      <vt:lpstr>Fraud detection and prevention </vt:lpstr>
      <vt:lpstr>Knowledge management and retrieval </vt:lpstr>
      <vt:lpstr>Challenges of GraphRAG </vt:lpstr>
      <vt:lpstr>Frameworks for building a GraphRAG system </vt:lpstr>
      <vt:lpstr>PowerPoint Presentation</vt:lpstr>
      <vt:lpstr>Knowledge Graph</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Rakhee Chhibber</dc:creator>
  <cp:lastModifiedBy>Rakhee Chhibber</cp:lastModifiedBy>
  <cp:revision>4</cp:revision>
  <dcterms:created xsi:type="dcterms:W3CDTF">2026-05-05T16:10:17Z</dcterms:created>
  <dcterms:modified xsi:type="dcterms:W3CDTF">2026-05-07T04:12:56Z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
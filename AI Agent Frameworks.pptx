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77"/>
  </p:notesMasterIdLst>
  <p:handoutMasterIdLst>
    <p:handoutMasterId r:id="rId78"/>
  </p:handoutMasterIdLst>
  <p:sldIdLst>
    <p:sldId id="256" r:id="rId5"/>
    <p:sldId id="257" r:id="rId6"/>
    <p:sldId id="357" r:id="rId7"/>
    <p:sldId id="358" r:id="rId8"/>
    <p:sldId id="359" r:id="rId9"/>
    <p:sldId id="360" r:id="rId10"/>
    <p:sldId id="299" r:id="rId11"/>
    <p:sldId id="300" r:id="rId12"/>
    <p:sldId id="301" r:id="rId13"/>
    <p:sldId id="302" r:id="rId14"/>
    <p:sldId id="304" r:id="rId15"/>
    <p:sldId id="303" r:id="rId16"/>
    <p:sldId id="305" r:id="rId17"/>
    <p:sldId id="308" r:id="rId18"/>
    <p:sldId id="309" r:id="rId19"/>
    <p:sldId id="306" r:id="rId20"/>
    <p:sldId id="307" r:id="rId21"/>
    <p:sldId id="310" r:id="rId22"/>
    <p:sldId id="311" r:id="rId23"/>
    <p:sldId id="312" r:id="rId24"/>
    <p:sldId id="313" r:id="rId25"/>
    <p:sldId id="314" r:id="rId26"/>
    <p:sldId id="316" r:id="rId27"/>
    <p:sldId id="317" r:id="rId28"/>
    <p:sldId id="318" r:id="rId29"/>
    <p:sldId id="315" r:id="rId30"/>
    <p:sldId id="319" r:id="rId31"/>
    <p:sldId id="320" r:id="rId32"/>
    <p:sldId id="321" r:id="rId33"/>
    <p:sldId id="322" r:id="rId34"/>
    <p:sldId id="324"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 id="348" r:id="rId53"/>
    <p:sldId id="323" r:id="rId54"/>
    <p:sldId id="325" r:id="rId55"/>
    <p:sldId id="326" r:id="rId56"/>
    <p:sldId id="327" r:id="rId57"/>
    <p:sldId id="328" r:id="rId58"/>
    <p:sldId id="329" r:id="rId59"/>
    <p:sldId id="330" r:id="rId60"/>
    <p:sldId id="349" r:id="rId61"/>
    <p:sldId id="350" r:id="rId62"/>
    <p:sldId id="351" r:id="rId63"/>
    <p:sldId id="352" r:id="rId64"/>
    <p:sldId id="353" r:id="rId65"/>
    <p:sldId id="354" r:id="rId66"/>
    <p:sldId id="355" r:id="rId67"/>
    <p:sldId id="356" r:id="rId68"/>
    <p:sldId id="361" r:id="rId69"/>
    <p:sldId id="362" r:id="rId70"/>
    <p:sldId id="363" r:id="rId71"/>
    <p:sldId id="364" r:id="rId72"/>
    <p:sldId id="365" r:id="rId73"/>
    <p:sldId id="366" r:id="rId74"/>
    <p:sldId id="367" r:id="rId75"/>
    <p:sldId id="296"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333" autoAdjust="0"/>
  </p:normalViewPr>
  <p:slideViewPr>
    <p:cSldViewPr snapToGrid="0">
      <p:cViewPr varScale="1">
        <p:scale>
          <a:sx n="49" d="100"/>
          <a:sy n="49" d="100"/>
        </p:scale>
        <p:origin x="1268" y="7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8/10/relationships/authors" Target="author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6/12/2026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6/12/2026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53</a:t>
            </a:fld>
            <a:endParaRPr lang="en-US" dirty="0"/>
          </a:p>
        </p:txBody>
      </p:sp>
    </p:spTree>
    <p:extLst>
      <p:ext uri="{BB962C8B-B14F-4D97-AF65-F5344CB8AC3E}">
        <p14:creationId xmlns:p14="http://schemas.microsoft.com/office/powerpoint/2010/main" val="41420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72</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61" r:id="rId8"/>
    <p:sldLayoutId id="2147483666" r:id="rId9"/>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crewai.com/" TargetMode="External"/><Relationship Id="rId2" Type="http://schemas.openxmlformats.org/officeDocument/2006/relationships/hyperlink" Target="https://www.langchain.com/langgraph" TargetMode="External"/><Relationship Id="rId1" Type="http://schemas.openxmlformats.org/officeDocument/2006/relationships/slideLayout" Target="../slideLayouts/slideLayout2.xml"/><Relationship Id="rId4" Type="http://schemas.openxmlformats.org/officeDocument/2006/relationships/hyperlink" Target="https://learn.microsoft.com/en-us/semantic-kerne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ify.ai/" TargetMode="External"/><Relationship Id="rId7" Type="http://schemas.openxmlformats.org/officeDocument/2006/relationships/hyperlink" Target="https://zapier.com/central" TargetMode="External"/><Relationship Id="rId2" Type="http://schemas.openxmlformats.org/officeDocument/2006/relationships/hyperlink" Target="https://flowiseai.com/" TargetMode="External"/><Relationship Id="rId1" Type="http://schemas.openxmlformats.org/officeDocument/2006/relationships/slideLayout" Target="../slideLayouts/slideLayout2.xml"/><Relationship Id="rId6" Type="http://schemas.openxmlformats.org/officeDocument/2006/relationships/hyperlink" Target="https://www.langflow.org/" TargetMode="External"/><Relationship Id="rId5" Type="http://schemas.openxmlformats.org/officeDocument/2006/relationships/hyperlink" Target="https://www.microsoft.com/en-us/microsoft-copilot/microsoft-copilot-studio" TargetMode="External"/><Relationship Id="rId4" Type="http://schemas.openxmlformats.org/officeDocument/2006/relationships/hyperlink" Target="https://n8n.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machine-learning/what-is-langgraph/"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artificial-intelligence/introduction-to-langcha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artificial-intelligence/building-ai-agents-using-autoge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blogs/what-is-crewai/"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artificial-intelligence/semantic-kerne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s://www.geeksforgeeks.org/artificial-intelligence/introduction-to-langchai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a:t>AI Agent Frameworks</a:t>
            </a:r>
          </a:p>
        </p:txBody>
      </p:sp>
      <p:sp>
        <p:nvSpPr>
          <p:cNvPr id="3" name="TextBox 2">
            <a:extLst>
              <a:ext uri="{FF2B5EF4-FFF2-40B4-BE49-F238E27FC236}">
                <a16:creationId xmlns:a16="http://schemas.microsoft.com/office/drawing/2014/main" id="{E475A286-0964-FDEF-531F-3A18609F36D6}"/>
              </a:ext>
            </a:extLst>
          </p:cNvPr>
          <p:cNvSpPr txBox="1"/>
          <p:nvPr/>
        </p:nvSpPr>
        <p:spPr>
          <a:xfrm>
            <a:off x="4240530" y="4892040"/>
            <a:ext cx="3315716" cy="523220"/>
          </a:xfrm>
          <a:prstGeom prst="rect">
            <a:avLst/>
          </a:prstGeom>
          <a:noFill/>
        </p:spPr>
        <p:txBody>
          <a:bodyPr wrap="none" rtlCol="0">
            <a:spAutoFit/>
          </a:bodyPr>
          <a:lstStyle/>
          <a:p>
            <a:r>
              <a:rPr lang="en-US" sz="2800" dirty="0"/>
              <a:t>Dr. Rakhee Chhibber</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605790" y="2017467"/>
            <a:ext cx="10801350" cy="4463343"/>
          </a:xfrm>
        </p:spPr>
        <p:txBody>
          <a:bodyPr vert="horz" lIns="91440" tIns="45720" rIns="91440" bIns="45720" rtlCol="0" anchor="t">
            <a:normAutofit fontScale="77500" lnSpcReduction="20000"/>
          </a:bodyPr>
          <a:lstStyle/>
          <a:p>
            <a:r>
              <a:rPr lang="en-IN" dirty="0"/>
              <a:t>Agentic AI frameworks </a:t>
            </a:r>
          </a:p>
          <a:p>
            <a:r>
              <a:rPr lang="en-IN" dirty="0"/>
              <a:t>	– How to use Proprietary Vs Open Source frameworks </a:t>
            </a:r>
          </a:p>
          <a:p>
            <a:r>
              <a:rPr lang="en-IN" dirty="0"/>
              <a:t>	– Code based and No-Code based frameworks to build Agentic AI systems </a:t>
            </a:r>
          </a:p>
          <a:p>
            <a:r>
              <a:rPr lang="en-IN" dirty="0"/>
              <a:t>	– Building Multi step and Multi agent systems</a:t>
            </a:r>
            <a:r>
              <a:rPr lang="en-US" dirty="0"/>
              <a:t> </a:t>
            </a:r>
          </a:p>
          <a:p>
            <a:r>
              <a:rPr lang="en-IN" dirty="0"/>
              <a:t>Agentic AI systems using </a:t>
            </a:r>
            <a:r>
              <a:rPr lang="en-IN" dirty="0" err="1"/>
              <a:t>LangChain</a:t>
            </a:r>
            <a:r>
              <a:rPr lang="en-IN" dirty="0"/>
              <a:t>, </a:t>
            </a:r>
            <a:r>
              <a:rPr lang="en-IN" dirty="0" err="1"/>
              <a:t>LangGraph</a:t>
            </a:r>
            <a:r>
              <a:rPr lang="en-IN" dirty="0"/>
              <a:t>, </a:t>
            </a:r>
            <a:r>
              <a:rPr lang="en-IN" dirty="0" err="1"/>
              <a:t>BabyAGI</a:t>
            </a:r>
            <a:r>
              <a:rPr lang="en-IN" dirty="0"/>
              <a:t>, </a:t>
            </a:r>
            <a:r>
              <a:rPr lang="en-IN" dirty="0" err="1"/>
              <a:t>AutoGPT</a:t>
            </a:r>
            <a:r>
              <a:rPr lang="en-IN" dirty="0"/>
              <a:t> or Zapier </a:t>
            </a:r>
          </a:p>
          <a:p>
            <a:r>
              <a:rPr lang="en-IN" dirty="0"/>
              <a:t>CAMEL and Swarm intelligence approaches, </a:t>
            </a:r>
          </a:p>
          <a:p>
            <a:r>
              <a:rPr lang="en-IN" dirty="0"/>
              <a:t>Graph &amp; Symbolic Integration, </a:t>
            </a:r>
          </a:p>
          <a:p>
            <a:r>
              <a:rPr lang="en-IN" dirty="0" err="1"/>
              <a:t>GraphRAG</a:t>
            </a:r>
            <a:r>
              <a:rPr lang="en-IN" dirty="0"/>
              <a:t> / KG-RAG → Retrieval over knowledge graphs for better structured reasoning </a:t>
            </a:r>
          </a:p>
          <a:p>
            <a:r>
              <a:rPr lang="en-IN" dirty="0"/>
              <a:t>Neuro-Symbolic AI → Combine neural models with logic/rule-based engines</a:t>
            </a:r>
          </a:p>
          <a:p>
            <a:r>
              <a:rPr lang="en-IN" dirty="0"/>
              <a:t>Semantic Indexing → Embedding-based retrieval enhanced with ontologies or taxonomies</a:t>
            </a:r>
            <a:r>
              <a:rPr lang="en-US" dirty="0"/>
              <a:t> </a:t>
            </a:r>
            <a:br>
              <a:rPr lang="en-US" dirty="0"/>
            </a:br>
            <a:endParaRPr lang="en-US"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425FB-74AA-3D2E-C5E8-F675EB3D283E}"/>
              </a:ext>
            </a:extLst>
          </p:cNvPr>
          <p:cNvSpPr>
            <a:spLocks noGrp="1"/>
          </p:cNvSpPr>
          <p:nvPr>
            <p:ph type="title"/>
          </p:nvPr>
        </p:nvSpPr>
        <p:spPr/>
        <p:txBody>
          <a:bodyPr/>
          <a:lstStyle/>
          <a:p>
            <a:r>
              <a:rPr lang="en-US" dirty="0"/>
              <a:t>Agentic AI Systems</a:t>
            </a:r>
          </a:p>
        </p:txBody>
      </p:sp>
      <p:sp>
        <p:nvSpPr>
          <p:cNvPr id="3" name="Content Placeholder 2">
            <a:extLst>
              <a:ext uri="{FF2B5EF4-FFF2-40B4-BE49-F238E27FC236}">
                <a16:creationId xmlns:a16="http://schemas.microsoft.com/office/drawing/2014/main" id="{8E4C9209-FE4B-05C4-EAA2-3D25875D58C0}"/>
              </a:ext>
            </a:extLst>
          </p:cNvPr>
          <p:cNvSpPr>
            <a:spLocks noGrp="1"/>
          </p:cNvSpPr>
          <p:nvPr>
            <p:ph idx="1"/>
          </p:nvPr>
        </p:nvSpPr>
        <p:spPr/>
        <p:txBody>
          <a:bodyPr>
            <a:normAutofit/>
          </a:bodyPr>
          <a:lstStyle/>
          <a:p>
            <a:r>
              <a:rPr lang="en-US" sz="3600" dirty="0"/>
              <a:t>Building Agentic AI systems involves choosing between code-based frameworks, which offer granular control and high scalability, and no-code platforms, which prioritize rapid prototyping and accessibility for non-technical users.</a:t>
            </a:r>
          </a:p>
        </p:txBody>
      </p:sp>
    </p:spTree>
    <p:extLst>
      <p:ext uri="{BB962C8B-B14F-4D97-AF65-F5344CB8AC3E}">
        <p14:creationId xmlns:p14="http://schemas.microsoft.com/office/powerpoint/2010/main" val="2538353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FBBE1-0A3A-4E2D-800A-2EC8CFF760DC}"/>
              </a:ext>
            </a:extLst>
          </p:cNvPr>
          <p:cNvSpPr>
            <a:spLocks noGrp="1"/>
          </p:cNvSpPr>
          <p:nvPr>
            <p:ph type="title"/>
          </p:nvPr>
        </p:nvSpPr>
        <p:spPr/>
        <p:txBody>
          <a:bodyPr/>
          <a:lstStyle/>
          <a:p>
            <a:r>
              <a:rPr lang="en-US" dirty="0"/>
              <a:t>Code-Based Frameworks</a:t>
            </a:r>
          </a:p>
        </p:txBody>
      </p:sp>
      <p:sp>
        <p:nvSpPr>
          <p:cNvPr id="3" name="Content Placeholder 2">
            <a:extLst>
              <a:ext uri="{FF2B5EF4-FFF2-40B4-BE49-F238E27FC236}">
                <a16:creationId xmlns:a16="http://schemas.microsoft.com/office/drawing/2014/main" id="{A874CEB6-6749-518C-D323-E0F7784B39AE}"/>
              </a:ext>
            </a:extLst>
          </p:cNvPr>
          <p:cNvSpPr>
            <a:spLocks noGrp="1"/>
          </p:cNvSpPr>
          <p:nvPr>
            <p:ph idx="1"/>
          </p:nvPr>
        </p:nvSpPr>
        <p:spPr/>
        <p:txBody>
          <a:bodyPr/>
          <a:lstStyle/>
          <a:p>
            <a:r>
              <a:rPr lang="en-US" dirty="0"/>
              <a:t>These frameworks typically require Python or JavaScript expertise and are ideal for complex, stateful, or production-grade applications</a:t>
            </a:r>
          </a:p>
        </p:txBody>
      </p:sp>
    </p:spTree>
    <p:extLst>
      <p:ext uri="{BB962C8B-B14F-4D97-AF65-F5344CB8AC3E}">
        <p14:creationId xmlns:p14="http://schemas.microsoft.com/office/powerpoint/2010/main" val="672267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8E8-3884-2949-2F17-AD6F2C528D79}"/>
              </a:ext>
            </a:extLst>
          </p:cNvPr>
          <p:cNvSpPr>
            <a:spLocks noGrp="1"/>
          </p:cNvSpPr>
          <p:nvPr>
            <p:ph type="title"/>
          </p:nvPr>
        </p:nvSpPr>
        <p:spPr>
          <a:xfrm>
            <a:off x="1158864" y="102022"/>
            <a:ext cx="9779183" cy="916882"/>
          </a:xfrm>
        </p:spPr>
        <p:txBody>
          <a:bodyPr/>
          <a:lstStyle/>
          <a:p>
            <a:r>
              <a:rPr lang="en-US" dirty="0"/>
              <a:t>Code-Based Frameworks</a:t>
            </a:r>
          </a:p>
        </p:txBody>
      </p:sp>
      <p:sp>
        <p:nvSpPr>
          <p:cNvPr id="3" name="Content Placeholder 2">
            <a:extLst>
              <a:ext uri="{FF2B5EF4-FFF2-40B4-BE49-F238E27FC236}">
                <a16:creationId xmlns:a16="http://schemas.microsoft.com/office/drawing/2014/main" id="{64FEC1BC-8E97-9709-327A-954A734643A5}"/>
              </a:ext>
            </a:extLst>
          </p:cNvPr>
          <p:cNvSpPr>
            <a:spLocks noGrp="1"/>
          </p:cNvSpPr>
          <p:nvPr>
            <p:ph idx="1"/>
          </p:nvPr>
        </p:nvSpPr>
        <p:spPr>
          <a:xfrm>
            <a:off x="561703" y="1201783"/>
            <a:ext cx="11403874" cy="5185954"/>
          </a:xfrm>
        </p:spPr>
        <p:txBody>
          <a:bodyPr>
            <a:normAutofit fontScale="92500"/>
          </a:bodyPr>
          <a:lstStyle/>
          <a:p>
            <a:r>
              <a:rPr lang="en-US" dirty="0" err="1">
                <a:hlinkClick r:id="rId2"/>
              </a:rPr>
              <a:t>LangGraph</a:t>
            </a:r>
            <a:r>
              <a:rPr lang="en-US" dirty="0"/>
              <a:t>: A specialized extension of the </a:t>
            </a:r>
            <a:r>
              <a:rPr lang="en-US" dirty="0" err="1"/>
              <a:t>LangChain</a:t>
            </a:r>
            <a:r>
              <a:rPr lang="en-US" dirty="0"/>
              <a:t> ecosystem that uses a graph-based approach to build stateful multi-agent systems. It excels at complex workflows requiring precise engineering control, such as cyclical or branching logic.</a:t>
            </a:r>
          </a:p>
          <a:p>
            <a:r>
              <a:rPr lang="en-US" dirty="0" err="1">
                <a:hlinkClick r:id="rId3"/>
              </a:rPr>
              <a:t>CrewAI</a:t>
            </a:r>
            <a:r>
              <a:rPr lang="en-US" dirty="0"/>
              <a:t>: A high-abstraction framework designed to orchestrate "crews" of agents with defined roles, backstories, and tasks. It is frequently cited as the fastest programming framework for multi-agent development.</a:t>
            </a:r>
          </a:p>
          <a:p>
            <a:r>
              <a:rPr lang="en-US" b="1" dirty="0"/>
              <a:t>Microsoft </a:t>
            </a:r>
            <a:r>
              <a:rPr lang="en-US" b="1" dirty="0" err="1"/>
              <a:t>AutoGen</a:t>
            </a:r>
            <a:r>
              <a:rPr lang="en-US" dirty="0"/>
              <a:t>: Focuses on autonomous, asynchronous collaboration where agents interact through dynamic conversations. It is highly suited for research, complex simulations, and scenarios requiring multi-agent teamwork.</a:t>
            </a:r>
          </a:p>
          <a:p>
            <a:r>
              <a:rPr lang="en-US" dirty="0">
                <a:hlinkClick r:id="rId4"/>
              </a:rPr>
              <a:t>Semantic Kernel</a:t>
            </a:r>
            <a:r>
              <a:rPr lang="en-US" dirty="0"/>
              <a:t>: An enterprise-grade SDK from Microsoft for integrating LLMs into C#, Python, or Java applications. It is preferred for projects requiring strict governance, compliance, and deep integration with existing software stacks.</a:t>
            </a:r>
          </a:p>
          <a:p>
            <a:endParaRPr lang="en-US" dirty="0"/>
          </a:p>
        </p:txBody>
      </p:sp>
    </p:spTree>
    <p:extLst>
      <p:ext uri="{BB962C8B-B14F-4D97-AF65-F5344CB8AC3E}">
        <p14:creationId xmlns:p14="http://schemas.microsoft.com/office/powerpoint/2010/main" val="3690534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60572-9B1B-34C9-5023-68568E135E5B}"/>
              </a:ext>
            </a:extLst>
          </p:cNvPr>
          <p:cNvSpPr>
            <a:spLocks noGrp="1"/>
          </p:cNvSpPr>
          <p:nvPr>
            <p:ph type="title"/>
          </p:nvPr>
        </p:nvSpPr>
        <p:spPr>
          <a:xfrm>
            <a:off x="1158864" y="102021"/>
            <a:ext cx="9779183" cy="995259"/>
          </a:xfrm>
        </p:spPr>
        <p:txBody>
          <a:bodyPr/>
          <a:lstStyle/>
          <a:p>
            <a:r>
              <a:rPr lang="en-US" dirty="0"/>
              <a:t>No-Code &amp; Low-Code Platforms </a:t>
            </a:r>
          </a:p>
        </p:txBody>
      </p:sp>
      <p:sp>
        <p:nvSpPr>
          <p:cNvPr id="3" name="Content Placeholder 2">
            <a:extLst>
              <a:ext uri="{FF2B5EF4-FFF2-40B4-BE49-F238E27FC236}">
                <a16:creationId xmlns:a16="http://schemas.microsoft.com/office/drawing/2014/main" id="{5D1E178D-ABC3-5373-BEE0-72CF8514D241}"/>
              </a:ext>
            </a:extLst>
          </p:cNvPr>
          <p:cNvSpPr>
            <a:spLocks noGrp="1"/>
          </p:cNvSpPr>
          <p:nvPr>
            <p:ph idx="1"/>
          </p:nvPr>
        </p:nvSpPr>
        <p:spPr>
          <a:xfrm>
            <a:off x="1158865" y="1423851"/>
            <a:ext cx="9983752" cy="5081452"/>
          </a:xfrm>
        </p:spPr>
        <p:txBody>
          <a:bodyPr>
            <a:normAutofit fontScale="85000" lnSpcReduction="20000"/>
          </a:bodyPr>
          <a:lstStyle/>
          <a:p>
            <a:r>
              <a:rPr lang="en-US" dirty="0" err="1">
                <a:hlinkClick r:id="rId2"/>
              </a:rPr>
              <a:t>Flowise</a:t>
            </a:r>
            <a:r>
              <a:rPr lang="en-US" dirty="0"/>
              <a:t>: An open-source visual workflow builder that provides modular blocks to assemble anything from simple RAG systems to autonomous agents.</a:t>
            </a:r>
          </a:p>
          <a:p>
            <a:r>
              <a:rPr lang="en-US" dirty="0" err="1">
                <a:hlinkClick r:id="rId3"/>
              </a:rPr>
              <a:t>Dify</a:t>
            </a:r>
            <a:r>
              <a:rPr lang="en-US" dirty="0"/>
              <a:t>: A popular low-code platform featuring a polished UI for building and managing AI-powered applications without managing backend infrastructure.</a:t>
            </a:r>
          </a:p>
          <a:p>
            <a:r>
              <a:rPr lang="en-US" dirty="0">
                <a:hlinkClick r:id="rId4"/>
              </a:rPr>
              <a:t>n8n</a:t>
            </a:r>
            <a:r>
              <a:rPr lang="en-US" dirty="0"/>
              <a:t>: An automation-heavy tool that recently integrated AI agent features, allowing users to blend classic workflow automation with intelligent agents.</a:t>
            </a:r>
          </a:p>
          <a:p>
            <a:r>
              <a:rPr lang="en-US" dirty="0">
                <a:hlinkClick r:id="rId5"/>
              </a:rPr>
              <a:t>Microsoft Copilot Studio</a:t>
            </a:r>
            <a:r>
              <a:rPr lang="en-US" dirty="0"/>
              <a:t>: A no-code graphical environment for building agents deeply integrated with Microsoft 365, Azure, and Power Automate.</a:t>
            </a:r>
          </a:p>
          <a:p>
            <a:r>
              <a:rPr lang="en-US" dirty="0" err="1">
                <a:hlinkClick r:id="rId6"/>
              </a:rPr>
              <a:t>LangFlow</a:t>
            </a:r>
            <a:r>
              <a:rPr lang="en-US" dirty="0"/>
              <a:t>: A low-code visual builder specifically focused on agent workflows and rapid prototyping within the </a:t>
            </a:r>
            <a:r>
              <a:rPr lang="en-US" dirty="0" err="1"/>
              <a:t>LangChain</a:t>
            </a:r>
            <a:r>
              <a:rPr lang="en-US" dirty="0"/>
              <a:t> ecosystem.</a:t>
            </a:r>
          </a:p>
          <a:p>
            <a:r>
              <a:rPr lang="en-US" dirty="0">
                <a:hlinkClick r:id="rId7"/>
              </a:rPr>
              <a:t>Zapier Central</a:t>
            </a:r>
            <a:r>
              <a:rPr lang="en-US" dirty="0"/>
              <a:t>: An evolution of Zapier's automation platform that enables users to create AI-powered workflows in plain English, leveraging its ecosystem of over 7,000 integrations. </a:t>
            </a:r>
          </a:p>
        </p:txBody>
      </p:sp>
    </p:spTree>
    <p:extLst>
      <p:ext uri="{BB962C8B-B14F-4D97-AF65-F5344CB8AC3E}">
        <p14:creationId xmlns:p14="http://schemas.microsoft.com/office/powerpoint/2010/main" val="3805077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040A2-FF99-8222-F515-014CF8C01DB6}"/>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91189007-9028-7DAF-46D7-9707BC0A6648}"/>
              </a:ext>
            </a:extLst>
          </p:cNvPr>
          <p:cNvSpPr>
            <a:spLocks noGrp="1"/>
          </p:cNvSpPr>
          <p:nvPr>
            <p:ph idx="1"/>
          </p:nvPr>
        </p:nvSpPr>
        <p:spPr/>
        <p:txBody>
          <a:bodyPr/>
          <a:lstStyle/>
          <a:p>
            <a:r>
              <a:rPr lang="en-US" dirty="0"/>
              <a:t>AI agent frameworks are tools and platforms that help developers build intelligent agents capable of performing tasks autonomously, making decisions and interacting with users or systems. These frameworks simplify the development of agent‑based applications by providing components for reasoning, memory and tool integration.</a:t>
            </a:r>
          </a:p>
        </p:txBody>
      </p:sp>
    </p:spTree>
    <p:extLst>
      <p:ext uri="{BB962C8B-B14F-4D97-AF65-F5344CB8AC3E}">
        <p14:creationId xmlns:p14="http://schemas.microsoft.com/office/powerpoint/2010/main" val="3256705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764191D-1222-8F8B-6F14-3E450BDCEEB1}"/>
              </a:ext>
            </a:extLst>
          </p:cNvPr>
          <p:cNvPicPr>
            <a:picLocks noChangeAspect="1"/>
          </p:cNvPicPr>
          <p:nvPr/>
        </p:nvPicPr>
        <p:blipFill>
          <a:blip r:embed="rId2"/>
          <a:stretch>
            <a:fillRect/>
          </a:stretch>
        </p:blipFill>
        <p:spPr>
          <a:xfrm>
            <a:off x="588029" y="527388"/>
            <a:ext cx="11126662" cy="5359062"/>
          </a:xfrm>
          <a:prstGeom prst="rect">
            <a:avLst/>
          </a:prstGeom>
        </p:spPr>
      </p:pic>
    </p:spTree>
    <p:extLst>
      <p:ext uri="{BB962C8B-B14F-4D97-AF65-F5344CB8AC3E}">
        <p14:creationId xmlns:p14="http://schemas.microsoft.com/office/powerpoint/2010/main" val="1157154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9DA21-1E9A-0435-5750-AA19E0B3D777}"/>
              </a:ext>
            </a:extLst>
          </p:cNvPr>
          <p:cNvSpPr>
            <a:spLocks noGrp="1"/>
          </p:cNvSpPr>
          <p:nvPr>
            <p:ph type="ctrTitle"/>
          </p:nvPr>
        </p:nvSpPr>
        <p:spPr/>
        <p:txBody>
          <a:bodyPr/>
          <a:lstStyle/>
          <a:p>
            <a:r>
              <a:rPr lang="en-US" dirty="0"/>
              <a:t>1. </a:t>
            </a:r>
            <a:r>
              <a:rPr lang="en-US" dirty="0" err="1"/>
              <a:t>LangGraph</a:t>
            </a:r>
            <a:endParaRPr lang="en-US" dirty="0"/>
          </a:p>
        </p:txBody>
      </p:sp>
    </p:spTree>
    <p:extLst>
      <p:ext uri="{BB962C8B-B14F-4D97-AF65-F5344CB8AC3E}">
        <p14:creationId xmlns:p14="http://schemas.microsoft.com/office/powerpoint/2010/main" val="3928634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1F306-08F6-6D15-CE01-DB4DA2005E9D}"/>
              </a:ext>
            </a:extLst>
          </p:cNvPr>
          <p:cNvSpPr>
            <a:spLocks noGrp="1"/>
          </p:cNvSpPr>
          <p:nvPr>
            <p:ph type="title"/>
          </p:nvPr>
        </p:nvSpPr>
        <p:spPr/>
        <p:txBody>
          <a:bodyPr/>
          <a:lstStyle/>
          <a:p>
            <a:r>
              <a:rPr lang="en-US" dirty="0"/>
              <a:t>1. </a:t>
            </a:r>
            <a:r>
              <a:rPr lang="en-US" dirty="0" err="1"/>
              <a:t>LangGraph</a:t>
            </a:r>
            <a:br>
              <a:rPr lang="en-US" dirty="0"/>
            </a:br>
            <a:endParaRPr lang="en-US" dirty="0"/>
          </a:p>
        </p:txBody>
      </p:sp>
      <p:sp>
        <p:nvSpPr>
          <p:cNvPr id="3" name="Content Placeholder 2">
            <a:extLst>
              <a:ext uri="{FF2B5EF4-FFF2-40B4-BE49-F238E27FC236}">
                <a16:creationId xmlns:a16="http://schemas.microsoft.com/office/drawing/2014/main" id="{EB5E1A8B-5A78-78C5-FC0F-9C732592BE96}"/>
              </a:ext>
            </a:extLst>
          </p:cNvPr>
          <p:cNvSpPr>
            <a:spLocks noGrp="1"/>
          </p:cNvSpPr>
          <p:nvPr>
            <p:ph idx="1"/>
          </p:nvPr>
        </p:nvSpPr>
        <p:spPr>
          <a:xfrm>
            <a:off x="891540" y="1508760"/>
            <a:ext cx="10321290" cy="4812030"/>
          </a:xfrm>
        </p:spPr>
        <p:txBody>
          <a:bodyPr>
            <a:normAutofit fontScale="85000" lnSpcReduction="20000"/>
          </a:bodyPr>
          <a:lstStyle/>
          <a:p>
            <a:pPr fontAlgn="base"/>
            <a:r>
              <a:rPr lang="en-US" u="sng" dirty="0" err="1">
                <a:hlinkClick r:id="rId2"/>
              </a:rPr>
              <a:t>LangGraph</a:t>
            </a:r>
            <a:r>
              <a:rPr lang="en-US" u="sng" dirty="0">
                <a:hlinkClick r:id="rId2"/>
              </a:rPr>
              <a:t> </a:t>
            </a:r>
            <a:r>
              <a:rPr lang="en-US" dirty="0"/>
              <a:t>is a framework used to build advanced AI agents that handle complex, stateful workflows. It uses graph-based execution, enabling step-by-step and branching logic for better control over agent behavior.</a:t>
            </a:r>
          </a:p>
          <a:p>
            <a:pPr fontAlgn="base"/>
            <a:r>
              <a:rPr lang="en-US" b="1" dirty="0"/>
              <a:t>Workflow Control: </a:t>
            </a:r>
            <a:r>
              <a:rPr lang="en-US" dirty="0"/>
              <a:t>Design step-by-step and branching workflows, supporting multi-agent and sequential execution.</a:t>
            </a:r>
          </a:p>
          <a:p>
            <a:pPr fontAlgn="base"/>
            <a:r>
              <a:rPr lang="en-US" b="1" dirty="0" err="1"/>
              <a:t>Statefulness</a:t>
            </a:r>
            <a:r>
              <a:rPr lang="en-US" b="1" dirty="0"/>
              <a:t>:</a:t>
            </a:r>
            <a:r>
              <a:rPr lang="en-US" dirty="0"/>
              <a:t> Maintains state across steps, allowing agents to track progress and continue tasks smoothly.</a:t>
            </a:r>
          </a:p>
          <a:p>
            <a:pPr fontAlgn="base"/>
            <a:r>
              <a:rPr lang="en-US" b="1" dirty="0"/>
              <a:t>Adaptive RAG:</a:t>
            </a:r>
            <a:r>
              <a:rPr lang="en-US" dirty="0"/>
              <a:t> Enables context-aware reasoning by integrating retrieval into workflows.</a:t>
            </a:r>
          </a:p>
          <a:p>
            <a:pPr fontAlgn="base"/>
            <a:r>
              <a:rPr lang="en-US" b="1" dirty="0"/>
              <a:t>Extensible Design:</a:t>
            </a:r>
            <a:r>
              <a:rPr lang="en-US" dirty="0"/>
              <a:t> Easily integrates with LLMs, tools and external systems for custom workflows.</a:t>
            </a:r>
          </a:p>
          <a:p>
            <a:pPr fontAlgn="base"/>
            <a:r>
              <a:rPr lang="en-US" b="1" i="1" dirty="0"/>
              <a:t>Use Case: </a:t>
            </a:r>
            <a:r>
              <a:rPr lang="en-US" i="1" dirty="0"/>
              <a:t>Automating support ticket where agent receives input, gathers context and autonomously routes and resolves queries, escalating only when necessary.</a:t>
            </a:r>
          </a:p>
          <a:p>
            <a:endParaRPr lang="en-US" dirty="0"/>
          </a:p>
        </p:txBody>
      </p:sp>
    </p:spTree>
    <p:extLst>
      <p:ext uri="{BB962C8B-B14F-4D97-AF65-F5344CB8AC3E}">
        <p14:creationId xmlns:p14="http://schemas.microsoft.com/office/powerpoint/2010/main" val="3831723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D414-DF8B-76E8-4049-C3F1D5EB6D54}"/>
              </a:ext>
            </a:extLst>
          </p:cNvPr>
          <p:cNvSpPr>
            <a:spLocks noGrp="1"/>
          </p:cNvSpPr>
          <p:nvPr>
            <p:ph type="title"/>
          </p:nvPr>
        </p:nvSpPr>
        <p:spPr/>
        <p:txBody>
          <a:bodyPr/>
          <a:lstStyle/>
          <a:p>
            <a:r>
              <a:rPr lang="en-US" dirty="0"/>
              <a:t>Implementation	</a:t>
            </a:r>
          </a:p>
        </p:txBody>
      </p:sp>
      <p:sp>
        <p:nvSpPr>
          <p:cNvPr id="3" name="Content Placeholder 2">
            <a:extLst>
              <a:ext uri="{FF2B5EF4-FFF2-40B4-BE49-F238E27FC236}">
                <a16:creationId xmlns:a16="http://schemas.microsoft.com/office/drawing/2014/main" id="{43A44B6D-8DC4-CF15-11E9-70A69970E15B}"/>
              </a:ext>
            </a:extLst>
          </p:cNvPr>
          <p:cNvSpPr>
            <a:spLocks noGrp="1"/>
          </p:cNvSpPr>
          <p:nvPr>
            <p:ph idx="1"/>
          </p:nvPr>
        </p:nvSpPr>
        <p:spPr/>
        <p:txBody>
          <a:bodyPr/>
          <a:lstStyle/>
          <a:p>
            <a:pPr fontAlgn="base"/>
            <a:r>
              <a:rPr lang="en-US" b="1" dirty="0"/>
              <a:t>Install Packages: </a:t>
            </a:r>
            <a:r>
              <a:rPr lang="en-US" dirty="0"/>
              <a:t>Install </a:t>
            </a:r>
            <a:r>
              <a:rPr lang="en-US" dirty="0" err="1"/>
              <a:t>LangGraph</a:t>
            </a:r>
            <a:r>
              <a:rPr lang="en-US" dirty="0"/>
              <a:t> and </a:t>
            </a:r>
            <a:r>
              <a:rPr lang="en-US" u="sng" dirty="0" err="1">
                <a:hlinkClick r:id="rId2"/>
              </a:rPr>
              <a:t>LangChain</a:t>
            </a:r>
            <a:r>
              <a:rPr lang="en-US" dirty="0"/>
              <a:t> libraries.</a:t>
            </a:r>
          </a:p>
          <a:p>
            <a:pPr fontAlgn="base"/>
            <a:r>
              <a:rPr lang="en-US" b="1" dirty="0"/>
              <a:t>Define Function:</a:t>
            </a:r>
            <a:r>
              <a:rPr lang="en-US" dirty="0"/>
              <a:t> Create a function using GPT-4o-mini to generate a motivational quote.</a:t>
            </a:r>
          </a:p>
          <a:p>
            <a:pPr fontAlgn="base"/>
            <a:r>
              <a:rPr lang="en-US" b="1" dirty="0"/>
              <a:t>Create Graph:</a:t>
            </a:r>
            <a:r>
              <a:rPr lang="en-US" dirty="0"/>
              <a:t> Build a </a:t>
            </a:r>
            <a:r>
              <a:rPr lang="en-US" dirty="0" err="1"/>
              <a:t>StateGraph</a:t>
            </a:r>
            <a:r>
              <a:rPr lang="en-US" dirty="0"/>
              <a:t> with a single node calling the function.</a:t>
            </a:r>
          </a:p>
          <a:p>
            <a:pPr fontAlgn="base"/>
            <a:r>
              <a:rPr lang="en-US" b="1" dirty="0"/>
              <a:t>Set Flow:</a:t>
            </a:r>
            <a:r>
              <a:rPr lang="en-US" dirty="0"/>
              <a:t> Use the same node as both the start and end point.</a:t>
            </a:r>
          </a:p>
          <a:p>
            <a:pPr fontAlgn="base"/>
            <a:r>
              <a:rPr lang="en-US" b="1" dirty="0"/>
              <a:t>Run Graph:</a:t>
            </a:r>
            <a:r>
              <a:rPr lang="en-US" dirty="0"/>
              <a:t> Compile and execute the graph to get the output.</a:t>
            </a:r>
          </a:p>
          <a:p>
            <a:endParaRPr lang="en-US" dirty="0"/>
          </a:p>
        </p:txBody>
      </p:sp>
    </p:spTree>
    <p:extLst>
      <p:ext uri="{BB962C8B-B14F-4D97-AF65-F5344CB8AC3E}">
        <p14:creationId xmlns:p14="http://schemas.microsoft.com/office/powerpoint/2010/main" val="293349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C662-A514-E419-B4FF-32ED7C7A1383}"/>
              </a:ext>
            </a:extLst>
          </p:cNvPr>
          <p:cNvSpPr>
            <a:spLocks noGrp="1"/>
          </p:cNvSpPr>
          <p:nvPr>
            <p:ph type="title"/>
          </p:nvPr>
        </p:nvSpPr>
        <p:spPr/>
        <p:txBody>
          <a:bodyPr/>
          <a:lstStyle/>
          <a:p>
            <a:r>
              <a:rPr lang="en-US" dirty="0"/>
              <a:t>List of program</a:t>
            </a:r>
          </a:p>
        </p:txBody>
      </p:sp>
      <p:sp>
        <p:nvSpPr>
          <p:cNvPr id="3" name="Content Placeholder 2">
            <a:extLst>
              <a:ext uri="{FF2B5EF4-FFF2-40B4-BE49-F238E27FC236}">
                <a16:creationId xmlns:a16="http://schemas.microsoft.com/office/drawing/2014/main" id="{53E9A478-4648-DD07-B7D2-1222ABBDDEB8}"/>
              </a:ext>
            </a:extLst>
          </p:cNvPr>
          <p:cNvSpPr>
            <a:spLocks noGrp="1"/>
          </p:cNvSpPr>
          <p:nvPr>
            <p:ph idx="1"/>
          </p:nvPr>
        </p:nvSpPr>
        <p:spPr/>
        <p:txBody>
          <a:bodyPr/>
          <a:lstStyle/>
          <a:p>
            <a:r>
              <a:rPr lang="en-US" dirty="0"/>
              <a:t>Hello message graph using </a:t>
            </a:r>
            <a:r>
              <a:rPr lang="en-US" dirty="0" err="1"/>
              <a:t>langGraph.ipynb</a:t>
            </a:r>
            <a:endParaRPr lang="en-US" dirty="0"/>
          </a:p>
          <a:p>
            <a:r>
              <a:rPr lang="en-US" dirty="0" err="1"/>
              <a:t>langgraph</a:t>
            </a:r>
            <a:r>
              <a:rPr lang="en-US" dirty="0"/>
              <a:t> </a:t>
            </a:r>
            <a:r>
              <a:rPr lang="en-US" dirty="0" err="1"/>
              <a:t>exercise.ipynb</a:t>
            </a:r>
            <a:endParaRPr lang="en-US" dirty="0"/>
          </a:p>
          <a:p>
            <a:r>
              <a:rPr lang="en-US" dirty="0"/>
              <a:t>sequential </a:t>
            </a:r>
            <a:r>
              <a:rPr lang="en-US" dirty="0" err="1"/>
              <a:t>grph</a:t>
            </a:r>
            <a:r>
              <a:rPr lang="en-US" dirty="0"/>
              <a:t> using </a:t>
            </a:r>
            <a:r>
              <a:rPr lang="en-US" dirty="0" err="1"/>
              <a:t>langgraph.ipynb</a:t>
            </a:r>
            <a:endParaRPr lang="en-US" dirty="0"/>
          </a:p>
          <a:p>
            <a:r>
              <a:rPr lang="en-US" dirty="0"/>
              <a:t>Conditional Graph using </a:t>
            </a:r>
            <a:r>
              <a:rPr lang="en-US" dirty="0" err="1"/>
              <a:t>langraph.ipynb</a:t>
            </a:r>
            <a:endParaRPr lang="en-US" dirty="0"/>
          </a:p>
          <a:p>
            <a:r>
              <a:rPr lang="en-US" dirty="0" err="1"/>
              <a:t>langgraph</a:t>
            </a:r>
            <a:r>
              <a:rPr lang="en-US" dirty="0"/>
              <a:t> </a:t>
            </a:r>
            <a:r>
              <a:rPr lang="en-US" dirty="0" err="1"/>
              <a:t>test.ipynb</a:t>
            </a:r>
            <a:endParaRPr lang="en-US" dirty="0"/>
          </a:p>
        </p:txBody>
      </p:sp>
    </p:spTree>
    <p:extLst>
      <p:ext uri="{BB962C8B-B14F-4D97-AF65-F5344CB8AC3E}">
        <p14:creationId xmlns:p14="http://schemas.microsoft.com/office/powerpoint/2010/main" val="2725552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1624C-A688-7F29-23C6-D0E6613E1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9DFE2-257E-B770-2192-420708A6A793}"/>
              </a:ext>
            </a:extLst>
          </p:cNvPr>
          <p:cNvSpPr>
            <a:spLocks noGrp="1"/>
          </p:cNvSpPr>
          <p:nvPr>
            <p:ph type="ctrTitle"/>
          </p:nvPr>
        </p:nvSpPr>
        <p:spPr/>
        <p:txBody>
          <a:bodyPr/>
          <a:lstStyle/>
          <a:p>
            <a:pPr fontAlgn="base"/>
            <a:r>
              <a:rPr lang="en-US" dirty="0"/>
              <a:t>2. </a:t>
            </a:r>
            <a:r>
              <a:rPr lang="en-US" dirty="0" err="1"/>
              <a:t>AutoGen</a:t>
            </a:r>
            <a:endParaRPr lang="en-US" dirty="0"/>
          </a:p>
        </p:txBody>
      </p:sp>
    </p:spTree>
    <p:extLst>
      <p:ext uri="{BB962C8B-B14F-4D97-AF65-F5344CB8AC3E}">
        <p14:creationId xmlns:p14="http://schemas.microsoft.com/office/powerpoint/2010/main" val="2533681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0772B-7869-8F5E-1278-E9FD59FE76C4}"/>
              </a:ext>
            </a:extLst>
          </p:cNvPr>
          <p:cNvSpPr>
            <a:spLocks noGrp="1"/>
          </p:cNvSpPr>
          <p:nvPr>
            <p:ph type="title"/>
          </p:nvPr>
        </p:nvSpPr>
        <p:spPr>
          <a:xfrm>
            <a:off x="1158864" y="102021"/>
            <a:ext cx="9779183" cy="995259"/>
          </a:xfrm>
        </p:spPr>
        <p:txBody>
          <a:bodyPr/>
          <a:lstStyle/>
          <a:p>
            <a:r>
              <a:rPr lang="en-US" dirty="0" err="1"/>
              <a:t>AutoGen</a:t>
            </a:r>
            <a:r>
              <a:rPr lang="en-US" dirty="0"/>
              <a:t> ecosystem</a:t>
            </a:r>
          </a:p>
        </p:txBody>
      </p:sp>
      <p:sp>
        <p:nvSpPr>
          <p:cNvPr id="3" name="Content Placeholder 2">
            <a:extLst>
              <a:ext uri="{FF2B5EF4-FFF2-40B4-BE49-F238E27FC236}">
                <a16:creationId xmlns:a16="http://schemas.microsoft.com/office/drawing/2014/main" id="{E7525888-9BAF-C9C3-3120-1F924208E33C}"/>
              </a:ext>
            </a:extLst>
          </p:cNvPr>
          <p:cNvSpPr>
            <a:spLocks noGrp="1"/>
          </p:cNvSpPr>
          <p:nvPr>
            <p:ph idx="1"/>
          </p:nvPr>
        </p:nvSpPr>
        <p:spPr>
          <a:xfrm>
            <a:off x="914400" y="1383031"/>
            <a:ext cx="10378440" cy="4834890"/>
          </a:xfrm>
        </p:spPr>
        <p:txBody>
          <a:bodyPr>
            <a:normAutofit/>
          </a:bodyPr>
          <a:lstStyle/>
          <a:p>
            <a:r>
              <a:rPr lang="en-US" dirty="0"/>
              <a:t>The </a:t>
            </a:r>
            <a:r>
              <a:rPr lang="en-US" dirty="0" err="1"/>
              <a:t>AutoGen</a:t>
            </a:r>
            <a:r>
              <a:rPr lang="en-US" dirty="0"/>
              <a:t> ecosystem is divided into four main components:</a:t>
            </a:r>
          </a:p>
          <a:p>
            <a:r>
              <a:rPr lang="en-US" b="1" dirty="0" err="1"/>
              <a:t>AutoGen</a:t>
            </a:r>
            <a:r>
              <a:rPr lang="en-US" b="1" dirty="0"/>
              <a:t> Studio:</a:t>
            </a:r>
            <a:r>
              <a:rPr lang="en-US" dirty="0"/>
              <a:t> A no-code graphical interface for building and testing multi-agent workflows.</a:t>
            </a:r>
          </a:p>
          <a:p>
            <a:r>
              <a:rPr lang="en-US" b="1" dirty="0" err="1"/>
              <a:t>AutoGent</a:t>
            </a:r>
            <a:r>
              <a:rPr lang="en-US" b="1" dirty="0"/>
              <a:t> </a:t>
            </a:r>
            <a:r>
              <a:rPr lang="en-US" b="1" dirty="0" err="1"/>
              <a:t>AgentChat</a:t>
            </a:r>
            <a:r>
              <a:rPr lang="en-US" b="1" dirty="0"/>
              <a:t>:</a:t>
            </a:r>
            <a:r>
              <a:rPr lang="en-US" dirty="0"/>
              <a:t> A simplified API for building conversational single and multi-agent applications.</a:t>
            </a:r>
          </a:p>
          <a:p>
            <a:r>
              <a:rPr lang="en-US" b="1" dirty="0" err="1"/>
              <a:t>AutoGen</a:t>
            </a:r>
            <a:r>
              <a:rPr lang="en-US" b="1" dirty="0"/>
              <a:t> Core: </a:t>
            </a:r>
            <a:r>
              <a:rPr lang="en-US" dirty="0"/>
              <a:t>The foundational API for building scalable multi-agent AI systems. </a:t>
            </a:r>
          </a:p>
          <a:p>
            <a:r>
              <a:rPr lang="en-US" b="1" dirty="0" err="1"/>
              <a:t>AutoGen</a:t>
            </a:r>
            <a:r>
              <a:rPr lang="en-US" b="1" dirty="0"/>
              <a:t> Extension:</a:t>
            </a:r>
            <a:r>
              <a:rPr lang="en-US" dirty="0"/>
              <a:t> A library of first- and third-party extensions that expand the framework's capabilities.</a:t>
            </a:r>
          </a:p>
          <a:p>
            <a:endParaRPr lang="en-US" dirty="0"/>
          </a:p>
        </p:txBody>
      </p:sp>
    </p:spTree>
    <p:extLst>
      <p:ext uri="{BB962C8B-B14F-4D97-AF65-F5344CB8AC3E}">
        <p14:creationId xmlns:p14="http://schemas.microsoft.com/office/powerpoint/2010/main" val="2166665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438C76-7A0E-2B98-4E9B-28FD4732D4B9}"/>
              </a:ext>
            </a:extLst>
          </p:cNvPr>
          <p:cNvPicPr>
            <a:picLocks noChangeAspect="1"/>
          </p:cNvPicPr>
          <p:nvPr/>
        </p:nvPicPr>
        <p:blipFill>
          <a:blip r:embed="rId2"/>
          <a:stretch>
            <a:fillRect/>
          </a:stretch>
        </p:blipFill>
        <p:spPr>
          <a:xfrm>
            <a:off x="595604" y="203397"/>
            <a:ext cx="10388626" cy="6268325"/>
          </a:xfrm>
          <a:prstGeom prst="rect">
            <a:avLst/>
          </a:prstGeom>
        </p:spPr>
      </p:pic>
    </p:spTree>
    <p:extLst>
      <p:ext uri="{BB962C8B-B14F-4D97-AF65-F5344CB8AC3E}">
        <p14:creationId xmlns:p14="http://schemas.microsoft.com/office/powerpoint/2010/main" val="3724006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DC86-7058-033D-F224-63CC90B64E19}"/>
              </a:ext>
            </a:extLst>
          </p:cNvPr>
          <p:cNvSpPr>
            <a:spLocks noGrp="1"/>
          </p:cNvSpPr>
          <p:nvPr>
            <p:ph type="title"/>
          </p:nvPr>
        </p:nvSpPr>
        <p:spPr>
          <a:xfrm>
            <a:off x="1158864" y="102021"/>
            <a:ext cx="9779183" cy="1098129"/>
          </a:xfrm>
        </p:spPr>
        <p:txBody>
          <a:bodyPr/>
          <a:lstStyle/>
          <a:p>
            <a:r>
              <a:rPr lang="en-US" dirty="0"/>
              <a:t>What is </a:t>
            </a:r>
            <a:r>
              <a:rPr lang="en-US" dirty="0" err="1"/>
              <a:t>AutoGen</a:t>
            </a:r>
            <a:r>
              <a:rPr lang="en-US" dirty="0"/>
              <a:t>?</a:t>
            </a:r>
          </a:p>
        </p:txBody>
      </p:sp>
      <p:sp>
        <p:nvSpPr>
          <p:cNvPr id="3" name="Content Placeholder 2">
            <a:extLst>
              <a:ext uri="{FF2B5EF4-FFF2-40B4-BE49-F238E27FC236}">
                <a16:creationId xmlns:a16="http://schemas.microsoft.com/office/drawing/2014/main" id="{8987FD90-787A-719B-E651-C0D5E8FCC43D}"/>
              </a:ext>
            </a:extLst>
          </p:cNvPr>
          <p:cNvSpPr>
            <a:spLocks noGrp="1"/>
          </p:cNvSpPr>
          <p:nvPr>
            <p:ph idx="1"/>
          </p:nvPr>
        </p:nvSpPr>
        <p:spPr>
          <a:xfrm>
            <a:off x="765810" y="1485900"/>
            <a:ext cx="10458449" cy="4411979"/>
          </a:xfrm>
        </p:spPr>
        <p:txBody>
          <a:bodyPr>
            <a:normAutofit fontScale="85000" lnSpcReduction="20000"/>
          </a:bodyPr>
          <a:lstStyle/>
          <a:p>
            <a:pPr fontAlgn="base"/>
            <a:r>
              <a:rPr lang="en-US" u="sng" dirty="0">
                <a:hlinkClick r:id="rId2"/>
              </a:rPr>
              <a:t>It </a:t>
            </a:r>
            <a:r>
              <a:rPr lang="en-US" dirty="0"/>
              <a:t>is a Microsoft-backed framework for building multi-agent systems where AI agents collaborate with each other and humans to automate complex tasks through dynamic conversations.</a:t>
            </a:r>
          </a:p>
          <a:p>
            <a:pPr fontAlgn="base"/>
            <a:r>
              <a:rPr lang="en-US" b="1" dirty="0"/>
              <a:t>Multi-Agent Conversations:</a:t>
            </a:r>
            <a:r>
              <a:rPr lang="en-US" dirty="0"/>
              <a:t> Enables agents to interact autonomously or with human input for collaboration, debate and problem solving.</a:t>
            </a:r>
          </a:p>
          <a:p>
            <a:pPr fontAlgn="base"/>
            <a:r>
              <a:rPr lang="en-US" b="1" dirty="0"/>
              <a:t>Role-Based Agents:</a:t>
            </a:r>
            <a:r>
              <a:rPr lang="en-US" dirty="0"/>
              <a:t> Agents can be assigned specific roles, personas and responsibilities.</a:t>
            </a:r>
          </a:p>
          <a:p>
            <a:pPr fontAlgn="base"/>
            <a:r>
              <a:rPr lang="en-US" b="1" dirty="0"/>
              <a:t>Flexible Interaction Flow:</a:t>
            </a:r>
            <a:r>
              <a:rPr lang="en-US" dirty="0"/>
              <a:t> Supports both fully automated and human-in-the-loop workflows.</a:t>
            </a:r>
          </a:p>
          <a:p>
            <a:pPr fontAlgn="base"/>
            <a:r>
              <a:rPr lang="en-US" b="1" dirty="0"/>
              <a:t>Task-Oriented Collaboration:</a:t>
            </a:r>
            <a:r>
              <a:rPr lang="en-US" dirty="0"/>
              <a:t> Agents coordinate to break down and solve complex tasks step-by-step.</a:t>
            </a:r>
          </a:p>
          <a:p>
            <a:pPr fontAlgn="base"/>
            <a:r>
              <a:rPr lang="en-US" b="1" i="1" dirty="0"/>
              <a:t>Use Case:</a:t>
            </a:r>
            <a:r>
              <a:rPr lang="en-US" i="1" dirty="0"/>
              <a:t> AI agents automatically research and draft a technical report with one gathering data, another summarizing and a human reviewer finalizing the content for accuracy and clarity.</a:t>
            </a:r>
          </a:p>
          <a:p>
            <a:endParaRPr lang="en-US" dirty="0"/>
          </a:p>
        </p:txBody>
      </p:sp>
    </p:spTree>
    <p:extLst>
      <p:ext uri="{BB962C8B-B14F-4D97-AF65-F5344CB8AC3E}">
        <p14:creationId xmlns:p14="http://schemas.microsoft.com/office/powerpoint/2010/main" val="436662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01EB4-E548-EFBE-7942-83C42C6BF608}"/>
              </a:ext>
            </a:extLst>
          </p:cNvPr>
          <p:cNvSpPr>
            <a:spLocks noGrp="1"/>
          </p:cNvSpPr>
          <p:nvPr>
            <p:ph type="title"/>
          </p:nvPr>
        </p:nvSpPr>
        <p:spPr>
          <a:xfrm>
            <a:off x="1158864" y="102021"/>
            <a:ext cx="9779183" cy="1200999"/>
          </a:xfrm>
        </p:spPr>
        <p:txBody>
          <a:bodyPr/>
          <a:lstStyle/>
          <a:p>
            <a:r>
              <a:rPr lang="en-US" dirty="0"/>
              <a:t>Implementation:</a:t>
            </a:r>
          </a:p>
        </p:txBody>
      </p:sp>
      <p:sp>
        <p:nvSpPr>
          <p:cNvPr id="3" name="Content Placeholder 2">
            <a:extLst>
              <a:ext uri="{FF2B5EF4-FFF2-40B4-BE49-F238E27FC236}">
                <a16:creationId xmlns:a16="http://schemas.microsoft.com/office/drawing/2014/main" id="{7E27F888-F567-66DC-8C9D-C56D0015FA51}"/>
              </a:ext>
            </a:extLst>
          </p:cNvPr>
          <p:cNvSpPr>
            <a:spLocks noGrp="1"/>
          </p:cNvSpPr>
          <p:nvPr>
            <p:ph idx="1"/>
          </p:nvPr>
        </p:nvSpPr>
        <p:spPr>
          <a:xfrm>
            <a:off x="1158865" y="1634837"/>
            <a:ext cx="9779182" cy="4558146"/>
          </a:xfrm>
        </p:spPr>
        <p:txBody>
          <a:bodyPr>
            <a:normAutofit lnSpcReduction="10000"/>
          </a:bodyPr>
          <a:lstStyle/>
          <a:p>
            <a:pPr fontAlgn="base"/>
            <a:r>
              <a:rPr lang="en-US" dirty="0"/>
              <a:t>This example shows how to create a simple multi agent interaction using </a:t>
            </a:r>
            <a:r>
              <a:rPr lang="en-US" dirty="0" err="1"/>
              <a:t>AutoGen</a:t>
            </a:r>
            <a:r>
              <a:rPr lang="en-US" dirty="0"/>
              <a:t> with an assistant and a user agent.</a:t>
            </a:r>
          </a:p>
          <a:p>
            <a:pPr fontAlgn="base"/>
            <a:r>
              <a:rPr lang="en-US" b="1" dirty="0"/>
              <a:t>Install Package:</a:t>
            </a:r>
            <a:r>
              <a:rPr lang="en-US" dirty="0"/>
              <a:t> Install </a:t>
            </a:r>
            <a:r>
              <a:rPr lang="en-US" dirty="0" err="1"/>
              <a:t>AutoGen</a:t>
            </a:r>
            <a:r>
              <a:rPr lang="en-US" dirty="0"/>
              <a:t> from GitHub.</a:t>
            </a:r>
          </a:p>
          <a:p>
            <a:pPr fontAlgn="base"/>
            <a:r>
              <a:rPr lang="en-US" b="1" dirty="0"/>
              <a:t>Load API Key:</a:t>
            </a:r>
            <a:r>
              <a:rPr lang="en-US" dirty="0"/>
              <a:t> Set up your OpenAI API key for access.</a:t>
            </a:r>
          </a:p>
          <a:p>
            <a:pPr fontAlgn="base"/>
            <a:r>
              <a:rPr lang="en-US" b="1" dirty="0"/>
              <a:t>Create Assistant</a:t>
            </a:r>
            <a:r>
              <a:rPr lang="en-US" dirty="0"/>
              <a:t>: Define an </a:t>
            </a:r>
            <a:r>
              <a:rPr lang="en-US" dirty="0" err="1"/>
              <a:t>AssistantAgent</a:t>
            </a:r>
            <a:r>
              <a:rPr lang="en-US" dirty="0"/>
              <a:t> using GPT-3.5-turbo.</a:t>
            </a:r>
          </a:p>
          <a:p>
            <a:pPr fontAlgn="base"/>
            <a:r>
              <a:rPr lang="en-US" b="1" dirty="0"/>
              <a:t>Create User Agent:</a:t>
            </a:r>
            <a:r>
              <a:rPr lang="en-US" dirty="0"/>
              <a:t> Define a </a:t>
            </a:r>
            <a:r>
              <a:rPr lang="en-US" dirty="0" err="1"/>
              <a:t>UserProxyAgent</a:t>
            </a:r>
            <a:r>
              <a:rPr lang="en-US" dirty="0"/>
              <a:t> with no human input.</a:t>
            </a:r>
          </a:p>
          <a:p>
            <a:pPr fontAlgn="base"/>
            <a:r>
              <a:rPr lang="en-US" b="1" dirty="0"/>
              <a:t>Start Chat</a:t>
            </a:r>
            <a:r>
              <a:rPr lang="en-US" dirty="0"/>
              <a:t>: Initiate a conversation with a starting message and limit it to 2 turns.</a:t>
            </a:r>
          </a:p>
          <a:p>
            <a:endParaRPr lang="en-US" dirty="0"/>
          </a:p>
        </p:txBody>
      </p:sp>
    </p:spTree>
    <p:extLst>
      <p:ext uri="{BB962C8B-B14F-4D97-AF65-F5344CB8AC3E}">
        <p14:creationId xmlns:p14="http://schemas.microsoft.com/office/powerpoint/2010/main" val="3498641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684D-AE49-4A4D-3BDD-D2883CDD85A3}"/>
              </a:ext>
            </a:extLst>
          </p:cNvPr>
          <p:cNvSpPr>
            <a:spLocks noGrp="1"/>
          </p:cNvSpPr>
          <p:nvPr>
            <p:ph type="title"/>
          </p:nvPr>
        </p:nvSpPr>
        <p:spPr/>
        <p:txBody>
          <a:bodyPr/>
          <a:lstStyle/>
          <a:p>
            <a:r>
              <a:rPr lang="en-US"/>
              <a:t>List of code</a:t>
            </a:r>
          </a:p>
        </p:txBody>
      </p:sp>
      <p:sp>
        <p:nvSpPr>
          <p:cNvPr id="3" name="Content Placeholder 2">
            <a:extLst>
              <a:ext uri="{FF2B5EF4-FFF2-40B4-BE49-F238E27FC236}">
                <a16:creationId xmlns:a16="http://schemas.microsoft.com/office/drawing/2014/main" id="{2F30BD8B-6A05-D46B-608A-069383DA5278}"/>
              </a:ext>
            </a:extLst>
          </p:cNvPr>
          <p:cNvSpPr>
            <a:spLocks noGrp="1"/>
          </p:cNvSpPr>
          <p:nvPr>
            <p:ph idx="1"/>
          </p:nvPr>
        </p:nvSpPr>
        <p:spPr/>
        <p:txBody>
          <a:bodyPr/>
          <a:lstStyle/>
          <a:p>
            <a:r>
              <a:rPr lang="en-US" dirty="0" err="1"/>
              <a:t>autogen</a:t>
            </a:r>
            <a:r>
              <a:rPr lang="en-US" dirty="0"/>
              <a:t> - using open </a:t>
            </a:r>
            <a:r>
              <a:rPr lang="en-US" dirty="0" err="1"/>
              <a:t>api</a:t>
            </a:r>
            <a:r>
              <a:rPr lang="en-US" dirty="0"/>
              <a:t> </a:t>
            </a:r>
            <a:r>
              <a:rPr lang="en-US" dirty="0" err="1"/>
              <a:t>key.ipynb</a:t>
            </a:r>
            <a:endParaRPr lang="en-US" dirty="0"/>
          </a:p>
        </p:txBody>
      </p:sp>
    </p:spTree>
    <p:extLst>
      <p:ext uri="{BB962C8B-B14F-4D97-AF65-F5344CB8AC3E}">
        <p14:creationId xmlns:p14="http://schemas.microsoft.com/office/powerpoint/2010/main" val="3894712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97018-AD37-A192-CB31-64B39A807ED6}"/>
              </a:ext>
            </a:extLst>
          </p:cNvPr>
          <p:cNvSpPr>
            <a:spLocks noGrp="1"/>
          </p:cNvSpPr>
          <p:nvPr>
            <p:ph type="title"/>
          </p:nvPr>
        </p:nvSpPr>
        <p:spPr/>
        <p:txBody>
          <a:bodyPr/>
          <a:lstStyle/>
          <a:p>
            <a:r>
              <a:rPr lang="en-US" dirty="0"/>
              <a:t>3. </a:t>
            </a:r>
            <a:r>
              <a:rPr lang="en-US" dirty="0" err="1"/>
              <a:t>CrewAI</a:t>
            </a:r>
            <a:endParaRPr lang="en-US" dirty="0"/>
          </a:p>
        </p:txBody>
      </p:sp>
      <p:sp>
        <p:nvSpPr>
          <p:cNvPr id="3" name="Picture Placeholder 2">
            <a:extLst>
              <a:ext uri="{FF2B5EF4-FFF2-40B4-BE49-F238E27FC236}">
                <a16:creationId xmlns:a16="http://schemas.microsoft.com/office/drawing/2014/main" id="{7D4C076F-68FA-B63F-DF9E-E130C7BF1AEF}"/>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094106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8079-31E6-410C-286F-FED9DC31F024}"/>
              </a:ext>
            </a:extLst>
          </p:cNvPr>
          <p:cNvSpPr>
            <a:spLocks noGrp="1"/>
          </p:cNvSpPr>
          <p:nvPr>
            <p:ph type="title"/>
          </p:nvPr>
        </p:nvSpPr>
        <p:spPr>
          <a:xfrm>
            <a:off x="1158864" y="102021"/>
            <a:ext cx="9779183" cy="880959"/>
          </a:xfrm>
        </p:spPr>
        <p:txBody>
          <a:bodyPr/>
          <a:lstStyle/>
          <a:p>
            <a:r>
              <a:rPr lang="en-US" dirty="0" err="1"/>
              <a:t>crewAI</a:t>
            </a:r>
            <a:r>
              <a:rPr lang="en-US" dirty="0"/>
              <a:t>	</a:t>
            </a:r>
          </a:p>
        </p:txBody>
      </p:sp>
      <p:sp>
        <p:nvSpPr>
          <p:cNvPr id="3" name="Content Placeholder 2">
            <a:extLst>
              <a:ext uri="{FF2B5EF4-FFF2-40B4-BE49-F238E27FC236}">
                <a16:creationId xmlns:a16="http://schemas.microsoft.com/office/drawing/2014/main" id="{8E40428A-0865-2296-CABE-2C14FBA0816C}"/>
              </a:ext>
            </a:extLst>
          </p:cNvPr>
          <p:cNvSpPr>
            <a:spLocks noGrp="1"/>
          </p:cNvSpPr>
          <p:nvPr>
            <p:ph idx="1"/>
          </p:nvPr>
        </p:nvSpPr>
        <p:spPr>
          <a:xfrm>
            <a:off x="697230" y="1131570"/>
            <a:ext cx="10515600" cy="4880609"/>
          </a:xfrm>
        </p:spPr>
        <p:txBody>
          <a:bodyPr>
            <a:normAutofit fontScale="92500"/>
          </a:bodyPr>
          <a:lstStyle/>
          <a:p>
            <a:pPr fontAlgn="base"/>
            <a:r>
              <a:rPr lang="en-US" u="sng" dirty="0" err="1">
                <a:hlinkClick r:id="rId2"/>
              </a:rPr>
              <a:t>CrewAI</a:t>
            </a:r>
            <a:r>
              <a:rPr lang="en-US" u="sng" dirty="0">
                <a:hlinkClick r:id="rId2"/>
              </a:rPr>
              <a:t> </a:t>
            </a:r>
            <a:r>
              <a:rPr lang="en-US" dirty="0"/>
              <a:t>is an open-source framework for building teams of AI agents that collaborate with defined roles to solve complex, multi-step tasks such as research, content creation and business workflows.</a:t>
            </a:r>
          </a:p>
          <a:p>
            <a:pPr fontAlgn="base"/>
            <a:r>
              <a:rPr lang="en-US" b="1" dirty="0"/>
              <a:t>Role-Based Agents:</a:t>
            </a:r>
            <a:r>
              <a:rPr lang="en-US" dirty="0"/>
              <a:t> Agents are assigned roles, goals and backstories for specialized behavior.</a:t>
            </a:r>
          </a:p>
          <a:p>
            <a:pPr fontAlgn="base"/>
            <a:r>
              <a:rPr lang="en-US" b="1" dirty="0"/>
              <a:t>Task Coordination:</a:t>
            </a:r>
            <a:r>
              <a:rPr lang="en-US" dirty="0"/>
              <a:t> Tasks are defined and distributed among agents for efficient execution.</a:t>
            </a:r>
          </a:p>
          <a:p>
            <a:pPr fontAlgn="base"/>
            <a:r>
              <a:rPr lang="en-US" b="1" dirty="0"/>
              <a:t>Collaborative Execution:</a:t>
            </a:r>
            <a:r>
              <a:rPr lang="en-US" dirty="0"/>
              <a:t> Multiple agents work together, optionally with human input, to complete complex workflows.</a:t>
            </a:r>
          </a:p>
          <a:p>
            <a:pPr fontAlgn="base"/>
            <a:r>
              <a:rPr lang="en-US" b="1" i="1" dirty="0"/>
              <a:t>Use Case: </a:t>
            </a:r>
            <a:r>
              <a:rPr lang="en-US" i="1" dirty="0"/>
              <a:t>Multi-agent systems for generating, vetting and publishing marketing content one agent drafts, another edits, a third handles distribution.</a:t>
            </a:r>
          </a:p>
          <a:p>
            <a:endParaRPr lang="en-US" dirty="0"/>
          </a:p>
        </p:txBody>
      </p:sp>
    </p:spTree>
    <p:extLst>
      <p:ext uri="{BB962C8B-B14F-4D97-AF65-F5344CB8AC3E}">
        <p14:creationId xmlns:p14="http://schemas.microsoft.com/office/powerpoint/2010/main" val="380601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653C-760F-93C6-87C5-360AA38CA19A}"/>
              </a:ext>
            </a:extLst>
          </p:cNvPr>
          <p:cNvSpPr>
            <a:spLocks noGrp="1"/>
          </p:cNvSpPr>
          <p:nvPr>
            <p:ph type="title"/>
          </p:nvPr>
        </p:nvSpPr>
        <p:spPr>
          <a:xfrm>
            <a:off x="1158864" y="102021"/>
            <a:ext cx="9779183" cy="880959"/>
          </a:xfrm>
        </p:spPr>
        <p:txBody>
          <a:bodyPr/>
          <a:lstStyle/>
          <a:p>
            <a:r>
              <a:rPr lang="en-US" dirty="0"/>
              <a:t>Implementation:</a:t>
            </a:r>
          </a:p>
        </p:txBody>
      </p:sp>
      <p:sp>
        <p:nvSpPr>
          <p:cNvPr id="3" name="Content Placeholder 2">
            <a:extLst>
              <a:ext uri="{FF2B5EF4-FFF2-40B4-BE49-F238E27FC236}">
                <a16:creationId xmlns:a16="http://schemas.microsoft.com/office/drawing/2014/main" id="{5A5D00DE-639C-BA4F-05A7-844A862A18D6}"/>
              </a:ext>
            </a:extLst>
          </p:cNvPr>
          <p:cNvSpPr>
            <a:spLocks noGrp="1"/>
          </p:cNvSpPr>
          <p:nvPr>
            <p:ph idx="1"/>
          </p:nvPr>
        </p:nvSpPr>
        <p:spPr>
          <a:xfrm>
            <a:off x="1158865" y="1405890"/>
            <a:ext cx="9779182" cy="4617719"/>
          </a:xfrm>
        </p:spPr>
        <p:txBody>
          <a:bodyPr>
            <a:normAutofit/>
          </a:bodyPr>
          <a:lstStyle/>
          <a:p>
            <a:pPr fontAlgn="base"/>
            <a:r>
              <a:rPr lang="en-US" dirty="0"/>
              <a:t>Let's see a code example to understand better:</a:t>
            </a:r>
          </a:p>
          <a:p>
            <a:pPr fontAlgn="base"/>
            <a:r>
              <a:rPr lang="en-US" b="1" dirty="0"/>
              <a:t>Import Libraries:</a:t>
            </a:r>
            <a:r>
              <a:rPr lang="en-US" dirty="0"/>
              <a:t> Import Crew, Agent and Task and check for the API key.</a:t>
            </a:r>
          </a:p>
          <a:p>
            <a:pPr fontAlgn="base"/>
            <a:r>
              <a:rPr lang="en-US" b="1" dirty="0"/>
              <a:t>Create Agents:</a:t>
            </a:r>
            <a:r>
              <a:rPr lang="en-US" dirty="0"/>
              <a:t> Define agents like Python Assistant and Philosopher with roles and backstories.</a:t>
            </a:r>
          </a:p>
          <a:p>
            <a:pPr fontAlgn="base"/>
            <a:r>
              <a:rPr lang="en-US" b="1" dirty="0"/>
              <a:t>Define Tasks:</a:t>
            </a:r>
            <a:r>
              <a:rPr lang="en-US" dirty="0"/>
              <a:t> Assign tasks such as printing “Hello, world!” and explaining the meaning of life.</a:t>
            </a:r>
          </a:p>
          <a:p>
            <a:pPr fontAlgn="base"/>
            <a:r>
              <a:rPr lang="en-US" b="1" dirty="0"/>
              <a:t>Build Crew:</a:t>
            </a:r>
            <a:r>
              <a:rPr lang="en-US" dirty="0"/>
              <a:t> Create a Crew using the defined agents and tasks.</a:t>
            </a:r>
          </a:p>
          <a:p>
            <a:pPr fontAlgn="base"/>
            <a:r>
              <a:rPr lang="en-US" b="1" dirty="0"/>
              <a:t>Execute Tasks:</a:t>
            </a:r>
            <a:r>
              <a:rPr lang="en-US" dirty="0"/>
              <a:t> Run the crew to perform tasks in parallel and get results.</a:t>
            </a:r>
          </a:p>
          <a:p>
            <a:endParaRPr lang="en-US" dirty="0"/>
          </a:p>
        </p:txBody>
      </p:sp>
    </p:spTree>
    <p:extLst>
      <p:ext uri="{BB962C8B-B14F-4D97-AF65-F5344CB8AC3E}">
        <p14:creationId xmlns:p14="http://schemas.microsoft.com/office/powerpoint/2010/main" val="3774661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84460-4C70-325C-2818-548C3D7F6A02}"/>
              </a:ext>
            </a:extLst>
          </p:cNvPr>
          <p:cNvSpPr>
            <a:spLocks noGrp="1"/>
          </p:cNvSpPr>
          <p:nvPr>
            <p:ph type="title"/>
          </p:nvPr>
        </p:nvSpPr>
        <p:spPr/>
        <p:txBody>
          <a:bodyPr/>
          <a:lstStyle/>
          <a:p>
            <a:r>
              <a:rPr lang="en-US" dirty="0"/>
              <a:t>List of code</a:t>
            </a:r>
          </a:p>
        </p:txBody>
      </p:sp>
      <p:sp>
        <p:nvSpPr>
          <p:cNvPr id="3" name="Content Placeholder 2">
            <a:extLst>
              <a:ext uri="{FF2B5EF4-FFF2-40B4-BE49-F238E27FC236}">
                <a16:creationId xmlns:a16="http://schemas.microsoft.com/office/drawing/2014/main" id="{C251B7DD-F201-A6F2-CA3C-1B2F55B154F4}"/>
              </a:ext>
            </a:extLst>
          </p:cNvPr>
          <p:cNvSpPr>
            <a:spLocks noGrp="1"/>
          </p:cNvSpPr>
          <p:nvPr>
            <p:ph idx="1"/>
          </p:nvPr>
        </p:nvSpPr>
        <p:spPr/>
        <p:txBody>
          <a:bodyPr/>
          <a:lstStyle/>
          <a:p>
            <a:r>
              <a:rPr lang="en-US" dirty="0" err="1"/>
              <a:t>Crewai</a:t>
            </a:r>
            <a:r>
              <a:rPr lang="en-US" dirty="0"/>
              <a:t> using Hugging </a:t>
            </a:r>
            <a:r>
              <a:rPr lang="en-US" dirty="0" err="1"/>
              <a:t>Face.ipynb</a:t>
            </a:r>
            <a:endParaRPr lang="en-US" dirty="0"/>
          </a:p>
          <a:p>
            <a:r>
              <a:rPr lang="en-US" dirty="0" err="1"/>
              <a:t>crewAI</a:t>
            </a:r>
            <a:r>
              <a:rPr lang="en-US" dirty="0"/>
              <a:t> using </a:t>
            </a:r>
            <a:r>
              <a:rPr lang="en-US" dirty="0" err="1"/>
              <a:t>OpenAPI.ipynb</a:t>
            </a:r>
            <a:endParaRPr lang="en-US" dirty="0"/>
          </a:p>
        </p:txBody>
      </p:sp>
    </p:spTree>
    <p:extLst>
      <p:ext uri="{BB962C8B-B14F-4D97-AF65-F5344CB8AC3E}">
        <p14:creationId xmlns:p14="http://schemas.microsoft.com/office/powerpoint/2010/main" val="3135912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A1BC-E97A-66B0-0A84-5445C69EC11B}"/>
              </a:ext>
            </a:extLst>
          </p:cNvPr>
          <p:cNvSpPr>
            <a:spLocks noGrp="1"/>
          </p:cNvSpPr>
          <p:nvPr>
            <p:ph type="title"/>
          </p:nvPr>
        </p:nvSpPr>
        <p:spPr/>
        <p:txBody>
          <a:bodyPr/>
          <a:lstStyle/>
          <a:p>
            <a:r>
              <a:rPr lang="en-US" dirty="0"/>
              <a:t>Semantic Kernel</a:t>
            </a:r>
          </a:p>
        </p:txBody>
      </p:sp>
      <p:sp>
        <p:nvSpPr>
          <p:cNvPr id="3" name="Picture Placeholder 2">
            <a:extLst>
              <a:ext uri="{FF2B5EF4-FFF2-40B4-BE49-F238E27FC236}">
                <a16:creationId xmlns:a16="http://schemas.microsoft.com/office/drawing/2014/main" id="{7E707495-DC8E-A4B2-3A0C-0D9623143115}"/>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27970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83528-31C4-8530-4CD8-8F9C3F776E90}"/>
              </a:ext>
            </a:extLst>
          </p:cNvPr>
          <p:cNvSpPr>
            <a:spLocks noGrp="1"/>
          </p:cNvSpPr>
          <p:nvPr>
            <p:ph type="title"/>
          </p:nvPr>
        </p:nvSpPr>
        <p:spPr>
          <a:xfrm>
            <a:off x="1158864" y="102021"/>
            <a:ext cx="9779183" cy="964779"/>
          </a:xfrm>
        </p:spPr>
        <p:txBody>
          <a:bodyPr/>
          <a:lstStyle/>
          <a:p>
            <a:r>
              <a:rPr lang="en-US" u="sng" dirty="0">
                <a:hlinkClick r:id="rId2"/>
              </a:rPr>
              <a:t>Semantic Kernel</a:t>
            </a:r>
            <a:r>
              <a:rPr lang="en-US" dirty="0"/>
              <a:t> </a:t>
            </a:r>
          </a:p>
        </p:txBody>
      </p:sp>
      <p:sp>
        <p:nvSpPr>
          <p:cNvPr id="3" name="Content Placeholder 2">
            <a:extLst>
              <a:ext uri="{FF2B5EF4-FFF2-40B4-BE49-F238E27FC236}">
                <a16:creationId xmlns:a16="http://schemas.microsoft.com/office/drawing/2014/main" id="{51E98CFE-64B0-A70D-49F3-CEDA1107B5BF}"/>
              </a:ext>
            </a:extLst>
          </p:cNvPr>
          <p:cNvSpPr>
            <a:spLocks noGrp="1"/>
          </p:cNvSpPr>
          <p:nvPr>
            <p:ph idx="1"/>
          </p:nvPr>
        </p:nvSpPr>
        <p:spPr>
          <a:xfrm>
            <a:off x="884232" y="1313533"/>
            <a:ext cx="10423535" cy="4230933"/>
          </a:xfrm>
        </p:spPr>
        <p:txBody>
          <a:bodyPr>
            <a:normAutofit fontScale="85000" lnSpcReduction="20000"/>
          </a:bodyPr>
          <a:lstStyle/>
          <a:p>
            <a:pPr fontAlgn="base"/>
            <a:r>
              <a:rPr lang="en-US" dirty="0"/>
              <a:t>is an open-source SDK by Microsoft that integrates large language models into existing applications, enabling structured orchestration of AI, code and external services.</a:t>
            </a:r>
          </a:p>
          <a:p>
            <a:pPr fontAlgn="base"/>
            <a:r>
              <a:rPr lang="en-US" b="1" dirty="0"/>
              <a:t>AI + Code Integration:</a:t>
            </a:r>
            <a:r>
              <a:rPr lang="en-US" dirty="0"/>
              <a:t> Combines traditional programming logic with LLM capabilities.</a:t>
            </a:r>
          </a:p>
          <a:p>
            <a:pPr fontAlgn="base"/>
            <a:r>
              <a:rPr lang="en-US" b="1" dirty="0"/>
              <a:t>Orchestration Engine:</a:t>
            </a:r>
            <a:r>
              <a:rPr lang="en-US" dirty="0"/>
              <a:t> Coordinates tasks across AI models, APIs and business logic.</a:t>
            </a:r>
          </a:p>
          <a:p>
            <a:pPr fontAlgn="base"/>
            <a:r>
              <a:rPr lang="en-US" b="1" dirty="0"/>
              <a:t>Plugin-Based Architecture:</a:t>
            </a:r>
            <a:r>
              <a:rPr lang="en-US" dirty="0"/>
              <a:t> Supports extensible functions and connectors for real-world applications.</a:t>
            </a:r>
          </a:p>
          <a:p>
            <a:pPr fontAlgn="base"/>
            <a:r>
              <a:rPr lang="en-US" b="1" dirty="0"/>
              <a:t>Enterprise Focus:</a:t>
            </a:r>
            <a:r>
              <a:rPr lang="en-US" dirty="0"/>
              <a:t> Designed for scalable, secure and production-ready systems.</a:t>
            </a:r>
          </a:p>
          <a:p>
            <a:pPr fontAlgn="base"/>
            <a:r>
              <a:rPr lang="en-US" b="1" i="1" dirty="0"/>
              <a:t>Use Case: </a:t>
            </a:r>
            <a:r>
              <a:rPr lang="en-US" i="1" dirty="0"/>
              <a:t>AI automatically summarizes customer feedback, integrates with business tools and alerts human staff for key issues, all in one workflow</a:t>
            </a:r>
          </a:p>
        </p:txBody>
      </p:sp>
    </p:spTree>
    <p:extLst>
      <p:ext uri="{BB962C8B-B14F-4D97-AF65-F5344CB8AC3E}">
        <p14:creationId xmlns:p14="http://schemas.microsoft.com/office/powerpoint/2010/main" val="3431432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853AE-8AAB-0367-ECA0-896BD4C4D40B}"/>
              </a:ext>
            </a:extLst>
          </p:cNvPr>
          <p:cNvSpPr>
            <a:spLocks noGrp="1"/>
          </p:cNvSpPr>
          <p:nvPr>
            <p:ph type="title"/>
          </p:nvPr>
        </p:nvSpPr>
        <p:spPr/>
        <p:txBody>
          <a:bodyPr/>
          <a:lstStyle/>
          <a:p>
            <a:r>
              <a:rPr lang="en-US" dirty="0"/>
              <a:t>Implementation:</a:t>
            </a:r>
            <a:br>
              <a:rPr lang="en-US" dirty="0"/>
            </a:br>
            <a:endParaRPr lang="en-US" dirty="0"/>
          </a:p>
        </p:txBody>
      </p:sp>
      <p:sp>
        <p:nvSpPr>
          <p:cNvPr id="3" name="Content Placeholder 2">
            <a:extLst>
              <a:ext uri="{FF2B5EF4-FFF2-40B4-BE49-F238E27FC236}">
                <a16:creationId xmlns:a16="http://schemas.microsoft.com/office/drawing/2014/main" id="{C40BAAD8-DE78-8179-9C2C-3F927FBA673F}"/>
              </a:ext>
            </a:extLst>
          </p:cNvPr>
          <p:cNvSpPr>
            <a:spLocks noGrp="1"/>
          </p:cNvSpPr>
          <p:nvPr>
            <p:ph idx="1"/>
          </p:nvPr>
        </p:nvSpPr>
        <p:spPr>
          <a:xfrm>
            <a:off x="595745" y="1496291"/>
            <a:ext cx="10654146" cy="4793673"/>
          </a:xfrm>
        </p:spPr>
        <p:txBody>
          <a:bodyPr>
            <a:normAutofit/>
          </a:bodyPr>
          <a:lstStyle/>
          <a:p>
            <a:pPr fontAlgn="base"/>
            <a:r>
              <a:rPr lang="en-US" dirty="0"/>
              <a:t>Let's see a code example to understand better:</a:t>
            </a:r>
          </a:p>
          <a:p>
            <a:pPr fontAlgn="base"/>
            <a:r>
              <a:rPr lang="en-US" b="1" dirty="0"/>
              <a:t>Install Package:</a:t>
            </a:r>
            <a:r>
              <a:rPr lang="en-US" dirty="0"/>
              <a:t> Install Semantic Kernel (version 1.35.3).</a:t>
            </a:r>
          </a:p>
          <a:p>
            <a:pPr fontAlgn="base"/>
            <a:r>
              <a:rPr lang="en-US" b="1" dirty="0"/>
              <a:t>Load API Key:</a:t>
            </a:r>
            <a:r>
              <a:rPr lang="en-US" dirty="0"/>
              <a:t> Get the OpenAI API key from environment or </a:t>
            </a:r>
            <a:r>
              <a:rPr lang="en-US" dirty="0" err="1"/>
              <a:t>Colab</a:t>
            </a:r>
            <a:r>
              <a:rPr lang="en-US" dirty="0"/>
              <a:t> secrets.</a:t>
            </a:r>
          </a:p>
          <a:p>
            <a:pPr fontAlgn="base"/>
            <a:r>
              <a:rPr lang="en-US" b="1" dirty="0"/>
              <a:t>Utility Function:</a:t>
            </a:r>
            <a:r>
              <a:rPr lang="en-US" dirty="0"/>
              <a:t> Define a function to format output (e.g., word wrap).</a:t>
            </a:r>
          </a:p>
          <a:p>
            <a:pPr fontAlgn="base"/>
            <a:r>
              <a:rPr lang="en-US" b="1" dirty="0"/>
              <a:t>Setup Kernel:</a:t>
            </a:r>
            <a:r>
              <a:rPr lang="en-US" dirty="0"/>
              <a:t> Create a Kernel instance and configure the chat completion model.</a:t>
            </a:r>
          </a:p>
          <a:p>
            <a:pPr fontAlgn="base"/>
            <a:r>
              <a:rPr lang="en-US" b="1" dirty="0"/>
              <a:t>Connect Service:</a:t>
            </a:r>
            <a:r>
              <a:rPr lang="en-US" dirty="0"/>
              <a:t> Attach the LLM client to the Kernel.</a:t>
            </a:r>
          </a:p>
          <a:p>
            <a:pPr fontAlgn="base"/>
            <a:r>
              <a:rPr lang="en-US" b="1" dirty="0"/>
              <a:t>Run Prompt: </a:t>
            </a:r>
            <a:r>
              <a:rPr lang="en-US" dirty="0"/>
              <a:t>Send a prompt (e.g., generate a poem) to the model.</a:t>
            </a:r>
          </a:p>
          <a:p>
            <a:endParaRPr lang="en-US" dirty="0"/>
          </a:p>
        </p:txBody>
      </p:sp>
    </p:spTree>
    <p:extLst>
      <p:ext uri="{BB962C8B-B14F-4D97-AF65-F5344CB8AC3E}">
        <p14:creationId xmlns:p14="http://schemas.microsoft.com/office/powerpoint/2010/main" val="960272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9247-40C4-8050-3B72-94B4809A9E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A5151D-3E1D-B3DD-AC2F-DFD76287D008}"/>
              </a:ext>
            </a:extLst>
          </p:cNvPr>
          <p:cNvSpPr>
            <a:spLocks noGrp="1"/>
          </p:cNvSpPr>
          <p:nvPr>
            <p:ph idx="1"/>
          </p:nvPr>
        </p:nvSpPr>
        <p:spPr/>
        <p:txBody>
          <a:bodyPr/>
          <a:lstStyle/>
          <a:p>
            <a:r>
              <a:rPr lang="en-US" dirty="0"/>
              <a:t>AI agent </a:t>
            </a:r>
            <a:r>
              <a:rPr lang="en-US" dirty="0" err="1"/>
              <a:t>frameeork</a:t>
            </a:r>
            <a:r>
              <a:rPr lang="en-US" dirty="0"/>
              <a:t> Semantic Kernel using </a:t>
            </a:r>
            <a:r>
              <a:rPr lang="en-US" dirty="0" err="1"/>
              <a:t>openapi.ipynb</a:t>
            </a:r>
            <a:endParaRPr lang="en-US" dirty="0"/>
          </a:p>
          <a:p>
            <a:r>
              <a:rPr lang="en-US" dirty="0"/>
              <a:t>AI agent </a:t>
            </a:r>
            <a:r>
              <a:rPr lang="en-US" dirty="0" err="1"/>
              <a:t>frameeork</a:t>
            </a:r>
            <a:r>
              <a:rPr lang="en-US" dirty="0"/>
              <a:t> Semantic Kernel using </a:t>
            </a:r>
            <a:r>
              <a:rPr lang="en-US" dirty="0" err="1"/>
              <a:t>higging</a:t>
            </a:r>
            <a:r>
              <a:rPr lang="en-US" dirty="0"/>
              <a:t> </a:t>
            </a:r>
            <a:r>
              <a:rPr lang="en-US" dirty="0" err="1"/>
              <a:t>face.ipynb</a:t>
            </a:r>
            <a:endParaRPr lang="en-US" dirty="0"/>
          </a:p>
        </p:txBody>
      </p:sp>
    </p:spTree>
    <p:extLst>
      <p:ext uri="{BB962C8B-B14F-4D97-AF65-F5344CB8AC3E}">
        <p14:creationId xmlns:p14="http://schemas.microsoft.com/office/powerpoint/2010/main" val="2590643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5079-C1E5-C465-9A7D-3025B21FCF7C}"/>
              </a:ext>
            </a:extLst>
          </p:cNvPr>
          <p:cNvSpPr>
            <a:spLocks noGrp="1"/>
          </p:cNvSpPr>
          <p:nvPr>
            <p:ph type="title"/>
          </p:nvPr>
        </p:nvSpPr>
        <p:spPr/>
        <p:txBody>
          <a:bodyPr/>
          <a:lstStyle/>
          <a:p>
            <a:r>
              <a:rPr lang="en-US" dirty="0"/>
              <a:t>5. </a:t>
            </a:r>
            <a:r>
              <a:rPr lang="en-US" dirty="0" err="1"/>
              <a:t>LangChain</a:t>
            </a:r>
            <a:br>
              <a:rPr lang="en-US" dirty="0"/>
            </a:br>
            <a:endParaRPr lang="en-US" dirty="0"/>
          </a:p>
        </p:txBody>
      </p:sp>
      <p:sp>
        <p:nvSpPr>
          <p:cNvPr id="3" name="Picture Placeholder 2">
            <a:extLst>
              <a:ext uri="{FF2B5EF4-FFF2-40B4-BE49-F238E27FC236}">
                <a16:creationId xmlns:a16="http://schemas.microsoft.com/office/drawing/2014/main" id="{5DCBD2AD-2EE2-2FA2-E60C-87DC782688F1}"/>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568824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EE6EF-2732-F1FE-C052-B9A6455C8358}"/>
              </a:ext>
            </a:extLst>
          </p:cNvPr>
          <p:cNvSpPr>
            <a:spLocks noGrp="1"/>
          </p:cNvSpPr>
          <p:nvPr>
            <p:ph type="title"/>
          </p:nvPr>
        </p:nvSpPr>
        <p:spPr>
          <a:xfrm>
            <a:off x="1158864" y="102021"/>
            <a:ext cx="9779183" cy="1172597"/>
          </a:xfrm>
        </p:spPr>
        <p:txBody>
          <a:bodyPr/>
          <a:lstStyle/>
          <a:p>
            <a:r>
              <a:rPr lang="en-US" u="sng" dirty="0" err="1">
                <a:hlinkClick r:id="rId2"/>
              </a:rPr>
              <a:t>LangChain</a:t>
            </a:r>
            <a:endParaRPr lang="en-US" dirty="0"/>
          </a:p>
        </p:txBody>
      </p:sp>
      <p:sp>
        <p:nvSpPr>
          <p:cNvPr id="3" name="Content Placeholder 2">
            <a:extLst>
              <a:ext uri="{FF2B5EF4-FFF2-40B4-BE49-F238E27FC236}">
                <a16:creationId xmlns:a16="http://schemas.microsoft.com/office/drawing/2014/main" id="{0D902134-EA1A-854C-844E-4029FF0B3293}"/>
              </a:ext>
            </a:extLst>
          </p:cNvPr>
          <p:cNvSpPr>
            <a:spLocks noGrp="1"/>
          </p:cNvSpPr>
          <p:nvPr>
            <p:ph idx="1"/>
          </p:nvPr>
        </p:nvSpPr>
        <p:spPr>
          <a:xfrm>
            <a:off x="775854" y="1274619"/>
            <a:ext cx="10390909" cy="5084618"/>
          </a:xfrm>
        </p:spPr>
        <p:txBody>
          <a:bodyPr>
            <a:normAutofit fontScale="92500"/>
          </a:bodyPr>
          <a:lstStyle/>
          <a:p>
            <a:pPr fontAlgn="base"/>
            <a:r>
              <a:rPr lang="en-US" sz="2400" dirty="0"/>
              <a:t> is an open source framework that simplifies building applications using large language models by connecting prompts, data, memory and tools into structured workflows.</a:t>
            </a:r>
          </a:p>
          <a:p>
            <a:pPr fontAlgn="base"/>
            <a:r>
              <a:rPr lang="en-US" sz="2400" b="1" dirty="0"/>
              <a:t>Tool Integration: </a:t>
            </a:r>
            <a:r>
              <a:rPr lang="en-US" sz="2400" dirty="0"/>
              <a:t>Connects with APIs, databases and search engines to enhance capabilities.</a:t>
            </a:r>
          </a:p>
          <a:p>
            <a:pPr fontAlgn="base"/>
            <a:r>
              <a:rPr lang="en-US" sz="2400" b="1" dirty="0"/>
              <a:t>Human-in-the-Loop</a:t>
            </a:r>
            <a:r>
              <a:rPr lang="en-US" sz="2400" dirty="0"/>
              <a:t>: Supports workflows with human review and intervention.</a:t>
            </a:r>
          </a:p>
          <a:p>
            <a:pPr fontAlgn="base"/>
            <a:r>
              <a:rPr lang="en-US" sz="2400" b="1" dirty="0"/>
              <a:t>Agent Workflows:</a:t>
            </a:r>
            <a:r>
              <a:rPr lang="en-US" sz="2400" dirty="0"/>
              <a:t> Enables creation of agents that can think, act and collaborate.</a:t>
            </a:r>
          </a:p>
          <a:p>
            <a:pPr fontAlgn="base"/>
            <a:r>
              <a:rPr lang="en-US" sz="2400" b="1" dirty="0"/>
              <a:t>LLM Integration</a:t>
            </a:r>
            <a:r>
              <a:rPr lang="en-US" sz="2400" dirty="0"/>
              <a:t>: Works with models like OpenAI, Anthropic and Hugging Face.</a:t>
            </a:r>
          </a:p>
          <a:p>
            <a:pPr fontAlgn="base"/>
            <a:r>
              <a:rPr lang="en-US" sz="2400" b="1" dirty="0"/>
              <a:t>Memory and Context: </a:t>
            </a:r>
            <a:r>
              <a:rPr lang="en-US" sz="2400" dirty="0"/>
              <a:t>Maintains conversation history for better and personalized responses.</a:t>
            </a:r>
          </a:p>
          <a:p>
            <a:pPr fontAlgn="base"/>
            <a:r>
              <a:rPr lang="en-US" sz="2400" b="1" i="1" dirty="0"/>
              <a:t>Use Case:</a:t>
            </a:r>
            <a:r>
              <a:rPr lang="en-US" sz="2400" i="1" dirty="0"/>
              <a:t> An AI customer support agent uses </a:t>
            </a:r>
            <a:r>
              <a:rPr lang="en-US" sz="2400" i="1" dirty="0" err="1"/>
              <a:t>LangChain</a:t>
            </a:r>
            <a:r>
              <a:rPr lang="en-US" sz="2400" i="1" dirty="0"/>
              <a:t> to fetch FAQs from a database, answer user queries with an LLM, log interactions for future context and escalate unresolved issues to a human agent, all in a single automated workflow</a:t>
            </a:r>
          </a:p>
        </p:txBody>
      </p:sp>
    </p:spTree>
    <p:extLst>
      <p:ext uri="{BB962C8B-B14F-4D97-AF65-F5344CB8AC3E}">
        <p14:creationId xmlns:p14="http://schemas.microsoft.com/office/powerpoint/2010/main" val="2399431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6E1F-D677-E99D-4D58-7245F2D83B08}"/>
              </a:ext>
            </a:extLst>
          </p:cNvPr>
          <p:cNvSpPr>
            <a:spLocks noGrp="1"/>
          </p:cNvSpPr>
          <p:nvPr>
            <p:ph type="title"/>
          </p:nvPr>
        </p:nvSpPr>
        <p:spPr/>
        <p:txBody>
          <a:bodyPr/>
          <a:lstStyle/>
          <a:p>
            <a:r>
              <a:rPr lang="en-US" dirty="0"/>
              <a:t>Implementation:</a:t>
            </a:r>
            <a:br>
              <a:rPr lang="en-US" dirty="0"/>
            </a:br>
            <a:endParaRPr lang="en-US" dirty="0"/>
          </a:p>
        </p:txBody>
      </p:sp>
      <p:sp>
        <p:nvSpPr>
          <p:cNvPr id="3" name="Content Placeholder 2">
            <a:extLst>
              <a:ext uri="{FF2B5EF4-FFF2-40B4-BE49-F238E27FC236}">
                <a16:creationId xmlns:a16="http://schemas.microsoft.com/office/drawing/2014/main" id="{88D9EB3B-A22A-F81E-8F78-3AB2F1FF351D}"/>
              </a:ext>
            </a:extLst>
          </p:cNvPr>
          <p:cNvSpPr>
            <a:spLocks noGrp="1"/>
          </p:cNvSpPr>
          <p:nvPr>
            <p:ph idx="1"/>
          </p:nvPr>
        </p:nvSpPr>
        <p:spPr/>
        <p:txBody>
          <a:bodyPr>
            <a:noAutofit/>
          </a:bodyPr>
          <a:lstStyle/>
          <a:p>
            <a:pPr fontAlgn="base"/>
            <a:r>
              <a:rPr lang="en-US" sz="2400" dirty="0"/>
              <a:t>Let's see a code example to understand better,</a:t>
            </a:r>
          </a:p>
          <a:p>
            <a:pPr fontAlgn="base"/>
            <a:r>
              <a:rPr lang="en-US" sz="2400" b="1" dirty="0"/>
              <a:t>Load API Key:</a:t>
            </a:r>
            <a:r>
              <a:rPr lang="en-US" sz="2400" dirty="0"/>
              <a:t> Get the OpenAI API key from environment or </a:t>
            </a:r>
            <a:r>
              <a:rPr lang="en-US" sz="2400" dirty="0" err="1"/>
              <a:t>Colab</a:t>
            </a:r>
            <a:r>
              <a:rPr lang="en-US" sz="2400" dirty="0"/>
              <a:t> secrets.</a:t>
            </a:r>
          </a:p>
          <a:p>
            <a:pPr fontAlgn="base"/>
            <a:r>
              <a:rPr lang="en-US" sz="2400" b="1" dirty="0"/>
              <a:t>Install Packages:</a:t>
            </a:r>
            <a:r>
              <a:rPr lang="en-US" sz="2400" dirty="0"/>
              <a:t> Install required </a:t>
            </a:r>
            <a:r>
              <a:rPr lang="en-US" sz="2400" dirty="0" err="1"/>
              <a:t>LangChain</a:t>
            </a:r>
            <a:r>
              <a:rPr lang="en-US" sz="2400" dirty="0"/>
              <a:t> libraries.</a:t>
            </a:r>
          </a:p>
          <a:p>
            <a:pPr fontAlgn="base"/>
            <a:r>
              <a:rPr lang="en-US" sz="2400" b="1" dirty="0"/>
              <a:t>Define Model:</a:t>
            </a:r>
            <a:r>
              <a:rPr lang="en-US" sz="2400" dirty="0"/>
              <a:t> Initialize the LLM (e.g., GPT-4o-mini) with zero temperature.</a:t>
            </a:r>
          </a:p>
          <a:p>
            <a:pPr fontAlgn="base"/>
            <a:r>
              <a:rPr lang="en-US" sz="2400" b="1" dirty="0"/>
              <a:t>Create Prompt</a:t>
            </a:r>
            <a:r>
              <a:rPr lang="en-US" sz="2400" dirty="0"/>
              <a:t>: Define a prompt template (e.g., ask for a fun fact).</a:t>
            </a:r>
          </a:p>
          <a:p>
            <a:pPr fontAlgn="base"/>
            <a:r>
              <a:rPr lang="en-US" sz="2400" b="1" dirty="0"/>
              <a:t>Build Chain:</a:t>
            </a:r>
            <a:r>
              <a:rPr lang="en-US" sz="2400" dirty="0"/>
              <a:t> Combine prompt, model and output parser into a chain.</a:t>
            </a:r>
          </a:p>
          <a:p>
            <a:pPr fontAlgn="base"/>
            <a:r>
              <a:rPr lang="en-US" sz="2400" b="1" dirty="0"/>
              <a:t>Run Chain:</a:t>
            </a:r>
            <a:r>
              <a:rPr lang="en-US" sz="2400" dirty="0"/>
              <a:t> Execute the chain with input like “cats” to generate a response.</a:t>
            </a:r>
          </a:p>
          <a:p>
            <a:endParaRPr lang="en-US" sz="2400" dirty="0"/>
          </a:p>
        </p:txBody>
      </p:sp>
    </p:spTree>
    <p:extLst>
      <p:ext uri="{BB962C8B-B14F-4D97-AF65-F5344CB8AC3E}">
        <p14:creationId xmlns:p14="http://schemas.microsoft.com/office/powerpoint/2010/main" val="3086945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2DFA-F32C-66A9-2935-3FB42E673E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6A2CBE-F97E-F8FF-3CF6-10A8D0F14D13}"/>
              </a:ext>
            </a:extLst>
          </p:cNvPr>
          <p:cNvSpPr>
            <a:spLocks noGrp="1"/>
          </p:cNvSpPr>
          <p:nvPr>
            <p:ph idx="1"/>
          </p:nvPr>
        </p:nvSpPr>
        <p:spPr/>
        <p:txBody>
          <a:bodyPr/>
          <a:lstStyle/>
          <a:p>
            <a:r>
              <a:rPr lang="en-US" dirty="0" err="1"/>
              <a:t>langchain.ipynb</a:t>
            </a:r>
            <a:endParaRPr lang="en-US" dirty="0"/>
          </a:p>
        </p:txBody>
      </p:sp>
    </p:spTree>
    <p:extLst>
      <p:ext uri="{BB962C8B-B14F-4D97-AF65-F5344CB8AC3E}">
        <p14:creationId xmlns:p14="http://schemas.microsoft.com/office/powerpoint/2010/main" val="3485220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741E5-EB3A-BCEE-933A-3E393561E222}"/>
              </a:ext>
            </a:extLst>
          </p:cNvPr>
          <p:cNvSpPr>
            <a:spLocks noGrp="1"/>
          </p:cNvSpPr>
          <p:nvPr>
            <p:ph type="title"/>
          </p:nvPr>
        </p:nvSpPr>
        <p:spPr/>
        <p:txBody>
          <a:bodyPr/>
          <a:lstStyle/>
          <a:p>
            <a:r>
              <a:rPr lang="en-US" dirty="0" err="1"/>
              <a:t>crewAI</a:t>
            </a:r>
            <a:endParaRPr lang="en-US" dirty="0"/>
          </a:p>
        </p:txBody>
      </p:sp>
      <p:sp>
        <p:nvSpPr>
          <p:cNvPr id="3" name="Picture Placeholder 2">
            <a:extLst>
              <a:ext uri="{FF2B5EF4-FFF2-40B4-BE49-F238E27FC236}">
                <a16:creationId xmlns:a16="http://schemas.microsoft.com/office/drawing/2014/main" id="{6DE27296-0D59-EC23-C609-6A8C04099F7A}"/>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794399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1E35FDC-AD12-5D4F-D228-7CC4726445FB}"/>
              </a:ext>
            </a:extLst>
          </p:cNvPr>
          <p:cNvSpPr>
            <a:spLocks noGrp="1"/>
          </p:cNvSpPr>
          <p:nvPr>
            <p:ph type="pic" sz="quarter" idx="10"/>
          </p:nvPr>
        </p:nvSpPr>
        <p:spPr/>
        <p:txBody>
          <a:bodyPr/>
          <a:lstStyle/>
          <a:p>
            <a:endParaRPr lang="en-US"/>
          </a:p>
        </p:txBody>
      </p:sp>
      <p:pic>
        <p:nvPicPr>
          <p:cNvPr id="5" name="Picture 4">
            <a:extLst>
              <a:ext uri="{FF2B5EF4-FFF2-40B4-BE49-F238E27FC236}">
                <a16:creationId xmlns:a16="http://schemas.microsoft.com/office/drawing/2014/main" id="{2F9993AE-3689-AFAE-F4F7-E1B952449375}"/>
              </a:ext>
            </a:extLst>
          </p:cNvPr>
          <p:cNvPicPr>
            <a:picLocks noChangeAspect="1"/>
          </p:cNvPicPr>
          <p:nvPr/>
        </p:nvPicPr>
        <p:blipFill>
          <a:blip r:embed="rId2"/>
          <a:stretch>
            <a:fillRect/>
          </a:stretch>
        </p:blipFill>
        <p:spPr>
          <a:xfrm>
            <a:off x="0" y="0"/>
            <a:ext cx="12192000" cy="7067006"/>
          </a:xfrm>
          <a:prstGeom prst="rect">
            <a:avLst/>
          </a:prstGeom>
        </p:spPr>
      </p:pic>
    </p:spTree>
    <p:extLst>
      <p:ext uri="{BB962C8B-B14F-4D97-AF65-F5344CB8AC3E}">
        <p14:creationId xmlns:p14="http://schemas.microsoft.com/office/powerpoint/2010/main" val="1926347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488B985-C74F-7EDC-DDC9-2CB202C70A96}"/>
              </a:ext>
            </a:extLst>
          </p:cNvPr>
          <p:cNvSpPr>
            <a:spLocks noGrp="1"/>
          </p:cNvSpPr>
          <p:nvPr>
            <p:ph type="pic" sz="quarter" idx="10"/>
          </p:nvPr>
        </p:nvSpPr>
        <p:spPr/>
        <p:txBody>
          <a:bodyPr/>
          <a:lstStyle/>
          <a:p>
            <a:endParaRPr lang="en-US"/>
          </a:p>
        </p:txBody>
      </p:sp>
      <p:pic>
        <p:nvPicPr>
          <p:cNvPr id="5" name="Picture 4">
            <a:extLst>
              <a:ext uri="{FF2B5EF4-FFF2-40B4-BE49-F238E27FC236}">
                <a16:creationId xmlns:a16="http://schemas.microsoft.com/office/drawing/2014/main" id="{6306E3A1-7AE4-5AC1-0B15-D5B1A65F11B1}"/>
              </a:ext>
            </a:extLst>
          </p:cNvPr>
          <p:cNvPicPr>
            <a:picLocks noChangeAspect="1"/>
          </p:cNvPicPr>
          <p:nvPr/>
        </p:nvPicPr>
        <p:blipFill>
          <a:blip r:embed="rId2"/>
          <a:stretch>
            <a:fillRect/>
          </a:stretch>
        </p:blipFill>
        <p:spPr>
          <a:xfrm>
            <a:off x="100957" y="0"/>
            <a:ext cx="11990086" cy="6858000"/>
          </a:xfrm>
          <a:prstGeom prst="rect">
            <a:avLst/>
          </a:prstGeom>
        </p:spPr>
      </p:pic>
    </p:spTree>
    <p:extLst>
      <p:ext uri="{BB962C8B-B14F-4D97-AF65-F5344CB8AC3E}">
        <p14:creationId xmlns:p14="http://schemas.microsoft.com/office/powerpoint/2010/main" val="3582010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0B15DD7-70F9-2C50-F6BC-D79BB67A8159}"/>
              </a:ext>
            </a:extLst>
          </p:cNvPr>
          <p:cNvSpPr>
            <a:spLocks noGrp="1"/>
          </p:cNvSpPr>
          <p:nvPr>
            <p:ph type="pic" sz="quarter" idx="10"/>
          </p:nvPr>
        </p:nvSpPr>
        <p:spPr/>
        <p:txBody>
          <a:bodyPr/>
          <a:lstStyle/>
          <a:p>
            <a:endParaRPr lang="en-US"/>
          </a:p>
        </p:txBody>
      </p:sp>
      <p:pic>
        <p:nvPicPr>
          <p:cNvPr id="5" name="Picture 4">
            <a:extLst>
              <a:ext uri="{FF2B5EF4-FFF2-40B4-BE49-F238E27FC236}">
                <a16:creationId xmlns:a16="http://schemas.microsoft.com/office/drawing/2014/main" id="{3B70D1E6-C529-E425-2524-76F7348C5970}"/>
              </a:ext>
            </a:extLst>
          </p:cNvPr>
          <p:cNvPicPr>
            <a:picLocks noChangeAspect="1"/>
          </p:cNvPicPr>
          <p:nvPr/>
        </p:nvPicPr>
        <p:blipFill>
          <a:blip r:embed="rId2"/>
          <a:srcRect t="18666" r="23500"/>
          <a:stretch>
            <a:fillRect/>
          </a:stretch>
        </p:blipFill>
        <p:spPr>
          <a:xfrm>
            <a:off x="0" y="300445"/>
            <a:ext cx="12192000" cy="6230983"/>
          </a:xfrm>
          <a:prstGeom prst="rect">
            <a:avLst/>
          </a:prstGeom>
        </p:spPr>
      </p:pic>
    </p:spTree>
    <p:extLst>
      <p:ext uri="{BB962C8B-B14F-4D97-AF65-F5344CB8AC3E}">
        <p14:creationId xmlns:p14="http://schemas.microsoft.com/office/powerpoint/2010/main" val="2844973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FB77D59-5B06-0D1B-EFBE-DDA68262E4C4}"/>
              </a:ext>
            </a:extLst>
          </p:cNvPr>
          <p:cNvSpPr>
            <a:spLocks noGrp="1"/>
          </p:cNvSpPr>
          <p:nvPr>
            <p:ph type="pic" sz="quarter" idx="10"/>
          </p:nvPr>
        </p:nvSpPr>
        <p:spPr/>
        <p:txBody>
          <a:bodyPr/>
          <a:lstStyle/>
          <a:p>
            <a:endParaRPr lang="en-US"/>
          </a:p>
        </p:txBody>
      </p:sp>
      <p:pic>
        <p:nvPicPr>
          <p:cNvPr id="5" name="Picture 4">
            <a:extLst>
              <a:ext uri="{FF2B5EF4-FFF2-40B4-BE49-F238E27FC236}">
                <a16:creationId xmlns:a16="http://schemas.microsoft.com/office/drawing/2014/main" id="{A172D4BA-1A63-EA3E-416E-8BED3D27BAF0}"/>
              </a:ext>
            </a:extLst>
          </p:cNvPr>
          <p:cNvPicPr>
            <a:picLocks noChangeAspect="1"/>
          </p:cNvPicPr>
          <p:nvPr/>
        </p:nvPicPr>
        <p:blipFill>
          <a:blip r:embed="rId2"/>
          <a:stretch>
            <a:fillRect/>
          </a:stretch>
        </p:blipFill>
        <p:spPr>
          <a:xfrm>
            <a:off x="350773" y="458016"/>
            <a:ext cx="11333227" cy="5941967"/>
          </a:xfrm>
          <a:prstGeom prst="rect">
            <a:avLst/>
          </a:prstGeom>
        </p:spPr>
      </p:pic>
    </p:spTree>
    <p:extLst>
      <p:ext uri="{BB962C8B-B14F-4D97-AF65-F5344CB8AC3E}">
        <p14:creationId xmlns:p14="http://schemas.microsoft.com/office/powerpoint/2010/main" val="3285017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A525378-1764-36E8-4902-3452B0FC9BBF}"/>
              </a:ext>
            </a:extLst>
          </p:cNvPr>
          <p:cNvSpPr>
            <a:spLocks noGrp="1"/>
          </p:cNvSpPr>
          <p:nvPr>
            <p:ph type="pic" sz="quarter" idx="10"/>
          </p:nvPr>
        </p:nvSpPr>
        <p:spPr/>
        <p:txBody>
          <a:bodyPr/>
          <a:lstStyle/>
          <a:p>
            <a:endParaRPr lang="en-US"/>
          </a:p>
        </p:txBody>
      </p:sp>
      <p:pic>
        <p:nvPicPr>
          <p:cNvPr id="5" name="Picture 4">
            <a:extLst>
              <a:ext uri="{FF2B5EF4-FFF2-40B4-BE49-F238E27FC236}">
                <a16:creationId xmlns:a16="http://schemas.microsoft.com/office/drawing/2014/main" id="{D38BBCB2-A694-B41B-2CDA-C39A0D94129E}"/>
              </a:ext>
            </a:extLst>
          </p:cNvPr>
          <p:cNvPicPr>
            <a:picLocks noChangeAspect="1"/>
          </p:cNvPicPr>
          <p:nvPr/>
        </p:nvPicPr>
        <p:blipFill>
          <a:blip r:embed="rId2"/>
          <a:stretch>
            <a:fillRect/>
          </a:stretch>
        </p:blipFill>
        <p:spPr>
          <a:xfrm>
            <a:off x="907478" y="406310"/>
            <a:ext cx="10865422" cy="5839640"/>
          </a:xfrm>
          <a:prstGeom prst="rect">
            <a:avLst/>
          </a:prstGeom>
        </p:spPr>
      </p:pic>
    </p:spTree>
    <p:extLst>
      <p:ext uri="{BB962C8B-B14F-4D97-AF65-F5344CB8AC3E}">
        <p14:creationId xmlns:p14="http://schemas.microsoft.com/office/powerpoint/2010/main" val="15779940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2630C08-36C4-1837-782B-BE44367A3BB4}"/>
              </a:ext>
            </a:extLst>
          </p:cNvPr>
          <p:cNvSpPr>
            <a:spLocks noGrp="1"/>
          </p:cNvSpPr>
          <p:nvPr>
            <p:ph type="pic" sz="quarter" idx="10"/>
          </p:nvPr>
        </p:nvSpPr>
        <p:spPr/>
        <p:txBody>
          <a:bodyPr/>
          <a:lstStyle/>
          <a:p>
            <a:endParaRPr lang="en-US"/>
          </a:p>
        </p:txBody>
      </p:sp>
      <p:pic>
        <p:nvPicPr>
          <p:cNvPr id="5" name="Picture 4">
            <a:extLst>
              <a:ext uri="{FF2B5EF4-FFF2-40B4-BE49-F238E27FC236}">
                <a16:creationId xmlns:a16="http://schemas.microsoft.com/office/drawing/2014/main" id="{A79B1678-EE64-8D09-4C63-461DC226F2D9}"/>
              </a:ext>
            </a:extLst>
          </p:cNvPr>
          <p:cNvPicPr>
            <a:picLocks noChangeAspect="1"/>
          </p:cNvPicPr>
          <p:nvPr/>
        </p:nvPicPr>
        <p:blipFill>
          <a:blip r:embed="rId2"/>
          <a:stretch>
            <a:fillRect/>
          </a:stretch>
        </p:blipFill>
        <p:spPr>
          <a:xfrm>
            <a:off x="961308" y="966444"/>
            <a:ext cx="10269383" cy="4925112"/>
          </a:xfrm>
          <a:prstGeom prst="rect">
            <a:avLst/>
          </a:prstGeom>
        </p:spPr>
      </p:pic>
    </p:spTree>
    <p:extLst>
      <p:ext uri="{BB962C8B-B14F-4D97-AF65-F5344CB8AC3E}">
        <p14:creationId xmlns:p14="http://schemas.microsoft.com/office/powerpoint/2010/main" val="3187061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AD145-A131-E95B-5F40-CC90EADA769A}"/>
              </a:ext>
            </a:extLst>
          </p:cNvPr>
          <p:cNvSpPr>
            <a:spLocks noGrp="1"/>
          </p:cNvSpPr>
          <p:nvPr>
            <p:ph type="title"/>
          </p:nvPr>
        </p:nvSpPr>
        <p:spPr/>
        <p:txBody>
          <a:bodyPr/>
          <a:lstStyle/>
          <a:p>
            <a:r>
              <a:rPr lang="en-US" dirty="0"/>
              <a:t>Components of </a:t>
            </a:r>
            <a:r>
              <a:rPr lang="en-US" dirty="0" err="1"/>
              <a:t>CrewAI</a:t>
            </a:r>
            <a:endParaRPr lang="en-US" dirty="0"/>
          </a:p>
        </p:txBody>
      </p:sp>
      <p:sp>
        <p:nvSpPr>
          <p:cNvPr id="3" name="Content Placeholder 2">
            <a:extLst>
              <a:ext uri="{FF2B5EF4-FFF2-40B4-BE49-F238E27FC236}">
                <a16:creationId xmlns:a16="http://schemas.microsoft.com/office/drawing/2014/main" id="{454589D3-AC35-72AA-10B0-35BF4114BCBD}"/>
              </a:ext>
            </a:extLst>
          </p:cNvPr>
          <p:cNvSpPr>
            <a:spLocks noGrp="1"/>
          </p:cNvSpPr>
          <p:nvPr>
            <p:ph idx="1"/>
          </p:nvPr>
        </p:nvSpPr>
        <p:spPr/>
        <p:txBody>
          <a:bodyPr/>
          <a:lstStyle/>
          <a:p>
            <a:pPr marL="457200" indent="-457200">
              <a:buFont typeface="Arial" panose="020B0604020202020204" pitchFamily="34" charset="0"/>
              <a:buChar char="•"/>
            </a:pPr>
            <a:r>
              <a:rPr lang="en-US" dirty="0"/>
              <a:t>Agents</a:t>
            </a:r>
          </a:p>
          <a:p>
            <a:pPr marL="457200" indent="-457200">
              <a:buFont typeface="Arial" panose="020B0604020202020204" pitchFamily="34" charset="0"/>
              <a:buChar char="•"/>
            </a:pPr>
            <a:r>
              <a:rPr lang="en-US" dirty="0"/>
              <a:t>Tools</a:t>
            </a:r>
          </a:p>
          <a:p>
            <a:pPr marL="457200" indent="-457200">
              <a:buFont typeface="Arial" panose="020B0604020202020204" pitchFamily="34" charset="0"/>
              <a:buChar char="•"/>
            </a:pPr>
            <a:r>
              <a:rPr lang="en-US" dirty="0"/>
              <a:t>Task </a:t>
            </a:r>
          </a:p>
          <a:p>
            <a:pPr marL="457200" indent="-457200">
              <a:buFont typeface="Arial" panose="020B0604020202020204" pitchFamily="34" charset="0"/>
              <a:buChar char="•"/>
            </a:pPr>
            <a:r>
              <a:rPr lang="en-US" dirty="0"/>
              <a:t>And Process</a:t>
            </a:r>
          </a:p>
        </p:txBody>
      </p:sp>
    </p:spTree>
    <p:extLst>
      <p:ext uri="{BB962C8B-B14F-4D97-AF65-F5344CB8AC3E}">
        <p14:creationId xmlns:p14="http://schemas.microsoft.com/office/powerpoint/2010/main" val="3237464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050BD4-E4FD-3DEA-A0AF-A6A6C6F4FEE8}"/>
              </a:ext>
            </a:extLst>
          </p:cNvPr>
          <p:cNvPicPr>
            <a:picLocks noChangeAspect="1"/>
          </p:cNvPicPr>
          <p:nvPr/>
        </p:nvPicPr>
        <p:blipFill>
          <a:blip r:embed="rId2"/>
          <a:stretch>
            <a:fillRect/>
          </a:stretch>
        </p:blipFill>
        <p:spPr>
          <a:xfrm>
            <a:off x="701040" y="380047"/>
            <a:ext cx="10789920" cy="6097905"/>
          </a:xfrm>
          <a:prstGeom prst="rect">
            <a:avLst/>
          </a:prstGeom>
        </p:spPr>
      </p:pic>
    </p:spTree>
    <p:extLst>
      <p:ext uri="{BB962C8B-B14F-4D97-AF65-F5344CB8AC3E}">
        <p14:creationId xmlns:p14="http://schemas.microsoft.com/office/powerpoint/2010/main" val="2293916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6E4502-3ED4-B382-6DC5-7B9A3D57EBB9}"/>
              </a:ext>
            </a:extLst>
          </p:cNvPr>
          <p:cNvPicPr>
            <a:picLocks noChangeAspect="1"/>
          </p:cNvPicPr>
          <p:nvPr/>
        </p:nvPicPr>
        <p:blipFill>
          <a:blip r:embed="rId2"/>
          <a:stretch>
            <a:fillRect/>
          </a:stretch>
        </p:blipFill>
        <p:spPr>
          <a:xfrm>
            <a:off x="569956" y="294001"/>
            <a:ext cx="11008634" cy="6061079"/>
          </a:xfrm>
          <a:prstGeom prst="rect">
            <a:avLst/>
          </a:prstGeom>
        </p:spPr>
      </p:pic>
    </p:spTree>
    <p:extLst>
      <p:ext uri="{BB962C8B-B14F-4D97-AF65-F5344CB8AC3E}">
        <p14:creationId xmlns:p14="http://schemas.microsoft.com/office/powerpoint/2010/main" val="251595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0FC29D-6EF8-45FA-7A6D-43448A6A189F}"/>
              </a:ext>
            </a:extLst>
          </p:cNvPr>
          <p:cNvPicPr>
            <a:picLocks noChangeAspect="1"/>
          </p:cNvPicPr>
          <p:nvPr/>
        </p:nvPicPr>
        <p:blipFill>
          <a:blip r:embed="rId2"/>
          <a:stretch>
            <a:fillRect/>
          </a:stretch>
        </p:blipFill>
        <p:spPr>
          <a:xfrm>
            <a:off x="506730" y="802286"/>
            <a:ext cx="11506200" cy="5253428"/>
          </a:xfrm>
          <a:prstGeom prst="rect">
            <a:avLst/>
          </a:prstGeom>
        </p:spPr>
      </p:pic>
    </p:spTree>
    <p:extLst>
      <p:ext uri="{BB962C8B-B14F-4D97-AF65-F5344CB8AC3E}">
        <p14:creationId xmlns:p14="http://schemas.microsoft.com/office/powerpoint/2010/main" val="2407287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312360-8AC5-FAFF-6315-813FF0BF29F7}"/>
              </a:ext>
            </a:extLst>
          </p:cNvPr>
          <p:cNvPicPr>
            <a:picLocks noChangeAspect="1"/>
          </p:cNvPicPr>
          <p:nvPr/>
        </p:nvPicPr>
        <p:blipFill>
          <a:blip r:embed="rId2"/>
          <a:srcRect r="54906"/>
          <a:stretch>
            <a:fillRect/>
          </a:stretch>
        </p:blipFill>
        <p:spPr>
          <a:xfrm>
            <a:off x="742950" y="287962"/>
            <a:ext cx="10241280" cy="2649548"/>
          </a:xfrm>
          <a:prstGeom prst="rect">
            <a:avLst/>
          </a:prstGeom>
        </p:spPr>
      </p:pic>
      <p:pic>
        <p:nvPicPr>
          <p:cNvPr id="10" name="Picture 9">
            <a:extLst>
              <a:ext uri="{FF2B5EF4-FFF2-40B4-BE49-F238E27FC236}">
                <a16:creationId xmlns:a16="http://schemas.microsoft.com/office/drawing/2014/main" id="{01075E39-D196-5D8C-1A8C-07C263732026}"/>
              </a:ext>
            </a:extLst>
          </p:cNvPr>
          <p:cNvPicPr>
            <a:picLocks noChangeAspect="1"/>
          </p:cNvPicPr>
          <p:nvPr/>
        </p:nvPicPr>
        <p:blipFill>
          <a:blip r:embed="rId2"/>
          <a:srcRect l="45844"/>
          <a:stretch>
            <a:fillRect/>
          </a:stretch>
        </p:blipFill>
        <p:spPr>
          <a:xfrm>
            <a:off x="742950" y="3236902"/>
            <a:ext cx="10458450" cy="3212734"/>
          </a:xfrm>
          <a:prstGeom prst="rect">
            <a:avLst/>
          </a:prstGeom>
        </p:spPr>
      </p:pic>
    </p:spTree>
    <p:extLst>
      <p:ext uri="{BB962C8B-B14F-4D97-AF65-F5344CB8AC3E}">
        <p14:creationId xmlns:p14="http://schemas.microsoft.com/office/powerpoint/2010/main" val="23276675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6ACDB3-2CD0-0851-B5D6-976097F65412}"/>
              </a:ext>
            </a:extLst>
          </p:cNvPr>
          <p:cNvPicPr>
            <a:picLocks noChangeAspect="1"/>
          </p:cNvPicPr>
          <p:nvPr/>
        </p:nvPicPr>
        <p:blipFill>
          <a:blip r:embed="rId2"/>
          <a:srcRect l="18938" t="69000" r="29031"/>
          <a:stretch>
            <a:fillRect/>
          </a:stretch>
        </p:blipFill>
        <p:spPr>
          <a:xfrm>
            <a:off x="731520" y="1051560"/>
            <a:ext cx="10538460" cy="4057650"/>
          </a:xfrm>
          <a:prstGeom prst="rect">
            <a:avLst/>
          </a:prstGeom>
        </p:spPr>
      </p:pic>
    </p:spTree>
    <p:extLst>
      <p:ext uri="{BB962C8B-B14F-4D97-AF65-F5344CB8AC3E}">
        <p14:creationId xmlns:p14="http://schemas.microsoft.com/office/powerpoint/2010/main" val="1590367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51090-8F89-E4D6-FA60-EFE353D1D463}"/>
              </a:ext>
            </a:extLst>
          </p:cNvPr>
          <p:cNvSpPr>
            <a:spLocks noGrp="1"/>
          </p:cNvSpPr>
          <p:nvPr>
            <p:ph type="title"/>
          </p:nvPr>
        </p:nvSpPr>
        <p:spPr>
          <a:xfrm>
            <a:off x="1158864" y="102021"/>
            <a:ext cx="9779183" cy="938109"/>
          </a:xfrm>
        </p:spPr>
        <p:txBody>
          <a:bodyPr/>
          <a:lstStyle/>
          <a:p>
            <a:r>
              <a:rPr lang="en-US" dirty="0"/>
              <a:t>Task allocation</a:t>
            </a:r>
          </a:p>
        </p:txBody>
      </p:sp>
      <p:pic>
        <p:nvPicPr>
          <p:cNvPr id="5" name="Content Placeholder 4">
            <a:extLst>
              <a:ext uri="{FF2B5EF4-FFF2-40B4-BE49-F238E27FC236}">
                <a16:creationId xmlns:a16="http://schemas.microsoft.com/office/drawing/2014/main" id="{E688C713-16EE-09C5-4454-AD1D87BEBFC5}"/>
              </a:ext>
            </a:extLst>
          </p:cNvPr>
          <p:cNvPicPr>
            <a:picLocks noGrp="1" noChangeAspect="1"/>
          </p:cNvPicPr>
          <p:nvPr>
            <p:ph idx="1"/>
          </p:nvPr>
        </p:nvPicPr>
        <p:blipFill>
          <a:blip r:embed="rId2"/>
          <a:stretch>
            <a:fillRect/>
          </a:stretch>
        </p:blipFill>
        <p:spPr>
          <a:xfrm>
            <a:off x="1158864" y="1526223"/>
            <a:ext cx="9631056" cy="5210631"/>
          </a:xfrm>
          <a:prstGeom prst="rect">
            <a:avLst/>
          </a:prstGeom>
        </p:spPr>
      </p:pic>
    </p:spTree>
    <p:extLst>
      <p:ext uri="{BB962C8B-B14F-4D97-AF65-F5344CB8AC3E}">
        <p14:creationId xmlns:p14="http://schemas.microsoft.com/office/powerpoint/2010/main" val="1994366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EEB6C-58F8-7B4E-6F71-8D2081856886}"/>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C3F946EE-BB5D-70A0-97AC-6A0FE5CEBCB5}"/>
              </a:ext>
            </a:extLst>
          </p:cNvPr>
          <p:cNvPicPr>
            <a:picLocks noChangeAspect="1"/>
          </p:cNvPicPr>
          <p:nvPr/>
        </p:nvPicPr>
        <p:blipFill>
          <a:blip r:embed="rId2"/>
          <a:stretch>
            <a:fillRect/>
          </a:stretch>
        </p:blipFill>
        <p:spPr>
          <a:xfrm>
            <a:off x="1048105" y="2181050"/>
            <a:ext cx="10400364" cy="3031029"/>
          </a:xfrm>
          <a:prstGeom prst="rect">
            <a:avLst/>
          </a:prstGeom>
        </p:spPr>
      </p:pic>
    </p:spTree>
    <p:extLst>
      <p:ext uri="{BB962C8B-B14F-4D97-AF65-F5344CB8AC3E}">
        <p14:creationId xmlns:p14="http://schemas.microsoft.com/office/powerpoint/2010/main" val="3217255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F600-4437-02D9-2E98-3B737CC89934}"/>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C7798371-031F-6DE0-E0F3-953FAE5F63E9}"/>
              </a:ext>
            </a:extLst>
          </p:cNvPr>
          <p:cNvPicPr>
            <a:picLocks noChangeAspect="1"/>
          </p:cNvPicPr>
          <p:nvPr/>
        </p:nvPicPr>
        <p:blipFill>
          <a:blip r:embed="rId2"/>
          <a:stretch>
            <a:fillRect/>
          </a:stretch>
        </p:blipFill>
        <p:spPr>
          <a:xfrm>
            <a:off x="0" y="1020660"/>
            <a:ext cx="12192000" cy="4816679"/>
          </a:xfrm>
          <a:prstGeom prst="rect">
            <a:avLst/>
          </a:prstGeom>
        </p:spPr>
      </p:pic>
    </p:spTree>
    <p:extLst>
      <p:ext uri="{BB962C8B-B14F-4D97-AF65-F5344CB8AC3E}">
        <p14:creationId xmlns:p14="http://schemas.microsoft.com/office/powerpoint/2010/main" val="778572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63EC1F-462D-4AA0-4829-772ED663E19E}"/>
              </a:ext>
            </a:extLst>
          </p:cNvPr>
          <p:cNvPicPr>
            <a:picLocks noGrp="1" noChangeAspect="1"/>
          </p:cNvPicPr>
          <p:nvPr>
            <p:ph idx="1"/>
          </p:nvPr>
        </p:nvPicPr>
        <p:blipFill>
          <a:blip r:embed="rId2"/>
          <a:srcRect t="9557" r="26347"/>
          <a:stretch>
            <a:fillRect/>
          </a:stretch>
        </p:blipFill>
        <p:spPr>
          <a:xfrm>
            <a:off x="723688" y="640079"/>
            <a:ext cx="10294832" cy="5829301"/>
          </a:xfrm>
          <a:prstGeom prst="rect">
            <a:avLst/>
          </a:prstGeom>
        </p:spPr>
      </p:pic>
    </p:spTree>
    <p:extLst>
      <p:ext uri="{BB962C8B-B14F-4D97-AF65-F5344CB8AC3E}">
        <p14:creationId xmlns:p14="http://schemas.microsoft.com/office/powerpoint/2010/main" val="28553934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E95B58-168B-7FC7-939B-6F55B6A0C254}"/>
              </a:ext>
            </a:extLst>
          </p:cNvPr>
          <p:cNvPicPr>
            <a:picLocks noChangeAspect="1"/>
          </p:cNvPicPr>
          <p:nvPr/>
        </p:nvPicPr>
        <p:blipFill>
          <a:blip r:embed="rId2"/>
          <a:srcRect l="5550" t="11499" r="36902" b="8834"/>
          <a:stretch>
            <a:fillRect/>
          </a:stretch>
        </p:blipFill>
        <p:spPr>
          <a:xfrm>
            <a:off x="811530" y="205740"/>
            <a:ext cx="9818370" cy="6172200"/>
          </a:xfrm>
          <a:prstGeom prst="rect">
            <a:avLst/>
          </a:prstGeom>
        </p:spPr>
      </p:pic>
    </p:spTree>
    <p:extLst>
      <p:ext uri="{BB962C8B-B14F-4D97-AF65-F5344CB8AC3E}">
        <p14:creationId xmlns:p14="http://schemas.microsoft.com/office/powerpoint/2010/main" val="29337567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E4197-D537-533F-CC78-AB9EF7E1E2CA}"/>
              </a:ext>
            </a:extLst>
          </p:cNvPr>
          <p:cNvSpPr>
            <a:spLocks noGrp="1"/>
          </p:cNvSpPr>
          <p:nvPr>
            <p:ph type="title"/>
          </p:nvPr>
        </p:nvSpPr>
        <p:spPr/>
        <p:txBody>
          <a:bodyPr/>
          <a:lstStyle/>
          <a:p>
            <a:r>
              <a:rPr lang="en-US" dirty="0"/>
              <a:t>List of code</a:t>
            </a:r>
          </a:p>
        </p:txBody>
      </p:sp>
      <p:sp>
        <p:nvSpPr>
          <p:cNvPr id="3" name="Content Placeholder 2">
            <a:extLst>
              <a:ext uri="{FF2B5EF4-FFF2-40B4-BE49-F238E27FC236}">
                <a16:creationId xmlns:a16="http://schemas.microsoft.com/office/drawing/2014/main" id="{20CFABA0-1B81-07AB-DE02-8EEC3B279BF8}"/>
              </a:ext>
            </a:extLst>
          </p:cNvPr>
          <p:cNvSpPr>
            <a:spLocks noGrp="1"/>
          </p:cNvSpPr>
          <p:nvPr>
            <p:ph idx="1"/>
          </p:nvPr>
        </p:nvSpPr>
        <p:spPr/>
        <p:txBody>
          <a:bodyPr/>
          <a:lstStyle/>
          <a:p>
            <a:r>
              <a:rPr lang="en-US" dirty="0"/>
              <a:t>L-1_crewai.ipynb</a:t>
            </a:r>
          </a:p>
          <a:p>
            <a:r>
              <a:rPr lang="en-US" dirty="0"/>
              <a:t>L-2 travel agent in google </a:t>
            </a:r>
            <a:r>
              <a:rPr lang="en-US" dirty="0" err="1"/>
              <a:t>colab.ipynb</a:t>
            </a:r>
            <a:endParaRPr lang="en-US" dirty="0"/>
          </a:p>
          <a:p>
            <a:endParaRPr lang="en-US" dirty="0"/>
          </a:p>
          <a:p>
            <a:r>
              <a:rPr lang="en-US" dirty="0"/>
              <a:t>https://github.com/codewithaarohi/CrewAI_tutorials/blob/main/L-2/L-2.ipynb</a:t>
            </a:r>
          </a:p>
        </p:txBody>
      </p:sp>
    </p:spTree>
    <p:extLst>
      <p:ext uri="{BB962C8B-B14F-4D97-AF65-F5344CB8AC3E}">
        <p14:creationId xmlns:p14="http://schemas.microsoft.com/office/powerpoint/2010/main" val="32009638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8FB3-5A42-54DA-A492-A38B7E2C55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C1D5B3-850D-FE9F-C166-97062F2812A0}"/>
              </a:ext>
            </a:extLst>
          </p:cNvPr>
          <p:cNvSpPr>
            <a:spLocks noGrp="1"/>
          </p:cNvSpPr>
          <p:nvPr>
            <p:ph idx="1"/>
          </p:nvPr>
        </p:nvSpPr>
        <p:spPr/>
        <p:txBody>
          <a:bodyPr/>
          <a:lstStyle/>
          <a:p>
            <a:r>
              <a:rPr lang="en-US" dirty="0"/>
              <a:t>!pip install </a:t>
            </a:r>
            <a:r>
              <a:rPr lang="en-US" dirty="0" err="1"/>
              <a:t>crewai</a:t>
            </a:r>
            <a:r>
              <a:rPr lang="en-US" dirty="0"/>
              <a:t> </a:t>
            </a:r>
            <a:r>
              <a:rPr lang="en-US" dirty="0" err="1"/>
              <a:t>crewai_tools</a:t>
            </a:r>
            <a:r>
              <a:rPr lang="en-US" dirty="0"/>
              <a:t> </a:t>
            </a:r>
            <a:r>
              <a:rPr lang="en-US" dirty="0" err="1"/>
              <a:t>langchain</a:t>
            </a:r>
            <a:r>
              <a:rPr lang="en-US" dirty="0"/>
              <a:t> </a:t>
            </a:r>
            <a:r>
              <a:rPr lang="en-US" dirty="0" err="1"/>
              <a:t>langchain_community</a:t>
            </a:r>
            <a:r>
              <a:rPr lang="en-US" dirty="0"/>
              <a:t> </a:t>
            </a:r>
            <a:r>
              <a:rPr lang="en-US" dirty="0" err="1"/>
              <a:t>langchain_openai</a:t>
            </a:r>
            <a:endParaRPr lang="en-US" dirty="0"/>
          </a:p>
          <a:p>
            <a:endParaRPr lang="en-US" dirty="0"/>
          </a:p>
          <a:p>
            <a:r>
              <a:rPr lang="en-US" dirty="0"/>
              <a:t>from </a:t>
            </a:r>
            <a:r>
              <a:rPr lang="en-US" dirty="0" err="1"/>
              <a:t>langchain.chat_models</a:t>
            </a:r>
            <a:r>
              <a:rPr lang="en-US" dirty="0"/>
              <a:t> import </a:t>
            </a:r>
            <a:r>
              <a:rPr lang="en-US" dirty="0" err="1"/>
              <a:t>ChatOpenAI</a:t>
            </a:r>
            <a:r>
              <a:rPr lang="en-US" dirty="0"/>
              <a:t> </a:t>
            </a:r>
            <a:r>
              <a:rPr lang="en-US" i="1" dirty="0"/>
              <a:t># Set OpenAI API Key</a:t>
            </a:r>
            <a:r>
              <a:rPr lang="en-US" dirty="0"/>
              <a:t> </a:t>
            </a:r>
            <a:r>
              <a:rPr lang="en-US" dirty="0" err="1"/>
              <a:t>os.environ</a:t>
            </a:r>
            <a:r>
              <a:rPr lang="en-US" dirty="0"/>
              <a:t>["OPENAI_API_KEY"] = "s****************v8" </a:t>
            </a:r>
            <a:r>
              <a:rPr lang="en-US" i="1" dirty="0"/>
              <a:t># Load LLM Model</a:t>
            </a:r>
            <a:r>
              <a:rPr lang="en-US" dirty="0"/>
              <a:t> </a:t>
            </a:r>
            <a:r>
              <a:rPr lang="en-US" dirty="0" err="1"/>
              <a:t>llm</a:t>
            </a:r>
            <a:r>
              <a:rPr lang="en-US" dirty="0"/>
              <a:t> = </a:t>
            </a:r>
            <a:r>
              <a:rPr lang="en-US" dirty="0" err="1"/>
              <a:t>ChatOpenAI</a:t>
            </a:r>
            <a:r>
              <a:rPr lang="en-US" dirty="0"/>
              <a:t>(temperature=0, model="gpt-4o-mini")</a:t>
            </a:r>
          </a:p>
        </p:txBody>
      </p:sp>
    </p:spTree>
    <p:extLst>
      <p:ext uri="{BB962C8B-B14F-4D97-AF65-F5344CB8AC3E}">
        <p14:creationId xmlns:p14="http://schemas.microsoft.com/office/powerpoint/2010/main" val="485130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458E8-ADE4-CE27-00E0-6EDEBB0B0D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C83C07-DC4F-12C1-7AEC-4388897F13C6}"/>
              </a:ext>
            </a:extLst>
          </p:cNvPr>
          <p:cNvSpPr>
            <a:spLocks noGrp="1"/>
          </p:cNvSpPr>
          <p:nvPr>
            <p:ph idx="1"/>
          </p:nvPr>
        </p:nvSpPr>
        <p:spPr/>
        <p:txBody>
          <a:bodyPr/>
          <a:lstStyle/>
          <a:p>
            <a:r>
              <a:rPr lang="en-US" dirty="0"/>
              <a:t>from </a:t>
            </a:r>
            <a:r>
              <a:rPr lang="en-US" dirty="0" err="1"/>
              <a:t>crewai_tools</a:t>
            </a:r>
            <a:r>
              <a:rPr lang="en-US" dirty="0"/>
              <a:t> import </a:t>
            </a:r>
            <a:r>
              <a:rPr lang="en-US" dirty="0" err="1"/>
              <a:t>WebsiteSearchTool</a:t>
            </a:r>
            <a:r>
              <a:rPr lang="en-US" dirty="0"/>
              <a:t> </a:t>
            </a:r>
          </a:p>
          <a:p>
            <a:r>
              <a:rPr lang="en-US" dirty="0"/>
              <a:t>import </a:t>
            </a:r>
            <a:r>
              <a:rPr lang="en-US" dirty="0" err="1"/>
              <a:t>os</a:t>
            </a:r>
            <a:r>
              <a:rPr lang="en-US" dirty="0"/>
              <a:t> </a:t>
            </a:r>
          </a:p>
          <a:p>
            <a:r>
              <a:rPr lang="en-US" i="1" dirty="0"/>
              <a:t># Instantiate Web Search Tool</a:t>
            </a:r>
            <a:r>
              <a:rPr lang="en-US" dirty="0"/>
              <a:t> </a:t>
            </a:r>
          </a:p>
          <a:p>
            <a:r>
              <a:rPr lang="en-US" dirty="0" err="1"/>
              <a:t>web_search_tool</a:t>
            </a:r>
            <a:r>
              <a:rPr lang="en-US" dirty="0"/>
              <a:t> = </a:t>
            </a:r>
            <a:r>
              <a:rPr lang="en-US" dirty="0" err="1"/>
              <a:t>WebsiteSearchTool</a:t>
            </a:r>
            <a:r>
              <a:rPr lang="en-US" dirty="0"/>
              <a:t>()</a:t>
            </a:r>
          </a:p>
        </p:txBody>
      </p:sp>
    </p:spTree>
    <p:extLst>
      <p:ext uri="{BB962C8B-B14F-4D97-AF65-F5344CB8AC3E}">
        <p14:creationId xmlns:p14="http://schemas.microsoft.com/office/powerpoint/2010/main" val="2606843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8A449-B650-1CDD-7E82-D3F8785237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8582EF-58A5-E18C-FEA5-764F20A8D79E}"/>
              </a:ext>
            </a:extLst>
          </p:cNvPr>
          <p:cNvSpPr>
            <a:spLocks noGrp="1"/>
          </p:cNvSpPr>
          <p:nvPr>
            <p:ph idx="1"/>
          </p:nvPr>
        </p:nvSpPr>
        <p:spPr>
          <a:xfrm>
            <a:off x="914400" y="2017467"/>
            <a:ext cx="10023647" cy="4738512"/>
          </a:xfrm>
        </p:spPr>
        <p:txBody>
          <a:bodyPr>
            <a:noAutofit/>
          </a:bodyPr>
          <a:lstStyle/>
          <a:p>
            <a:r>
              <a:rPr lang="en-US" sz="3200" dirty="0"/>
              <a:t>from </a:t>
            </a:r>
            <a:r>
              <a:rPr lang="en-US" sz="3200" dirty="0" err="1"/>
              <a:t>crewai</a:t>
            </a:r>
            <a:r>
              <a:rPr lang="en-US" sz="3200" dirty="0"/>
              <a:t> import Agent </a:t>
            </a:r>
          </a:p>
          <a:p>
            <a:r>
              <a:rPr lang="en-US" sz="3200" i="1" dirty="0"/>
              <a:t># Create Agents</a:t>
            </a:r>
            <a:r>
              <a:rPr lang="en-US" sz="3200" dirty="0"/>
              <a:t> </a:t>
            </a:r>
          </a:p>
          <a:p>
            <a:r>
              <a:rPr lang="en-US" sz="3200" dirty="0"/>
              <a:t>researcher = Agent( role='Market Research Analyst', goal='Provide up-to-date market analysis of the AI industry', backstory='An expert analyst with a keen eye for market trends.', tools=[</a:t>
            </a:r>
            <a:r>
              <a:rPr lang="en-US" sz="3200" dirty="0" err="1"/>
              <a:t>web_search_tool</a:t>
            </a:r>
            <a:r>
              <a:rPr lang="en-US" sz="3200" dirty="0"/>
              <a:t>], </a:t>
            </a:r>
            <a:r>
              <a:rPr lang="en-US" sz="3200" i="1" dirty="0"/>
              <a:t># Only uses web search tool</a:t>
            </a:r>
            <a:r>
              <a:rPr lang="en-US" sz="3200" dirty="0"/>
              <a:t> verbose=True ) </a:t>
            </a:r>
            <a:br>
              <a:rPr lang="en-US" sz="3200" dirty="0"/>
            </a:br>
            <a:endParaRPr lang="en-US" sz="3200" dirty="0"/>
          </a:p>
        </p:txBody>
      </p:sp>
    </p:spTree>
    <p:extLst>
      <p:ext uri="{BB962C8B-B14F-4D97-AF65-F5344CB8AC3E}">
        <p14:creationId xmlns:p14="http://schemas.microsoft.com/office/powerpoint/2010/main" val="28567659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5ABA2-120E-7EA1-2C24-45E86CBB21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F76324-A26F-074D-DDA2-216572192664}"/>
              </a:ext>
            </a:extLst>
          </p:cNvPr>
          <p:cNvSpPr>
            <a:spLocks noGrp="1"/>
          </p:cNvSpPr>
          <p:nvPr>
            <p:ph idx="1"/>
          </p:nvPr>
        </p:nvSpPr>
        <p:spPr/>
        <p:txBody>
          <a:bodyPr>
            <a:normAutofit/>
          </a:bodyPr>
          <a:lstStyle/>
          <a:p>
            <a:r>
              <a:rPr lang="en-US" dirty="0"/>
              <a:t>writer = Agent( role='Content Writer’, </a:t>
            </a:r>
          </a:p>
          <a:p>
            <a:r>
              <a:rPr lang="en-US" dirty="0"/>
              <a:t>goal='Craft engaging blog posts about the AI industry', backstory='A skilled writer with a passion for technology.', tools=[], </a:t>
            </a:r>
            <a:r>
              <a:rPr lang="en-US" i="1" dirty="0"/>
              <a:t># No tools needed; writes based on research summary</a:t>
            </a:r>
            <a:r>
              <a:rPr lang="en-US" dirty="0"/>
              <a:t> verbose=True </a:t>
            </a:r>
          </a:p>
          <a:p>
            <a:r>
              <a:rPr lang="en-US" dirty="0"/>
              <a:t>)</a:t>
            </a:r>
          </a:p>
        </p:txBody>
      </p:sp>
    </p:spTree>
    <p:extLst>
      <p:ext uri="{BB962C8B-B14F-4D97-AF65-F5344CB8AC3E}">
        <p14:creationId xmlns:p14="http://schemas.microsoft.com/office/powerpoint/2010/main" val="292833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BCB6B-4542-9F49-F819-9EA846F340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DCE02D-CE37-7CDC-2F2F-0CF2DD76193C}"/>
              </a:ext>
            </a:extLst>
          </p:cNvPr>
          <p:cNvSpPr>
            <a:spLocks noGrp="1"/>
          </p:cNvSpPr>
          <p:nvPr>
            <p:ph idx="1"/>
          </p:nvPr>
        </p:nvSpPr>
        <p:spPr>
          <a:xfrm>
            <a:off x="1158865" y="2017467"/>
            <a:ext cx="9779182" cy="4494169"/>
          </a:xfrm>
        </p:spPr>
        <p:txBody>
          <a:bodyPr>
            <a:noAutofit/>
          </a:bodyPr>
          <a:lstStyle/>
          <a:p>
            <a:br>
              <a:rPr lang="en-US" dirty="0"/>
            </a:br>
            <a:r>
              <a:rPr lang="en-US" dirty="0"/>
              <a:t>from </a:t>
            </a:r>
            <a:r>
              <a:rPr lang="en-US" dirty="0" err="1"/>
              <a:t>crewai</a:t>
            </a:r>
            <a:r>
              <a:rPr lang="en-US" dirty="0"/>
              <a:t> import Task, Crew </a:t>
            </a:r>
          </a:p>
          <a:p>
            <a:r>
              <a:rPr lang="en-US" i="1" dirty="0"/>
              <a:t># Define Tasks</a:t>
            </a:r>
            <a:r>
              <a:rPr lang="en-US" dirty="0"/>
              <a:t> </a:t>
            </a:r>
          </a:p>
          <a:p>
            <a:r>
              <a:rPr lang="en-US" dirty="0"/>
              <a:t>research = Task( description='Search the web for the latest AI trends and provide a summarized report.’, </a:t>
            </a:r>
          </a:p>
          <a:p>
            <a:r>
              <a:rPr lang="en-US" dirty="0" err="1"/>
              <a:t>expected_output</a:t>
            </a:r>
            <a:r>
              <a:rPr lang="en-US" dirty="0"/>
              <a:t>='A summary of the top 3 trending developments in AI with insights on their impact.’, </a:t>
            </a:r>
          </a:p>
          <a:p>
            <a:r>
              <a:rPr lang="en-US" dirty="0"/>
              <a:t>agent=researcher ) </a:t>
            </a:r>
            <a:br>
              <a:rPr lang="en-US" dirty="0"/>
            </a:br>
            <a:endParaRPr lang="en-US" dirty="0"/>
          </a:p>
        </p:txBody>
      </p:sp>
    </p:spTree>
    <p:extLst>
      <p:ext uri="{BB962C8B-B14F-4D97-AF65-F5344CB8AC3E}">
        <p14:creationId xmlns:p14="http://schemas.microsoft.com/office/powerpoint/2010/main" val="2931087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BEE-5494-CB2A-FB52-EBF64B0C94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5EB5C3-3DFB-F4A6-B1DF-B5E670707BF6}"/>
              </a:ext>
            </a:extLst>
          </p:cNvPr>
          <p:cNvSpPr>
            <a:spLocks noGrp="1"/>
          </p:cNvSpPr>
          <p:nvPr>
            <p:ph idx="1"/>
          </p:nvPr>
        </p:nvSpPr>
        <p:spPr>
          <a:xfrm>
            <a:off x="1158865" y="2017467"/>
            <a:ext cx="9779182" cy="3649042"/>
          </a:xfrm>
        </p:spPr>
        <p:txBody>
          <a:bodyPr/>
          <a:lstStyle/>
          <a:p>
            <a:r>
              <a:rPr lang="en-US" dirty="0"/>
              <a:t>write = Task( description='Write an engaging blog post about the AI industry based on the research analyst’s summary.', </a:t>
            </a:r>
            <a:r>
              <a:rPr lang="en-US" dirty="0" err="1"/>
              <a:t>expected_output</a:t>
            </a:r>
            <a:r>
              <a:rPr lang="en-US" dirty="0"/>
              <a:t>='A well-structured, 4-paragraph blog post in markdown format with simple, engaging content.', agent=writer, </a:t>
            </a:r>
            <a:r>
              <a:rPr lang="en-US" dirty="0" err="1"/>
              <a:t>output_file</a:t>
            </a:r>
            <a:r>
              <a:rPr lang="en-US" dirty="0"/>
              <a:t>='blog-posts/new_post.md' </a:t>
            </a:r>
            <a:r>
              <a:rPr lang="en-US" i="1" dirty="0"/>
              <a:t># Saves blog post in 'blog-posts' directory</a:t>
            </a:r>
            <a:r>
              <a:rPr lang="en-US" dirty="0"/>
              <a:t> ) </a:t>
            </a:r>
            <a:br>
              <a:rPr lang="en-US" dirty="0"/>
            </a:br>
            <a:endParaRPr lang="en-US" dirty="0"/>
          </a:p>
        </p:txBody>
      </p:sp>
    </p:spTree>
    <p:extLst>
      <p:ext uri="{BB962C8B-B14F-4D97-AF65-F5344CB8AC3E}">
        <p14:creationId xmlns:p14="http://schemas.microsoft.com/office/powerpoint/2010/main" val="36249669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8ADC6-859F-4BAE-E353-23171BB1CB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80CC77-9A64-5B23-6300-41A8DFDD7D8F}"/>
              </a:ext>
            </a:extLst>
          </p:cNvPr>
          <p:cNvSpPr>
            <a:spLocks noGrp="1"/>
          </p:cNvSpPr>
          <p:nvPr>
            <p:ph idx="1"/>
          </p:nvPr>
        </p:nvSpPr>
        <p:spPr/>
        <p:txBody>
          <a:bodyPr/>
          <a:lstStyle/>
          <a:p>
            <a:r>
              <a:rPr lang="en-US" i="1" dirty="0"/>
              <a:t># Assemble the Crew</a:t>
            </a:r>
            <a:r>
              <a:rPr lang="en-US" dirty="0"/>
              <a:t> </a:t>
            </a:r>
          </a:p>
          <a:p>
            <a:r>
              <a:rPr lang="en-US" dirty="0"/>
              <a:t>crew = Crew( agents=[researcher, writer], tasks=[research, write], verbose=True, planning=True </a:t>
            </a:r>
            <a:r>
              <a:rPr lang="en-US" i="1" dirty="0"/>
              <a:t># Enable AI planning feature</a:t>
            </a:r>
            <a:r>
              <a:rPr lang="en-US" dirty="0"/>
              <a:t> ) </a:t>
            </a:r>
          </a:p>
          <a:p>
            <a:r>
              <a:rPr lang="en-US" i="1" dirty="0"/>
              <a:t># Execute the Tasks</a:t>
            </a:r>
            <a:r>
              <a:rPr lang="en-US" dirty="0"/>
              <a:t> </a:t>
            </a:r>
          </a:p>
          <a:p>
            <a:r>
              <a:rPr lang="en-US" dirty="0" err="1"/>
              <a:t>crew.kickoff</a:t>
            </a:r>
            <a:r>
              <a:rPr lang="en-US" dirty="0"/>
              <a:t>()</a:t>
            </a:r>
          </a:p>
        </p:txBody>
      </p:sp>
    </p:spTree>
    <p:extLst>
      <p:ext uri="{BB962C8B-B14F-4D97-AF65-F5344CB8AC3E}">
        <p14:creationId xmlns:p14="http://schemas.microsoft.com/office/powerpoint/2010/main" val="11273838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C41DF-7DD3-1EFA-B95B-6E9BAEC361C2}"/>
              </a:ext>
            </a:extLst>
          </p:cNvPr>
          <p:cNvSpPr>
            <a:spLocks noGrp="1"/>
          </p:cNvSpPr>
          <p:nvPr>
            <p:ph type="title"/>
          </p:nvPr>
        </p:nvSpPr>
        <p:spPr/>
        <p:txBody>
          <a:bodyPr/>
          <a:lstStyle/>
          <a:p>
            <a:r>
              <a:rPr lang="en-US" dirty="0"/>
              <a:t>Open-Source vs Closed Source AI Agents:</a:t>
            </a:r>
            <a:br>
              <a:rPr lang="en-US" dirty="0"/>
            </a:br>
            <a:endParaRPr lang="en-US" dirty="0"/>
          </a:p>
        </p:txBody>
      </p:sp>
      <p:pic>
        <p:nvPicPr>
          <p:cNvPr id="5" name="Picture 4">
            <a:extLst>
              <a:ext uri="{FF2B5EF4-FFF2-40B4-BE49-F238E27FC236}">
                <a16:creationId xmlns:a16="http://schemas.microsoft.com/office/drawing/2014/main" id="{40F35C2E-8E00-A434-AC97-EA1C3076213B}"/>
              </a:ext>
            </a:extLst>
          </p:cNvPr>
          <p:cNvPicPr>
            <a:picLocks noChangeAspect="1"/>
          </p:cNvPicPr>
          <p:nvPr/>
        </p:nvPicPr>
        <p:blipFill>
          <a:blip r:embed="rId2"/>
          <a:stretch>
            <a:fillRect/>
          </a:stretch>
        </p:blipFill>
        <p:spPr>
          <a:xfrm>
            <a:off x="1253953" y="1611629"/>
            <a:ext cx="9040487" cy="4846727"/>
          </a:xfrm>
          <a:prstGeom prst="rect">
            <a:avLst/>
          </a:prstGeom>
        </p:spPr>
      </p:pic>
    </p:spTree>
    <p:extLst>
      <p:ext uri="{BB962C8B-B14F-4D97-AF65-F5344CB8AC3E}">
        <p14:creationId xmlns:p14="http://schemas.microsoft.com/office/powerpoint/2010/main" val="39867546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66A1-EC00-27A7-A37E-DC2287AA910A}"/>
              </a:ext>
            </a:extLst>
          </p:cNvPr>
          <p:cNvSpPr>
            <a:spLocks noGrp="1"/>
          </p:cNvSpPr>
          <p:nvPr>
            <p:ph type="title"/>
          </p:nvPr>
        </p:nvSpPr>
        <p:spPr/>
        <p:txBody>
          <a:bodyPr/>
          <a:lstStyle/>
          <a:p>
            <a:r>
              <a:rPr lang="en-US" dirty="0"/>
              <a:t>What Is an Open-Source AI Agent?</a:t>
            </a:r>
            <a:br>
              <a:rPr lang="en-US" dirty="0"/>
            </a:br>
            <a:endParaRPr lang="en-US" dirty="0"/>
          </a:p>
        </p:txBody>
      </p:sp>
      <p:sp>
        <p:nvSpPr>
          <p:cNvPr id="3" name="Content Placeholder 2">
            <a:extLst>
              <a:ext uri="{FF2B5EF4-FFF2-40B4-BE49-F238E27FC236}">
                <a16:creationId xmlns:a16="http://schemas.microsoft.com/office/drawing/2014/main" id="{02D49D09-0731-702A-A2DA-77160EB7CBE9}"/>
              </a:ext>
            </a:extLst>
          </p:cNvPr>
          <p:cNvSpPr>
            <a:spLocks noGrp="1"/>
          </p:cNvSpPr>
          <p:nvPr>
            <p:ph idx="1"/>
          </p:nvPr>
        </p:nvSpPr>
        <p:spPr>
          <a:xfrm>
            <a:off x="1158864" y="1554480"/>
            <a:ext cx="9779182" cy="4709159"/>
          </a:xfrm>
        </p:spPr>
        <p:txBody>
          <a:bodyPr>
            <a:normAutofit/>
          </a:bodyPr>
          <a:lstStyle/>
          <a:p>
            <a:pPr fontAlgn="base"/>
            <a:r>
              <a:rPr lang="en-US" dirty="0"/>
              <a:t>An </a:t>
            </a:r>
            <a:r>
              <a:rPr lang="en-US" b="1" dirty="0"/>
              <a:t>open-source AI agent</a:t>
            </a:r>
            <a:r>
              <a:rPr lang="en-US" dirty="0"/>
              <a:t> is one whose source code is publicly available. Developers can view, use, modify, and distribute the code under a license like MIT, Apache, or GNU.</a:t>
            </a:r>
          </a:p>
          <a:p>
            <a:pPr fontAlgn="base"/>
            <a:r>
              <a:rPr lang="en-US" b="1" dirty="0"/>
              <a:t>Examples:</a:t>
            </a:r>
          </a:p>
          <a:p>
            <a:pPr marL="457200" indent="-457200" fontAlgn="base">
              <a:buFont typeface="Arial" panose="020B0604020202020204" pitchFamily="34" charset="0"/>
              <a:buChar char="•"/>
            </a:pPr>
            <a:r>
              <a:rPr lang="en-US" dirty="0" err="1"/>
              <a:t>LangChain</a:t>
            </a:r>
            <a:endParaRPr lang="en-US" dirty="0"/>
          </a:p>
          <a:p>
            <a:pPr marL="457200" indent="-457200" fontAlgn="base">
              <a:buFont typeface="Arial" panose="020B0604020202020204" pitchFamily="34" charset="0"/>
              <a:buChar char="•"/>
            </a:pPr>
            <a:r>
              <a:rPr lang="en-US" dirty="0"/>
              <a:t>Auto-GPT</a:t>
            </a:r>
          </a:p>
          <a:p>
            <a:pPr marL="457200" indent="-457200" fontAlgn="base">
              <a:buFont typeface="Arial" panose="020B0604020202020204" pitchFamily="34" charset="0"/>
              <a:buChar char="•"/>
            </a:pPr>
            <a:r>
              <a:rPr lang="en-US" dirty="0"/>
              <a:t>Rasa (for conversational AI)</a:t>
            </a:r>
          </a:p>
          <a:p>
            <a:pPr marL="457200" indent="-457200" fontAlgn="base">
              <a:buFont typeface="Arial" panose="020B0604020202020204" pitchFamily="34" charset="0"/>
              <a:buChar char="•"/>
            </a:pPr>
            <a:r>
              <a:rPr lang="en-US" dirty="0" err="1"/>
              <a:t>OpenAssistant</a:t>
            </a:r>
            <a:endParaRPr lang="en-US" dirty="0"/>
          </a:p>
        </p:txBody>
      </p:sp>
    </p:spTree>
    <p:extLst>
      <p:ext uri="{BB962C8B-B14F-4D97-AF65-F5344CB8AC3E}">
        <p14:creationId xmlns:p14="http://schemas.microsoft.com/office/powerpoint/2010/main" val="22550372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B7CC0F-7793-A372-B5E1-F45E36FB80EC}"/>
              </a:ext>
            </a:extLst>
          </p:cNvPr>
          <p:cNvPicPr>
            <a:picLocks noChangeAspect="1"/>
          </p:cNvPicPr>
          <p:nvPr/>
        </p:nvPicPr>
        <p:blipFill>
          <a:blip r:embed="rId2"/>
          <a:stretch>
            <a:fillRect/>
          </a:stretch>
        </p:blipFill>
        <p:spPr>
          <a:xfrm>
            <a:off x="713711" y="185285"/>
            <a:ext cx="10864879" cy="6487430"/>
          </a:xfrm>
          <a:prstGeom prst="rect">
            <a:avLst/>
          </a:prstGeom>
        </p:spPr>
      </p:pic>
    </p:spTree>
    <p:extLst>
      <p:ext uri="{BB962C8B-B14F-4D97-AF65-F5344CB8AC3E}">
        <p14:creationId xmlns:p14="http://schemas.microsoft.com/office/powerpoint/2010/main" val="18849485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E12A-0FF2-1E44-6AED-6EB10CD57640}"/>
              </a:ext>
            </a:extLst>
          </p:cNvPr>
          <p:cNvSpPr>
            <a:spLocks noGrp="1"/>
          </p:cNvSpPr>
          <p:nvPr>
            <p:ph type="title"/>
          </p:nvPr>
        </p:nvSpPr>
        <p:spPr/>
        <p:txBody>
          <a:bodyPr/>
          <a:lstStyle/>
          <a:p>
            <a:r>
              <a:rPr lang="en-US" dirty="0"/>
              <a:t>What Is a Closed Source AI Agent?</a:t>
            </a:r>
            <a:br>
              <a:rPr lang="en-US" dirty="0"/>
            </a:br>
            <a:endParaRPr lang="en-US" dirty="0"/>
          </a:p>
        </p:txBody>
      </p:sp>
      <p:sp>
        <p:nvSpPr>
          <p:cNvPr id="3" name="Content Placeholder 2">
            <a:extLst>
              <a:ext uri="{FF2B5EF4-FFF2-40B4-BE49-F238E27FC236}">
                <a16:creationId xmlns:a16="http://schemas.microsoft.com/office/drawing/2014/main" id="{35CC942E-DEE6-33FD-077F-676CB7B7A609}"/>
              </a:ext>
            </a:extLst>
          </p:cNvPr>
          <p:cNvSpPr>
            <a:spLocks noGrp="1"/>
          </p:cNvSpPr>
          <p:nvPr>
            <p:ph idx="1"/>
          </p:nvPr>
        </p:nvSpPr>
        <p:spPr>
          <a:xfrm>
            <a:off x="1067425" y="1720287"/>
            <a:ext cx="9779182" cy="4189023"/>
          </a:xfrm>
        </p:spPr>
        <p:txBody>
          <a:bodyPr>
            <a:normAutofit/>
          </a:bodyPr>
          <a:lstStyle/>
          <a:p>
            <a:pPr fontAlgn="base"/>
            <a:r>
              <a:rPr lang="en-US" dirty="0"/>
              <a:t>A </a:t>
            </a:r>
            <a:r>
              <a:rPr lang="en-US" b="1" dirty="0"/>
              <a:t>closed source AI agent</a:t>
            </a:r>
            <a:r>
              <a:rPr lang="en-US" dirty="0"/>
              <a:t> is proprietary. The code is owned by an individual or organization and is not accessible to the public. Users interact with the system via APIs or platforms but cannot inspect or alter the underlying algorithms.</a:t>
            </a:r>
          </a:p>
          <a:p>
            <a:pPr fontAlgn="base"/>
            <a:r>
              <a:rPr lang="en-US" b="1" dirty="0"/>
              <a:t>Examples:</a:t>
            </a:r>
          </a:p>
          <a:p>
            <a:pPr marL="457200" indent="-457200" fontAlgn="base">
              <a:buFont typeface="Arial" panose="020B0604020202020204" pitchFamily="34" charset="0"/>
              <a:buChar char="•"/>
            </a:pPr>
            <a:r>
              <a:rPr lang="en-US" dirty="0"/>
              <a:t>ChatGPT (OpenAI)</a:t>
            </a:r>
          </a:p>
          <a:p>
            <a:pPr marL="457200" indent="-457200" fontAlgn="base">
              <a:buFont typeface="Arial" panose="020B0604020202020204" pitchFamily="34" charset="0"/>
              <a:buChar char="•"/>
            </a:pPr>
            <a:r>
              <a:rPr lang="en-US" dirty="0"/>
              <a:t>Bard (Google)</a:t>
            </a:r>
          </a:p>
          <a:p>
            <a:pPr marL="457200" indent="-457200" fontAlgn="base">
              <a:buFont typeface="Arial" panose="020B0604020202020204" pitchFamily="34" charset="0"/>
              <a:buChar char="•"/>
            </a:pPr>
            <a:r>
              <a:rPr lang="en-US" dirty="0"/>
              <a:t>IBM Watson</a:t>
            </a:r>
          </a:p>
          <a:p>
            <a:pPr marL="457200" indent="-457200" fontAlgn="base">
              <a:buFont typeface="Arial" panose="020B0604020202020204" pitchFamily="34" charset="0"/>
              <a:buChar char="•"/>
            </a:pPr>
            <a:r>
              <a:rPr lang="en-US" dirty="0"/>
              <a:t>Microsoft Copilot</a:t>
            </a:r>
          </a:p>
          <a:p>
            <a:endParaRPr lang="en-US" dirty="0"/>
          </a:p>
        </p:txBody>
      </p:sp>
    </p:spTree>
    <p:extLst>
      <p:ext uri="{BB962C8B-B14F-4D97-AF65-F5344CB8AC3E}">
        <p14:creationId xmlns:p14="http://schemas.microsoft.com/office/powerpoint/2010/main" val="3746077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8167B-C156-1EE4-09AB-31FC333199CF}"/>
              </a:ext>
            </a:extLst>
          </p:cNvPr>
          <p:cNvSpPr>
            <a:spLocks noGrp="1"/>
          </p:cNvSpPr>
          <p:nvPr>
            <p:ph type="title"/>
          </p:nvPr>
        </p:nvSpPr>
        <p:spPr/>
        <p:txBody>
          <a:bodyPr/>
          <a:lstStyle/>
          <a:p>
            <a:r>
              <a:rPr lang="en-US" dirty="0"/>
              <a:t>Advantages of Open-Source AI Agents</a:t>
            </a:r>
            <a:br>
              <a:rPr lang="en-US" dirty="0"/>
            </a:br>
            <a:endParaRPr lang="en-US" dirty="0"/>
          </a:p>
        </p:txBody>
      </p:sp>
      <p:sp>
        <p:nvSpPr>
          <p:cNvPr id="3" name="Content Placeholder 2">
            <a:extLst>
              <a:ext uri="{FF2B5EF4-FFF2-40B4-BE49-F238E27FC236}">
                <a16:creationId xmlns:a16="http://schemas.microsoft.com/office/drawing/2014/main" id="{C6936E70-305E-8502-882E-1A2D046F5260}"/>
              </a:ext>
            </a:extLst>
          </p:cNvPr>
          <p:cNvSpPr>
            <a:spLocks noGrp="1"/>
          </p:cNvSpPr>
          <p:nvPr>
            <p:ph idx="1"/>
          </p:nvPr>
        </p:nvSpPr>
        <p:spPr/>
        <p:txBody>
          <a:bodyPr>
            <a:normAutofit fontScale="92500" lnSpcReduction="10000"/>
          </a:bodyPr>
          <a:lstStyle/>
          <a:p>
            <a:pPr marL="457200" indent="-457200" fontAlgn="base">
              <a:buFont typeface="Arial" panose="020B0604020202020204" pitchFamily="34" charset="0"/>
              <a:buChar char="•"/>
            </a:pPr>
            <a:r>
              <a:rPr lang="en-US" b="1" dirty="0"/>
              <a:t>Full Control</a:t>
            </a:r>
            <a:r>
              <a:rPr lang="en-US" dirty="0"/>
              <a:t>: Modify the agent’s behavior to suit specific needs.</a:t>
            </a:r>
          </a:p>
          <a:p>
            <a:pPr marL="457200" indent="-457200" fontAlgn="base">
              <a:buFont typeface="Arial" panose="020B0604020202020204" pitchFamily="34" charset="0"/>
              <a:buChar char="•"/>
            </a:pPr>
            <a:r>
              <a:rPr lang="en-US" b="1" dirty="0"/>
              <a:t>No Vendor Lock-in</a:t>
            </a:r>
            <a:r>
              <a:rPr lang="en-US" dirty="0"/>
              <a:t>: Greater freedom in deployment, migration, and upgrades.</a:t>
            </a:r>
          </a:p>
          <a:p>
            <a:pPr marL="457200" indent="-457200" fontAlgn="base">
              <a:buFont typeface="Arial" panose="020B0604020202020204" pitchFamily="34" charset="0"/>
              <a:buChar char="•"/>
            </a:pPr>
            <a:r>
              <a:rPr lang="en-US" b="1" dirty="0"/>
              <a:t>Transparency</a:t>
            </a:r>
            <a:r>
              <a:rPr lang="en-US" dirty="0"/>
              <a:t>: You know exactly how decisions are made.</a:t>
            </a:r>
          </a:p>
          <a:p>
            <a:pPr marL="457200" indent="-457200" fontAlgn="base">
              <a:buFont typeface="Arial" panose="020B0604020202020204" pitchFamily="34" charset="0"/>
              <a:buChar char="•"/>
            </a:pPr>
            <a:r>
              <a:rPr lang="en-US" b="1" dirty="0"/>
              <a:t>Innovation-Friendly</a:t>
            </a:r>
            <a:r>
              <a:rPr lang="en-US" dirty="0"/>
              <a:t>: Rapid experimentation and iteration.</a:t>
            </a:r>
          </a:p>
          <a:p>
            <a:pPr marL="457200" indent="-457200" fontAlgn="base">
              <a:buFont typeface="Arial" panose="020B0604020202020204" pitchFamily="34" charset="0"/>
              <a:buChar char="•"/>
            </a:pPr>
            <a:r>
              <a:rPr lang="en-US" b="1" dirty="0"/>
              <a:t>Cost-Effective</a:t>
            </a:r>
            <a:r>
              <a:rPr lang="en-US" dirty="0"/>
              <a:t>: Minimal licensing costs.</a:t>
            </a:r>
          </a:p>
          <a:p>
            <a:pPr marL="457200" indent="-457200">
              <a:buFont typeface="Arial" panose="020B0604020202020204" pitchFamily="34" charset="0"/>
              <a:buChar char="•"/>
            </a:pPr>
            <a:br>
              <a:rPr lang="en-US" dirty="0"/>
            </a:br>
            <a:endParaRPr lang="en-US" dirty="0"/>
          </a:p>
        </p:txBody>
      </p:sp>
    </p:spTree>
    <p:extLst>
      <p:ext uri="{BB962C8B-B14F-4D97-AF65-F5344CB8AC3E}">
        <p14:creationId xmlns:p14="http://schemas.microsoft.com/office/powerpoint/2010/main" val="32980096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B132-2DEC-AE08-0024-3C20DD496B1C}"/>
              </a:ext>
            </a:extLst>
          </p:cNvPr>
          <p:cNvSpPr>
            <a:spLocks noGrp="1"/>
          </p:cNvSpPr>
          <p:nvPr>
            <p:ph type="title"/>
          </p:nvPr>
        </p:nvSpPr>
        <p:spPr/>
        <p:txBody>
          <a:bodyPr/>
          <a:lstStyle/>
          <a:p>
            <a:r>
              <a:rPr lang="en-US" dirty="0"/>
              <a:t>Disadvantages of Open-Source AI Agents</a:t>
            </a:r>
            <a:br>
              <a:rPr lang="en-US" dirty="0"/>
            </a:br>
            <a:endParaRPr lang="en-US" dirty="0"/>
          </a:p>
        </p:txBody>
      </p:sp>
      <p:sp>
        <p:nvSpPr>
          <p:cNvPr id="3" name="Content Placeholder 2">
            <a:extLst>
              <a:ext uri="{FF2B5EF4-FFF2-40B4-BE49-F238E27FC236}">
                <a16:creationId xmlns:a16="http://schemas.microsoft.com/office/drawing/2014/main" id="{9CAC0049-D5D4-88C2-9FBB-C3E085BDCBA3}"/>
              </a:ext>
            </a:extLst>
          </p:cNvPr>
          <p:cNvSpPr>
            <a:spLocks noGrp="1"/>
          </p:cNvSpPr>
          <p:nvPr>
            <p:ph idx="1"/>
          </p:nvPr>
        </p:nvSpPr>
        <p:spPr/>
        <p:txBody>
          <a:bodyPr/>
          <a:lstStyle/>
          <a:p>
            <a:pPr marL="457200" indent="-457200" fontAlgn="base">
              <a:buFont typeface="Arial" panose="020B0604020202020204" pitchFamily="34" charset="0"/>
              <a:buChar char="•"/>
            </a:pPr>
            <a:r>
              <a:rPr lang="en-US" b="1" dirty="0"/>
              <a:t>Requires Technical Expertise</a:t>
            </a:r>
            <a:r>
              <a:rPr lang="en-US" dirty="0"/>
              <a:t>: Setup, customization, and support often require skilled developers.</a:t>
            </a:r>
          </a:p>
          <a:p>
            <a:pPr marL="457200" indent="-457200" fontAlgn="base">
              <a:buFont typeface="Arial" panose="020B0604020202020204" pitchFamily="34" charset="0"/>
              <a:buChar char="•"/>
            </a:pPr>
            <a:r>
              <a:rPr lang="en-US" b="1" dirty="0"/>
              <a:t>Maintenance Overhead</a:t>
            </a:r>
            <a:r>
              <a:rPr lang="en-US" dirty="0"/>
              <a:t>: You’re responsible for updates, bug fixes, and security.</a:t>
            </a:r>
          </a:p>
          <a:p>
            <a:pPr marL="457200" indent="-457200" fontAlgn="base">
              <a:buFont typeface="Arial" panose="020B0604020202020204" pitchFamily="34" charset="0"/>
              <a:buChar char="•"/>
            </a:pPr>
            <a:r>
              <a:rPr lang="en-US" b="1" dirty="0"/>
              <a:t>Inconsistent Documentation</a:t>
            </a:r>
            <a:r>
              <a:rPr lang="en-US" dirty="0"/>
              <a:t>: May lack enterprise-level guidance or training materials.</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303692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C6BB3-A047-1FFA-052B-0B5BF0F6BE15}"/>
              </a:ext>
            </a:extLst>
          </p:cNvPr>
          <p:cNvSpPr>
            <a:spLocks noGrp="1"/>
          </p:cNvSpPr>
          <p:nvPr>
            <p:ph type="title"/>
          </p:nvPr>
        </p:nvSpPr>
        <p:spPr/>
        <p:txBody>
          <a:bodyPr/>
          <a:lstStyle/>
          <a:p>
            <a:r>
              <a:rPr lang="en-US" dirty="0"/>
              <a:t>Advantages of Closed Source AI Agents</a:t>
            </a:r>
            <a:br>
              <a:rPr lang="en-US" dirty="0"/>
            </a:br>
            <a:endParaRPr lang="en-US" dirty="0"/>
          </a:p>
        </p:txBody>
      </p:sp>
      <p:sp>
        <p:nvSpPr>
          <p:cNvPr id="3" name="Content Placeholder 2">
            <a:extLst>
              <a:ext uri="{FF2B5EF4-FFF2-40B4-BE49-F238E27FC236}">
                <a16:creationId xmlns:a16="http://schemas.microsoft.com/office/drawing/2014/main" id="{C6A21CFF-D13B-DC08-8F38-665EEDE84B9F}"/>
              </a:ext>
            </a:extLst>
          </p:cNvPr>
          <p:cNvSpPr>
            <a:spLocks noGrp="1"/>
          </p:cNvSpPr>
          <p:nvPr>
            <p:ph idx="1"/>
          </p:nvPr>
        </p:nvSpPr>
        <p:spPr/>
        <p:txBody>
          <a:bodyPr>
            <a:normAutofit lnSpcReduction="10000"/>
          </a:bodyPr>
          <a:lstStyle/>
          <a:p>
            <a:pPr marL="457200" indent="-457200" fontAlgn="base">
              <a:buFont typeface="Arial" panose="020B0604020202020204" pitchFamily="34" charset="0"/>
              <a:buChar char="•"/>
            </a:pPr>
            <a:r>
              <a:rPr lang="en-US" b="1" dirty="0"/>
              <a:t>Ease of Use</a:t>
            </a:r>
            <a:r>
              <a:rPr lang="en-US" dirty="0"/>
              <a:t>: Often comes with user-friendly dashboards, APIs, and integrations.</a:t>
            </a:r>
          </a:p>
          <a:p>
            <a:pPr marL="457200" indent="-457200" fontAlgn="base">
              <a:buFont typeface="Arial" panose="020B0604020202020204" pitchFamily="34" charset="0"/>
              <a:buChar char="•"/>
            </a:pPr>
            <a:r>
              <a:rPr lang="en-US" b="1" dirty="0"/>
              <a:t>Vendor Support</a:t>
            </a:r>
            <a:r>
              <a:rPr lang="en-US" dirty="0"/>
              <a:t>: SLAs, customer support, and frequent updates.</a:t>
            </a:r>
          </a:p>
          <a:p>
            <a:pPr marL="457200" indent="-457200" fontAlgn="base">
              <a:buFont typeface="Arial" panose="020B0604020202020204" pitchFamily="34" charset="0"/>
              <a:buChar char="•"/>
            </a:pPr>
            <a:r>
              <a:rPr lang="en-US" b="1" dirty="0"/>
              <a:t>Performance Optimized</a:t>
            </a:r>
            <a:r>
              <a:rPr lang="en-US" dirty="0"/>
              <a:t>: Enterprise-ready with scalability and robustness.</a:t>
            </a:r>
          </a:p>
          <a:p>
            <a:pPr marL="457200" indent="-457200" fontAlgn="base">
              <a:buFont typeface="Arial" panose="020B0604020202020204" pitchFamily="34" charset="0"/>
              <a:buChar char="•"/>
            </a:pPr>
            <a:r>
              <a:rPr lang="en-US" b="1" dirty="0"/>
              <a:t>Focus on Results</a:t>
            </a:r>
            <a:r>
              <a:rPr lang="en-US" dirty="0"/>
              <a:t>: Spend less time building and more time delivering value.</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25489853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4013-E70E-5B1D-7BDB-5BF423465A2F}"/>
              </a:ext>
            </a:extLst>
          </p:cNvPr>
          <p:cNvSpPr>
            <a:spLocks noGrp="1"/>
          </p:cNvSpPr>
          <p:nvPr>
            <p:ph type="title"/>
          </p:nvPr>
        </p:nvSpPr>
        <p:spPr/>
        <p:txBody>
          <a:bodyPr/>
          <a:lstStyle/>
          <a:p>
            <a:r>
              <a:rPr lang="en-US" dirty="0"/>
              <a:t>Disadvantages of Closed Source AI Agents</a:t>
            </a:r>
            <a:br>
              <a:rPr lang="en-US" dirty="0"/>
            </a:br>
            <a:endParaRPr lang="en-US" dirty="0"/>
          </a:p>
        </p:txBody>
      </p:sp>
      <p:sp>
        <p:nvSpPr>
          <p:cNvPr id="3" name="Content Placeholder 2">
            <a:extLst>
              <a:ext uri="{FF2B5EF4-FFF2-40B4-BE49-F238E27FC236}">
                <a16:creationId xmlns:a16="http://schemas.microsoft.com/office/drawing/2014/main" id="{EA1F7444-59DD-2DCA-9F8F-5C1AF5EB3053}"/>
              </a:ext>
            </a:extLst>
          </p:cNvPr>
          <p:cNvSpPr>
            <a:spLocks noGrp="1"/>
          </p:cNvSpPr>
          <p:nvPr>
            <p:ph idx="1"/>
          </p:nvPr>
        </p:nvSpPr>
        <p:spPr/>
        <p:txBody>
          <a:bodyPr/>
          <a:lstStyle/>
          <a:p>
            <a:pPr marL="457200" indent="-457200" fontAlgn="base">
              <a:buFont typeface="Arial" panose="020B0604020202020204" pitchFamily="34" charset="0"/>
              <a:buChar char="•"/>
            </a:pPr>
            <a:r>
              <a:rPr lang="en-US" b="1" dirty="0"/>
              <a:t>Limited Customization</a:t>
            </a:r>
            <a:r>
              <a:rPr lang="en-US" dirty="0"/>
              <a:t>: You can only use what the vendor provides.</a:t>
            </a:r>
          </a:p>
          <a:p>
            <a:pPr marL="457200" indent="-457200" fontAlgn="base">
              <a:buFont typeface="Arial" panose="020B0604020202020204" pitchFamily="34" charset="0"/>
              <a:buChar char="•"/>
            </a:pPr>
            <a:r>
              <a:rPr lang="en-US" b="1" dirty="0"/>
              <a:t>Data Privacy Concerns</a:t>
            </a:r>
            <a:r>
              <a:rPr lang="en-US" dirty="0"/>
              <a:t>: Less visibility into how data is used or stored.</a:t>
            </a:r>
          </a:p>
          <a:p>
            <a:pPr marL="457200" indent="-457200" fontAlgn="base">
              <a:buFont typeface="Arial" panose="020B0604020202020204" pitchFamily="34" charset="0"/>
              <a:buChar char="•"/>
            </a:pPr>
            <a:r>
              <a:rPr lang="en-US" b="1" dirty="0"/>
              <a:t>Cost</a:t>
            </a:r>
            <a:r>
              <a:rPr lang="en-US" dirty="0"/>
              <a:t>: Can be expensive, especially at scale.</a:t>
            </a:r>
          </a:p>
          <a:p>
            <a:endParaRPr lang="en-US" dirty="0"/>
          </a:p>
        </p:txBody>
      </p:sp>
    </p:spTree>
    <p:extLst>
      <p:ext uri="{BB962C8B-B14F-4D97-AF65-F5344CB8AC3E}">
        <p14:creationId xmlns:p14="http://schemas.microsoft.com/office/powerpoint/2010/main" val="37173248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821AC-0D28-BF9B-1F1C-B694EC88A432}"/>
              </a:ext>
            </a:extLst>
          </p:cNvPr>
          <p:cNvSpPr>
            <a:spLocks noGrp="1"/>
          </p:cNvSpPr>
          <p:nvPr>
            <p:ph type="title"/>
          </p:nvPr>
        </p:nvSpPr>
        <p:spPr/>
        <p:txBody>
          <a:bodyPr/>
          <a:lstStyle/>
          <a:p>
            <a:r>
              <a:rPr lang="en-US" dirty="0" err="1"/>
              <a:t>Autogen</a:t>
            </a:r>
            <a:r>
              <a:rPr lang="en-US" dirty="0"/>
              <a:t> tutorial</a:t>
            </a:r>
          </a:p>
        </p:txBody>
      </p:sp>
      <p:sp>
        <p:nvSpPr>
          <p:cNvPr id="3" name="Content Placeholder 2">
            <a:extLst>
              <a:ext uri="{FF2B5EF4-FFF2-40B4-BE49-F238E27FC236}">
                <a16:creationId xmlns:a16="http://schemas.microsoft.com/office/drawing/2014/main" id="{E94E3D7F-67C6-C468-9D3A-3AFAFD857BCA}"/>
              </a:ext>
            </a:extLst>
          </p:cNvPr>
          <p:cNvSpPr>
            <a:spLocks noGrp="1"/>
          </p:cNvSpPr>
          <p:nvPr>
            <p:ph idx="1"/>
          </p:nvPr>
        </p:nvSpPr>
        <p:spPr/>
        <p:txBody>
          <a:bodyPr/>
          <a:lstStyle/>
          <a:p>
            <a:r>
              <a:rPr lang="en-US" dirty="0"/>
              <a:t>https://www.datacamp.com/tutorial/autogen-tutorial</a:t>
            </a:r>
          </a:p>
        </p:txBody>
      </p:sp>
    </p:spTree>
    <p:extLst>
      <p:ext uri="{BB962C8B-B14F-4D97-AF65-F5344CB8AC3E}">
        <p14:creationId xmlns:p14="http://schemas.microsoft.com/office/powerpoint/2010/main" val="12866865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C54E27-47F8-F897-21B0-541D2C319ABD}"/>
              </a:ext>
            </a:extLst>
          </p:cNvPr>
          <p:cNvPicPr>
            <a:picLocks noChangeAspect="1"/>
          </p:cNvPicPr>
          <p:nvPr/>
        </p:nvPicPr>
        <p:blipFill>
          <a:blip r:embed="rId2"/>
          <a:stretch>
            <a:fillRect/>
          </a:stretch>
        </p:blipFill>
        <p:spPr>
          <a:xfrm>
            <a:off x="1267098" y="0"/>
            <a:ext cx="9157062" cy="6858000"/>
          </a:xfrm>
          <a:prstGeom prst="rect">
            <a:avLst/>
          </a:prstGeom>
        </p:spPr>
      </p:pic>
    </p:spTree>
    <p:extLst>
      <p:ext uri="{BB962C8B-B14F-4D97-AF65-F5344CB8AC3E}">
        <p14:creationId xmlns:p14="http://schemas.microsoft.com/office/powerpoint/2010/main" val="2517008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06781-66F3-67A7-9AA1-F044A915A2D4}"/>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7E818A83-FAD2-526F-6E64-53F605EFCAE6}"/>
              </a:ext>
            </a:extLst>
          </p:cNvPr>
          <p:cNvPicPr>
            <a:picLocks noChangeAspect="1"/>
          </p:cNvPicPr>
          <p:nvPr/>
        </p:nvPicPr>
        <p:blipFill>
          <a:blip r:embed="rId2"/>
          <a:stretch>
            <a:fillRect/>
          </a:stretch>
        </p:blipFill>
        <p:spPr>
          <a:xfrm>
            <a:off x="782556" y="0"/>
            <a:ext cx="10626888" cy="6858000"/>
          </a:xfrm>
          <a:prstGeom prst="rect">
            <a:avLst/>
          </a:prstGeom>
        </p:spPr>
      </p:pic>
    </p:spTree>
    <p:extLst>
      <p:ext uri="{BB962C8B-B14F-4D97-AF65-F5344CB8AC3E}">
        <p14:creationId xmlns:p14="http://schemas.microsoft.com/office/powerpoint/2010/main" val="24844139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2AB76-6BA1-EA0C-641A-178CE62825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EAB6DB-02DA-2514-0C33-211DC277197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9754A5B-B7B2-5AAD-0C3A-1BC8819C0C2D}"/>
              </a:ext>
            </a:extLst>
          </p:cNvPr>
          <p:cNvPicPr>
            <a:picLocks noChangeAspect="1"/>
          </p:cNvPicPr>
          <p:nvPr/>
        </p:nvPicPr>
        <p:blipFill>
          <a:blip r:embed="rId2"/>
          <a:stretch>
            <a:fillRect/>
          </a:stretch>
        </p:blipFill>
        <p:spPr>
          <a:xfrm>
            <a:off x="0" y="138277"/>
            <a:ext cx="12192000" cy="6581446"/>
          </a:xfrm>
          <a:prstGeom prst="rect">
            <a:avLst/>
          </a:prstGeom>
        </p:spPr>
      </p:pic>
    </p:spTree>
    <p:extLst>
      <p:ext uri="{BB962C8B-B14F-4D97-AF65-F5344CB8AC3E}">
        <p14:creationId xmlns:p14="http://schemas.microsoft.com/office/powerpoint/2010/main" val="1168392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CC5BF9-6705-04CD-403F-8C4D4748FB6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966778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549B-2E45-C786-207D-FE311E70ED63}"/>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CD5C7A21-17B8-53C4-CB76-5877A5C52A3B}"/>
              </a:ext>
            </a:extLst>
          </p:cNvPr>
          <p:cNvPicPr>
            <a:picLocks noChangeAspect="1"/>
          </p:cNvPicPr>
          <p:nvPr/>
        </p:nvPicPr>
        <p:blipFill>
          <a:blip r:embed="rId2"/>
          <a:srcRect l="18134" t="12846" r="18134"/>
          <a:stretch>
            <a:fillRect/>
          </a:stretch>
        </p:blipFill>
        <p:spPr>
          <a:xfrm>
            <a:off x="104504" y="0"/>
            <a:ext cx="12087496" cy="7010399"/>
          </a:xfrm>
          <a:prstGeom prst="rect">
            <a:avLst/>
          </a:prstGeom>
        </p:spPr>
      </p:pic>
    </p:spTree>
    <p:extLst>
      <p:ext uri="{BB962C8B-B14F-4D97-AF65-F5344CB8AC3E}">
        <p14:creationId xmlns:p14="http://schemas.microsoft.com/office/powerpoint/2010/main" val="22565340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2B14-F78F-D993-CA6F-D39867CB2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36F53F-5AD9-364D-1228-F23535DAE53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B5DE0F9-9A70-2793-BB84-E5C369D43A01}"/>
              </a:ext>
            </a:extLst>
          </p:cNvPr>
          <p:cNvPicPr>
            <a:picLocks noChangeAspect="1"/>
          </p:cNvPicPr>
          <p:nvPr/>
        </p:nvPicPr>
        <p:blipFill>
          <a:blip r:embed="rId2"/>
          <a:stretch>
            <a:fillRect/>
          </a:stretch>
        </p:blipFill>
        <p:spPr>
          <a:xfrm>
            <a:off x="418011" y="0"/>
            <a:ext cx="11142618" cy="6858000"/>
          </a:xfrm>
          <a:prstGeom prst="rect">
            <a:avLst/>
          </a:prstGeom>
        </p:spPr>
      </p:pic>
    </p:spTree>
    <p:extLst>
      <p:ext uri="{BB962C8B-B14F-4D97-AF65-F5344CB8AC3E}">
        <p14:creationId xmlns:p14="http://schemas.microsoft.com/office/powerpoint/2010/main" val="41438409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r>
              <a:rPr lang="en-US" dirty="0"/>
              <a:t>Dr. </a:t>
            </a:r>
            <a:r>
              <a:rPr lang="en-US"/>
              <a:t>Rakhee Chhibber</a:t>
            </a:r>
            <a:endParaRPr lang="en-US"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3775</TotalTime>
  <Words>2437</Words>
  <Application>Microsoft Office PowerPoint</Application>
  <PresentationFormat>Widescreen</PresentationFormat>
  <Paragraphs>205</Paragraphs>
  <Slides>72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Arial</vt:lpstr>
      <vt:lpstr>Calibri</vt:lpstr>
      <vt:lpstr>Tenorite</vt:lpstr>
      <vt:lpstr>Custom</vt:lpstr>
      <vt:lpstr>AI Agent Frameworks</vt:lpstr>
      <vt:lpstr>Agenda</vt:lpstr>
      <vt:lpstr>Agentic AI Systems</vt:lpstr>
      <vt:lpstr>Code-Based Frameworks</vt:lpstr>
      <vt:lpstr>Code-Based Frameworks</vt:lpstr>
      <vt:lpstr>No-Code &amp; Low-Code Platforms </vt:lpstr>
      <vt:lpstr>Introduction </vt:lpstr>
      <vt:lpstr>PowerPoint Presentation</vt:lpstr>
      <vt:lpstr>1. LangGraph</vt:lpstr>
      <vt:lpstr>1. LangGraph </vt:lpstr>
      <vt:lpstr>Implementation </vt:lpstr>
      <vt:lpstr>List of program</vt:lpstr>
      <vt:lpstr>2. AutoGen</vt:lpstr>
      <vt:lpstr>AutoGen ecosystem</vt:lpstr>
      <vt:lpstr>PowerPoint Presentation</vt:lpstr>
      <vt:lpstr>What is AutoGen?</vt:lpstr>
      <vt:lpstr>Implementation:</vt:lpstr>
      <vt:lpstr>List of code</vt:lpstr>
      <vt:lpstr>3. CrewAI</vt:lpstr>
      <vt:lpstr>crewAI </vt:lpstr>
      <vt:lpstr>Implementation:</vt:lpstr>
      <vt:lpstr>List of code</vt:lpstr>
      <vt:lpstr>Semantic Kernel</vt:lpstr>
      <vt:lpstr>Semantic Kernel </vt:lpstr>
      <vt:lpstr>Implementation: </vt:lpstr>
      <vt:lpstr>PowerPoint Presentation</vt:lpstr>
      <vt:lpstr>5. LangChain </vt:lpstr>
      <vt:lpstr>LangChain</vt:lpstr>
      <vt:lpstr>Implementation: </vt:lpstr>
      <vt:lpstr>PowerPoint Presentation</vt:lpstr>
      <vt:lpstr>crewAI</vt:lpstr>
      <vt:lpstr>PowerPoint Presentation</vt:lpstr>
      <vt:lpstr>PowerPoint Presentation</vt:lpstr>
      <vt:lpstr>PowerPoint Presentation</vt:lpstr>
      <vt:lpstr>PowerPoint Presentation</vt:lpstr>
      <vt:lpstr>PowerPoint Presentation</vt:lpstr>
      <vt:lpstr>PowerPoint Presentation</vt:lpstr>
      <vt:lpstr>Components of CrewAI</vt:lpstr>
      <vt:lpstr>PowerPoint Presentation</vt:lpstr>
      <vt:lpstr>PowerPoint Presentation</vt:lpstr>
      <vt:lpstr>PowerPoint Presentation</vt:lpstr>
      <vt:lpstr>PowerPoint Presentation</vt:lpstr>
      <vt:lpstr>PowerPoint Presentation</vt:lpstr>
      <vt:lpstr>Task allocation</vt:lpstr>
      <vt:lpstr>PowerPoint Presentation</vt:lpstr>
      <vt:lpstr>PowerPoint Presentation</vt:lpstr>
      <vt:lpstr>PowerPoint Presentation</vt:lpstr>
      <vt:lpstr>PowerPoint Presentation</vt:lpstr>
      <vt:lpstr>List of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Open-Source vs Closed Source AI Agents: </vt:lpstr>
      <vt:lpstr>What Is an Open-Source AI Agent? </vt:lpstr>
      <vt:lpstr>PowerPoint Presentation</vt:lpstr>
      <vt:lpstr>What Is a Closed Source AI Agent? </vt:lpstr>
      <vt:lpstr>Advantages of Open-Source AI Agents </vt:lpstr>
      <vt:lpstr>Disadvantages of Open-Source AI Agents </vt:lpstr>
      <vt:lpstr>Advantages of Closed Source AI Agents </vt:lpstr>
      <vt:lpstr>Disadvantages of Closed Source AI Agents </vt:lpstr>
      <vt:lpstr>Autogen tutorial</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7</cp:revision>
  <dcterms:created xsi:type="dcterms:W3CDTF">2026-04-26T15:53:58Z</dcterms:created>
  <dcterms:modified xsi:type="dcterms:W3CDTF">2026-06-12T16:39:44Z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
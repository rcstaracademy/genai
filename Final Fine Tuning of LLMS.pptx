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ink/ink1.xml" ContentType="application/inkml+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6"/>
  </p:notesMasterIdLst>
  <p:sldIdLst>
    <p:sldId id="257" r:id="rId2"/>
    <p:sldId id="258" r:id="rId3"/>
    <p:sldId id="262" r:id="rId4"/>
    <p:sldId id="269" r:id="rId5"/>
    <p:sldId id="263" r:id="rId6"/>
    <p:sldId id="340" r:id="rId7"/>
    <p:sldId id="339" r:id="rId8"/>
    <p:sldId id="341" r:id="rId9"/>
    <p:sldId id="265" r:id="rId10"/>
    <p:sldId id="266" r:id="rId11"/>
    <p:sldId id="267" r:id="rId12"/>
    <p:sldId id="337" r:id="rId13"/>
    <p:sldId id="270" r:id="rId14"/>
    <p:sldId id="272" r:id="rId15"/>
    <p:sldId id="338" r:id="rId16"/>
    <p:sldId id="273" r:id="rId17"/>
    <p:sldId id="274" r:id="rId18"/>
    <p:sldId id="292" r:id="rId19"/>
    <p:sldId id="293" r:id="rId20"/>
    <p:sldId id="294" r:id="rId21"/>
    <p:sldId id="295" r:id="rId22"/>
    <p:sldId id="296" r:id="rId23"/>
    <p:sldId id="297" r:id="rId24"/>
    <p:sldId id="327" r:id="rId25"/>
    <p:sldId id="335" r:id="rId26"/>
    <p:sldId id="315" r:id="rId27"/>
    <p:sldId id="316" r:id="rId28"/>
    <p:sldId id="318" r:id="rId29"/>
    <p:sldId id="321" r:id="rId30"/>
    <p:sldId id="319" r:id="rId31"/>
    <p:sldId id="320" r:id="rId32"/>
    <p:sldId id="328" r:id="rId33"/>
    <p:sldId id="331" r:id="rId34"/>
    <p:sldId id="317" r:id="rId35"/>
    <p:sldId id="329" r:id="rId36"/>
    <p:sldId id="330" r:id="rId37"/>
    <p:sldId id="322" r:id="rId38"/>
    <p:sldId id="323" r:id="rId39"/>
    <p:sldId id="324" r:id="rId40"/>
    <p:sldId id="304" r:id="rId41"/>
    <p:sldId id="305" r:id="rId42"/>
    <p:sldId id="307" r:id="rId43"/>
    <p:sldId id="309" r:id="rId44"/>
    <p:sldId id="310" r:id="rId45"/>
    <p:sldId id="312" r:id="rId46"/>
    <p:sldId id="313" r:id="rId47"/>
    <p:sldId id="314" r:id="rId48"/>
    <p:sldId id="325" r:id="rId49"/>
    <p:sldId id="326" r:id="rId50"/>
    <p:sldId id="336" r:id="rId51"/>
    <p:sldId id="332" r:id="rId52"/>
    <p:sldId id="333" r:id="rId53"/>
    <p:sldId id="275" r:id="rId54"/>
    <p:sldId id="299" r:id="rId55"/>
    <p:sldId id="300" r:id="rId56"/>
    <p:sldId id="301" r:id="rId57"/>
    <p:sldId id="302" r:id="rId58"/>
    <p:sldId id="271" r:id="rId59"/>
    <p:sldId id="264" r:id="rId60"/>
    <p:sldId id="268" r:id="rId61"/>
    <p:sldId id="276" r:id="rId62"/>
    <p:sldId id="277" r:id="rId63"/>
    <p:sldId id="278" r:id="rId64"/>
    <p:sldId id="279" r:id="rId65"/>
    <p:sldId id="280" r:id="rId66"/>
    <p:sldId id="284" r:id="rId67"/>
    <p:sldId id="285" r:id="rId68"/>
    <p:sldId id="286" r:id="rId69"/>
    <p:sldId id="287" r:id="rId70"/>
    <p:sldId id="288" r:id="rId71"/>
    <p:sldId id="289" r:id="rId72"/>
    <p:sldId id="290" r:id="rId73"/>
    <p:sldId id="291" r:id="rId74"/>
    <p:sldId id="334" r:id="rId7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2" d="100"/>
          <a:sy n="52" d="100"/>
        </p:scale>
        <p:origin x="1160"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diagrams/_rels/data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4" Type="http://schemas.openxmlformats.org/officeDocument/2006/relationships/image" Target="../media/image5.svg"/></Relationships>
</file>

<file path=ppt/diagrams/_rels/data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hyperlink" Target="https://www.geeksforgeeks.org/machine-learning/ml-introduction-to-transfer-learning/" TargetMode="External"/></Relationships>
</file>

<file path=ppt/diagrams/_rels/drawing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4" Type="http://schemas.openxmlformats.org/officeDocument/2006/relationships/image" Target="../media/image5.svg"/></Relationships>
</file>

<file path=ppt/diagrams/_rels/drawing2.xml.rels><?xml version="1.0" encoding="UTF-8" standalone="yes"?>
<Relationships xmlns="http://schemas.openxmlformats.org/package/2006/relationships"><Relationship Id="rId3" Type="http://schemas.openxmlformats.org/officeDocument/2006/relationships/hyperlink" Target="https://www.geeksforgeeks.org/machine-learning/ml-introduction-to-transfer-learning/" TargetMode="External"/><Relationship Id="rId2" Type="http://schemas.openxmlformats.org/officeDocument/2006/relationships/image" Target="../media/image7.svg"/><Relationship Id="rId1"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B52E627-6F5F-46B9-86BD-E1CF876BACF8}"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6FEB83A9-C73F-4441-BF8A-172BF0B15AB7}">
      <dgm:prSet/>
      <dgm:spPr/>
      <dgm:t>
        <a:bodyPr/>
        <a:lstStyle/>
        <a:p>
          <a:pPr>
            <a:lnSpc>
              <a:spcPct val="100000"/>
            </a:lnSpc>
          </a:pPr>
          <a:r>
            <a:rPr lang="en-US"/>
            <a:t>What is Fine tuning?</a:t>
          </a:r>
        </a:p>
      </dgm:t>
    </dgm:pt>
    <dgm:pt modelId="{B312480C-2F6A-4A7A-ADE4-89CD13477532}" type="parTrans" cxnId="{83B5868F-72C8-4686-8B88-88E34C7C6AEC}">
      <dgm:prSet/>
      <dgm:spPr/>
      <dgm:t>
        <a:bodyPr/>
        <a:lstStyle/>
        <a:p>
          <a:endParaRPr lang="en-US"/>
        </a:p>
      </dgm:t>
    </dgm:pt>
    <dgm:pt modelId="{0A2A7662-1DA3-47EF-BB96-A2A6D33563AE}" type="sibTrans" cxnId="{83B5868F-72C8-4686-8B88-88E34C7C6AEC}">
      <dgm:prSet/>
      <dgm:spPr/>
      <dgm:t>
        <a:bodyPr/>
        <a:lstStyle/>
        <a:p>
          <a:endParaRPr lang="en-US"/>
        </a:p>
      </dgm:t>
    </dgm:pt>
    <dgm:pt modelId="{C61A3491-1939-47A6-87DB-0E5473D69B8E}">
      <dgm:prSet/>
      <dgm:spPr/>
      <dgm:t>
        <a:bodyPr/>
        <a:lstStyle/>
        <a:p>
          <a:pPr>
            <a:lnSpc>
              <a:spcPct val="100000"/>
            </a:lnSpc>
          </a:pPr>
          <a:r>
            <a:rPr lang="en-US" b="1"/>
            <a:t>Fine Tuning Large Language Model (LLM)</a:t>
          </a:r>
          <a:endParaRPr lang="en-US"/>
        </a:p>
      </dgm:t>
    </dgm:pt>
    <dgm:pt modelId="{C48FAE52-E95D-4D1F-AFCE-B2DC06E067C7}" type="parTrans" cxnId="{723772CB-D658-4E89-9067-0C98E216339D}">
      <dgm:prSet/>
      <dgm:spPr/>
      <dgm:t>
        <a:bodyPr/>
        <a:lstStyle/>
        <a:p>
          <a:endParaRPr lang="en-US"/>
        </a:p>
      </dgm:t>
    </dgm:pt>
    <dgm:pt modelId="{572525F1-0FD4-40E3-AD18-42E49B2734F0}" type="sibTrans" cxnId="{723772CB-D658-4E89-9067-0C98E216339D}">
      <dgm:prSet/>
      <dgm:spPr/>
      <dgm:t>
        <a:bodyPr/>
        <a:lstStyle/>
        <a:p>
          <a:endParaRPr lang="en-US"/>
        </a:p>
      </dgm:t>
    </dgm:pt>
    <dgm:pt modelId="{4EF6DF0D-8A80-4D44-81FF-C682D690E731}">
      <dgm:prSet/>
      <dgm:spPr/>
      <dgm:t>
        <a:bodyPr/>
        <a:lstStyle/>
        <a:p>
          <a:pPr>
            <a:lnSpc>
              <a:spcPct val="100000"/>
            </a:lnSpc>
          </a:pPr>
          <a:r>
            <a:rPr lang="en-US" b="1"/>
            <a:t>Types of Fine Tuning Methods</a:t>
          </a:r>
          <a:endParaRPr lang="en-US"/>
        </a:p>
      </dgm:t>
    </dgm:pt>
    <dgm:pt modelId="{3B213977-5D53-4341-A5FF-38E362D057A5}" type="parTrans" cxnId="{4F9B157B-DFCD-45CA-BD31-59D7D4E21235}">
      <dgm:prSet/>
      <dgm:spPr/>
      <dgm:t>
        <a:bodyPr/>
        <a:lstStyle/>
        <a:p>
          <a:endParaRPr lang="en-US"/>
        </a:p>
      </dgm:t>
    </dgm:pt>
    <dgm:pt modelId="{0CE5139F-F385-4A02-9775-84C21189EF58}" type="sibTrans" cxnId="{4F9B157B-DFCD-45CA-BD31-59D7D4E21235}">
      <dgm:prSet/>
      <dgm:spPr/>
      <dgm:t>
        <a:bodyPr/>
        <a:lstStyle/>
        <a:p>
          <a:endParaRPr lang="en-US"/>
        </a:p>
      </dgm:t>
    </dgm:pt>
    <dgm:pt modelId="{7D1BEA40-D600-4036-84B9-F51B08002C1F}">
      <dgm:prSet/>
      <dgm:spPr/>
      <dgm:t>
        <a:bodyPr/>
        <a:lstStyle/>
        <a:p>
          <a:pPr>
            <a:lnSpc>
              <a:spcPct val="100000"/>
            </a:lnSpc>
          </a:pPr>
          <a:r>
            <a:rPr lang="en-US" b="1" dirty="0"/>
            <a:t>Implementing Fine Tuning Large Language Model using </a:t>
          </a:r>
          <a:r>
            <a:rPr lang="en-US" b="1" dirty="0" err="1"/>
            <a:t>DialogSum</a:t>
          </a:r>
          <a:r>
            <a:rPr lang="en-US" b="1" dirty="0"/>
            <a:t> Database</a:t>
          </a:r>
          <a:endParaRPr lang="en-US" dirty="0"/>
        </a:p>
      </dgm:t>
    </dgm:pt>
    <dgm:pt modelId="{2C526B3E-C210-4BEF-9F56-52074004F1CE}" type="parTrans" cxnId="{C2859294-1F63-4207-AFED-FDB5931926B9}">
      <dgm:prSet/>
      <dgm:spPr/>
      <dgm:t>
        <a:bodyPr/>
        <a:lstStyle/>
        <a:p>
          <a:endParaRPr lang="en-US"/>
        </a:p>
      </dgm:t>
    </dgm:pt>
    <dgm:pt modelId="{D8EBAEA1-BF1C-42BC-8D4C-53E6E865660D}" type="sibTrans" cxnId="{C2859294-1F63-4207-AFED-FDB5931926B9}">
      <dgm:prSet/>
      <dgm:spPr/>
      <dgm:t>
        <a:bodyPr/>
        <a:lstStyle/>
        <a:p>
          <a:endParaRPr lang="en-US"/>
        </a:p>
      </dgm:t>
    </dgm:pt>
    <dgm:pt modelId="{D8D65D00-8E59-4257-A9F0-119194FDB519}" type="pres">
      <dgm:prSet presAssocID="{BB52E627-6F5F-46B9-86BD-E1CF876BACF8}" presName="root" presStyleCnt="0">
        <dgm:presLayoutVars>
          <dgm:dir/>
          <dgm:resizeHandles val="exact"/>
        </dgm:presLayoutVars>
      </dgm:prSet>
      <dgm:spPr/>
    </dgm:pt>
    <dgm:pt modelId="{4D3F2D4A-DA9B-45B4-BFE4-538A6426DEEA}" type="pres">
      <dgm:prSet presAssocID="{6FEB83A9-C73F-4441-BF8A-172BF0B15AB7}" presName="compNode" presStyleCnt="0"/>
      <dgm:spPr/>
    </dgm:pt>
    <dgm:pt modelId="{8CBAB032-5375-42DA-A050-F150A6AC124F}" type="pres">
      <dgm:prSet presAssocID="{6FEB83A9-C73F-4441-BF8A-172BF0B15AB7}" presName="bgRect" presStyleLbl="bgShp" presStyleIdx="0" presStyleCnt="4"/>
      <dgm:spPr/>
    </dgm:pt>
    <dgm:pt modelId="{5C04611B-E865-4099-941D-2174F4BE9D45}" type="pres">
      <dgm:prSet presAssocID="{6FEB83A9-C73F-4441-BF8A-172BF0B15AB7}"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Ear"/>
        </a:ext>
      </dgm:extLst>
    </dgm:pt>
    <dgm:pt modelId="{C5AA6A7C-B410-47AC-A84F-BE8EFEDAE4BF}" type="pres">
      <dgm:prSet presAssocID="{6FEB83A9-C73F-4441-BF8A-172BF0B15AB7}" presName="spaceRect" presStyleCnt="0"/>
      <dgm:spPr/>
    </dgm:pt>
    <dgm:pt modelId="{61D482AD-D5E5-44F5-BD2B-EE0D266D6C3C}" type="pres">
      <dgm:prSet presAssocID="{6FEB83A9-C73F-4441-BF8A-172BF0B15AB7}" presName="parTx" presStyleLbl="revTx" presStyleIdx="0" presStyleCnt="4">
        <dgm:presLayoutVars>
          <dgm:chMax val="0"/>
          <dgm:chPref val="0"/>
        </dgm:presLayoutVars>
      </dgm:prSet>
      <dgm:spPr/>
    </dgm:pt>
    <dgm:pt modelId="{4EA1967E-95C6-47F1-9CDD-1AE6B68E3FB2}" type="pres">
      <dgm:prSet presAssocID="{0A2A7662-1DA3-47EF-BB96-A2A6D33563AE}" presName="sibTrans" presStyleCnt="0"/>
      <dgm:spPr/>
    </dgm:pt>
    <dgm:pt modelId="{EB57E2B9-2468-4671-8861-410BB094794E}" type="pres">
      <dgm:prSet presAssocID="{C61A3491-1939-47A6-87DB-0E5473D69B8E}" presName="compNode" presStyleCnt="0"/>
      <dgm:spPr/>
    </dgm:pt>
    <dgm:pt modelId="{99F350F0-686E-4413-9080-FA7E1B679E41}" type="pres">
      <dgm:prSet presAssocID="{C61A3491-1939-47A6-87DB-0E5473D69B8E}" presName="bgRect" presStyleLbl="bgShp" presStyleIdx="1" presStyleCnt="4"/>
      <dgm:spPr/>
    </dgm:pt>
    <dgm:pt modelId="{767E12F6-8D19-4C8C-AB4C-BF4ED9465948}" type="pres">
      <dgm:prSet presAssocID="{C61A3491-1939-47A6-87DB-0E5473D69B8E}"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ubtitles"/>
        </a:ext>
      </dgm:extLst>
    </dgm:pt>
    <dgm:pt modelId="{75D808E0-D373-4BBA-B9F0-225D1EAAACE0}" type="pres">
      <dgm:prSet presAssocID="{C61A3491-1939-47A6-87DB-0E5473D69B8E}" presName="spaceRect" presStyleCnt="0"/>
      <dgm:spPr/>
    </dgm:pt>
    <dgm:pt modelId="{F9B3CF4A-C6CC-4A2C-B701-107982991B72}" type="pres">
      <dgm:prSet presAssocID="{C61A3491-1939-47A6-87DB-0E5473D69B8E}" presName="parTx" presStyleLbl="revTx" presStyleIdx="1" presStyleCnt="4">
        <dgm:presLayoutVars>
          <dgm:chMax val="0"/>
          <dgm:chPref val="0"/>
        </dgm:presLayoutVars>
      </dgm:prSet>
      <dgm:spPr/>
    </dgm:pt>
    <dgm:pt modelId="{AFA7DD70-EF60-4488-9AC4-7272FA1D67C9}" type="pres">
      <dgm:prSet presAssocID="{572525F1-0FD4-40E3-AD18-42E49B2734F0}" presName="sibTrans" presStyleCnt="0"/>
      <dgm:spPr/>
    </dgm:pt>
    <dgm:pt modelId="{068548AD-00C5-44EC-A54F-74E2C12612CB}" type="pres">
      <dgm:prSet presAssocID="{4EF6DF0D-8A80-4D44-81FF-C682D690E731}" presName="compNode" presStyleCnt="0"/>
      <dgm:spPr/>
    </dgm:pt>
    <dgm:pt modelId="{9FA146F0-AA29-4F1F-ABEF-556BB0385FED}" type="pres">
      <dgm:prSet presAssocID="{4EF6DF0D-8A80-4D44-81FF-C682D690E731}" presName="bgRect" presStyleLbl="bgShp" presStyleIdx="2" presStyleCnt="4"/>
      <dgm:spPr/>
    </dgm:pt>
    <dgm:pt modelId="{BF57DC1E-EA6A-476E-A63B-78805C32C37D}" type="pres">
      <dgm:prSet presAssocID="{4EF6DF0D-8A80-4D44-81FF-C682D690E731}"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Checkmark"/>
        </a:ext>
      </dgm:extLst>
    </dgm:pt>
    <dgm:pt modelId="{78E80530-57A9-49BE-A301-9EC531C0DBCC}" type="pres">
      <dgm:prSet presAssocID="{4EF6DF0D-8A80-4D44-81FF-C682D690E731}" presName="spaceRect" presStyleCnt="0"/>
      <dgm:spPr/>
    </dgm:pt>
    <dgm:pt modelId="{BAFC3A69-350C-49FA-BE76-855A4D85E02E}" type="pres">
      <dgm:prSet presAssocID="{4EF6DF0D-8A80-4D44-81FF-C682D690E731}" presName="parTx" presStyleLbl="revTx" presStyleIdx="2" presStyleCnt="4">
        <dgm:presLayoutVars>
          <dgm:chMax val="0"/>
          <dgm:chPref val="0"/>
        </dgm:presLayoutVars>
      </dgm:prSet>
      <dgm:spPr/>
    </dgm:pt>
    <dgm:pt modelId="{A1195514-439B-4704-9F6C-7703BADE54E4}" type="pres">
      <dgm:prSet presAssocID="{0CE5139F-F385-4A02-9775-84C21189EF58}" presName="sibTrans" presStyleCnt="0"/>
      <dgm:spPr/>
    </dgm:pt>
    <dgm:pt modelId="{9EB45541-AC00-438D-9637-F28E92672E15}" type="pres">
      <dgm:prSet presAssocID="{7D1BEA40-D600-4036-84B9-F51B08002C1F}" presName="compNode" presStyleCnt="0"/>
      <dgm:spPr/>
    </dgm:pt>
    <dgm:pt modelId="{74523A49-5794-459B-8498-3BD6A6AB2B8A}" type="pres">
      <dgm:prSet presAssocID="{7D1BEA40-D600-4036-84B9-F51B08002C1F}" presName="bgRect" presStyleLbl="bgShp" presStyleIdx="3" presStyleCnt="4"/>
      <dgm:spPr/>
    </dgm:pt>
    <dgm:pt modelId="{A06D4F65-48F2-4B4D-8288-6BB6E9EA5B17}" type="pres">
      <dgm:prSet presAssocID="{7D1BEA40-D600-4036-84B9-F51B08002C1F}"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atabase"/>
        </a:ext>
      </dgm:extLst>
    </dgm:pt>
    <dgm:pt modelId="{4094DACC-CA58-48E4-A040-A2EBE343B7FF}" type="pres">
      <dgm:prSet presAssocID="{7D1BEA40-D600-4036-84B9-F51B08002C1F}" presName="spaceRect" presStyleCnt="0"/>
      <dgm:spPr/>
    </dgm:pt>
    <dgm:pt modelId="{FBC762C3-8FD5-4A96-9D7E-67E67B18DBD1}" type="pres">
      <dgm:prSet presAssocID="{7D1BEA40-D600-4036-84B9-F51B08002C1F}" presName="parTx" presStyleLbl="revTx" presStyleIdx="3" presStyleCnt="4">
        <dgm:presLayoutVars>
          <dgm:chMax val="0"/>
          <dgm:chPref val="0"/>
        </dgm:presLayoutVars>
      </dgm:prSet>
      <dgm:spPr/>
    </dgm:pt>
  </dgm:ptLst>
  <dgm:cxnLst>
    <dgm:cxn modelId="{48396C3C-6113-48DA-833D-AE4BFC3E8A5D}" type="presOf" srcId="{7D1BEA40-D600-4036-84B9-F51B08002C1F}" destId="{FBC762C3-8FD5-4A96-9D7E-67E67B18DBD1}" srcOrd="0" destOrd="0" presId="urn:microsoft.com/office/officeart/2018/2/layout/IconVerticalSolidList"/>
    <dgm:cxn modelId="{43FD324E-BAF7-4B77-AA68-5864AEBE1062}" type="presOf" srcId="{6FEB83A9-C73F-4441-BF8A-172BF0B15AB7}" destId="{61D482AD-D5E5-44F5-BD2B-EE0D266D6C3C}" srcOrd="0" destOrd="0" presId="urn:microsoft.com/office/officeart/2018/2/layout/IconVerticalSolidList"/>
    <dgm:cxn modelId="{4F9B157B-DFCD-45CA-BD31-59D7D4E21235}" srcId="{BB52E627-6F5F-46B9-86BD-E1CF876BACF8}" destId="{4EF6DF0D-8A80-4D44-81FF-C682D690E731}" srcOrd="2" destOrd="0" parTransId="{3B213977-5D53-4341-A5FF-38E362D057A5}" sibTransId="{0CE5139F-F385-4A02-9775-84C21189EF58}"/>
    <dgm:cxn modelId="{8D12757B-609E-4A0A-ABAA-03370A1121E8}" type="presOf" srcId="{C61A3491-1939-47A6-87DB-0E5473D69B8E}" destId="{F9B3CF4A-C6CC-4A2C-B701-107982991B72}" srcOrd="0" destOrd="0" presId="urn:microsoft.com/office/officeart/2018/2/layout/IconVerticalSolidList"/>
    <dgm:cxn modelId="{EF5D638B-C056-419B-AA50-57E340D701DC}" type="presOf" srcId="{4EF6DF0D-8A80-4D44-81FF-C682D690E731}" destId="{BAFC3A69-350C-49FA-BE76-855A4D85E02E}" srcOrd="0" destOrd="0" presId="urn:microsoft.com/office/officeart/2018/2/layout/IconVerticalSolidList"/>
    <dgm:cxn modelId="{83B5868F-72C8-4686-8B88-88E34C7C6AEC}" srcId="{BB52E627-6F5F-46B9-86BD-E1CF876BACF8}" destId="{6FEB83A9-C73F-4441-BF8A-172BF0B15AB7}" srcOrd="0" destOrd="0" parTransId="{B312480C-2F6A-4A7A-ADE4-89CD13477532}" sibTransId="{0A2A7662-1DA3-47EF-BB96-A2A6D33563AE}"/>
    <dgm:cxn modelId="{C2859294-1F63-4207-AFED-FDB5931926B9}" srcId="{BB52E627-6F5F-46B9-86BD-E1CF876BACF8}" destId="{7D1BEA40-D600-4036-84B9-F51B08002C1F}" srcOrd="3" destOrd="0" parTransId="{2C526B3E-C210-4BEF-9F56-52074004F1CE}" sibTransId="{D8EBAEA1-BF1C-42BC-8D4C-53E6E865660D}"/>
    <dgm:cxn modelId="{EB220EB8-96D3-437E-9C71-DFCD9B374D07}" type="presOf" srcId="{BB52E627-6F5F-46B9-86BD-E1CF876BACF8}" destId="{D8D65D00-8E59-4257-A9F0-119194FDB519}" srcOrd="0" destOrd="0" presId="urn:microsoft.com/office/officeart/2018/2/layout/IconVerticalSolidList"/>
    <dgm:cxn modelId="{723772CB-D658-4E89-9067-0C98E216339D}" srcId="{BB52E627-6F5F-46B9-86BD-E1CF876BACF8}" destId="{C61A3491-1939-47A6-87DB-0E5473D69B8E}" srcOrd="1" destOrd="0" parTransId="{C48FAE52-E95D-4D1F-AFCE-B2DC06E067C7}" sibTransId="{572525F1-0FD4-40E3-AD18-42E49B2734F0}"/>
    <dgm:cxn modelId="{537B28F2-1FF6-45D0-AD3C-FD855991DB99}" type="presParOf" srcId="{D8D65D00-8E59-4257-A9F0-119194FDB519}" destId="{4D3F2D4A-DA9B-45B4-BFE4-538A6426DEEA}" srcOrd="0" destOrd="0" presId="urn:microsoft.com/office/officeart/2018/2/layout/IconVerticalSolidList"/>
    <dgm:cxn modelId="{8232186F-C087-4B3C-A1E4-2585F899CA13}" type="presParOf" srcId="{4D3F2D4A-DA9B-45B4-BFE4-538A6426DEEA}" destId="{8CBAB032-5375-42DA-A050-F150A6AC124F}" srcOrd="0" destOrd="0" presId="urn:microsoft.com/office/officeart/2018/2/layout/IconVerticalSolidList"/>
    <dgm:cxn modelId="{871447FD-6343-4FDC-8B8C-BC0FEF4C51C0}" type="presParOf" srcId="{4D3F2D4A-DA9B-45B4-BFE4-538A6426DEEA}" destId="{5C04611B-E865-4099-941D-2174F4BE9D45}" srcOrd="1" destOrd="0" presId="urn:microsoft.com/office/officeart/2018/2/layout/IconVerticalSolidList"/>
    <dgm:cxn modelId="{644236B7-D455-4848-BDE2-52C0B7EB7621}" type="presParOf" srcId="{4D3F2D4A-DA9B-45B4-BFE4-538A6426DEEA}" destId="{C5AA6A7C-B410-47AC-A84F-BE8EFEDAE4BF}" srcOrd="2" destOrd="0" presId="urn:microsoft.com/office/officeart/2018/2/layout/IconVerticalSolidList"/>
    <dgm:cxn modelId="{58AAB5C1-BC45-4484-A68B-CD2DA7A871BE}" type="presParOf" srcId="{4D3F2D4A-DA9B-45B4-BFE4-538A6426DEEA}" destId="{61D482AD-D5E5-44F5-BD2B-EE0D266D6C3C}" srcOrd="3" destOrd="0" presId="urn:microsoft.com/office/officeart/2018/2/layout/IconVerticalSolidList"/>
    <dgm:cxn modelId="{36E83AF1-6D59-488D-BE2B-3896ED721DAB}" type="presParOf" srcId="{D8D65D00-8E59-4257-A9F0-119194FDB519}" destId="{4EA1967E-95C6-47F1-9CDD-1AE6B68E3FB2}" srcOrd="1" destOrd="0" presId="urn:microsoft.com/office/officeart/2018/2/layout/IconVerticalSolidList"/>
    <dgm:cxn modelId="{AF9C3F27-316E-4A21-90C0-0B06B4588C5C}" type="presParOf" srcId="{D8D65D00-8E59-4257-A9F0-119194FDB519}" destId="{EB57E2B9-2468-4671-8861-410BB094794E}" srcOrd="2" destOrd="0" presId="urn:microsoft.com/office/officeart/2018/2/layout/IconVerticalSolidList"/>
    <dgm:cxn modelId="{F7AB8DDD-B07B-4EBF-8BAE-056C80391031}" type="presParOf" srcId="{EB57E2B9-2468-4671-8861-410BB094794E}" destId="{99F350F0-686E-4413-9080-FA7E1B679E41}" srcOrd="0" destOrd="0" presId="urn:microsoft.com/office/officeart/2018/2/layout/IconVerticalSolidList"/>
    <dgm:cxn modelId="{75CA9534-A536-4642-BA6C-4ED2F3DA17A3}" type="presParOf" srcId="{EB57E2B9-2468-4671-8861-410BB094794E}" destId="{767E12F6-8D19-4C8C-AB4C-BF4ED9465948}" srcOrd="1" destOrd="0" presId="urn:microsoft.com/office/officeart/2018/2/layout/IconVerticalSolidList"/>
    <dgm:cxn modelId="{ADB95BC4-944F-4681-A3B7-F9E683BD1C3F}" type="presParOf" srcId="{EB57E2B9-2468-4671-8861-410BB094794E}" destId="{75D808E0-D373-4BBA-B9F0-225D1EAAACE0}" srcOrd="2" destOrd="0" presId="urn:microsoft.com/office/officeart/2018/2/layout/IconVerticalSolidList"/>
    <dgm:cxn modelId="{477B876D-D084-440A-BD99-B20AE789BEF8}" type="presParOf" srcId="{EB57E2B9-2468-4671-8861-410BB094794E}" destId="{F9B3CF4A-C6CC-4A2C-B701-107982991B72}" srcOrd="3" destOrd="0" presId="urn:microsoft.com/office/officeart/2018/2/layout/IconVerticalSolidList"/>
    <dgm:cxn modelId="{D48A5141-DC74-4CB3-A7EB-0CA5089A6D3F}" type="presParOf" srcId="{D8D65D00-8E59-4257-A9F0-119194FDB519}" destId="{AFA7DD70-EF60-4488-9AC4-7272FA1D67C9}" srcOrd="3" destOrd="0" presId="urn:microsoft.com/office/officeart/2018/2/layout/IconVerticalSolidList"/>
    <dgm:cxn modelId="{BF628F4D-F23A-4F97-99DF-68A0065056F0}" type="presParOf" srcId="{D8D65D00-8E59-4257-A9F0-119194FDB519}" destId="{068548AD-00C5-44EC-A54F-74E2C12612CB}" srcOrd="4" destOrd="0" presId="urn:microsoft.com/office/officeart/2018/2/layout/IconVerticalSolidList"/>
    <dgm:cxn modelId="{77A09C21-47FE-4163-B618-C7A352E59E21}" type="presParOf" srcId="{068548AD-00C5-44EC-A54F-74E2C12612CB}" destId="{9FA146F0-AA29-4F1F-ABEF-556BB0385FED}" srcOrd="0" destOrd="0" presId="urn:microsoft.com/office/officeart/2018/2/layout/IconVerticalSolidList"/>
    <dgm:cxn modelId="{E6791BDD-D5C3-4737-90D9-12FEF8FEB3A0}" type="presParOf" srcId="{068548AD-00C5-44EC-A54F-74E2C12612CB}" destId="{BF57DC1E-EA6A-476E-A63B-78805C32C37D}" srcOrd="1" destOrd="0" presId="urn:microsoft.com/office/officeart/2018/2/layout/IconVerticalSolidList"/>
    <dgm:cxn modelId="{9AF61D9B-0FDD-4D16-8D5C-98B22ED50F4A}" type="presParOf" srcId="{068548AD-00C5-44EC-A54F-74E2C12612CB}" destId="{78E80530-57A9-49BE-A301-9EC531C0DBCC}" srcOrd="2" destOrd="0" presId="urn:microsoft.com/office/officeart/2018/2/layout/IconVerticalSolidList"/>
    <dgm:cxn modelId="{A9CAC27D-C1E3-4B4A-8247-C4B992F5ADB8}" type="presParOf" srcId="{068548AD-00C5-44EC-A54F-74E2C12612CB}" destId="{BAFC3A69-350C-49FA-BE76-855A4D85E02E}" srcOrd="3" destOrd="0" presId="urn:microsoft.com/office/officeart/2018/2/layout/IconVerticalSolidList"/>
    <dgm:cxn modelId="{523C6CA3-5086-4628-AA19-DFC0E1FBBE44}" type="presParOf" srcId="{D8D65D00-8E59-4257-A9F0-119194FDB519}" destId="{A1195514-439B-4704-9F6C-7703BADE54E4}" srcOrd="5" destOrd="0" presId="urn:microsoft.com/office/officeart/2018/2/layout/IconVerticalSolidList"/>
    <dgm:cxn modelId="{AC01248A-6B9F-4B23-B59D-D47983377A3B}" type="presParOf" srcId="{D8D65D00-8E59-4257-A9F0-119194FDB519}" destId="{9EB45541-AC00-438D-9637-F28E92672E15}" srcOrd="6" destOrd="0" presId="urn:microsoft.com/office/officeart/2018/2/layout/IconVerticalSolidList"/>
    <dgm:cxn modelId="{D6111C21-31FA-41D0-BCBC-BEB46CBBCD9E}" type="presParOf" srcId="{9EB45541-AC00-438D-9637-F28E92672E15}" destId="{74523A49-5794-459B-8498-3BD6A6AB2B8A}" srcOrd="0" destOrd="0" presId="urn:microsoft.com/office/officeart/2018/2/layout/IconVerticalSolidList"/>
    <dgm:cxn modelId="{48041DEE-613E-41F1-AD40-C3F5D40B5C6C}" type="presParOf" srcId="{9EB45541-AC00-438D-9637-F28E92672E15}" destId="{A06D4F65-48F2-4B4D-8288-6BB6E9EA5B17}" srcOrd="1" destOrd="0" presId="urn:microsoft.com/office/officeart/2018/2/layout/IconVerticalSolidList"/>
    <dgm:cxn modelId="{CE3EAAA8-A396-47CE-B35C-B24050C57F63}" type="presParOf" srcId="{9EB45541-AC00-438D-9637-F28E92672E15}" destId="{4094DACC-CA58-48E4-A040-A2EBE343B7FF}" srcOrd="2" destOrd="0" presId="urn:microsoft.com/office/officeart/2018/2/layout/IconVerticalSolidList"/>
    <dgm:cxn modelId="{CCDECE9A-1BA8-4623-8647-94B52542DEBE}" type="presParOf" srcId="{9EB45541-AC00-438D-9637-F28E92672E15}" destId="{FBC762C3-8FD5-4A96-9D7E-67E67B18DBD1}"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9E856F8-5ACC-4CA2-B7F9-E1969CC7F480}"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D52B45FE-4289-4BBE-9836-943FA29AED17}">
      <dgm:prSet custT="1"/>
      <dgm:spPr/>
      <dgm:t>
        <a:bodyPr/>
        <a:lstStyle/>
        <a:p>
          <a:pPr algn="just"/>
          <a:r>
            <a:rPr lang="en-US" sz="2400" dirty="0"/>
            <a:t>Fine-tuning allows a pre-trained model to adapt to a new task. This approach uses the knowledge gained from training a model on a large dataset and applying it to a smaller, domain-specific dataset. Fine-tuning involves adjusting the weights of the model's layers or updating certain parts of the model to improve its performance on the new task.</a:t>
          </a:r>
        </a:p>
      </dgm:t>
    </dgm:pt>
    <dgm:pt modelId="{485E9A9D-251C-42AE-9A08-4C7ACA983B80}" type="parTrans" cxnId="{FD755359-D5BA-433A-A6B1-BF97236666F0}">
      <dgm:prSet/>
      <dgm:spPr/>
      <dgm:t>
        <a:bodyPr/>
        <a:lstStyle/>
        <a:p>
          <a:endParaRPr lang="en-US"/>
        </a:p>
      </dgm:t>
    </dgm:pt>
    <dgm:pt modelId="{26943B94-E636-45D5-8DAD-38B5DB424EE1}" type="sibTrans" cxnId="{FD755359-D5BA-433A-A6B1-BF97236666F0}">
      <dgm:prSet/>
      <dgm:spPr/>
      <dgm:t>
        <a:bodyPr/>
        <a:lstStyle/>
        <a:p>
          <a:endParaRPr lang="en-US"/>
        </a:p>
      </dgm:t>
    </dgm:pt>
    <dgm:pt modelId="{471E3752-4A97-44ED-9814-17CA6E887AFD}">
      <dgm:prSet custT="1"/>
      <dgm:spPr/>
      <dgm:t>
        <a:bodyPr/>
        <a:lstStyle/>
        <a:p>
          <a:pPr algn="just"/>
          <a:r>
            <a:rPr lang="en-US" sz="2400" dirty="0"/>
            <a:t>Fine-tuning is used in </a:t>
          </a:r>
          <a:r>
            <a:rPr lang="en-US" sz="2400" u="sng" dirty="0">
              <a:hlinkClick xmlns:r="http://schemas.openxmlformats.org/officeDocument/2006/relationships" r:id="rId1"/>
            </a:rPr>
            <a:t>transfer learning</a:t>
          </a:r>
          <a:r>
            <a:rPr lang="en-US" sz="2400" dirty="0"/>
            <a:t> where a is model trained on one similar task and is reused for another task often with minimal changes. The underlying assumption is that the model has already learned useful features in the original task that can be transferred and adapted to the new task hence reducing the need for training a model from scratch.</a:t>
          </a:r>
        </a:p>
      </dgm:t>
    </dgm:pt>
    <dgm:pt modelId="{9834C76E-791E-4108-AF79-99ED7E9A54FC}" type="parTrans" cxnId="{1B2BC81B-FB51-4580-A8EF-63BE1361E7AD}">
      <dgm:prSet/>
      <dgm:spPr/>
      <dgm:t>
        <a:bodyPr/>
        <a:lstStyle/>
        <a:p>
          <a:endParaRPr lang="en-US"/>
        </a:p>
      </dgm:t>
    </dgm:pt>
    <dgm:pt modelId="{47B65CE8-FE90-4724-A32B-421E63C15DFC}" type="sibTrans" cxnId="{1B2BC81B-FB51-4580-A8EF-63BE1361E7AD}">
      <dgm:prSet/>
      <dgm:spPr/>
      <dgm:t>
        <a:bodyPr/>
        <a:lstStyle/>
        <a:p>
          <a:endParaRPr lang="en-US"/>
        </a:p>
      </dgm:t>
    </dgm:pt>
    <dgm:pt modelId="{5091401A-55CC-4D2C-9416-2D3576048B53}" type="pres">
      <dgm:prSet presAssocID="{29E856F8-5ACC-4CA2-B7F9-E1969CC7F480}" presName="root" presStyleCnt="0">
        <dgm:presLayoutVars>
          <dgm:dir/>
          <dgm:resizeHandles val="exact"/>
        </dgm:presLayoutVars>
      </dgm:prSet>
      <dgm:spPr/>
    </dgm:pt>
    <dgm:pt modelId="{B1ADB6F8-7D1B-4F12-8312-37EF83F12534}" type="pres">
      <dgm:prSet presAssocID="{D52B45FE-4289-4BBE-9836-943FA29AED17}" presName="compNode" presStyleCnt="0"/>
      <dgm:spPr/>
    </dgm:pt>
    <dgm:pt modelId="{B5B9DE35-DFF1-4478-A595-7CDECEF1E724}" type="pres">
      <dgm:prSet presAssocID="{D52B45FE-4289-4BBE-9836-943FA29AED17}" presName="bgRect" presStyleLbl="bgShp" presStyleIdx="0" presStyleCnt="2"/>
      <dgm:spPr/>
    </dgm:pt>
    <dgm:pt modelId="{9BC7BAFB-A476-40F3-8F2B-1BE54889126E}" type="pres">
      <dgm:prSet presAssocID="{D52B45FE-4289-4BBE-9836-943FA29AED17}"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ight Bulb and Gear"/>
        </a:ext>
      </dgm:extLst>
    </dgm:pt>
    <dgm:pt modelId="{000799A3-6996-4A9D-97DD-113CF12B8431}" type="pres">
      <dgm:prSet presAssocID="{D52B45FE-4289-4BBE-9836-943FA29AED17}" presName="spaceRect" presStyleCnt="0"/>
      <dgm:spPr/>
    </dgm:pt>
    <dgm:pt modelId="{5AE1BB26-7103-43D3-92AD-5B5FC5FC64A5}" type="pres">
      <dgm:prSet presAssocID="{D52B45FE-4289-4BBE-9836-943FA29AED17}" presName="parTx" presStyleLbl="revTx" presStyleIdx="0" presStyleCnt="2">
        <dgm:presLayoutVars>
          <dgm:chMax val="0"/>
          <dgm:chPref val="0"/>
        </dgm:presLayoutVars>
      </dgm:prSet>
      <dgm:spPr/>
    </dgm:pt>
    <dgm:pt modelId="{01ADB8EA-635C-4141-8500-DF7310241882}" type="pres">
      <dgm:prSet presAssocID="{26943B94-E636-45D5-8DAD-38B5DB424EE1}" presName="sibTrans" presStyleCnt="0"/>
      <dgm:spPr/>
    </dgm:pt>
    <dgm:pt modelId="{7175216B-C013-4DB9-B9F4-67DFA8F7D07E}" type="pres">
      <dgm:prSet presAssocID="{471E3752-4A97-44ED-9814-17CA6E887AFD}" presName="compNode" presStyleCnt="0"/>
      <dgm:spPr/>
    </dgm:pt>
    <dgm:pt modelId="{A7922928-0771-4A26-BAF7-82D803998AC1}" type="pres">
      <dgm:prSet presAssocID="{471E3752-4A97-44ED-9814-17CA6E887AFD}" presName="bgRect" presStyleLbl="bgShp" presStyleIdx="1" presStyleCnt="2"/>
      <dgm:spPr/>
    </dgm:pt>
    <dgm:pt modelId="{CE363FB3-924D-4F09-ACDE-E20BE0BFD63A}" type="pres">
      <dgm:prSet presAssocID="{471E3752-4A97-44ED-9814-17CA6E887AFD}"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Classroom"/>
        </a:ext>
      </dgm:extLst>
    </dgm:pt>
    <dgm:pt modelId="{FCE61511-A13F-497C-B9B6-B8488043EDDF}" type="pres">
      <dgm:prSet presAssocID="{471E3752-4A97-44ED-9814-17CA6E887AFD}" presName="spaceRect" presStyleCnt="0"/>
      <dgm:spPr/>
    </dgm:pt>
    <dgm:pt modelId="{11D33FD2-925A-49FF-805D-51732741B1DC}" type="pres">
      <dgm:prSet presAssocID="{471E3752-4A97-44ED-9814-17CA6E887AFD}" presName="parTx" presStyleLbl="revTx" presStyleIdx="1" presStyleCnt="2">
        <dgm:presLayoutVars>
          <dgm:chMax val="0"/>
          <dgm:chPref val="0"/>
        </dgm:presLayoutVars>
      </dgm:prSet>
      <dgm:spPr/>
    </dgm:pt>
  </dgm:ptLst>
  <dgm:cxnLst>
    <dgm:cxn modelId="{1B2BC81B-FB51-4580-A8EF-63BE1361E7AD}" srcId="{29E856F8-5ACC-4CA2-B7F9-E1969CC7F480}" destId="{471E3752-4A97-44ED-9814-17CA6E887AFD}" srcOrd="1" destOrd="0" parTransId="{9834C76E-791E-4108-AF79-99ED7E9A54FC}" sibTransId="{47B65CE8-FE90-4724-A32B-421E63C15DFC}"/>
    <dgm:cxn modelId="{84D5B429-AEDE-4812-A357-1E8144EEB537}" type="presOf" srcId="{29E856F8-5ACC-4CA2-B7F9-E1969CC7F480}" destId="{5091401A-55CC-4D2C-9416-2D3576048B53}" srcOrd="0" destOrd="0" presId="urn:microsoft.com/office/officeart/2018/2/layout/IconVerticalSolidList"/>
    <dgm:cxn modelId="{FD755359-D5BA-433A-A6B1-BF97236666F0}" srcId="{29E856F8-5ACC-4CA2-B7F9-E1969CC7F480}" destId="{D52B45FE-4289-4BBE-9836-943FA29AED17}" srcOrd="0" destOrd="0" parTransId="{485E9A9D-251C-42AE-9A08-4C7ACA983B80}" sibTransId="{26943B94-E636-45D5-8DAD-38B5DB424EE1}"/>
    <dgm:cxn modelId="{944A6F94-D1DD-4F1A-B7D1-354C81F1CEAF}" type="presOf" srcId="{D52B45FE-4289-4BBE-9836-943FA29AED17}" destId="{5AE1BB26-7103-43D3-92AD-5B5FC5FC64A5}" srcOrd="0" destOrd="0" presId="urn:microsoft.com/office/officeart/2018/2/layout/IconVerticalSolidList"/>
    <dgm:cxn modelId="{4D22EFC7-A4DE-424D-9F21-CBEF86313EA1}" type="presOf" srcId="{471E3752-4A97-44ED-9814-17CA6E887AFD}" destId="{11D33FD2-925A-49FF-805D-51732741B1DC}" srcOrd="0" destOrd="0" presId="urn:microsoft.com/office/officeart/2018/2/layout/IconVerticalSolidList"/>
    <dgm:cxn modelId="{E609189E-ABFC-4E31-9BC0-BE859BAA0DEE}" type="presParOf" srcId="{5091401A-55CC-4D2C-9416-2D3576048B53}" destId="{B1ADB6F8-7D1B-4F12-8312-37EF83F12534}" srcOrd="0" destOrd="0" presId="urn:microsoft.com/office/officeart/2018/2/layout/IconVerticalSolidList"/>
    <dgm:cxn modelId="{840D5DBD-854A-420A-B05C-49FB9E82C88C}" type="presParOf" srcId="{B1ADB6F8-7D1B-4F12-8312-37EF83F12534}" destId="{B5B9DE35-DFF1-4478-A595-7CDECEF1E724}" srcOrd="0" destOrd="0" presId="urn:microsoft.com/office/officeart/2018/2/layout/IconVerticalSolidList"/>
    <dgm:cxn modelId="{B83F7464-680B-407B-9BFC-C53B618135D1}" type="presParOf" srcId="{B1ADB6F8-7D1B-4F12-8312-37EF83F12534}" destId="{9BC7BAFB-A476-40F3-8F2B-1BE54889126E}" srcOrd="1" destOrd="0" presId="urn:microsoft.com/office/officeart/2018/2/layout/IconVerticalSolidList"/>
    <dgm:cxn modelId="{7ADB51E9-2BBB-4555-A1B3-98DD1D7F547C}" type="presParOf" srcId="{B1ADB6F8-7D1B-4F12-8312-37EF83F12534}" destId="{000799A3-6996-4A9D-97DD-113CF12B8431}" srcOrd="2" destOrd="0" presId="urn:microsoft.com/office/officeart/2018/2/layout/IconVerticalSolidList"/>
    <dgm:cxn modelId="{35579A78-7493-41F6-AB21-ABFE205A8A7F}" type="presParOf" srcId="{B1ADB6F8-7D1B-4F12-8312-37EF83F12534}" destId="{5AE1BB26-7103-43D3-92AD-5B5FC5FC64A5}" srcOrd="3" destOrd="0" presId="urn:microsoft.com/office/officeart/2018/2/layout/IconVerticalSolidList"/>
    <dgm:cxn modelId="{55856446-A867-4F88-82A3-90D2143B28F8}" type="presParOf" srcId="{5091401A-55CC-4D2C-9416-2D3576048B53}" destId="{01ADB8EA-635C-4141-8500-DF7310241882}" srcOrd="1" destOrd="0" presId="urn:microsoft.com/office/officeart/2018/2/layout/IconVerticalSolidList"/>
    <dgm:cxn modelId="{42751E5A-8FF3-4041-99E2-31A6CE967684}" type="presParOf" srcId="{5091401A-55CC-4D2C-9416-2D3576048B53}" destId="{7175216B-C013-4DB9-B9F4-67DFA8F7D07E}" srcOrd="2" destOrd="0" presId="urn:microsoft.com/office/officeart/2018/2/layout/IconVerticalSolidList"/>
    <dgm:cxn modelId="{B1395F9F-8AC3-4312-BED9-6CA189DA6C96}" type="presParOf" srcId="{7175216B-C013-4DB9-B9F4-67DFA8F7D07E}" destId="{A7922928-0771-4A26-BAF7-82D803998AC1}" srcOrd="0" destOrd="0" presId="urn:microsoft.com/office/officeart/2018/2/layout/IconVerticalSolidList"/>
    <dgm:cxn modelId="{B1EE70E2-B2C1-4CDF-B77F-24B6DBA95437}" type="presParOf" srcId="{7175216B-C013-4DB9-B9F4-67DFA8F7D07E}" destId="{CE363FB3-924D-4F09-ACDE-E20BE0BFD63A}" srcOrd="1" destOrd="0" presId="urn:microsoft.com/office/officeart/2018/2/layout/IconVerticalSolidList"/>
    <dgm:cxn modelId="{2C90E916-E14B-4E66-A552-2EF253EDC6FF}" type="presParOf" srcId="{7175216B-C013-4DB9-B9F4-67DFA8F7D07E}" destId="{FCE61511-A13F-497C-B9B6-B8488043EDDF}" srcOrd="2" destOrd="0" presId="urn:microsoft.com/office/officeart/2018/2/layout/IconVerticalSolidList"/>
    <dgm:cxn modelId="{884BEF35-8734-4F90-840D-F45FD1F7138C}" type="presParOf" srcId="{7175216B-C013-4DB9-B9F4-67DFA8F7D07E}" destId="{11D33FD2-925A-49FF-805D-51732741B1DC}"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BAB032-5375-42DA-A050-F150A6AC124F}">
      <dsp:nvSpPr>
        <dsp:cNvPr id="0" name=""/>
        <dsp:cNvSpPr/>
      </dsp:nvSpPr>
      <dsp:spPr>
        <a:xfrm>
          <a:off x="0" y="1805"/>
          <a:ext cx="10515600" cy="915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C04611B-E865-4099-941D-2174F4BE9D45}">
      <dsp:nvSpPr>
        <dsp:cNvPr id="0" name=""/>
        <dsp:cNvSpPr/>
      </dsp:nvSpPr>
      <dsp:spPr>
        <a:xfrm>
          <a:off x="276881" y="207750"/>
          <a:ext cx="503420" cy="5034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1D482AD-D5E5-44F5-BD2B-EE0D266D6C3C}">
      <dsp:nvSpPr>
        <dsp:cNvPr id="0" name=""/>
        <dsp:cNvSpPr/>
      </dsp:nvSpPr>
      <dsp:spPr>
        <a:xfrm>
          <a:off x="1057183" y="1805"/>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US" sz="2200" kern="1200"/>
            <a:t>What is Fine tuning?</a:t>
          </a:r>
        </a:p>
      </dsp:txBody>
      <dsp:txXfrm>
        <a:off x="1057183" y="1805"/>
        <a:ext cx="9458416" cy="915310"/>
      </dsp:txXfrm>
    </dsp:sp>
    <dsp:sp modelId="{99F350F0-686E-4413-9080-FA7E1B679E41}">
      <dsp:nvSpPr>
        <dsp:cNvPr id="0" name=""/>
        <dsp:cNvSpPr/>
      </dsp:nvSpPr>
      <dsp:spPr>
        <a:xfrm>
          <a:off x="0" y="1145944"/>
          <a:ext cx="10515600" cy="915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67E12F6-8D19-4C8C-AB4C-BF4ED9465948}">
      <dsp:nvSpPr>
        <dsp:cNvPr id="0" name=""/>
        <dsp:cNvSpPr/>
      </dsp:nvSpPr>
      <dsp:spPr>
        <a:xfrm>
          <a:off x="276881" y="1351889"/>
          <a:ext cx="503420" cy="5034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9B3CF4A-C6CC-4A2C-B701-107982991B72}">
      <dsp:nvSpPr>
        <dsp:cNvPr id="0" name=""/>
        <dsp:cNvSpPr/>
      </dsp:nvSpPr>
      <dsp:spPr>
        <a:xfrm>
          <a:off x="1057183" y="1145944"/>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US" sz="2200" b="1" kern="1200"/>
            <a:t>Fine Tuning Large Language Model (LLM)</a:t>
          </a:r>
          <a:endParaRPr lang="en-US" sz="2200" kern="1200"/>
        </a:p>
      </dsp:txBody>
      <dsp:txXfrm>
        <a:off x="1057183" y="1145944"/>
        <a:ext cx="9458416" cy="915310"/>
      </dsp:txXfrm>
    </dsp:sp>
    <dsp:sp modelId="{9FA146F0-AA29-4F1F-ABEF-556BB0385FED}">
      <dsp:nvSpPr>
        <dsp:cNvPr id="0" name=""/>
        <dsp:cNvSpPr/>
      </dsp:nvSpPr>
      <dsp:spPr>
        <a:xfrm>
          <a:off x="0" y="2290082"/>
          <a:ext cx="10515600" cy="915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F57DC1E-EA6A-476E-A63B-78805C32C37D}">
      <dsp:nvSpPr>
        <dsp:cNvPr id="0" name=""/>
        <dsp:cNvSpPr/>
      </dsp:nvSpPr>
      <dsp:spPr>
        <a:xfrm>
          <a:off x="276881" y="2496027"/>
          <a:ext cx="503420" cy="5034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AFC3A69-350C-49FA-BE76-855A4D85E02E}">
      <dsp:nvSpPr>
        <dsp:cNvPr id="0" name=""/>
        <dsp:cNvSpPr/>
      </dsp:nvSpPr>
      <dsp:spPr>
        <a:xfrm>
          <a:off x="1057183" y="2290082"/>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US" sz="2200" b="1" kern="1200"/>
            <a:t>Types of Fine Tuning Methods</a:t>
          </a:r>
          <a:endParaRPr lang="en-US" sz="2200" kern="1200"/>
        </a:p>
      </dsp:txBody>
      <dsp:txXfrm>
        <a:off x="1057183" y="2290082"/>
        <a:ext cx="9458416" cy="915310"/>
      </dsp:txXfrm>
    </dsp:sp>
    <dsp:sp modelId="{74523A49-5794-459B-8498-3BD6A6AB2B8A}">
      <dsp:nvSpPr>
        <dsp:cNvPr id="0" name=""/>
        <dsp:cNvSpPr/>
      </dsp:nvSpPr>
      <dsp:spPr>
        <a:xfrm>
          <a:off x="0" y="3434221"/>
          <a:ext cx="10515600" cy="915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06D4F65-48F2-4B4D-8288-6BB6E9EA5B17}">
      <dsp:nvSpPr>
        <dsp:cNvPr id="0" name=""/>
        <dsp:cNvSpPr/>
      </dsp:nvSpPr>
      <dsp:spPr>
        <a:xfrm>
          <a:off x="276881" y="3640166"/>
          <a:ext cx="503420" cy="5034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BC762C3-8FD5-4A96-9D7E-67E67B18DBD1}">
      <dsp:nvSpPr>
        <dsp:cNvPr id="0" name=""/>
        <dsp:cNvSpPr/>
      </dsp:nvSpPr>
      <dsp:spPr>
        <a:xfrm>
          <a:off x="1057183" y="3434221"/>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US" sz="2200" b="1" kern="1200" dirty="0"/>
            <a:t>Implementing Fine Tuning Large Language Model using </a:t>
          </a:r>
          <a:r>
            <a:rPr lang="en-US" sz="2200" b="1" kern="1200" dirty="0" err="1"/>
            <a:t>DialogSum</a:t>
          </a:r>
          <a:r>
            <a:rPr lang="en-US" sz="2200" b="1" kern="1200" dirty="0"/>
            <a:t> Database</a:t>
          </a:r>
          <a:endParaRPr lang="en-US" sz="2200" kern="1200" dirty="0"/>
        </a:p>
      </dsp:txBody>
      <dsp:txXfrm>
        <a:off x="1057183" y="3434221"/>
        <a:ext cx="9458416" cy="91531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B9DE35-DFF1-4478-A595-7CDECEF1E724}">
      <dsp:nvSpPr>
        <dsp:cNvPr id="0" name=""/>
        <dsp:cNvSpPr/>
      </dsp:nvSpPr>
      <dsp:spPr>
        <a:xfrm>
          <a:off x="0" y="19062"/>
          <a:ext cx="11681460" cy="175119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BC7BAFB-A476-40F3-8F2B-1BE54889126E}">
      <dsp:nvSpPr>
        <dsp:cNvPr id="0" name=""/>
        <dsp:cNvSpPr/>
      </dsp:nvSpPr>
      <dsp:spPr>
        <a:xfrm>
          <a:off x="529737" y="413082"/>
          <a:ext cx="964101" cy="96315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AE1BB26-7103-43D3-92AD-5B5FC5FC64A5}">
      <dsp:nvSpPr>
        <dsp:cNvPr id="0" name=""/>
        <dsp:cNvSpPr/>
      </dsp:nvSpPr>
      <dsp:spPr>
        <a:xfrm>
          <a:off x="2023577" y="19062"/>
          <a:ext cx="9444801" cy="21342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5877" tIns="225877" rIns="225877" bIns="225877" numCol="1" spcCol="1270" anchor="ctr" anchorCtr="0">
          <a:noAutofit/>
        </a:bodyPr>
        <a:lstStyle/>
        <a:p>
          <a:pPr marL="0" lvl="0" indent="0" algn="just" defTabSz="1066800">
            <a:lnSpc>
              <a:spcPct val="90000"/>
            </a:lnSpc>
            <a:spcBef>
              <a:spcPct val="0"/>
            </a:spcBef>
            <a:spcAft>
              <a:spcPct val="35000"/>
            </a:spcAft>
            <a:buNone/>
          </a:pPr>
          <a:r>
            <a:rPr lang="en-US" sz="2400" kern="1200" dirty="0"/>
            <a:t>Fine-tuning allows a pre-trained model to adapt to a new task. This approach uses the knowledge gained from training a model on a large dataset and applying it to a smaller, domain-specific dataset. Fine-tuning involves adjusting the weights of the model's layers or updating certain parts of the model to improve its performance on the new task.</a:t>
          </a:r>
        </a:p>
      </dsp:txBody>
      <dsp:txXfrm>
        <a:off x="2023577" y="19062"/>
        <a:ext cx="9444801" cy="2134274"/>
      </dsp:txXfrm>
    </dsp:sp>
    <dsp:sp modelId="{A7922928-0771-4A26-BAF7-82D803998AC1}">
      <dsp:nvSpPr>
        <dsp:cNvPr id="0" name=""/>
        <dsp:cNvSpPr/>
      </dsp:nvSpPr>
      <dsp:spPr>
        <a:xfrm>
          <a:off x="0" y="2501790"/>
          <a:ext cx="11681460" cy="175119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E363FB3-924D-4F09-ACDE-E20BE0BFD63A}">
      <dsp:nvSpPr>
        <dsp:cNvPr id="0" name=""/>
        <dsp:cNvSpPr/>
      </dsp:nvSpPr>
      <dsp:spPr>
        <a:xfrm>
          <a:off x="529737" y="2895810"/>
          <a:ext cx="964101" cy="96315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1D33FD2-925A-49FF-805D-51732741B1DC}">
      <dsp:nvSpPr>
        <dsp:cNvPr id="0" name=""/>
        <dsp:cNvSpPr/>
      </dsp:nvSpPr>
      <dsp:spPr>
        <a:xfrm>
          <a:off x="2023577" y="2501790"/>
          <a:ext cx="9444801" cy="21342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5877" tIns="225877" rIns="225877" bIns="225877" numCol="1" spcCol="1270" anchor="ctr" anchorCtr="0">
          <a:noAutofit/>
        </a:bodyPr>
        <a:lstStyle/>
        <a:p>
          <a:pPr marL="0" lvl="0" indent="0" algn="just" defTabSz="1066800">
            <a:lnSpc>
              <a:spcPct val="90000"/>
            </a:lnSpc>
            <a:spcBef>
              <a:spcPct val="0"/>
            </a:spcBef>
            <a:spcAft>
              <a:spcPct val="35000"/>
            </a:spcAft>
            <a:buNone/>
          </a:pPr>
          <a:r>
            <a:rPr lang="en-US" sz="2400" kern="1200" dirty="0"/>
            <a:t>Fine-tuning is used in </a:t>
          </a:r>
          <a:r>
            <a:rPr lang="en-US" sz="2400" u="sng" kern="1200" dirty="0">
              <a:hlinkClick xmlns:r="http://schemas.openxmlformats.org/officeDocument/2006/relationships" r:id="rId3"/>
            </a:rPr>
            <a:t>transfer learning</a:t>
          </a:r>
          <a:r>
            <a:rPr lang="en-US" sz="2400" kern="1200" dirty="0"/>
            <a:t> where a is model trained on one similar task and is reused for another task often with minimal changes. The underlying assumption is that the model has already learned useful features in the original task that can be transferred and adapted to the new task hence reducing the need for training a model from scratch.</a:t>
          </a:r>
        </a:p>
      </dsp:txBody>
      <dsp:txXfrm>
        <a:off x="2023577" y="2501790"/>
        <a:ext cx="9444801" cy="2134274"/>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2.13592" units="1/cm"/>
          <inkml:channelProperty channel="Y" name="resolution" value="62.42775" units="1/cm"/>
          <inkml:channelProperty channel="T" name="resolution" value="1" units="1/dev"/>
        </inkml:channelProperties>
      </inkml:inkSource>
      <inkml:timestamp xml:id="ts0" timeString="2026-04-21T06:00:02.240"/>
    </inkml:context>
    <inkml:brush xml:id="br0">
      <inkml:brushProperty name="width" value="0.05292" units="cm"/>
      <inkml:brushProperty name="height" value="0.05292" units="cm"/>
      <inkml:brushProperty name="color" value="#FF0000"/>
    </inkml:brush>
  </inkml:definitions>
  <inkml:trace contextRef="#ctx0" brushRef="#br0">3351 7832 0,'-17'17'31,"17"19"-15,0-1 0,0 88-1,17-52 1,-17-36-16,0 0 0,0 18 16,36-17-1,-19-19 1,-17 1-1,88 0 17,-52-18-32,228 0 15,583-159 1,-653 106 0,35-35-16,-52 70 0,52-70 0,124 0 15,-159 35-15,-35 17 0,-18 1 0,35 18 16,547-160 15,-687 177-31,-1 0 0,-18 0 16,19 0-1</inkml:trace>
  <inkml:trace contextRef="#ctx0" brushRef="#br0" timeOffset="524.91">7444 8555 0,'0'0'0,"17"106"32,54-106 15,-36 0-47,0 0 15,301-36 1,-54-140-1,-35 17 17,-194 142-32,-1-36 0,19 35 0,-36-17 15,36-36-15,-36 54 0,0-19 16,-17 36 78</inkml:trace>
  <inkml:trace contextRef="#ctx0" brushRef="#br0" timeOffset="1283.97">2875 9931 0,'0'35'0,"0"0"15,0 18 1,0-35-16,18-1 16,-18 1-16,35 17 0,71 18 15,-53-35-15,-18 17 16,18 0-16,-35-17 0,123 53 16,0 17-1,-106-70 1,36 17-16,-36-35 15,88 35 1,-87-35-16,140 0 16,195-106-1,-266 71-15,407-124 16,-71-35 0,-88 53-1,-124 0 1,-194 141-16,0-18 0,1-17 15</inkml:trace>
  <inkml:trace contextRef="#ctx0" brushRef="#br0" timeOffset="18955.07">9807 9825 0,'194'0'32,"-88"0"-17,758 0 1,-687 0-16,705 0 16,-106 0 15,-635 0-31,265 0 15,-142 0 1,-229 0-16</inkml:trace>
  <inkml:trace contextRef="#ctx0" brushRef="#br0" timeOffset="19649.75">23865 9525 0,'0'0'0,"36"0"15,122 0 1,142 0 0,282 0-1,-405 0-15,352 0 16,-353 0-16,301 0 16,-336 0-16,229 0 15,-246 0 16</inkml:trace>
  <inkml:trace contextRef="#ctx0" brushRef="#br0" timeOffset="28087.99">14041 7885 0,'-18'194'93,"18"-141"-77,-18 335 0,18-300-1,0 106 1,0-141-16,0 35 15,53 177 1,-53-230 0,18 0 15,-1-17-15,1-18-16,53 0 15,193-106 1,107-141-1,87-35 1,160-195 0,-36 160-1,-459 246-15,389-246 16,-354 264-16,477-176 16,-194 105 15,-335 107-16</inkml:trace>
  <inkml:trace contextRef="#ctx0" brushRef="#br0" timeOffset="29159.68">16792 9790 0,'0'35'15,"88"18"1,-70 0 0,53 0-1,-18-36 16,-18 1-15,0 17 0,0 0-1,54-35 1,16 0 0,195-35-1,177-229 1,52-72-1,-371 231-15,336-301 16,-335 335-16,123-140 16,-194 140-16,265-176 15,-106 88 17,-194 142-32,106-71 0,-53 35 31,0 17-16,-36 1 1,-52 18 0,-1-1 249</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2DEC7D-9EB9-4FC6-AF27-227F30B51EA7}" type="datetimeFigureOut">
              <a:rPr lang="en-US" smtClean="0"/>
              <a:t>7/31/2026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7E2AEA-703B-4116-9454-BD3FAE8C5B45}" type="slidenum">
              <a:rPr lang="en-US" smtClean="0"/>
              <a:t>‹#›</a:t>
            </a:fld>
            <a:endParaRPr lang="en-US"/>
          </a:p>
        </p:txBody>
      </p:sp>
    </p:spTree>
    <p:extLst>
      <p:ext uri="{BB962C8B-B14F-4D97-AF65-F5344CB8AC3E}">
        <p14:creationId xmlns:p14="http://schemas.microsoft.com/office/powerpoint/2010/main" val="16697793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27CD11A-EED3-40CE-98A3-28FEE84867B3}" type="slidenum">
              <a:rPr lang="en-US" smtClean="0"/>
              <a:t>1</a:t>
            </a:fld>
            <a:endParaRPr lang="en-US" dirty="0"/>
          </a:p>
        </p:txBody>
      </p:sp>
    </p:spTree>
    <p:extLst>
      <p:ext uri="{BB962C8B-B14F-4D97-AF65-F5344CB8AC3E}">
        <p14:creationId xmlns:p14="http://schemas.microsoft.com/office/powerpoint/2010/main" val="24911602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7E2AEA-703B-4116-9454-BD3FAE8C5B45}" type="slidenum">
              <a:rPr lang="en-US" smtClean="0"/>
              <a:t>36</a:t>
            </a:fld>
            <a:endParaRPr lang="en-US"/>
          </a:p>
        </p:txBody>
      </p:sp>
    </p:spTree>
    <p:extLst>
      <p:ext uri="{BB962C8B-B14F-4D97-AF65-F5344CB8AC3E}">
        <p14:creationId xmlns:p14="http://schemas.microsoft.com/office/powerpoint/2010/main" val="3804758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7E2AEA-703B-4116-9454-BD3FAE8C5B45}" type="slidenum">
              <a:rPr lang="en-US" smtClean="0"/>
              <a:t>51</a:t>
            </a:fld>
            <a:endParaRPr lang="en-US"/>
          </a:p>
        </p:txBody>
      </p:sp>
    </p:spTree>
    <p:extLst>
      <p:ext uri="{BB962C8B-B14F-4D97-AF65-F5344CB8AC3E}">
        <p14:creationId xmlns:p14="http://schemas.microsoft.com/office/powerpoint/2010/main" val="37397129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A99C8-86FF-3E7E-DB7B-FED2D5FA3B4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0242212-3C64-45FF-B06D-03E6E1B0776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326B4F4-F493-CE54-DA36-F967082EA4B9}"/>
              </a:ext>
            </a:extLst>
          </p:cNvPr>
          <p:cNvSpPr>
            <a:spLocks noGrp="1"/>
          </p:cNvSpPr>
          <p:nvPr>
            <p:ph type="dt" sz="half" idx="10"/>
          </p:nvPr>
        </p:nvSpPr>
        <p:spPr/>
        <p:txBody>
          <a:bodyPr/>
          <a:lstStyle/>
          <a:p>
            <a:fld id="{97F9873C-D101-46A2-A6F8-BD3B6CA91216}" type="datetimeFigureOut">
              <a:rPr lang="en-US" smtClean="0"/>
              <a:t>7/31/2026</a:t>
            </a:fld>
            <a:endParaRPr lang="en-US"/>
          </a:p>
        </p:txBody>
      </p:sp>
      <p:sp>
        <p:nvSpPr>
          <p:cNvPr id="5" name="Footer Placeholder 4">
            <a:extLst>
              <a:ext uri="{FF2B5EF4-FFF2-40B4-BE49-F238E27FC236}">
                <a16:creationId xmlns:a16="http://schemas.microsoft.com/office/drawing/2014/main" id="{5F5C2A64-6308-4ED1-FBC8-198FA65BC5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833C42-85A3-659C-9D53-8D6DCD55F9F2}"/>
              </a:ext>
            </a:extLst>
          </p:cNvPr>
          <p:cNvSpPr>
            <a:spLocks noGrp="1"/>
          </p:cNvSpPr>
          <p:nvPr>
            <p:ph type="sldNum" sz="quarter" idx="12"/>
          </p:nvPr>
        </p:nvSpPr>
        <p:spPr/>
        <p:txBody>
          <a:bodyPr/>
          <a:lstStyle/>
          <a:p>
            <a:fld id="{90215B5F-E516-4387-AD79-52D752C418D6}" type="slidenum">
              <a:rPr lang="en-US" smtClean="0"/>
              <a:t>‹#›</a:t>
            </a:fld>
            <a:endParaRPr lang="en-US"/>
          </a:p>
        </p:txBody>
      </p:sp>
    </p:spTree>
    <p:extLst>
      <p:ext uri="{BB962C8B-B14F-4D97-AF65-F5344CB8AC3E}">
        <p14:creationId xmlns:p14="http://schemas.microsoft.com/office/powerpoint/2010/main" val="20757570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74361-BC4F-64F8-EE95-12DF9794EF4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549B7E-9EE3-3922-A155-1A8A9D63B4B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462917-885E-EA11-5002-6D84222B99EE}"/>
              </a:ext>
            </a:extLst>
          </p:cNvPr>
          <p:cNvSpPr>
            <a:spLocks noGrp="1"/>
          </p:cNvSpPr>
          <p:nvPr>
            <p:ph type="dt" sz="half" idx="10"/>
          </p:nvPr>
        </p:nvSpPr>
        <p:spPr/>
        <p:txBody>
          <a:bodyPr/>
          <a:lstStyle/>
          <a:p>
            <a:fld id="{97F9873C-D101-46A2-A6F8-BD3B6CA91216}" type="datetimeFigureOut">
              <a:rPr lang="en-US" smtClean="0"/>
              <a:t>7/31/2026</a:t>
            </a:fld>
            <a:endParaRPr lang="en-US"/>
          </a:p>
        </p:txBody>
      </p:sp>
      <p:sp>
        <p:nvSpPr>
          <p:cNvPr id="5" name="Footer Placeholder 4">
            <a:extLst>
              <a:ext uri="{FF2B5EF4-FFF2-40B4-BE49-F238E27FC236}">
                <a16:creationId xmlns:a16="http://schemas.microsoft.com/office/drawing/2014/main" id="{4AC5BEFD-7CBC-F78A-FDF7-C7FD6DE3CA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2DD5F9-2A76-9A17-6053-84F384551F14}"/>
              </a:ext>
            </a:extLst>
          </p:cNvPr>
          <p:cNvSpPr>
            <a:spLocks noGrp="1"/>
          </p:cNvSpPr>
          <p:nvPr>
            <p:ph type="sldNum" sz="quarter" idx="12"/>
          </p:nvPr>
        </p:nvSpPr>
        <p:spPr/>
        <p:txBody>
          <a:bodyPr/>
          <a:lstStyle/>
          <a:p>
            <a:fld id="{90215B5F-E516-4387-AD79-52D752C418D6}" type="slidenum">
              <a:rPr lang="en-US" smtClean="0"/>
              <a:t>‹#›</a:t>
            </a:fld>
            <a:endParaRPr lang="en-US"/>
          </a:p>
        </p:txBody>
      </p:sp>
    </p:spTree>
    <p:extLst>
      <p:ext uri="{BB962C8B-B14F-4D97-AF65-F5344CB8AC3E}">
        <p14:creationId xmlns:p14="http://schemas.microsoft.com/office/powerpoint/2010/main" val="2022345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72B3F-A23C-34D1-A540-F09B6F2FED6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6DCA43A-21E0-DFE2-EA9C-96FA56F5E93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BE6B122-798A-A770-426C-5117FCE01234}"/>
              </a:ext>
            </a:extLst>
          </p:cNvPr>
          <p:cNvSpPr>
            <a:spLocks noGrp="1"/>
          </p:cNvSpPr>
          <p:nvPr>
            <p:ph type="dt" sz="half" idx="10"/>
          </p:nvPr>
        </p:nvSpPr>
        <p:spPr/>
        <p:txBody>
          <a:bodyPr/>
          <a:lstStyle/>
          <a:p>
            <a:fld id="{97F9873C-D101-46A2-A6F8-BD3B6CA91216}" type="datetimeFigureOut">
              <a:rPr lang="en-US" smtClean="0"/>
              <a:t>7/31/2026</a:t>
            </a:fld>
            <a:endParaRPr lang="en-US"/>
          </a:p>
        </p:txBody>
      </p:sp>
      <p:sp>
        <p:nvSpPr>
          <p:cNvPr id="5" name="Footer Placeholder 4">
            <a:extLst>
              <a:ext uri="{FF2B5EF4-FFF2-40B4-BE49-F238E27FC236}">
                <a16:creationId xmlns:a16="http://schemas.microsoft.com/office/drawing/2014/main" id="{FFE25B09-6B15-640E-3855-6A795172B7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3081D8-D8A4-B040-0DBC-F4A7601738D8}"/>
              </a:ext>
            </a:extLst>
          </p:cNvPr>
          <p:cNvSpPr>
            <a:spLocks noGrp="1"/>
          </p:cNvSpPr>
          <p:nvPr>
            <p:ph type="sldNum" sz="quarter" idx="12"/>
          </p:nvPr>
        </p:nvSpPr>
        <p:spPr/>
        <p:txBody>
          <a:bodyPr/>
          <a:lstStyle/>
          <a:p>
            <a:fld id="{90215B5F-E516-4387-AD79-52D752C418D6}" type="slidenum">
              <a:rPr lang="en-US" smtClean="0"/>
              <a:t>‹#›</a:t>
            </a:fld>
            <a:endParaRPr lang="en-US"/>
          </a:p>
        </p:txBody>
      </p:sp>
    </p:spTree>
    <p:extLst>
      <p:ext uri="{BB962C8B-B14F-4D97-AF65-F5344CB8AC3E}">
        <p14:creationId xmlns:p14="http://schemas.microsoft.com/office/powerpoint/2010/main" val="22103315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3A8D2-B99B-3EDF-2BF7-AD62466FFB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EDE824A-C4A3-62D5-0EB0-B6A489FF81C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3D3E95D-7356-0606-8E02-FA6A9AE4F12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9378A55-5826-D2E8-098A-A371E0A8D2E8}"/>
              </a:ext>
            </a:extLst>
          </p:cNvPr>
          <p:cNvSpPr>
            <a:spLocks noGrp="1"/>
          </p:cNvSpPr>
          <p:nvPr>
            <p:ph type="dt" sz="half" idx="10"/>
          </p:nvPr>
        </p:nvSpPr>
        <p:spPr/>
        <p:txBody>
          <a:bodyPr/>
          <a:lstStyle/>
          <a:p>
            <a:fld id="{97F9873C-D101-46A2-A6F8-BD3B6CA91216}" type="datetimeFigureOut">
              <a:rPr lang="en-US" smtClean="0"/>
              <a:t>7/31/2026</a:t>
            </a:fld>
            <a:endParaRPr lang="en-US"/>
          </a:p>
        </p:txBody>
      </p:sp>
      <p:sp>
        <p:nvSpPr>
          <p:cNvPr id="6" name="Footer Placeholder 5">
            <a:extLst>
              <a:ext uri="{FF2B5EF4-FFF2-40B4-BE49-F238E27FC236}">
                <a16:creationId xmlns:a16="http://schemas.microsoft.com/office/drawing/2014/main" id="{188B6CAC-3FD0-0E53-2312-930629AFD3F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8D7A20A-0D61-7C9A-ECFE-80549C3E9905}"/>
              </a:ext>
            </a:extLst>
          </p:cNvPr>
          <p:cNvSpPr>
            <a:spLocks noGrp="1"/>
          </p:cNvSpPr>
          <p:nvPr>
            <p:ph type="sldNum" sz="quarter" idx="12"/>
          </p:nvPr>
        </p:nvSpPr>
        <p:spPr/>
        <p:txBody>
          <a:bodyPr/>
          <a:lstStyle/>
          <a:p>
            <a:fld id="{90215B5F-E516-4387-AD79-52D752C418D6}" type="slidenum">
              <a:rPr lang="en-US" smtClean="0"/>
              <a:t>‹#›</a:t>
            </a:fld>
            <a:endParaRPr lang="en-US"/>
          </a:p>
        </p:txBody>
      </p:sp>
    </p:spTree>
    <p:extLst>
      <p:ext uri="{BB962C8B-B14F-4D97-AF65-F5344CB8AC3E}">
        <p14:creationId xmlns:p14="http://schemas.microsoft.com/office/powerpoint/2010/main" val="23909344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73298-4441-2AC8-8BB9-496721BCA93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AF80216-7B10-8C8A-1BE1-3429AEE79AA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373BD5C-0CB2-BAB4-8019-8DE755C75C4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8580C44-E720-5BBE-FA78-31DC149CA36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FABB741-3324-E316-D4E0-B61C463D342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CFB8EA2-FA92-4628-7174-042E6B475AC5}"/>
              </a:ext>
            </a:extLst>
          </p:cNvPr>
          <p:cNvSpPr>
            <a:spLocks noGrp="1"/>
          </p:cNvSpPr>
          <p:nvPr>
            <p:ph type="dt" sz="half" idx="10"/>
          </p:nvPr>
        </p:nvSpPr>
        <p:spPr/>
        <p:txBody>
          <a:bodyPr/>
          <a:lstStyle/>
          <a:p>
            <a:fld id="{97F9873C-D101-46A2-A6F8-BD3B6CA91216}" type="datetimeFigureOut">
              <a:rPr lang="en-US" smtClean="0"/>
              <a:t>7/31/2026</a:t>
            </a:fld>
            <a:endParaRPr lang="en-US"/>
          </a:p>
        </p:txBody>
      </p:sp>
      <p:sp>
        <p:nvSpPr>
          <p:cNvPr id="8" name="Footer Placeholder 7">
            <a:extLst>
              <a:ext uri="{FF2B5EF4-FFF2-40B4-BE49-F238E27FC236}">
                <a16:creationId xmlns:a16="http://schemas.microsoft.com/office/drawing/2014/main" id="{790D0A17-9AFD-B749-6DAE-75FF098CD5F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BF110A7-0957-4514-0A6F-A50DAAEB04E5}"/>
              </a:ext>
            </a:extLst>
          </p:cNvPr>
          <p:cNvSpPr>
            <a:spLocks noGrp="1"/>
          </p:cNvSpPr>
          <p:nvPr>
            <p:ph type="sldNum" sz="quarter" idx="12"/>
          </p:nvPr>
        </p:nvSpPr>
        <p:spPr/>
        <p:txBody>
          <a:bodyPr/>
          <a:lstStyle/>
          <a:p>
            <a:fld id="{90215B5F-E516-4387-AD79-52D752C418D6}" type="slidenum">
              <a:rPr lang="en-US" smtClean="0"/>
              <a:t>‹#›</a:t>
            </a:fld>
            <a:endParaRPr lang="en-US"/>
          </a:p>
        </p:txBody>
      </p:sp>
    </p:spTree>
    <p:extLst>
      <p:ext uri="{BB962C8B-B14F-4D97-AF65-F5344CB8AC3E}">
        <p14:creationId xmlns:p14="http://schemas.microsoft.com/office/powerpoint/2010/main" val="31255540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DB42F-715A-0719-00EC-49E92B75C04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F0C5970-F1C8-9EF1-4212-DA22D577F23A}"/>
              </a:ext>
            </a:extLst>
          </p:cNvPr>
          <p:cNvSpPr>
            <a:spLocks noGrp="1"/>
          </p:cNvSpPr>
          <p:nvPr>
            <p:ph type="dt" sz="half" idx="10"/>
          </p:nvPr>
        </p:nvSpPr>
        <p:spPr/>
        <p:txBody>
          <a:bodyPr/>
          <a:lstStyle/>
          <a:p>
            <a:fld id="{97F9873C-D101-46A2-A6F8-BD3B6CA91216}" type="datetimeFigureOut">
              <a:rPr lang="en-US" smtClean="0"/>
              <a:t>7/31/2026</a:t>
            </a:fld>
            <a:endParaRPr lang="en-US"/>
          </a:p>
        </p:txBody>
      </p:sp>
      <p:sp>
        <p:nvSpPr>
          <p:cNvPr id="4" name="Footer Placeholder 3">
            <a:extLst>
              <a:ext uri="{FF2B5EF4-FFF2-40B4-BE49-F238E27FC236}">
                <a16:creationId xmlns:a16="http://schemas.microsoft.com/office/drawing/2014/main" id="{65421986-B8D5-C6F7-5A14-8FAC8AB7CE5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F82B653-5959-089B-C046-679E16B235BD}"/>
              </a:ext>
            </a:extLst>
          </p:cNvPr>
          <p:cNvSpPr>
            <a:spLocks noGrp="1"/>
          </p:cNvSpPr>
          <p:nvPr>
            <p:ph type="sldNum" sz="quarter" idx="12"/>
          </p:nvPr>
        </p:nvSpPr>
        <p:spPr/>
        <p:txBody>
          <a:bodyPr/>
          <a:lstStyle/>
          <a:p>
            <a:fld id="{90215B5F-E516-4387-AD79-52D752C418D6}" type="slidenum">
              <a:rPr lang="en-US" smtClean="0"/>
              <a:t>‹#›</a:t>
            </a:fld>
            <a:endParaRPr lang="en-US"/>
          </a:p>
        </p:txBody>
      </p:sp>
    </p:spTree>
    <p:extLst>
      <p:ext uri="{BB962C8B-B14F-4D97-AF65-F5344CB8AC3E}">
        <p14:creationId xmlns:p14="http://schemas.microsoft.com/office/powerpoint/2010/main" val="9323207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285F083-FF50-620E-BCB5-59CB86930666}"/>
              </a:ext>
            </a:extLst>
          </p:cNvPr>
          <p:cNvSpPr>
            <a:spLocks noGrp="1"/>
          </p:cNvSpPr>
          <p:nvPr>
            <p:ph type="dt" sz="half" idx="10"/>
          </p:nvPr>
        </p:nvSpPr>
        <p:spPr/>
        <p:txBody>
          <a:bodyPr/>
          <a:lstStyle/>
          <a:p>
            <a:fld id="{97F9873C-D101-46A2-A6F8-BD3B6CA91216}" type="datetimeFigureOut">
              <a:rPr lang="en-US" smtClean="0"/>
              <a:t>7/31/2026</a:t>
            </a:fld>
            <a:endParaRPr lang="en-US"/>
          </a:p>
        </p:txBody>
      </p:sp>
      <p:sp>
        <p:nvSpPr>
          <p:cNvPr id="3" name="Footer Placeholder 2">
            <a:extLst>
              <a:ext uri="{FF2B5EF4-FFF2-40B4-BE49-F238E27FC236}">
                <a16:creationId xmlns:a16="http://schemas.microsoft.com/office/drawing/2014/main" id="{5FC7078D-D4DD-7E96-BDD0-C3287FE056A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9DDC53C-9DEF-A7B1-8072-758E00D7044D}"/>
              </a:ext>
            </a:extLst>
          </p:cNvPr>
          <p:cNvSpPr>
            <a:spLocks noGrp="1"/>
          </p:cNvSpPr>
          <p:nvPr>
            <p:ph type="sldNum" sz="quarter" idx="12"/>
          </p:nvPr>
        </p:nvSpPr>
        <p:spPr/>
        <p:txBody>
          <a:bodyPr/>
          <a:lstStyle/>
          <a:p>
            <a:fld id="{90215B5F-E516-4387-AD79-52D752C418D6}" type="slidenum">
              <a:rPr lang="en-US" smtClean="0"/>
              <a:t>‹#›</a:t>
            </a:fld>
            <a:endParaRPr lang="en-US"/>
          </a:p>
        </p:txBody>
      </p:sp>
    </p:spTree>
    <p:extLst>
      <p:ext uri="{BB962C8B-B14F-4D97-AF65-F5344CB8AC3E}">
        <p14:creationId xmlns:p14="http://schemas.microsoft.com/office/powerpoint/2010/main" val="11416353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8A64E-4138-F90F-C510-C5A52BD39D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CC3DC78-C669-B6B5-4740-28D1BB67F0D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0EA285D-804C-13B1-216F-9FAEBEBCFF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A53416-F362-1A87-FA55-E24899F07801}"/>
              </a:ext>
            </a:extLst>
          </p:cNvPr>
          <p:cNvSpPr>
            <a:spLocks noGrp="1"/>
          </p:cNvSpPr>
          <p:nvPr>
            <p:ph type="dt" sz="half" idx="10"/>
          </p:nvPr>
        </p:nvSpPr>
        <p:spPr/>
        <p:txBody>
          <a:bodyPr/>
          <a:lstStyle/>
          <a:p>
            <a:fld id="{97F9873C-D101-46A2-A6F8-BD3B6CA91216}" type="datetimeFigureOut">
              <a:rPr lang="en-US" smtClean="0"/>
              <a:t>7/31/2026</a:t>
            </a:fld>
            <a:endParaRPr lang="en-US"/>
          </a:p>
        </p:txBody>
      </p:sp>
      <p:sp>
        <p:nvSpPr>
          <p:cNvPr id="6" name="Footer Placeholder 5">
            <a:extLst>
              <a:ext uri="{FF2B5EF4-FFF2-40B4-BE49-F238E27FC236}">
                <a16:creationId xmlns:a16="http://schemas.microsoft.com/office/drawing/2014/main" id="{5770402F-4337-5FC7-5703-DE2B21AE9E7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05364F4-2FB2-57C6-4CFB-0AC1AD0FB5F9}"/>
              </a:ext>
            </a:extLst>
          </p:cNvPr>
          <p:cNvSpPr>
            <a:spLocks noGrp="1"/>
          </p:cNvSpPr>
          <p:nvPr>
            <p:ph type="sldNum" sz="quarter" idx="12"/>
          </p:nvPr>
        </p:nvSpPr>
        <p:spPr/>
        <p:txBody>
          <a:bodyPr/>
          <a:lstStyle/>
          <a:p>
            <a:fld id="{90215B5F-E516-4387-AD79-52D752C418D6}" type="slidenum">
              <a:rPr lang="en-US" smtClean="0"/>
              <a:t>‹#›</a:t>
            </a:fld>
            <a:endParaRPr lang="en-US"/>
          </a:p>
        </p:txBody>
      </p:sp>
    </p:spTree>
    <p:extLst>
      <p:ext uri="{BB962C8B-B14F-4D97-AF65-F5344CB8AC3E}">
        <p14:creationId xmlns:p14="http://schemas.microsoft.com/office/powerpoint/2010/main" val="34749738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08F97F-5C5D-56F9-8A39-CADF4D7A55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429974E-258D-0F4B-4714-67DDB037C58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073F9C5-D46C-B3EE-8087-4D7B5F3609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71467D3-B8D7-CEB2-9490-FE6960567C35}"/>
              </a:ext>
            </a:extLst>
          </p:cNvPr>
          <p:cNvSpPr>
            <a:spLocks noGrp="1"/>
          </p:cNvSpPr>
          <p:nvPr>
            <p:ph type="dt" sz="half" idx="10"/>
          </p:nvPr>
        </p:nvSpPr>
        <p:spPr/>
        <p:txBody>
          <a:bodyPr/>
          <a:lstStyle/>
          <a:p>
            <a:fld id="{97F9873C-D101-46A2-A6F8-BD3B6CA91216}" type="datetimeFigureOut">
              <a:rPr lang="en-US" smtClean="0"/>
              <a:t>7/31/2026</a:t>
            </a:fld>
            <a:endParaRPr lang="en-US"/>
          </a:p>
        </p:txBody>
      </p:sp>
      <p:sp>
        <p:nvSpPr>
          <p:cNvPr id="6" name="Footer Placeholder 5">
            <a:extLst>
              <a:ext uri="{FF2B5EF4-FFF2-40B4-BE49-F238E27FC236}">
                <a16:creationId xmlns:a16="http://schemas.microsoft.com/office/drawing/2014/main" id="{94573A7B-4C45-4257-C759-D40AD6010B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8E6F082-B59C-8207-F2DC-8BEFF6EC915D}"/>
              </a:ext>
            </a:extLst>
          </p:cNvPr>
          <p:cNvSpPr>
            <a:spLocks noGrp="1"/>
          </p:cNvSpPr>
          <p:nvPr>
            <p:ph type="sldNum" sz="quarter" idx="12"/>
          </p:nvPr>
        </p:nvSpPr>
        <p:spPr/>
        <p:txBody>
          <a:bodyPr/>
          <a:lstStyle/>
          <a:p>
            <a:fld id="{90215B5F-E516-4387-AD79-52D752C418D6}" type="slidenum">
              <a:rPr lang="en-US" smtClean="0"/>
              <a:t>‹#›</a:t>
            </a:fld>
            <a:endParaRPr lang="en-US"/>
          </a:p>
        </p:txBody>
      </p:sp>
    </p:spTree>
    <p:extLst>
      <p:ext uri="{BB962C8B-B14F-4D97-AF65-F5344CB8AC3E}">
        <p14:creationId xmlns:p14="http://schemas.microsoft.com/office/powerpoint/2010/main" val="6654964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6C959-AAEE-FB70-38A9-8B1560B3A8C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E31E7AA-DD7E-E7D5-05EF-4E3E6F19FA9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EBF784-7E69-90EF-E157-8EAB7962B52A}"/>
              </a:ext>
            </a:extLst>
          </p:cNvPr>
          <p:cNvSpPr>
            <a:spLocks noGrp="1"/>
          </p:cNvSpPr>
          <p:nvPr>
            <p:ph type="dt" sz="half" idx="10"/>
          </p:nvPr>
        </p:nvSpPr>
        <p:spPr/>
        <p:txBody>
          <a:bodyPr/>
          <a:lstStyle/>
          <a:p>
            <a:fld id="{97F9873C-D101-46A2-A6F8-BD3B6CA91216}" type="datetimeFigureOut">
              <a:rPr lang="en-US" smtClean="0"/>
              <a:t>7/31/2026</a:t>
            </a:fld>
            <a:endParaRPr lang="en-US"/>
          </a:p>
        </p:txBody>
      </p:sp>
      <p:sp>
        <p:nvSpPr>
          <p:cNvPr id="5" name="Footer Placeholder 4">
            <a:extLst>
              <a:ext uri="{FF2B5EF4-FFF2-40B4-BE49-F238E27FC236}">
                <a16:creationId xmlns:a16="http://schemas.microsoft.com/office/drawing/2014/main" id="{0AA99942-C0E4-B611-4D33-87EDF8E1A5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1A649C-0371-E7BF-18C5-EC39DE9CCBC8}"/>
              </a:ext>
            </a:extLst>
          </p:cNvPr>
          <p:cNvSpPr>
            <a:spLocks noGrp="1"/>
          </p:cNvSpPr>
          <p:nvPr>
            <p:ph type="sldNum" sz="quarter" idx="12"/>
          </p:nvPr>
        </p:nvSpPr>
        <p:spPr/>
        <p:txBody>
          <a:bodyPr/>
          <a:lstStyle/>
          <a:p>
            <a:fld id="{90215B5F-E516-4387-AD79-52D752C418D6}" type="slidenum">
              <a:rPr lang="en-US" smtClean="0"/>
              <a:t>‹#›</a:t>
            </a:fld>
            <a:endParaRPr lang="en-US"/>
          </a:p>
        </p:txBody>
      </p:sp>
    </p:spTree>
    <p:extLst>
      <p:ext uri="{BB962C8B-B14F-4D97-AF65-F5344CB8AC3E}">
        <p14:creationId xmlns:p14="http://schemas.microsoft.com/office/powerpoint/2010/main" val="27602502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A3BDFE0-C39F-85F2-1FF6-DF188557761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C25D6ED-BEBC-12D6-8476-0E694DAF022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6D542F-5FD8-5207-EF2A-359E450ACAA6}"/>
              </a:ext>
            </a:extLst>
          </p:cNvPr>
          <p:cNvSpPr>
            <a:spLocks noGrp="1"/>
          </p:cNvSpPr>
          <p:nvPr>
            <p:ph type="dt" sz="half" idx="10"/>
          </p:nvPr>
        </p:nvSpPr>
        <p:spPr/>
        <p:txBody>
          <a:bodyPr/>
          <a:lstStyle/>
          <a:p>
            <a:fld id="{97F9873C-D101-46A2-A6F8-BD3B6CA91216}" type="datetimeFigureOut">
              <a:rPr lang="en-US" smtClean="0"/>
              <a:t>7/31/2026</a:t>
            </a:fld>
            <a:endParaRPr lang="en-US"/>
          </a:p>
        </p:txBody>
      </p:sp>
      <p:sp>
        <p:nvSpPr>
          <p:cNvPr id="5" name="Footer Placeholder 4">
            <a:extLst>
              <a:ext uri="{FF2B5EF4-FFF2-40B4-BE49-F238E27FC236}">
                <a16:creationId xmlns:a16="http://schemas.microsoft.com/office/drawing/2014/main" id="{B844214F-890E-A5C0-15E7-A562ED3D31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AF8CC0-7D05-A72D-FE03-27E8FDAF7DCA}"/>
              </a:ext>
            </a:extLst>
          </p:cNvPr>
          <p:cNvSpPr>
            <a:spLocks noGrp="1"/>
          </p:cNvSpPr>
          <p:nvPr>
            <p:ph type="sldNum" sz="quarter" idx="12"/>
          </p:nvPr>
        </p:nvSpPr>
        <p:spPr/>
        <p:txBody>
          <a:bodyPr/>
          <a:lstStyle/>
          <a:p>
            <a:fld id="{90215B5F-E516-4387-AD79-52D752C418D6}" type="slidenum">
              <a:rPr lang="en-US" smtClean="0"/>
              <a:t>‹#›</a:t>
            </a:fld>
            <a:endParaRPr lang="en-US"/>
          </a:p>
        </p:txBody>
      </p:sp>
    </p:spTree>
    <p:extLst>
      <p:ext uri="{BB962C8B-B14F-4D97-AF65-F5344CB8AC3E}">
        <p14:creationId xmlns:p14="http://schemas.microsoft.com/office/powerpoint/2010/main" val="28246662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1EEF57-986A-4F3E-ABCB-3FDA212E51E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BCDEC04-BA77-B2CC-CBEA-BF27CF79220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7BC649-25BD-3F49-C7DE-97146D2D71F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7F9873C-D101-46A2-A6F8-BD3B6CA91216}" type="datetimeFigureOut">
              <a:rPr lang="en-US" smtClean="0"/>
              <a:t>7/31/2026</a:t>
            </a:fld>
            <a:endParaRPr lang="en-US"/>
          </a:p>
        </p:txBody>
      </p:sp>
      <p:sp>
        <p:nvSpPr>
          <p:cNvPr id="5" name="Footer Placeholder 4">
            <a:extLst>
              <a:ext uri="{FF2B5EF4-FFF2-40B4-BE49-F238E27FC236}">
                <a16:creationId xmlns:a16="http://schemas.microsoft.com/office/drawing/2014/main" id="{C37382F3-9B81-6D23-1652-74AD5AA941A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DAACA65-93A6-DEE7-CA0C-576B133C467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0215B5F-E516-4387-AD79-52D752C418D6}" type="slidenum">
              <a:rPr lang="en-US" smtClean="0"/>
              <a:t>‹#›</a:t>
            </a:fld>
            <a:endParaRPr lang="en-US"/>
          </a:p>
        </p:txBody>
      </p:sp>
    </p:spTree>
    <p:extLst>
      <p:ext uri="{BB962C8B-B14F-4D97-AF65-F5344CB8AC3E}">
        <p14:creationId xmlns:p14="http://schemas.microsoft.com/office/powerpoint/2010/main" val="1767631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geeksforgeeks.org/artificial-intelligence/supervised-fine-tuning-sft-for-llms/" TargetMode="External"/><Relationship Id="rId7" Type="http://schemas.openxmlformats.org/officeDocument/2006/relationships/hyperlink" Target="https://www.geeksforgeeks.org/machine-learning/getting-started-with-transformers/" TargetMode="External"/><Relationship Id="rId2" Type="http://schemas.openxmlformats.org/officeDocument/2006/relationships/hyperlink" Target="https://www.geeksforgeeks.org/artificial-intelligence/instruction-tuning-for-large-language-models/" TargetMode="External"/><Relationship Id="rId1" Type="http://schemas.openxmlformats.org/officeDocument/2006/relationships/slideLayout" Target="../slideLayouts/slideLayout2.xml"/><Relationship Id="rId6" Type="http://schemas.openxmlformats.org/officeDocument/2006/relationships/hyperlink" Target="https://www.geeksforgeeks.org/deep-learning/what-is-qlora-quantized-low-rank-adapter/" TargetMode="External"/><Relationship Id="rId5" Type="http://schemas.openxmlformats.org/officeDocument/2006/relationships/hyperlink" Target="https://www.geeksforgeeks.org/deep-learning/what-is-low-rank-adaptation-lora/" TargetMode="External"/><Relationship Id="rId4" Type="http://schemas.openxmlformats.org/officeDocument/2006/relationships/hyperlink" Target="https://www.geeksforgeeks.org/artificial-intelligence/what-is-parameter-efficient-fine-tuning-peft/" TargetMode="Externa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llama.com/docs/model-cards-and-prompt-formats/llama3_3/" TargetMode="External"/><Relationship Id="rId2" Type="http://schemas.openxmlformats.org/officeDocument/2006/relationships/hyperlink" Target="https://www.llama.com/docs/model-cards-and-prompt-formats/llama3_1/"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en.wikipedia.org/wiki/Fine-tuning_(deep_learning)#Low-rank_adaptation"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arxiv.org/abs/2305.14314"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hyperlink" Target="https://github.com/huggingface/peft"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hyperlink" Target="https://www.geeksforgeeks.org/deep-learning/fine-tuning-large-language-model-llm/" TargetMode="External"/><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www.geeksforgeeks.org/deep-learning/what-is-low-rank-adaptation-lora/" TargetMode="External"/><Relationship Id="rId2" Type="http://schemas.openxmlformats.org/officeDocument/2006/relationships/hyperlink" Target="https://www.geeksforgeeks.org/machine-learning/getting-started-with-transformers/" TargetMode="Externa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3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25.png"/><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4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hyperlink" Target="https://www.geeksforgeeks.org/artificial-intelligence/Introduction-to-hugging-face-transformers/" TargetMode="Externa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hyperlink" Target="https://github.com/fshnkarimi/Fine-tuning-an-LLM-using-LoRA/blob/main/FineTuning_LoRA.ipynb" TargetMode="External"/><Relationship Id="rId2" Type="http://schemas.openxmlformats.org/officeDocument/2006/relationships/hyperlink" Target="https://github.com/fshnkarimi/Fine-tuning-an-LLM-using-LoRA/tree/main" TargetMode="External"/><Relationship Id="rId1" Type="http://schemas.openxmlformats.org/officeDocument/2006/relationships/slideLayout" Target="../slideLayouts/slideLayout2.xml"/><Relationship Id="rId4" Type="http://schemas.openxmlformats.org/officeDocument/2006/relationships/hyperlink" Target="https://towardsdatascience.com/fine-tuning-large-language-models-llms-23473d763b91" TargetMode="Externa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hyperlink" Target="https://github.com/pytorch/torchtune" TargetMode="External"/><Relationship Id="rId2" Type="http://schemas.openxmlformats.org/officeDocument/2006/relationships/hyperlink" Target="https://llama.developer.meta.com/" TargetMode="Externa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hyperlink" Target="https://pytorch.org/torchtune/stable/tutorials/llama3.html" TargetMode="External"/><Relationship Id="rId2" Type="http://schemas.openxmlformats.org/officeDocument/2006/relationships/hyperlink" Target="https://pytorch.org/torchtune/stable/tutorials/e2e_flow.html" TargetMode="Externa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hyperlink" Target="https://www.geeksforgeeks.org/artificial-intelligence/supervised-fine-tuning-sft-for-llms/" TargetMode="External"/><Relationship Id="rId7" Type="http://schemas.openxmlformats.org/officeDocument/2006/relationships/hyperlink" Target="https://www.geeksforgeeks.org/machine-learning/getting-started-with-transformers/" TargetMode="External"/><Relationship Id="rId2" Type="http://schemas.openxmlformats.org/officeDocument/2006/relationships/hyperlink" Target="https://www.geeksforgeeks.org/artificial-intelligence/instruction-tuning-for-large-language-models/" TargetMode="External"/><Relationship Id="rId1" Type="http://schemas.openxmlformats.org/officeDocument/2006/relationships/slideLayout" Target="../slideLayouts/slideLayout2.xml"/><Relationship Id="rId6" Type="http://schemas.openxmlformats.org/officeDocument/2006/relationships/hyperlink" Target="https://www.geeksforgeeks.org/deep-learning/what-is-qlora-quantized-low-rank-adapter/" TargetMode="External"/><Relationship Id="rId5" Type="http://schemas.openxmlformats.org/officeDocument/2006/relationships/hyperlink" Target="https://www.geeksforgeeks.org/deep-learning/what-is-low-rank-adaptation-lora/" TargetMode="External"/><Relationship Id="rId4" Type="http://schemas.openxmlformats.org/officeDocument/2006/relationships/hyperlink" Target="https://www.geeksforgeeks.org/artificial-intelligence/what-is-parameter-efficient-fine-tuning-peft/" TargetMode="External"/></Relationships>
</file>

<file path=ppt/slides/_rels/slide59.xml.rels><?xml version="1.0" encoding="UTF-8" standalone="yes"?>
<Relationships xmlns="http://schemas.openxmlformats.org/package/2006/relationships"><Relationship Id="rId3" Type="http://schemas.openxmlformats.org/officeDocument/2006/relationships/hyperlink" Target="https://www.geeksforgeeks.org/computer-vision/vgg-net-architecture-explained/" TargetMode="External"/><Relationship Id="rId2" Type="http://schemas.openxmlformats.org/officeDocument/2006/relationships/hyperlink" Target="https://www.geeksforgeeks.org/nlp/explanation-of-bert-model-nlp/" TargetMode="External"/><Relationship Id="rId1" Type="http://schemas.openxmlformats.org/officeDocument/2006/relationships/slideLayout" Target="../slideLayouts/slideLayout2.xml"/><Relationship Id="rId5" Type="http://schemas.openxmlformats.org/officeDocument/2006/relationships/hyperlink" Target="https://www.geeksforgeeks.org/artificial-intelligence/introduction-to-generative-pre-trained-transformer-gpt/" TargetMode="External"/><Relationship Id="rId4" Type="http://schemas.openxmlformats.org/officeDocument/2006/relationships/hyperlink" Target="https://www.geeksforgeeks.org/deep-learning/residual-networks-resnet-deep-learning/" TargetMode="External"/></Relationships>
</file>

<file path=ppt/slides/_rels/slide60.xml.rels><?xml version="1.0" encoding="UTF-8" standalone="yes"?>
<Relationships xmlns="http://schemas.openxmlformats.org/package/2006/relationships"><Relationship Id="rId2" Type="http://schemas.openxmlformats.org/officeDocument/2006/relationships/hyperlink" Target="https://www.geeksforgeeks.org/deep-learning/what-is-low-rank-adaptation-lora/" TargetMode="Externa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hyperlink" Target="https://www.datacamp.com/tutorial/fine-tuning-large-language-models" TargetMode="Externa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76A1B86-DC99-46B9-B5AA-A7E928EA9C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9304FFE-74E9-4316-B822-F35A685E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5162550" y="1562669"/>
            <a:ext cx="5636113" cy="2456597"/>
          </a:xfrm>
        </p:spPr>
        <p:txBody>
          <a:bodyPr anchor="b">
            <a:normAutofit/>
          </a:bodyPr>
          <a:lstStyle/>
          <a:p>
            <a:r>
              <a:rPr lang="en-US" sz="4400">
                <a:solidFill>
                  <a:schemeClr val="tx1">
                    <a:lumMod val="85000"/>
                    <a:lumOff val="15000"/>
                  </a:schemeClr>
                </a:solidFill>
              </a:rPr>
              <a:t>Fine Tuning of LLMS</a:t>
            </a:r>
          </a:p>
        </p:txBody>
      </p:sp>
      <p:sp>
        <p:nvSpPr>
          <p:cNvPr id="3" name="Subtitle 2"/>
          <p:cNvSpPr>
            <a:spLocks noGrp="1"/>
          </p:cNvSpPr>
          <p:nvPr>
            <p:ph type="subTitle" idx="1"/>
          </p:nvPr>
        </p:nvSpPr>
        <p:spPr>
          <a:xfrm>
            <a:off x="5649309" y="4298722"/>
            <a:ext cx="4678086" cy="1148885"/>
          </a:xfrm>
        </p:spPr>
        <p:txBody>
          <a:bodyPr anchor="t">
            <a:normAutofit/>
          </a:bodyPr>
          <a:lstStyle/>
          <a:p>
            <a:r>
              <a:rPr lang="en-US" sz="1800">
                <a:solidFill>
                  <a:schemeClr val="tx1">
                    <a:lumMod val="85000"/>
                    <a:lumOff val="15000"/>
                  </a:schemeClr>
                </a:solidFill>
              </a:rPr>
              <a:t>Dr. Rakhee Chhibber</a:t>
            </a:r>
          </a:p>
        </p:txBody>
      </p:sp>
      <p:pic>
        <p:nvPicPr>
          <p:cNvPr id="6" name="Picture 5">
            <a:extLst>
              <a:ext uri="{FF2B5EF4-FFF2-40B4-BE49-F238E27FC236}">
                <a16:creationId xmlns:a16="http://schemas.microsoft.com/office/drawing/2014/main" id="{64D502D7-DF4E-D6D9-11C9-07BE5B9C22D2}"/>
              </a:ext>
            </a:extLst>
          </p:cNvPr>
          <p:cNvPicPr>
            <a:picLocks noChangeAspect="1"/>
          </p:cNvPicPr>
          <p:nvPr/>
        </p:nvPicPr>
        <p:blipFill>
          <a:blip r:embed="rId3"/>
          <a:srcRect l="29796" r="22578" b="2"/>
          <a:stretch>
            <a:fillRect/>
          </a:stretch>
        </p:blipFill>
        <p:spPr>
          <a:xfrm>
            <a:off x="-7266" y="10"/>
            <a:ext cx="3569616" cy="6857990"/>
          </a:xfrm>
          <a:custGeom>
            <a:avLst/>
            <a:gdLst/>
            <a:ahLst/>
            <a:cxnLst/>
            <a:rect l="l" t="t" r="r" b="b"/>
            <a:pathLst>
              <a:path w="3569616" h="6858000">
                <a:moveTo>
                  <a:pt x="0" y="0"/>
                </a:moveTo>
                <a:lnTo>
                  <a:pt x="3119345" y="0"/>
                </a:lnTo>
                <a:lnTo>
                  <a:pt x="3123529" y="17226"/>
                </a:lnTo>
                <a:cubicBezTo>
                  <a:pt x="3124924" y="23927"/>
                  <a:pt x="3126075" y="29690"/>
                  <a:pt x="3127926" y="35733"/>
                </a:cubicBezTo>
                <a:cubicBezTo>
                  <a:pt x="3135983" y="55162"/>
                  <a:pt x="3152761" y="75163"/>
                  <a:pt x="3158476" y="86830"/>
                </a:cubicBezTo>
                <a:lnTo>
                  <a:pt x="3162217" y="105744"/>
                </a:lnTo>
                <a:lnTo>
                  <a:pt x="3166997" y="104727"/>
                </a:lnTo>
                <a:lnTo>
                  <a:pt x="3167793" y="111793"/>
                </a:lnTo>
                <a:lnTo>
                  <a:pt x="3168896" y="127609"/>
                </a:lnTo>
                <a:cubicBezTo>
                  <a:pt x="3170241" y="137435"/>
                  <a:pt x="3170795" y="164972"/>
                  <a:pt x="3173185" y="174906"/>
                </a:cubicBezTo>
                <a:cubicBezTo>
                  <a:pt x="3178510" y="177461"/>
                  <a:pt x="3181593" y="181749"/>
                  <a:pt x="3183238" y="187215"/>
                </a:cubicBezTo>
                <a:lnTo>
                  <a:pt x="3184145" y="199435"/>
                </a:lnTo>
                <a:lnTo>
                  <a:pt x="3200957" y="269529"/>
                </a:lnTo>
                <a:lnTo>
                  <a:pt x="3202491" y="279219"/>
                </a:lnTo>
                <a:lnTo>
                  <a:pt x="3206975" y="284221"/>
                </a:lnTo>
                <a:cubicBezTo>
                  <a:pt x="3208056" y="288198"/>
                  <a:pt x="3208241" y="299815"/>
                  <a:pt x="3208979" y="303078"/>
                </a:cubicBezTo>
                <a:cubicBezTo>
                  <a:pt x="3209786" y="303316"/>
                  <a:pt x="3210593" y="303555"/>
                  <a:pt x="3211400" y="303794"/>
                </a:cubicBezTo>
                <a:cubicBezTo>
                  <a:pt x="3215834" y="314048"/>
                  <a:pt x="3230882" y="352723"/>
                  <a:pt x="3235583" y="364595"/>
                </a:cubicBezTo>
                <a:cubicBezTo>
                  <a:pt x="3232098" y="367263"/>
                  <a:pt x="3238178" y="372307"/>
                  <a:pt x="3239601" y="375020"/>
                </a:cubicBezTo>
                <a:cubicBezTo>
                  <a:pt x="3237179" y="375617"/>
                  <a:pt x="3236854" y="382439"/>
                  <a:pt x="3239157" y="384290"/>
                </a:cubicBezTo>
                <a:cubicBezTo>
                  <a:pt x="3254070" y="431093"/>
                  <a:pt x="3227895" y="408920"/>
                  <a:pt x="3245230" y="435044"/>
                </a:cubicBezTo>
                <a:cubicBezTo>
                  <a:pt x="3246565" y="439781"/>
                  <a:pt x="3245820" y="443743"/>
                  <a:pt x="3244204" y="447282"/>
                </a:cubicBezTo>
                <a:lnTo>
                  <a:pt x="3240762" y="452630"/>
                </a:lnTo>
                <a:lnTo>
                  <a:pt x="3249093" y="471880"/>
                </a:lnTo>
                <a:cubicBezTo>
                  <a:pt x="3252174" y="481431"/>
                  <a:pt x="3254453" y="491548"/>
                  <a:pt x="3255857" y="501992"/>
                </a:cubicBezTo>
                <a:cubicBezTo>
                  <a:pt x="3250999" y="504682"/>
                  <a:pt x="3258622" y="512442"/>
                  <a:pt x="3260271" y="516223"/>
                </a:cubicBezTo>
                <a:cubicBezTo>
                  <a:pt x="3257006" y="516482"/>
                  <a:pt x="3255973" y="525173"/>
                  <a:pt x="3258865" y="528038"/>
                </a:cubicBezTo>
                <a:cubicBezTo>
                  <a:pt x="3274535" y="591283"/>
                  <a:pt x="3241762" y="557303"/>
                  <a:pt x="3262462" y="594499"/>
                </a:cubicBezTo>
                <a:cubicBezTo>
                  <a:pt x="3263816" y="600863"/>
                  <a:pt x="3262479" y="605795"/>
                  <a:pt x="3260024" y="610000"/>
                </a:cubicBezTo>
                <a:lnTo>
                  <a:pt x="3253721" y="617692"/>
                </a:lnTo>
                <a:lnTo>
                  <a:pt x="3256482" y="623204"/>
                </a:lnTo>
                <a:cubicBezTo>
                  <a:pt x="3258005" y="644600"/>
                  <a:pt x="3251476" y="651376"/>
                  <a:pt x="3259225" y="663365"/>
                </a:cubicBezTo>
                <a:cubicBezTo>
                  <a:pt x="3245876" y="682744"/>
                  <a:pt x="3258539" y="675670"/>
                  <a:pt x="3261631" y="689522"/>
                </a:cubicBezTo>
                <a:cubicBezTo>
                  <a:pt x="3265207" y="700373"/>
                  <a:pt x="3269507" y="679723"/>
                  <a:pt x="3271002" y="690492"/>
                </a:cubicBezTo>
                <a:cubicBezTo>
                  <a:pt x="3267989" y="702455"/>
                  <a:pt x="3279578" y="701125"/>
                  <a:pt x="3275760" y="713609"/>
                </a:cubicBezTo>
                <a:cubicBezTo>
                  <a:pt x="3266819" y="711239"/>
                  <a:pt x="3278954" y="737528"/>
                  <a:pt x="3271356" y="738880"/>
                </a:cubicBezTo>
                <a:cubicBezTo>
                  <a:pt x="3282938" y="748490"/>
                  <a:pt x="3269788" y="754591"/>
                  <a:pt x="3274016" y="768139"/>
                </a:cubicBezTo>
                <a:cubicBezTo>
                  <a:pt x="3278559" y="774347"/>
                  <a:pt x="3279560" y="778980"/>
                  <a:pt x="3275507" y="785654"/>
                </a:cubicBezTo>
                <a:cubicBezTo>
                  <a:pt x="3297514" y="814181"/>
                  <a:pt x="3277534" y="803670"/>
                  <a:pt x="3287024" y="831111"/>
                </a:cubicBezTo>
                <a:cubicBezTo>
                  <a:pt x="3296672" y="854655"/>
                  <a:pt x="3303659" y="881610"/>
                  <a:pt x="3324562" y="903604"/>
                </a:cubicBezTo>
                <a:cubicBezTo>
                  <a:pt x="3330338" y="907511"/>
                  <a:pt x="3333079" y="917872"/>
                  <a:pt x="3330682" y="926744"/>
                </a:cubicBezTo>
                <a:cubicBezTo>
                  <a:pt x="3330269" y="928269"/>
                  <a:pt x="3329716" y="929694"/>
                  <a:pt x="3329041" y="930971"/>
                </a:cubicBezTo>
                <a:cubicBezTo>
                  <a:pt x="3333270" y="950914"/>
                  <a:pt x="3351150" y="1023696"/>
                  <a:pt x="3356062" y="1046405"/>
                </a:cubicBezTo>
                <a:cubicBezTo>
                  <a:pt x="3349099" y="1048737"/>
                  <a:pt x="3362597" y="1059482"/>
                  <a:pt x="3358521" y="1067217"/>
                </a:cubicBezTo>
                <a:cubicBezTo>
                  <a:pt x="3354869" y="1072807"/>
                  <a:pt x="3358113" y="1077371"/>
                  <a:pt x="3358773" y="1082909"/>
                </a:cubicBezTo>
                <a:cubicBezTo>
                  <a:pt x="3356098" y="1090444"/>
                  <a:pt x="3363241" y="1113953"/>
                  <a:pt x="3367682" y="1119909"/>
                </a:cubicBezTo>
                <a:cubicBezTo>
                  <a:pt x="3382703" y="1133847"/>
                  <a:pt x="3374343" y="1168367"/>
                  <a:pt x="3385911" y="1180009"/>
                </a:cubicBezTo>
                <a:cubicBezTo>
                  <a:pt x="3387774" y="1184389"/>
                  <a:pt x="3388688" y="1188737"/>
                  <a:pt x="3389010" y="1193041"/>
                </a:cubicBezTo>
                <a:lnTo>
                  <a:pt x="3388572" y="1205179"/>
                </a:lnTo>
                <a:lnTo>
                  <a:pt x="3385768" y="1208811"/>
                </a:lnTo>
                <a:lnTo>
                  <a:pt x="3386975" y="1216129"/>
                </a:lnTo>
                <a:lnTo>
                  <a:pt x="3386647" y="1218271"/>
                </a:lnTo>
                <a:cubicBezTo>
                  <a:pt x="3386007" y="1222365"/>
                  <a:pt x="3385480" y="1226399"/>
                  <a:pt x="3385420" y="1230360"/>
                </a:cubicBezTo>
                <a:cubicBezTo>
                  <a:pt x="3400233" y="1224163"/>
                  <a:pt x="3387342" y="1263034"/>
                  <a:pt x="3398902" y="1251303"/>
                </a:cubicBezTo>
                <a:cubicBezTo>
                  <a:pt x="3401143" y="1271991"/>
                  <a:pt x="3411558" y="1255397"/>
                  <a:pt x="3402244" y="1281071"/>
                </a:cubicBezTo>
                <a:cubicBezTo>
                  <a:pt x="3416627" y="1312459"/>
                  <a:pt x="3415183" y="1363554"/>
                  <a:pt x="3435533" y="1387530"/>
                </a:cubicBezTo>
                <a:cubicBezTo>
                  <a:pt x="3428168" y="1384876"/>
                  <a:pt x="3423452" y="1398828"/>
                  <a:pt x="3427595" y="1407995"/>
                </a:cubicBezTo>
                <a:cubicBezTo>
                  <a:pt x="3398778" y="1398886"/>
                  <a:pt x="3455260" y="1443485"/>
                  <a:pt x="3436580" y="1453051"/>
                </a:cubicBezTo>
                <a:cubicBezTo>
                  <a:pt x="3454427" y="1452263"/>
                  <a:pt x="3487273" y="1492392"/>
                  <a:pt x="3473886" y="1513215"/>
                </a:cubicBezTo>
                <a:cubicBezTo>
                  <a:pt x="3479337" y="1543203"/>
                  <a:pt x="3495403" y="1563620"/>
                  <a:pt x="3491486" y="1595707"/>
                </a:cubicBezTo>
                <a:cubicBezTo>
                  <a:pt x="3493932" y="1596530"/>
                  <a:pt x="3496028" y="1598008"/>
                  <a:pt x="3497869" y="1599939"/>
                </a:cubicBezTo>
                <a:lnTo>
                  <a:pt x="3502453" y="1606503"/>
                </a:lnTo>
                <a:lnTo>
                  <a:pt x="3502232" y="1607846"/>
                </a:lnTo>
                <a:cubicBezTo>
                  <a:pt x="3502503" y="1613048"/>
                  <a:pt x="3503673" y="1615641"/>
                  <a:pt x="3505239" y="1617081"/>
                </a:cubicBezTo>
                <a:cubicBezTo>
                  <a:pt x="3505979" y="1617395"/>
                  <a:pt x="3506719" y="1617710"/>
                  <a:pt x="3507459" y="1618024"/>
                </a:cubicBezTo>
                <a:lnTo>
                  <a:pt x="3510011" y="1624022"/>
                </a:lnTo>
                <a:lnTo>
                  <a:pt x="3516358" y="1634929"/>
                </a:lnTo>
                <a:lnTo>
                  <a:pt x="3516308" y="1637821"/>
                </a:lnTo>
                <a:lnTo>
                  <a:pt x="3523955" y="1655598"/>
                </a:lnTo>
                <a:lnTo>
                  <a:pt x="3523473" y="1656247"/>
                </a:lnTo>
                <a:cubicBezTo>
                  <a:pt x="3522567" y="1658107"/>
                  <a:pt x="3522227" y="1660249"/>
                  <a:pt x="3523061" y="1663024"/>
                </a:cubicBezTo>
                <a:cubicBezTo>
                  <a:pt x="3513175" y="1664689"/>
                  <a:pt x="3520280" y="1667013"/>
                  <a:pt x="3523616" y="1675054"/>
                </a:cubicBezTo>
                <a:cubicBezTo>
                  <a:pt x="3509006" y="1679436"/>
                  <a:pt x="3523682" y="1698702"/>
                  <a:pt x="3517630" y="1707801"/>
                </a:cubicBezTo>
                <a:cubicBezTo>
                  <a:pt x="3520410" y="1713612"/>
                  <a:pt x="3523083" y="1719836"/>
                  <a:pt x="3525537" y="1726380"/>
                </a:cubicBezTo>
                <a:lnTo>
                  <a:pt x="3529903" y="1779986"/>
                </a:lnTo>
                <a:lnTo>
                  <a:pt x="3521468" y="1836998"/>
                </a:lnTo>
                <a:cubicBezTo>
                  <a:pt x="3522502" y="1857808"/>
                  <a:pt x="3519191" y="1876110"/>
                  <a:pt x="3523412" y="1893497"/>
                </a:cubicBezTo>
                <a:cubicBezTo>
                  <a:pt x="3520411" y="1900876"/>
                  <a:pt x="3519436" y="1907708"/>
                  <a:pt x="3525004" y="1913894"/>
                </a:cubicBezTo>
                <a:cubicBezTo>
                  <a:pt x="3524490" y="1933413"/>
                  <a:pt x="3517414" y="1938604"/>
                  <a:pt x="3523928" y="1950514"/>
                </a:cubicBezTo>
                <a:cubicBezTo>
                  <a:pt x="3512685" y="1962215"/>
                  <a:pt x="3517275" y="1962555"/>
                  <a:pt x="3521008" y="1967449"/>
                </a:cubicBezTo>
                <a:lnTo>
                  <a:pt x="3521297" y="1968163"/>
                </a:lnTo>
                <a:lnTo>
                  <a:pt x="3519686" y="1969768"/>
                </a:lnTo>
                <a:lnTo>
                  <a:pt x="3519089" y="1972904"/>
                </a:lnTo>
                <a:lnTo>
                  <a:pt x="3520122" y="1981289"/>
                </a:lnTo>
                <a:lnTo>
                  <a:pt x="3520948" y="1984413"/>
                </a:lnTo>
                <a:cubicBezTo>
                  <a:pt x="3521356" y="1986575"/>
                  <a:pt x="3521416" y="1988026"/>
                  <a:pt x="3521226" y="1989046"/>
                </a:cubicBezTo>
                <a:lnTo>
                  <a:pt x="3521092" y="1989171"/>
                </a:lnTo>
                <a:lnTo>
                  <a:pt x="3521624" y="1993492"/>
                </a:lnTo>
                <a:cubicBezTo>
                  <a:pt x="3522844" y="2000762"/>
                  <a:pt x="3524332" y="2007819"/>
                  <a:pt x="3525996" y="2014518"/>
                </a:cubicBezTo>
                <a:cubicBezTo>
                  <a:pt x="3518529" y="2020777"/>
                  <a:pt x="3529333" y="2045218"/>
                  <a:pt x="3514412" y="2043465"/>
                </a:cubicBezTo>
                <a:cubicBezTo>
                  <a:pt x="3516219" y="2052531"/>
                  <a:pt x="3522688" y="2057653"/>
                  <a:pt x="3512822" y="2055222"/>
                </a:cubicBezTo>
                <a:cubicBezTo>
                  <a:pt x="3513140" y="2058224"/>
                  <a:pt x="3512432" y="2060136"/>
                  <a:pt x="3511227" y="2061550"/>
                </a:cubicBezTo>
                <a:lnTo>
                  <a:pt x="3510645" y="2061975"/>
                </a:lnTo>
                <a:lnTo>
                  <a:pt x="3514907" y="2082129"/>
                </a:lnTo>
                <a:lnTo>
                  <a:pt x="3514347" y="2084880"/>
                </a:lnTo>
                <a:lnTo>
                  <a:pt x="3518565" y="2097919"/>
                </a:lnTo>
                <a:lnTo>
                  <a:pt x="3519976" y="2104707"/>
                </a:lnTo>
                <a:lnTo>
                  <a:pt x="3521958" y="2106519"/>
                </a:lnTo>
                <a:cubicBezTo>
                  <a:pt x="3523219" y="2108534"/>
                  <a:pt x="3523895" y="2111498"/>
                  <a:pt x="3523237" y="2116590"/>
                </a:cubicBezTo>
                <a:lnTo>
                  <a:pt x="3522786" y="2117790"/>
                </a:lnTo>
                <a:lnTo>
                  <a:pt x="3526064" y="2125947"/>
                </a:lnTo>
                <a:cubicBezTo>
                  <a:pt x="3527505" y="2128548"/>
                  <a:pt x="3529274" y="2130818"/>
                  <a:pt x="3531495" y="2132603"/>
                </a:cubicBezTo>
                <a:cubicBezTo>
                  <a:pt x="3522034" y="2161762"/>
                  <a:pt x="3533978" y="2187874"/>
                  <a:pt x="3533955" y="2218836"/>
                </a:cubicBezTo>
                <a:cubicBezTo>
                  <a:pt x="3517312" y="2233337"/>
                  <a:pt x="3542024" y="2285180"/>
                  <a:pt x="3559442" y="2291697"/>
                </a:cubicBezTo>
                <a:cubicBezTo>
                  <a:pt x="3544608" y="2292866"/>
                  <a:pt x="3567228" y="2330146"/>
                  <a:pt x="3568373" y="2340076"/>
                </a:cubicBezTo>
                <a:cubicBezTo>
                  <a:pt x="3568755" y="2343387"/>
                  <a:pt x="3566751" y="2343658"/>
                  <a:pt x="3560178" y="2338540"/>
                </a:cubicBezTo>
                <a:cubicBezTo>
                  <a:pt x="3562571" y="2349015"/>
                  <a:pt x="3555536" y="2360463"/>
                  <a:pt x="3548875" y="2354921"/>
                </a:cubicBezTo>
                <a:cubicBezTo>
                  <a:pt x="3564342" y="2386191"/>
                  <a:pt x="3553912" y="2434573"/>
                  <a:pt x="3562290" y="2470516"/>
                </a:cubicBezTo>
                <a:cubicBezTo>
                  <a:pt x="3548732" y="2491328"/>
                  <a:pt x="3561750" y="2479665"/>
                  <a:pt x="3560263" y="2500409"/>
                </a:cubicBezTo>
                <a:cubicBezTo>
                  <a:pt x="3573531" y="2493872"/>
                  <a:pt x="3554177" y="2525877"/>
                  <a:pt x="3569616" y="2525972"/>
                </a:cubicBezTo>
                <a:cubicBezTo>
                  <a:pt x="3568857" y="2529744"/>
                  <a:pt x="3567635" y="2533395"/>
                  <a:pt x="3566291" y="2537057"/>
                </a:cubicBezTo>
                <a:lnTo>
                  <a:pt x="3565595" y="2538979"/>
                </a:lnTo>
                <a:lnTo>
                  <a:pt x="3565471" y="2546483"/>
                </a:lnTo>
                <a:lnTo>
                  <a:pt x="3562111" y="2548822"/>
                </a:lnTo>
                <a:lnTo>
                  <a:pt x="3559542" y="2560277"/>
                </a:lnTo>
                <a:cubicBezTo>
                  <a:pt x="3559093" y="2564534"/>
                  <a:pt x="3559212" y="2569074"/>
                  <a:pt x="3560240" y="2574030"/>
                </a:cubicBezTo>
                <a:cubicBezTo>
                  <a:pt x="3567097" y="2585933"/>
                  <a:pt x="3560828" y="2605604"/>
                  <a:pt x="3562359" y="2622912"/>
                </a:cubicBezTo>
                <a:lnTo>
                  <a:pt x="3564740" y="2630748"/>
                </a:lnTo>
                <a:lnTo>
                  <a:pt x="3563214" y="2656947"/>
                </a:lnTo>
                <a:cubicBezTo>
                  <a:pt x="3563065" y="2664385"/>
                  <a:pt x="3563222" y="2672085"/>
                  <a:pt x="3563949" y="2680153"/>
                </a:cubicBezTo>
                <a:lnTo>
                  <a:pt x="3566383" y="2695058"/>
                </a:lnTo>
                <a:lnTo>
                  <a:pt x="3565385" y="2699075"/>
                </a:lnTo>
                <a:cubicBezTo>
                  <a:pt x="3565951" y="2705917"/>
                  <a:pt x="3570892" y="2714690"/>
                  <a:pt x="3565525" y="2714239"/>
                </a:cubicBezTo>
                <a:lnTo>
                  <a:pt x="3567847" y="2721812"/>
                </a:lnTo>
                <a:lnTo>
                  <a:pt x="3564077" y="2729693"/>
                </a:lnTo>
                <a:cubicBezTo>
                  <a:pt x="3563144" y="2730592"/>
                  <a:pt x="3562134" y="2731288"/>
                  <a:pt x="3561085" y="2731758"/>
                </a:cubicBezTo>
                <a:lnTo>
                  <a:pt x="3563149" y="2742418"/>
                </a:lnTo>
                <a:lnTo>
                  <a:pt x="3560661" y="2751437"/>
                </a:lnTo>
                <a:lnTo>
                  <a:pt x="3563126" y="2758989"/>
                </a:lnTo>
                <a:lnTo>
                  <a:pt x="3562876" y="2762207"/>
                </a:lnTo>
                <a:lnTo>
                  <a:pt x="3561866" y="2770236"/>
                </a:lnTo>
                <a:cubicBezTo>
                  <a:pt x="3561066" y="2774372"/>
                  <a:pt x="3560080" y="2779005"/>
                  <a:pt x="3559378" y="2784138"/>
                </a:cubicBezTo>
                <a:lnTo>
                  <a:pt x="3559178" y="2788436"/>
                </a:lnTo>
                <a:lnTo>
                  <a:pt x="3554648" y="2798068"/>
                </a:lnTo>
                <a:cubicBezTo>
                  <a:pt x="3551209" y="2805087"/>
                  <a:pt x="3548936" y="2810580"/>
                  <a:pt x="3551400" y="2816345"/>
                </a:cubicBezTo>
                <a:cubicBezTo>
                  <a:pt x="3547036" y="2826742"/>
                  <a:pt x="3533490" y="2834711"/>
                  <a:pt x="3538128" y="2849028"/>
                </a:cubicBezTo>
                <a:cubicBezTo>
                  <a:pt x="3531517" y="2845031"/>
                  <a:pt x="3538369" y="2865256"/>
                  <a:pt x="3532013" y="2868126"/>
                </a:cubicBezTo>
                <a:cubicBezTo>
                  <a:pt x="3526842" y="2869601"/>
                  <a:pt x="3527715" y="2876080"/>
                  <a:pt x="3526094" y="2881167"/>
                </a:cubicBezTo>
                <a:cubicBezTo>
                  <a:pt x="3520961" y="2885059"/>
                  <a:pt x="3517628" y="2910333"/>
                  <a:pt x="3518939" y="2918966"/>
                </a:cubicBezTo>
                <a:cubicBezTo>
                  <a:pt x="3525789" y="2943088"/>
                  <a:pt x="3505468" y="2964225"/>
                  <a:pt x="3510391" y="2983548"/>
                </a:cubicBezTo>
                <a:cubicBezTo>
                  <a:pt x="3510204" y="2988707"/>
                  <a:pt x="3509257" y="2993036"/>
                  <a:pt x="3507840" y="2996827"/>
                </a:cubicBezTo>
                <a:lnTo>
                  <a:pt x="3502741" y="3006379"/>
                </a:lnTo>
                <a:lnTo>
                  <a:pt x="3499028" y="3006971"/>
                </a:lnTo>
                <a:lnTo>
                  <a:pt x="3497157" y="3013976"/>
                </a:lnTo>
                <a:lnTo>
                  <a:pt x="3496053" y="3015450"/>
                </a:lnTo>
                <a:cubicBezTo>
                  <a:pt x="3493931" y="3018255"/>
                  <a:pt x="3491925" y="3021106"/>
                  <a:pt x="3490329" y="3024292"/>
                </a:cubicBezTo>
                <a:cubicBezTo>
                  <a:pt x="3504872" y="3031782"/>
                  <a:pt x="3479143" y="3052632"/>
                  <a:pt x="3493186" y="3052840"/>
                </a:cubicBezTo>
                <a:cubicBezTo>
                  <a:pt x="3486942" y="3071654"/>
                  <a:pt x="3501947" y="3066916"/>
                  <a:pt x="3484298" y="3080007"/>
                </a:cubicBezTo>
                <a:cubicBezTo>
                  <a:pt x="3483814" y="3117860"/>
                  <a:pt x="3462683" y="3158406"/>
                  <a:pt x="3469977" y="3195253"/>
                </a:cubicBezTo>
                <a:cubicBezTo>
                  <a:pt x="3464984" y="3186842"/>
                  <a:pt x="3455676" y="3194249"/>
                  <a:pt x="3455490" y="3205255"/>
                </a:cubicBezTo>
                <a:cubicBezTo>
                  <a:pt x="3435461" y="3173385"/>
                  <a:pt x="3464274" y="3257718"/>
                  <a:pt x="3445250" y="3249703"/>
                </a:cubicBezTo>
                <a:cubicBezTo>
                  <a:pt x="3460163" y="3264187"/>
                  <a:pt x="3471377" y="3324835"/>
                  <a:pt x="3452291" y="3330508"/>
                </a:cubicBezTo>
                <a:cubicBezTo>
                  <a:pt x="3445043" y="3359645"/>
                  <a:pt x="3450218" y="3389952"/>
                  <a:pt x="3434486" y="3412864"/>
                </a:cubicBezTo>
                <a:cubicBezTo>
                  <a:pt x="3436166" y="3415609"/>
                  <a:pt x="3437306" y="3418595"/>
                  <a:pt x="3438058" y="3421734"/>
                </a:cubicBezTo>
                <a:lnTo>
                  <a:pt x="3439245" y="3430986"/>
                </a:lnTo>
                <a:lnTo>
                  <a:pt x="3438541" y="3431897"/>
                </a:lnTo>
                <a:cubicBezTo>
                  <a:pt x="3436732" y="3436375"/>
                  <a:pt x="3436677" y="3439488"/>
                  <a:pt x="3437396" y="3441992"/>
                </a:cubicBezTo>
                <a:lnTo>
                  <a:pt x="3438843" y="3444647"/>
                </a:lnTo>
                <a:lnTo>
                  <a:pt x="3438591" y="3451712"/>
                </a:lnTo>
                <a:lnTo>
                  <a:pt x="3439527" y="3466008"/>
                </a:lnTo>
                <a:lnTo>
                  <a:pt x="3438357" y="3468331"/>
                </a:lnTo>
                <a:lnTo>
                  <a:pt x="3437674" y="3489343"/>
                </a:lnTo>
                <a:cubicBezTo>
                  <a:pt x="3437459" y="3489383"/>
                  <a:pt x="3437241" y="3489424"/>
                  <a:pt x="3437026" y="3489465"/>
                </a:cubicBezTo>
                <a:cubicBezTo>
                  <a:pt x="3435558" y="3490219"/>
                  <a:pt x="3434444" y="3491679"/>
                  <a:pt x="3434044" y="3494659"/>
                </a:cubicBezTo>
                <a:cubicBezTo>
                  <a:pt x="3425302" y="3487640"/>
                  <a:pt x="3430211" y="3495561"/>
                  <a:pt x="3429800" y="3504965"/>
                </a:cubicBezTo>
                <a:cubicBezTo>
                  <a:pt x="3416132" y="3496161"/>
                  <a:pt x="3420620" y="3524348"/>
                  <a:pt x="3412115" y="3526661"/>
                </a:cubicBezTo>
                <a:cubicBezTo>
                  <a:pt x="3412121" y="3533765"/>
                  <a:pt x="3411879" y="3541120"/>
                  <a:pt x="3411331" y="3548549"/>
                </a:cubicBezTo>
                <a:lnTo>
                  <a:pt x="3410824" y="3552872"/>
                </a:lnTo>
                <a:cubicBezTo>
                  <a:pt x="3410773" y="3552889"/>
                  <a:pt x="3410721" y="3552908"/>
                  <a:pt x="3410671" y="3552926"/>
                </a:cubicBezTo>
                <a:cubicBezTo>
                  <a:pt x="3410254" y="3553793"/>
                  <a:pt x="3409971" y="3555188"/>
                  <a:pt x="3409849" y="3557419"/>
                </a:cubicBezTo>
                <a:lnTo>
                  <a:pt x="3409902" y="3560756"/>
                </a:lnTo>
                <a:lnTo>
                  <a:pt x="3408918" y="3569144"/>
                </a:lnTo>
                <a:lnTo>
                  <a:pt x="3407623" y="3571810"/>
                </a:lnTo>
                <a:lnTo>
                  <a:pt x="3405729" y="3572549"/>
                </a:lnTo>
                <a:lnTo>
                  <a:pt x="3405835" y="3573359"/>
                </a:lnTo>
                <a:cubicBezTo>
                  <a:pt x="3408214" y="3579757"/>
                  <a:pt x="3412465" y="3582275"/>
                  <a:pt x="3399129" y="3587902"/>
                </a:cubicBezTo>
                <a:cubicBezTo>
                  <a:pt x="3402495" y="3602236"/>
                  <a:pt x="3394605" y="3603730"/>
                  <a:pt x="3389566" y="3621859"/>
                </a:cubicBezTo>
                <a:cubicBezTo>
                  <a:pt x="3393374" y="3630350"/>
                  <a:pt x="3390863" y="3636316"/>
                  <a:pt x="3386307" y="3641820"/>
                </a:cubicBezTo>
                <a:cubicBezTo>
                  <a:pt x="3386232" y="3660214"/>
                  <a:pt x="3378837" y="3675854"/>
                  <a:pt x="3374956" y="3695940"/>
                </a:cubicBezTo>
                <a:cubicBezTo>
                  <a:pt x="3378387" y="3718839"/>
                  <a:pt x="3365817" y="3728358"/>
                  <a:pt x="3361718" y="3749831"/>
                </a:cubicBezTo>
                <a:cubicBezTo>
                  <a:pt x="3370064" y="3770267"/>
                  <a:pt x="3350403" y="3763879"/>
                  <a:pt x="3344768" y="3774338"/>
                </a:cubicBezTo>
                <a:lnTo>
                  <a:pt x="3343985" y="3777418"/>
                </a:lnTo>
                <a:lnTo>
                  <a:pt x="3344520" y="3785849"/>
                </a:lnTo>
                <a:lnTo>
                  <a:pt x="3345162" y="3789023"/>
                </a:lnTo>
                <a:cubicBezTo>
                  <a:pt x="3345441" y="3791209"/>
                  <a:pt x="3345415" y="3792659"/>
                  <a:pt x="3345164" y="3793659"/>
                </a:cubicBezTo>
                <a:lnTo>
                  <a:pt x="3345024" y="3793774"/>
                </a:lnTo>
                <a:lnTo>
                  <a:pt x="3345300" y="3798119"/>
                </a:lnTo>
                <a:cubicBezTo>
                  <a:pt x="3346087" y="3805456"/>
                  <a:pt x="3347157" y="3812596"/>
                  <a:pt x="3348424" y="3819398"/>
                </a:cubicBezTo>
                <a:cubicBezTo>
                  <a:pt x="3340590" y="3825065"/>
                  <a:pt x="3349940" y="3850234"/>
                  <a:pt x="3335133" y="3847354"/>
                </a:cubicBezTo>
                <a:cubicBezTo>
                  <a:pt x="3336403" y="3856524"/>
                  <a:pt x="3342565" y="3862118"/>
                  <a:pt x="3332848" y="3858945"/>
                </a:cubicBezTo>
                <a:cubicBezTo>
                  <a:pt x="3332988" y="3861961"/>
                  <a:pt x="3332168" y="3863811"/>
                  <a:pt x="3330878" y="3865128"/>
                </a:cubicBezTo>
                <a:lnTo>
                  <a:pt x="3330273" y="3865510"/>
                </a:lnTo>
                <a:lnTo>
                  <a:pt x="3333337" y="3885908"/>
                </a:lnTo>
                <a:lnTo>
                  <a:pt x="3332616" y="3888608"/>
                </a:lnTo>
                <a:lnTo>
                  <a:pt x="3336057" y="3901916"/>
                </a:lnTo>
                <a:lnTo>
                  <a:pt x="3337066" y="3908785"/>
                </a:lnTo>
                <a:lnTo>
                  <a:pt x="3338940" y="3910739"/>
                </a:lnTo>
                <a:cubicBezTo>
                  <a:pt x="3340082" y="3912843"/>
                  <a:pt x="3340580" y="3915849"/>
                  <a:pt x="3339621" y="3920873"/>
                </a:cubicBezTo>
                <a:lnTo>
                  <a:pt x="3339102" y="3922032"/>
                </a:lnTo>
                <a:lnTo>
                  <a:pt x="3341891" y="3930408"/>
                </a:lnTo>
                <a:cubicBezTo>
                  <a:pt x="3343178" y="3933107"/>
                  <a:pt x="3344812" y="3935503"/>
                  <a:pt x="3346927" y="3937451"/>
                </a:cubicBezTo>
                <a:cubicBezTo>
                  <a:pt x="3335745" y="3965779"/>
                  <a:pt x="3346136" y="3992699"/>
                  <a:pt x="3344279" y="4023542"/>
                </a:cubicBezTo>
                <a:cubicBezTo>
                  <a:pt x="3347024" y="4058096"/>
                  <a:pt x="3350783" y="4081986"/>
                  <a:pt x="3351926" y="4104769"/>
                </a:cubicBezTo>
                <a:cubicBezTo>
                  <a:pt x="3353695" y="4115384"/>
                  <a:pt x="3359144" y="4193344"/>
                  <a:pt x="3352816" y="4187317"/>
                </a:cubicBezTo>
                <a:cubicBezTo>
                  <a:pt x="3366419" y="4219638"/>
                  <a:pt x="3351446" y="4239971"/>
                  <a:pt x="3357691" y="4276413"/>
                </a:cubicBezTo>
                <a:cubicBezTo>
                  <a:pt x="3342910" y="4296116"/>
                  <a:pt x="3356610" y="4285488"/>
                  <a:pt x="3353895" y="4306037"/>
                </a:cubicBezTo>
                <a:cubicBezTo>
                  <a:pt x="3367541" y="4300534"/>
                  <a:pt x="3346306" y="4330948"/>
                  <a:pt x="3361728" y="4332215"/>
                </a:cubicBezTo>
                <a:cubicBezTo>
                  <a:pt x="3360746" y="4335915"/>
                  <a:pt x="3359307" y="4339458"/>
                  <a:pt x="3357748" y="4343006"/>
                </a:cubicBezTo>
                <a:lnTo>
                  <a:pt x="3356941" y="4344866"/>
                </a:lnTo>
                <a:lnTo>
                  <a:pt x="3356370" y="4352332"/>
                </a:lnTo>
                <a:lnTo>
                  <a:pt x="3352876" y="4354407"/>
                </a:lnTo>
                <a:lnTo>
                  <a:pt x="3352683" y="4444689"/>
                </a:lnTo>
                <a:cubicBezTo>
                  <a:pt x="3355485" y="4452425"/>
                  <a:pt x="3356736" y="4477980"/>
                  <a:pt x="3352455" y="4483791"/>
                </a:cubicBezTo>
                <a:cubicBezTo>
                  <a:pt x="3351784" y="4489320"/>
                  <a:pt x="3353780" y="4495171"/>
                  <a:pt x="3349030" y="4498683"/>
                </a:cubicBezTo>
                <a:cubicBezTo>
                  <a:pt x="3346858" y="4510741"/>
                  <a:pt x="3341860" y="4538358"/>
                  <a:pt x="3339427" y="4556140"/>
                </a:cubicBezTo>
                <a:cubicBezTo>
                  <a:pt x="3342836" y="4560659"/>
                  <a:pt x="3341611" y="4566842"/>
                  <a:pt x="3339521" y="4574959"/>
                </a:cubicBezTo>
                <a:lnTo>
                  <a:pt x="3338246" y="4582576"/>
                </a:lnTo>
                <a:lnTo>
                  <a:pt x="3348539" y="4605460"/>
                </a:lnTo>
                <a:lnTo>
                  <a:pt x="3345760" y="4678575"/>
                </a:lnTo>
                <a:lnTo>
                  <a:pt x="3356250" y="4713574"/>
                </a:lnTo>
                <a:cubicBezTo>
                  <a:pt x="3358600" y="4727943"/>
                  <a:pt x="3359577" y="4741820"/>
                  <a:pt x="3361380" y="4755215"/>
                </a:cubicBezTo>
                <a:cubicBezTo>
                  <a:pt x="3363928" y="4785596"/>
                  <a:pt x="3347531" y="4766123"/>
                  <a:pt x="3361636" y="4803525"/>
                </a:cubicBezTo>
                <a:cubicBezTo>
                  <a:pt x="3356254" y="4807867"/>
                  <a:pt x="3356117" y="4812705"/>
                  <a:pt x="3358957" y="4820729"/>
                </a:cubicBezTo>
                <a:cubicBezTo>
                  <a:pt x="3359783" y="4835507"/>
                  <a:pt x="3345952" y="4834947"/>
                  <a:pt x="3354635" y="4849546"/>
                </a:cubicBezTo>
                <a:cubicBezTo>
                  <a:pt x="3350894" y="4848362"/>
                  <a:pt x="3350351" y="4855411"/>
                  <a:pt x="3349759" y="4861941"/>
                </a:cubicBezTo>
                <a:lnTo>
                  <a:pt x="3347368" y="4866228"/>
                </a:lnTo>
                <a:lnTo>
                  <a:pt x="3358408" y="4889535"/>
                </a:lnTo>
                <a:cubicBezTo>
                  <a:pt x="3373705" y="4931282"/>
                  <a:pt x="3382233" y="4982216"/>
                  <a:pt x="3393319" y="5017998"/>
                </a:cubicBezTo>
                <a:cubicBezTo>
                  <a:pt x="3368256" y="5040241"/>
                  <a:pt x="3392200" y="5029364"/>
                  <a:pt x="3389184" y="5055049"/>
                </a:cubicBezTo>
                <a:cubicBezTo>
                  <a:pt x="3413510" y="5050695"/>
                  <a:pt x="3377700" y="5085342"/>
                  <a:pt x="3405892" y="5089973"/>
                </a:cubicBezTo>
                <a:cubicBezTo>
                  <a:pt x="3404451" y="5094499"/>
                  <a:pt x="3402165" y="5098741"/>
                  <a:pt x="3399662" y="5102960"/>
                </a:cubicBezTo>
                <a:lnTo>
                  <a:pt x="3398363" y="5105176"/>
                </a:lnTo>
                <a:lnTo>
                  <a:pt x="3398026" y="5114590"/>
                </a:lnTo>
                <a:lnTo>
                  <a:pt x="3391859" y="5116550"/>
                </a:lnTo>
                <a:lnTo>
                  <a:pt x="3386999" y="5130226"/>
                </a:lnTo>
                <a:cubicBezTo>
                  <a:pt x="3386119" y="5135455"/>
                  <a:pt x="3386267" y="5141205"/>
                  <a:pt x="3388073" y="5147747"/>
                </a:cubicBezTo>
                <a:cubicBezTo>
                  <a:pt x="3400425" y="5164741"/>
                  <a:pt x="3388688" y="5187675"/>
                  <a:pt x="3391234" y="5209919"/>
                </a:cubicBezTo>
                <a:lnTo>
                  <a:pt x="3395469" y="5220481"/>
                </a:lnTo>
                <a:lnTo>
                  <a:pt x="3392518" y="5250830"/>
                </a:lnTo>
                <a:lnTo>
                  <a:pt x="3393800" y="5252877"/>
                </a:lnTo>
                <a:cubicBezTo>
                  <a:pt x="3393941" y="5258188"/>
                  <a:pt x="3392357" y="5268832"/>
                  <a:pt x="3393361" y="5282697"/>
                </a:cubicBezTo>
                <a:lnTo>
                  <a:pt x="3399825" y="5336059"/>
                </a:lnTo>
                <a:lnTo>
                  <a:pt x="3392824" y="5344884"/>
                </a:lnTo>
                <a:lnTo>
                  <a:pt x="3389277" y="5345998"/>
                </a:lnTo>
                <a:lnTo>
                  <a:pt x="3390946" y="5360636"/>
                </a:lnTo>
                <a:lnTo>
                  <a:pt x="3386366" y="5371486"/>
                </a:lnTo>
                <a:lnTo>
                  <a:pt x="3390662" y="5381496"/>
                </a:lnTo>
                <a:lnTo>
                  <a:pt x="3388199" y="5395290"/>
                </a:lnTo>
                <a:cubicBezTo>
                  <a:pt x="3386677" y="5400263"/>
                  <a:pt x="3384810" y="5405812"/>
                  <a:pt x="3383455" y="5412069"/>
                </a:cubicBezTo>
                <a:lnTo>
                  <a:pt x="3376345" y="5426008"/>
                </a:lnTo>
                <a:lnTo>
                  <a:pt x="3374012" y="5448470"/>
                </a:lnTo>
                <a:cubicBezTo>
                  <a:pt x="3372358" y="5465848"/>
                  <a:pt x="3370199" y="5482458"/>
                  <a:pt x="3365299" y="5498771"/>
                </a:cubicBezTo>
                <a:cubicBezTo>
                  <a:pt x="3368242" y="5512292"/>
                  <a:pt x="3368289" y="5524931"/>
                  <a:pt x="3358774" y="5536815"/>
                </a:cubicBezTo>
                <a:cubicBezTo>
                  <a:pt x="3355554" y="5573082"/>
                  <a:pt x="3364982" y="5582256"/>
                  <a:pt x="3352897" y="5604851"/>
                </a:cubicBezTo>
                <a:cubicBezTo>
                  <a:pt x="3357655" y="5611851"/>
                  <a:pt x="3360065" y="5616619"/>
                  <a:pt x="3360918" y="5620215"/>
                </a:cubicBezTo>
                <a:cubicBezTo>
                  <a:pt x="3363482" y="5631010"/>
                  <a:pt x="3352061" y="5631235"/>
                  <a:pt x="3348145" y="5649365"/>
                </a:cubicBezTo>
                <a:cubicBezTo>
                  <a:pt x="3342329" y="5668683"/>
                  <a:pt x="3336842" y="5635583"/>
                  <a:pt x="3334135" y="5654076"/>
                </a:cubicBezTo>
                <a:cubicBezTo>
                  <a:pt x="3338089" y="5673079"/>
                  <a:pt x="3320876" y="5674673"/>
                  <a:pt x="3326011" y="5694285"/>
                </a:cubicBezTo>
                <a:cubicBezTo>
                  <a:pt x="3339441" y="5687377"/>
                  <a:pt x="3320185" y="5735320"/>
                  <a:pt x="3331448" y="5735077"/>
                </a:cubicBezTo>
                <a:cubicBezTo>
                  <a:pt x="3313758" y="5754960"/>
                  <a:pt x="3333086" y="5760823"/>
                  <a:pt x="3326180" y="5784860"/>
                </a:cubicBezTo>
                <a:cubicBezTo>
                  <a:pt x="3319129" y="5796737"/>
                  <a:pt x="3317432" y="5804806"/>
                  <a:pt x="3323175" y="5814629"/>
                </a:cubicBezTo>
                <a:cubicBezTo>
                  <a:pt x="3289103" y="5869565"/>
                  <a:pt x="3319352" y="5845410"/>
                  <a:pt x="3303983" y="5894405"/>
                </a:cubicBezTo>
                <a:lnTo>
                  <a:pt x="3302615" y="5898375"/>
                </a:lnTo>
                <a:lnTo>
                  <a:pt x="3305988" y="5914019"/>
                </a:lnTo>
                <a:cubicBezTo>
                  <a:pt x="3306566" y="5914416"/>
                  <a:pt x="3307142" y="5914813"/>
                  <a:pt x="3307720" y="5915209"/>
                </a:cubicBezTo>
                <a:lnTo>
                  <a:pt x="3288942" y="5962966"/>
                </a:lnTo>
                <a:lnTo>
                  <a:pt x="3289995" y="5969791"/>
                </a:lnTo>
                <a:lnTo>
                  <a:pt x="3273219" y="6000303"/>
                </a:lnTo>
                <a:lnTo>
                  <a:pt x="3266971" y="6016394"/>
                </a:lnTo>
                <a:lnTo>
                  <a:pt x="3258268" y="6034498"/>
                </a:lnTo>
                <a:lnTo>
                  <a:pt x="3262376" y="6046147"/>
                </a:lnTo>
                <a:cubicBezTo>
                  <a:pt x="3269023" y="6073717"/>
                  <a:pt x="3250846" y="6118951"/>
                  <a:pt x="3274161" y="6127097"/>
                </a:cubicBezTo>
                <a:cubicBezTo>
                  <a:pt x="3261055" y="6140796"/>
                  <a:pt x="3284255" y="6151240"/>
                  <a:pt x="3287116" y="6165061"/>
                </a:cubicBezTo>
                <a:cubicBezTo>
                  <a:pt x="3278972" y="6176795"/>
                  <a:pt x="3286959" y="6181809"/>
                  <a:pt x="3289289" y="6191816"/>
                </a:cubicBezTo>
                <a:cubicBezTo>
                  <a:pt x="3284123" y="6196765"/>
                  <a:pt x="3284941" y="6205311"/>
                  <a:pt x="3291517" y="6207797"/>
                </a:cubicBezTo>
                <a:cubicBezTo>
                  <a:pt x="3306003" y="6202672"/>
                  <a:pt x="3300501" y="6232914"/>
                  <a:pt x="3310808" y="6234442"/>
                </a:cubicBezTo>
                <a:cubicBezTo>
                  <a:pt x="3314005" y="6251566"/>
                  <a:pt x="3305763" y="6327405"/>
                  <a:pt x="3322832" y="6339012"/>
                </a:cubicBezTo>
                <a:cubicBezTo>
                  <a:pt x="3332735" y="6373401"/>
                  <a:pt x="3309981" y="6425589"/>
                  <a:pt x="3311360" y="6440393"/>
                </a:cubicBezTo>
                <a:cubicBezTo>
                  <a:pt x="3282540" y="6457108"/>
                  <a:pt x="3365374" y="6523495"/>
                  <a:pt x="3370963" y="6586374"/>
                </a:cubicBezTo>
                <a:cubicBezTo>
                  <a:pt x="3368621" y="6595055"/>
                  <a:pt x="3368943" y="6599590"/>
                  <a:pt x="3375863" y="6601412"/>
                </a:cubicBezTo>
                <a:cubicBezTo>
                  <a:pt x="3380798" y="6617525"/>
                  <a:pt x="3389212" y="6649404"/>
                  <a:pt x="3400578" y="6683057"/>
                </a:cubicBezTo>
                <a:cubicBezTo>
                  <a:pt x="3408645" y="6705148"/>
                  <a:pt x="3410628" y="6805370"/>
                  <a:pt x="3417831" y="6852700"/>
                </a:cubicBezTo>
                <a:lnTo>
                  <a:pt x="3418926" y="6858000"/>
                </a:lnTo>
                <a:lnTo>
                  <a:pt x="0" y="6858000"/>
                </a:lnTo>
                <a:close/>
              </a:path>
            </a:pathLst>
          </a:custGeom>
        </p:spPr>
      </p:pic>
    </p:spTree>
    <p:extLst>
      <p:ext uri="{BB962C8B-B14F-4D97-AF65-F5344CB8AC3E}">
        <p14:creationId xmlns:p14="http://schemas.microsoft.com/office/powerpoint/2010/main" val="1990881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rmAutofit/>
          </a:bodyPr>
          <a:lstStyle/>
          <a:p>
            <a:r>
              <a:rPr lang="en-US" dirty="0"/>
              <a:t>Agenda</a:t>
            </a:r>
          </a:p>
        </p:txBody>
      </p:sp>
      <p:graphicFrame>
        <p:nvGraphicFramePr>
          <p:cNvPr id="16" name="Content Placeholder 13">
            <a:extLst>
              <a:ext uri="{FF2B5EF4-FFF2-40B4-BE49-F238E27FC236}">
                <a16:creationId xmlns:a16="http://schemas.microsoft.com/office/drawing/2014/main" id="{B848B1E7-D0D0-C95C-BE38-A26561B3A85D}"/>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extBox 6">
            <a:extLst>
              <a:ext uri="{FF2B5EF4-FFF2-40B4-BE49-F238E27FC236}">
                <a16:creationId xmlns:a16="http://schemas.microsoft.com/office/drawing/2014/main" id="{46BB4C14-FCCF-EA6C-2573-BD5B1FAD8A64}"/>
              </a:ext>
            </a:extLst>
          </p:cNvPr>
          <p:cNvSpPr txBox="1"/>
          <p:nvPr/>
        </p:nvSpPr>
        <p:spPr>
          <a:xfrm>
            <a:off x="3083242" y="681037"/>
            <a:ext cx="7923847" cy="646331"/>
          </a:xfrm>
          <a:prstGeom prst="rect">
            <a:avLst/>
          </a:prstGeom>
          <a:noFill/>
          <a:ln>
            <a:solidFill>
              <a:schemeClr val="tx2"/>
            </a:solidFill>
          </a:ln>
        </p:spPr>
        <p:txBody>
          <a:bodyPr wrap="square">
            <a:spAutoFit/>
          </a:bodyPr>
          <a:lstStyle/>
          <a:p>
            <a:r>
              <a:rPr lang="en-US" dirty="0"/>
              <a:t>https://www.analyticsvidhya.com/blog/2023/10/hugging-face-fine-tuning-tutorial/</a:t>
            </a:r>
          </a:p>
        </p:txBody>
      </p:sp>
      <p:sp>
        <p:nvSpPr>
          <p:cNvPr id="2" name="TextBox 1">
            <a:extLst>
              <a:ext uri="{FF2B5EF4-FFF2-40B4-BE49-F238E27FC236}">
                <a16:creationId xmlns:a16="http://schemas.microsoft.com/office/drawing/2014/main" id="{0E2990A9-2414-6AF0-B864-CD5EA72F0CEF}"/>
              </a:ext>
            </a:extLst>
          </p:cNvPr>
          <p:cNvSpPr txBox="1"/>
          <p:nvPr/>
        </p:nvSpPr>
        <p:spPr>
          <a:xfrm>
            <a:off x="3083243" y="180459"/>
            <a:ext cx="7923846" cy="369332"/>
          </a:xfrm>
          <a:prstGeom prst="rect">
            <a:avLst/>
          </a:prstGeom>
          <a:noFill/>
          <a:ln>
            <a:solidFill>
              <a:schemeClr val="tx2"/>
            </a:solidFill>
          </a:ln>
        </p:spPr>
        <p:txBody>
          <a:bodyPr wrap="square">
            <a:spAutoFit/>
          </a:bodyPr>
          <a:lstStyle/>
          <a:p>
            <a:r>
              <a:rPr lang="en-US" dirty="0"/>
              <a:t>https://www.llama.com/docs/how-to-guides/fine-tuning/</a:t>
            </a:r>
          </a:p>
        </p:txBody>
      </p:sp>
    </p:spTree>
    <p:extLst>
      <p:ext uri="{BB962C8B-B14F-4D97-AF65-F5344CB8AC3E}">
        <p14:creationId xmlns:p14="http://schemas.microsoft.com/office/powerpoint/2010/main" val="566857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BF3731-0E07-8027-B814-12CCBF3F6AEE}"/>
              </a:ext>
            </a:extLst>
          </p:cNvPr>
          <p:cNvSpPr>
            <a:spLocks noGrp="1"/>
          </p:cNvSpPr>
          <p:nvPr>
            <p:ph type="title"/>
          </p:nvPr>
        </p:nvSpPr>
        <p:spPr>
          <a:xfrm>
            <a:off x="841248" y="256032"/>
            <a:ext cx="10506456" cy="1014984"/>
          </a:xfrm>
        </p:spPr>
        <p:txBody>
          <a:bodyPr anchor="b">
            <a:normAutofit/>
          </a:bodyPr>
          <a:lstStyle/>
          <a:p>
            <a:r>
              <a:rPr lang="en-US" dirty="0"/>
              <a:t>What is fine tuning?</a:t>
            </a:r>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F8062872-A100-E805-34F2-AD6400F1D509}"/>
              </a:ext>
            </a:extLst>
          </p:cNvPr>
          <p:cNvGraphicFramePr>
            <a:graphicFrameLocks noGrp="1"/>
          </p:cNvGraphicFramePr>
          <p:nvPr>
            <p:ph idx="1"/>
            <p:extLst>
              <p:ext uri="{D42A27DB-BD31-4B8C-83A1-F6EECF244321}">
                <p14:modId xmlns:p14="http://schemas.microsoft.com/office/powerpoint/2010/main" val="1275970080"/>
              </p:ext>
            </p:extLst>
          </p:nvPr>
        </p:nvGraphicFramePr>
        <p:xfrm>
          <a:off x="217170" y="1818824"/>
          <a:ext cx="11681460" cy="46551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193613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9FF99BD-075F-4761-A995-6FC574BD25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7B21A54-9BA3-4EA9-B460-5A829ADD90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FA8F714-B9D8-488A-8CCA-E9948FF913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6" y="643468"/>
            <a:ext cx="10905067" cy="557106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8AE0F9DD-9548-5D00-45C5-4FB6045A5A47}"/>
              </a:ext>
            </a:extLst>
          </p:cNvPr>
          <p:cNvPicPr>
            <a:picLocks noChangeAspect="1"/>
          </p:cNvPicPr>
          <p:nvPr/>
        </p:nvPicPr>
        <p:blipFill>
          <a:blip r:embed="rId2"/>
          <a:stretch>
            <a:fillRect/>
          </a:stretch>
        </p:blipFill>
        <p:spPr>
          <a:xfrm>
            <a:off x="1120477" y="1560107"/>
            <a:ext cx="9951041" cy="3731639"/>
          </a:xfrm>
          <a:prstGeom prst="rect">
            <a:avLst/>
          </a:prstGeom>
        </p:spPr>
      </p:pic>
    </p:spTree>
    <p:extLst>
      <p:ext uri="{BB962C8B-B14F-4D97-AF65-F5344CB8AC3E}">
        <p14:creationId xmlns:p14="http://schemas.microsoft.com/office/powerpoint/2010/main" val="15612038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9FF99BD-075F-4761-A995-6FC574BD25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7B21A54-9BA3-4EA9-B460-5A829ADD90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FA8F714-B9D8-488A-8CCA-E9948FF913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6" y="643468"/>
            <a:ext cx="10905067" cy="557106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D055E855-DA53-3A6F-2BA4-B41E7BCA829F}"/>
              </a:ext>
            </a:extLst>
          </p:cNvPr>
          <p:cNvPicPr>
            <a:picLocks noChangeAspect="1"/>
          </p:cNvPicPr>
          <p:nvPr/>
        </p:nvPicPr>
        <p:blipFill>
          <a:blip r:embed="rId2"/>
          <a:stretch>
            <a:fillRect/>
          </a:stretch>
        </p:blipFill>
        <p:spPr>
          <a:xfrm>
            <a:off x="1444684" y="1123527"/>
            <a:ext cx="9302627" cy="4604800"/>
          </a:xfrm>
          <a:prstGeom prst="rect">
            <a:avLst/>
          </a:prstGeom>
          <a:noFill/>
        </p:spPr>
      </p:pic>
    </p:spTree>
    <p:extLst>
      <p:ext uri="{BB962C8B-B14F-4D97-AF65-F5344CB8AC3E}">
        <p14:creationId xmlns:p14="http://schemas.microsoft.com/office/powerpoint/2010/main" val="22753171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4AD1F68-3FE5-EAAD-69A6-BBCBA2A6B4E9}"/>
              </a:ext>
            </a:extLst>
          </p:cNvPr>
          <p:cNvSpPr txBox="1"/>
          <p:nvPr/>
        </p:nvSpPr>
        <p:spPr>
          <a:xfrm>
            <a:off x="708660" y="1773739"/>
            <a:ext cx="10046970" cy="3951723"/>
          </a:xfrm>
          <a:prstGeom prst="rect">
            <a:avLst/>
          </a:prstGeom>
          <a:noFill/>
        </p:spPr>
        <p:txBody>
          <a:bodyPr wrap="square">
            <a:spAutoFit/>
          </a:bodyPr>
          <a:lstStyle/>
          <a:p>
            <a:pPr>
              <a:lnSpc>
                <a:spcPts val="2475"/>
              </a:lnSpc>
              <a:buNone/>
            </a:pPr>
            <a:r>
              <a:rPr lang="en-US" sz="2400" b="0" dirty="0">
                <a:solidFill>
                  <a:srgbClr val="9723B4"/>
                </a:solidFill>
                <a:effectLst/>
                <a:latin typeface="Courier New" panose="02070309020205020404" pitchFamily="49" charset="0"/>
              </a:rPr>
              <a:t>#PEFT.ipynb</a:t>
            </a:r>
          </a:p>
          <a:p>
            <a:pPr>
              <a:lnSpc>
                <a:spcPts val="2475"/>
              </a:lnSpc>
              <a:buNone/>
            </a:pPr>
            <a:endParaRPr lang="en-US" sz="2400" dirty="0">
              <a:solidFill>
                <a:srgbClr val="9723B4"/>
              </a:solidFill>
              <a:latin typeface="Courier New" panose="02070309020205020404" pitchFamily="49" charset="0"/>
            </a:endParaRPr>
          </a:p>
          <a:p>
            <a:pPr>
              <a:lnSpc>
                <a:spcPts val="2475"/>
              </a:lnSpc>
              <a:buNone/>
            </a:pPr>
            <a:r>
              <a:rPr lang="en-US" sz="2400" b="0" dirty="0">
                <a:solidFill>
                  <a:srgbClr val="9723B4"/>
                </a:solidFill>
                <a:effectLst/>
                <a:latin typeface="Courier New" panose="02070309020205020404" pitchFamily="49" charset="0"/>
              </a:rPr>
              <a:t>import</a:t>
            </a:r>
            <a:r>
              <a:rPr lang="en-US" sz="2400" b="0" dirty="0">
                <a:solidFill>
                  <a:srgbClr val="000000"/>
                </a:solidFill>
                <a:effectLst/>
                <a:latin typeface="Courier New" panose="02070309020205020404" pitchFamily="49" charset="0"/>
              </a:rPr>
              <a:t> torch</a:t>
            </a:r>
          </a:p>
          <a:p>
            <a:pPr>
              <a:lnSpc>
                <a:spcPts val="2475"/>
              </a:lnSpc>
              <a:buNone/>
            </a:pPr>
            <a:endParaRPr lang="en-US" sz="2400" b="0" dirty="0">
              <a:solidFill>
                <a:srgbClr val="000000"/>
              </a:solidFill>
              <a:effectLst/>
              <a:latin typeface="Courier New" panose="02070309020205020404" pitchFamily="49" charset="0"/>
            </a:endParaRPr>
          </a:p>
          <a:p>
            <a:pPr>
              <a:lnSpc>
                <a:spcPts val="2475"/>
              </a:lnSpc>
              <a:buNone/>
            </a:pPr>
            <a:r>
              <a:rPr lang="en-US" sz="2400" b="0" dirty="0">
                <a:solidFill>
                  <a:srgbClr val="9723B4"/>
                </a:solidFill>
                <a:effectLst/>
                <a:latin typeface="Courier New" panose="02070309020205020404" pitchFamily="49" charset="0"/>
              </a:rPr>
              <a:t>from</a:t>
            </a:r>
            <a:r>
              <a:rPr lang="en-US" sz="2400" b="0" dirty="0">
                <a:solidFill>
                  <a:srgbClr val="000000"/>
                </a:solidFill>
                <a:effectLst/>
                <a:latin typeface="Courier New" panose="02070309020205020404" pitchFamily="49" charset="0"/>
              </a:rPr>
              <a:t> transformers </a:t>
            </a:r>
            <a:r>
              <a:rPr lang="en-US" sz="2400" b="0" dirty="0">
                <a:solidFill>
                  <a:srgbClr val="9723B4"/>
                </a:solidFill>
                <a:effectLst/>
                <a:latin typeface="Courier New" panose="02070309020205020404" pitchFamily="49" charset="0"/>
              </a:rPr>
              <a:t>import</a:t>
            </a:r>
            <a:r>
              <a:rPr lang="en-US" sz="2400" b="0" dirty="0">
                <a:solidFill>
                  <a:srgbClr val="000000"/>
                </a:solidFill>
                <a:effectLst/>
                <a:latin typeface="Courier New" panose="02070309020205020404" pitchFamily="49" charset="0"/>
              </a:rPr>
              <a:t> </a:t>
            </a:r>
            <a:r>
              <a:rPr lang="en-US" sz="2400" b="0" dirty="0" err="1">
                <a:solidFill>
                  <a:srgbClr val="000000"/>
                </a:solidFill>
                <a:effectLst/>
                <a:latin typeface="Courier New" panose="02070309020205020404" pitchFamily="49" charset="0"/>
              </a:rPr>
              <a:t>AutoModelForCausalLM</a:t>
            </a:r>
            <a:r>
              <a:rPr lang="en-US" sz="2400" b="0" dirty="0">
                <a:solidFill>
                  <a:srgbClr val="000000"/>
                </a:solidFill>
                <a:effectLst/>
                <a:latin typeface="Courier New" panose="02070309020205020404" pitchFamily="49" charset="0"/>
              </a:rPr>
              <a:t>, </a:t>
            </a:r>
            <a:r>
              <a:rPr lang="en-US" sz="2400" b="0" dirty="0" err="1">
                <a:solidFill>
                  <a:srgbClr val="000000"/>
                </a:solidFill>
                <a:effectLst/>
                <a:latin typeface="Courier New" panose="02070309020205020404" pitchFamily="49" charset="0"/>
              </a:rPr>
              <a:t>AutoTokenizer</a:t>
            </a:r>
            <a:endParaRPr lang="en-US" sz="2400" b="0" dirty="0">
              <a:solidFill>
                <a:srgbClr val="000000"/>
              </a:solidFill>
              <a:effectLst/>
              <a:latin typeface="Courier New" panose="02070309020205020404" pitchFamily="49" charset="0"/>
            </a:endParaRPr>
          </a:p>
          <a:p>
            <a:pPr>
              <a:lnSpc>
                <a:spcPts val="2475"/>
              </a:lnSpc>
              <a:buNone/>
            </a:pPr>
            <a:r>
              <a:rPr lang="en-US" sz="2400" b="0" dirty="0" err="1">
                <a:solidFill>
                  <a:srgbClr val="000000"/>
                </a:solidFill>
                <a:effectLst/>
                <a:latin typeface="Courier New" panose="02070309020205020404" pitchFamily="49" charset="0"/>
              </a:rPr>
              <a:t>model_id</a:t>
            </a:r>
            <a:r>
              <a:rPr lang="en-US" sz="2400" b="0" dirty="0">
                <a:solidFill>
                  <a:srgbClr val="000000"/>
                </a:solidFill>
                <a:effectLst/>
                <a:latin typeface="Courier New" panose="02070309020205020404" pitchFamily="49" charset="0"/>
              </a:rPr>
              <a:t> = </a:t>
            </a:r>
            <a:r>
              <a:rPr lang="en-US" sz="2400" b="0" dirty="0">
                <a:solidFill>
                  <a:srgbClr val="A31515"/>
                </a:solidFill>
                <a:effectLst/>
                <a:latin typeface="Courier New" panose="02070309020205020404" pitchFamily="49" charset="0"/>
              </a:rPr>
              <a:t>"Qwen/Qwen2.5-3B-Instruct"</a:t>
            </a:r>
            <a:endParaRPr lang="en-US" sz="2400" b="0" dirty="0">
              <a:solidFill>
                <a:srgbClr val="000000"/>
              </a:solidFill>
              <a:effectLst/>
              <a:latin typeface="Courier New" panose="02070309020205020404" pitchFamily="49" charset="0"/>
            </a:endParaRPr>
          </a:p>
          <a:p>
            <a:pPr>
              <a:lnSpc>
                <a:spcPts val="2475"/>
              </a:lnSpc>
              <a:buNone/>
            </a:pPr>
            <a:r>
              <a:rPr lang="en-US" sz="2400" b="0" dirty="0">
                <a:solidFill>
                  <a:srgbClr val="000000"/>
                </a:solidFill>
                <a:effectLst/>
                <a:latin typeface="Courier New" panose="02070309020205020404" pitchFamily="49" charset="0"/>
              </a:rPr>
              <a:t>tokenizer = </a:t>
            </a:r>
            <a:r>
              <a:rPr lang="en-US" sz="2400" b="0" dirty="0" err="1">
                <a:solidFill>
                  <a:srgbClr val="000000"/>
                </a:solidFill>
                <a:effectLst/>
                <a:latin typeface="Courier New" panose="02070309020205020404" pitchFamily="49" charset="0"/>
              </a:rPr>
              <a:t>AutoTokenizer.from_pretrained</a:t>
            </a:r>
            <a:r>
              <a:rPr lang="en-US" sz="2400" b="0" dirty="0">
                <a:solidFill>
                  <a:srgbClr val="000000"/>
                </a:solidFill>
                <a:effectLst/>
                <a:latin typeface="Courier New" panose="02070309020205020404" pitchFamily="49" charset="0"/>
              </a:rPr>
              <a:t>(</a:t>
            </a:r>
            <a:r>
              <a:rPr lang="en-US" sz="2400" b="0" dirty="0" err="1">
                <a:solidFill>
                  <a:srgbClr val="000000"/>
                </a:solidFill>
                <a:effectLst/>
                <a:latin typeface="Courier New" panose="02070309020205020404" pitchFamily="49" charset="0"/>
              </a:rPr>
              <a:t>model_id</a:t>
            </a:r>
            <a:r>
              <a:rPr lang="en-US" sz="2400" b="0" dirty="0">
                <a:solidFill>
                  <a:srgbClr val="000000"/>
                </a:solidFill>
                <a:effectLst/>
                <a:latin typeface="Courier New" panose="02070309020205020404" pitchFamily="49" charset="0"/>
              </a:rPr>
              <a:t>)</a:t>
            </a:r>
          </a:p>
          <a:p>
            <a:pPr>
              <a:lnSpc>
                <a:spcPts val="2475"/>
              </a:lnSpc>
              <a:buNone/>
            </a:pPr>
            <a:r>
              <a:rPr lang="en-US" sz="2400" b="0" dirty="0">
                <a:solidFill>
                  <a:srgbClr val="000000"/>
                </a:solidFill>
                <a:effectLst/>
                <a:latin typeface="Courier New" panose="02070309020205020404" pitchFamily="49" charset="0"/>
              </a:rPr>
              <a:t>model = </a:t>
            </a:r>
            <a:r>
              <a:rPr lang="en-US" sz="2400" b="0" dirty="0" err="1">
                <a:solidFill>
                  <a:srgbClr val="000000"/>
                </a:solidFill>
                <a:effectLst/>
                <a:latin typeface="Courier New" panose="02070309020205020404" pitchFamily="49" charset="0"/>
              </a:rPr>
              <a:t>AutoModelForCausalLM.from_pretrained</a:t>
            </a:r>
            <a:r>
              <a:rPr lang="en-US" sz="2400" b="0" dirty="0">
                <a:solidFill>
                  <a:srgbClr val="000000"/>
                </a:solidFill>
                <a:effectLst/>
                <a:latin typeface="Courier New" panose="02070309020205020404" pitchFamily="49" charset="0"/>
              </a:rPr>
              <a:t>(</a:t>
            </a:r>
          </a:p>
          <a:p>
            <a:pPr>
              <a:lnSpc>
                <a:spcPts val="2475"/>
              </a:lnSpc>
              <a:buNone/>
            </a:pPr>
            <a:r>
              <a:rPr lang="en-US" sz="2400" b="0" dirty="0">
                <a:solidFill>
                  <a:srgbClr val="000000"/>
                </a:solidFill>
                <a:effectLst/>
                <a:latin typeface="Courier New" panose="02070309020205020404" pitchFamily="49" charset="0"/>
              </a:rPr>
              <a:t>    </a:t>
            </a:r>
            <a:r>
              <a:rPr lang="en-US" sz="2400" b="0" dirty="0" err="1">
                <a:solidFill>
                  <a:srgbClr val="000000"/>
                </a:solidFill>
                <a:effectLst/>
                <a:latin typeface="Courier New" panose="02070309020205020404" pitchFamily="49" charset="0"/>
              </a:rPr>
              <a:t>model_id</a:t>
            </a:r>
            <a:r>
              <a:rPr lang="en-US" sz="2400" b="0" dirty="0">
                <a:solidFill>
                  <a:srgbClr val="000000"/>
                </a:solidFill>
                <a:effectLst/>
                <a:latin typeface="Courier New" panose="02070309020205020404" pitchFamily="49" charset="0"/>
              </a:rPr>
              <a:t>,</a:t>
            </a:r>
          </a:p>
          <a:p>
            <a:pPr>
              <a:lnSpc>
                <a:spcPts val="2475"/>
              </a:lnSpc>
              <a:buNone/>
            </a:pPr>
            <a:r>
              <a:rPr lang="en-US" sz="2400" b="0" dirty="0">
                <a:solidFill>
                  <a:srgbClr val="000000"/>
                </a:solidFill>
                <a:effectLst/>
                <a:latin typeface="Courier New" panose="02070309020205020404" pitchFamily="49" charset="0"/>
              </a:rPr>
              <a:t>    </a:t>
            </a:r>
            <a:r>
              <a:rPr lang="en-US" sz="2400" b="0" dirty="0" err="1">
                <a:solidFill>
                  <a:srgbClr val="000000"/>
                </a:solidFill>
                <a:effectLst/>
                <a:latin typeface="Courier New" panose="02070309020205020404" pitchFamily="49" charset="0"/>
              </a:rPr>
              <a:t>device_map</a:t>
            </a:r>
            <a:r>
              <a:rPr lang="en-US" sz="2400" b="0" dirty="0">
                <a:solidFill>
                  <a:srgbClr val="000000"/>
                </a:solidFill>
                <a:effectLst/>
                <a:latin typeface="Courier New" panose="02070309020205020404" pitchFamily="49" charset="0"/>
              </a:rPr>
              <a:t>=</a:t>
            </a:r>
            <a:r>
              <a:rPr lang="en-US" sz="2400" b="0" dirty="0">
                <a:solidFill>
                  <a:srgbClr val="A31515"/>
                </a:solidFill>
                <a:effectLst/>
                <a:latin typeface="Courier New" panose="02070309020205020404" pitchFamily="49" charset="0"/>
              </a:rPr>
              <a:t>"auto"</a:t>
            </a:r>
            <a:endParaRPr lang="en-US" sz="2400" b="0" dirty="0">
              <a:solidFill>
                <a:srgbClr val="000000"/>
              </a:solidFill>
              <a:effectLst/>
              <a:latin typeface="Courier New" panose="02070309020205020404" pitchFamily="49" charset="0"/>
            </a:endParaRPr>
          </a:p>
          <a:p>
            <a:pPr>
              <a:lnSpc>
                <a:spcPts val="2475"/>
              </a:lnSpc>
              <a:buNone/>
            </a:pPr>
            <a:r>
              <a:rPr lang="en-US" sz="2400" b="0" dirty="0">
                <a:solidFill>
                  <a:srgbClr val="000000"/>
                </a:solidFill>
                <a:effectLst/>
                <a:latin typeface="Courier New" panose="02070309020205020404" pitchFamily="49" charset="0"/>
              </a:rPr>
              <a:t>)</a:t>
            </a:r>
          </a:p>
        </p:txBody>
      </p:sp>
    </p:spTree>
    <p:extLst>
      <p:ext uri="{BB962C8B-B14F-4D97-AF65-F5344CB8AC3E}">
        <p14:creationId xmlns:p14="http://schemas.microsoft.com/office/powerpoint/2010/main" val="9110211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F6649C3-CD94-D3AA-E3B1-4F85996B936A}"/>
              </a:ext>
            </a:extLst>
          </p:cNvPr>
          <p:cNvSpPr txBox="1"/>
          <p:nvPr/>
        </p:nvSpPr>
        <p:spPr>
          <a:xfrm>
            <a:off x="318135" y="556105"/>
            <a:ext cx="11555730" cy="5867632"/>
          </a:xfrm>
          <a:prstGeom prst="rect">
            <a:avLst/>
          </a:prstGeom>
          <a:noFill/>
        </p:spPr>
        <p:txBody>
          <a:bodyPr wrap="square">
            <a:spAutoFit/>
          </a:bodyPr>
          <a:lstStyle/>
          <a:p>
            <a:pPr>
              <a:lnSpc>
                <a:spcPts val="2475"/>
              </a:lnSpc>
              <a:buNone/>
            </a:pPr>
            <a:r>
              <a:rPr lang="en-US" sz="2200" b="0" dirty="0">
                <a:solidFill>
                  <a:srgbClr val="9723B4"/>
                </a:solidFill>
                <a:effectLst/>
                <a:latin typeface="Courier New" panose="02070309020205020404" pitchFamily="49" charset="0"/>
              </a:rPr>
              <a:t>from</a:t>
            </a:r>
            <a:r>
              <a:rPr lang="en-US" sz="2200" b="0" dirty="0">
                <a:solidFill>
                  <a:srgbClr val="000000"/>
                </a:solidFill>
                <a:effectLst/>
                <a:latin typeface="Courier New" panose="02070309020205020404" pitchFamily="49" charset="0"/>
              </a:rPr>
              <a:t> transformers </a:t>
            </a:r>
            <a:r>
              <a:rPr lang="en-US" sz="2200" b="0" dirty="0">
                <a:solidFill>
                  <a:srgbClr val="9723B4"/>
                </a:solidFill>
                <a:effectLst/>
                <a:latin typeface="Courier New" panose="02070309020205020404" pitchFamily="49" charset="0"/>
              </a:rPr>
              <a:t>import</a:t>
            </a:r>
            <a:r>
              <a:rPr lang="en-US" sz="2200" b="0" dirty="0">
                <a:solidFill>
                  <a:srgbClr val="000000"/>
                </a:solidFill>
                <a:effectLst/>
                <a:latin typeface="Courier New" panose="02070309020205020404" pitchFamily="49" charset="0"/>
              </a:rPr>
              <a:t> </a:t>
            </a:r>
            <a:r>
              <a:rPr lang="en-US" sz="2200" b="0" dirty="0" err="1">
                <a:solidFill>
                  <a:srgbClr val="000000"/>
                </a:solidFill>
                <a:effectLst/>
                <a:latin typeface="Courier New" panose="02070309020205020404" pitchFamily="49" charset="0"/>
              </a:rPr>
              <a:t>AutoModelForCausalLM</a:t>
            </a:r>
            <a:endParaRPr lang="en-US" sz="2200" b="0" dirty="0">
              <a:solidFill>
                <a:srgbClr val="000000"/>
              </a:solidFill>
              <a:effectLst/>
              <a:latin typeface="Courier New" panose="02070309020205020404" pitchFamily="49" charset="0"/>
            </a:endParaRPr>
          </a:p>
          <a:p>
            <a:pPr>
              <a:lnSpc>
                <a:spcPts val="2475"/>
              </a:lnSpc>
              <a:buNone/>
            </a:pPr>
            <a:r>
              <a:rPr lang="en-US" sz="2200" b="0" dirty="0">
                <a:solidFill>
                  <a:srgbClr val="9723B4"/>
                </a:solidFill>
                <a:effectLst/>
                <a:latin typeface="Courier New" panose="02070309020205020404" pitchFamily="49" charset="0"/>
              </a:rPr>
              <a:t>from</a:t>
            </a:r>
            <a:r>
              <a:rPr lang="en-US" sz="2200" b="0" dirty="0">
                <a:solidFill>
                  <a:srgbClr val="000000"/>
                </a:solidFill>
                <a:effectLst/>
                <a:latin typeface="Courier New" panose="02070309020205020404" pitchFamily="49" charset="0"/>
              </a:rPr>
              <a:t> </a:t>
            </a:r>
            <a:r>
              <a:rPr lang="en-US" sz="2200" b="0" dirty="0" err="1">
                <a:solidFill>
                  <a:srgbClr val="000000"/>
                </a:solidFill>
                <a:effectLst/>
                <a:latin typeface="Courier New" panose="02070309020205020404" pitchFamily="49" charset="0"/>
              </a:rPr>
              <a:t>peft</a:t>
            </a:r>
            <a:r>
              <a:rPr lang="en-US" sz="2200" b="0" dirty="0">
                <a:solidFill>
                  <a:srgbClr val="000000"/>
                </a:solidFill>
                <a:effectLst/>
                <a:latin typeface="Courier New" panose="02070309020205020404" pitchFamily="49" charset="0"/>
              </a:rPr>
              <a:t> </a:t>
            </a:r>
            <a:r>
              <a:rPr lang="en-US" sz="2200" b="0" dirty="0">
                <a:solidFill>
                  <a:srgbClr val="9723B4"/>
                </a:solidFill>
                <a:effectLst/>
                <a:latin typeface="Courier New" panose="02070309020205020404" pitchFamily="49" charset="0"/>
              </a:rPr>
              <a:t>import</a:t>
            </a:r>
            <a:r>
              <a:rPr lang="en-US" sz="2200" b="0" dirty="0">
                <a:solidFill>
                  <a:srgbClr val="000000"/>
                </a:solidFill>
                <a:effectLst/>
                <a:latin typeface="Courier New" panose="02070309020205020404" pitchFamily="49" charset="0"/>
              </a:rPr>
              <a:t> </a:t>
            </a:r>
            <a:r>
              <a:rPr lang="en-US" sz="2200" b="0" dirty="0" err="1">
                <a:solidFill>
                  <a:srgbClr val="000000"/>
                </a:solidFill>
                <a:effectLst/>
                <a:latin typeface="Courier New" panose="02070309020205020404" pitchFamily="49" charset="0"/>
              </a:rPr>
              <a:t>LoraConfig</a:t>
            </a:r>
            <a:r>
              <a:rPr lang="en-US" sz="2200" b="0" dirty="0">
                <a:solidFill>
                  <a:srgbClr val="000000"/>
                </a:solidFill>
                <a:effectLst/>
                <a:latin typeface="Courier New" panose="02070309020205020404" pitchFamily="49" charset="0"/>
              </a:rPr>
              <a:t>, </a:t>
            </a:r>
            <a:r>
              <a:rPr lang="en-US" sz="2200" b="0" dirty="0" err="1">
                <a:solidFill>
                  <a:srgbClr val="000000"/>
                </a:solidFill>
                <a:effectLst/>
                <a:latin typeface="Courier New" panose="02070309020205020404" pitchFamily="49" charset="0"/>
              </a:rPr>
              <a:t>TaskType</a:t>
            </a:r>
            <a:r>
              <a:rPr lang="en-US" sz="2200" b="0" dirty="0">
                <a:solidFill>
                  <a:srgbClr val="000000"/>
                </a:solidFill>
                <a:effectLst/>
                <a:latin typeface="Courier New" panose="02070309020205020404" pitchFamily="49" charset="0"/>
              </a:rPr>
              <a:t>, </a:t>
            </a:r>
            <a:r>
              <a:rPr lang="en-US" sz="2200" b="0" dirty="0" err="1">
                <a:solidFill>
                  <a:srgbClr val="000000"/>
                </a:solidFill>
                <a:effectLst/>
                <a:latin typeface="Courier New" panose="02070309020205020404" pitchFamily="49" charset="0"/>
              </a:rPr>
              <a:t>get_peft_model</a:t>
            </a:r>
            <a:endParaRPr lang="en-US" sz="2200" b="0" dirty="0">
              <a:solidFill>
                <a:srgbClr val="000000"/>
              </a:solidFill>
              <a:effectLst/>
              <a:latin typeface="Courier New" panose="02070309020205020404" pitchFamily="49" charset="0"/>
            </a:endParaRPr>
          </a:p>
          <a:p>
            <a:pPr>
              <a:lnSpc>
                <a:spcPts val="2475"/>
              </a:lnSpc>
              <a:buNone/>
            </a:pPr>
            <a:r>
              <a:rPr lang="en-US" sz="2200" b="0" dirty="0" err="1">
                <a:solidFill>
                  <a:srgbClr val="000000"/>
                </a:solidFill>
                <a:effectLst/>
                <a:latin typeface="Courier New" panose="02070309020205020404" pitchFamily="49" charset="0"/>
              </a:rPr>
              <a:t>model_id</a:t>
            </a:r>
            <a:r>
              <a:rPr lang="en-US" sz="2200" b="0" dirty="0">
                <a:solidFill>
                  <a:srgbClr val="000000"/>
                </a:solidFill>
                <a:effectLst/>
                <a:latin typeface="Courier New" panose="02070309020205020404" pitchFamily="49" charset="0"/>
              </a:rPr>
              <a:t> = </a:t>
            </a:r>
            <a:r>
              <a:rPr lang="en-US" sz="2200" b="0" dirty="0">
                <a:solidFill>
                  <a:srgbClr val="A31515"/>
                </a:solidFill>
                <a:effectLst/>
                <a:latin typeface="Courier New" panose="02070309020205020404" pitchFamily="49" charset="0"/>
              </a:rPr>
              <a:t>"Qwen/Qwen2.5-3B-Instruct"</a:t>
            </a:r>
            <a:endParaRPr lang="en-US" sz="2200" b="0" dirty="0">
              <a:solidFill>
                <a:srgbClr val="000000"/>
              </a:solidFill>
              <a:effectLst/>
              <a:latin typeface="Courier New" panose="02070309020205020404" pitchFamily="49" charset="0"/>
            </a:endParaRPr>
          </a:p>
          <a:p>
            <a:pPr>
              <a:lnSpc>
                <a:spcPts val="2475"/>
              </a:lnSpc>
              <a:buNone/>
            </a:pPr>
            <a:r>
              <a:rPr lang="en-US" sz="2200" b="0" dirty="0">
                <a:solidFill>
                  <a:srgbClr val="000000"/>
                </a:solidFill>
                <a:effectLst/>
                <a:latin typeface="Courier New" panose="02070309020205020404" pitchFamily="49" charset="0"/>
              </a:rPr>
              <a:t>model = </a:t>
            </a:r>
            <a:r>
              <a:rPr lang="en-US" sz="2200" b="0" dirty="0" err="1">
                <a:solidFill>
                  <a:srgbClr val="000000"/>
                </a:solidFill>
                <a:effectLst/>
                <a:latin typeface="Courier New" panose="02070309020205020404" pitchFamily="49" charset="0"/>
              </a:rPr>
              <a:t>AutoModelForCausalLM.from_pretrained</a:t>
            </a:r>
            <a:r>
              <a:rPr lang="en-US" sz="2200" b="0" dirty="0">
                <a:solidFill>
                  <a:srgbClr val="000000"/>
                </a:solidFill>
                <a:effectLst/>
                <a:latin typeface="Courier New" panose="02070309020205020404" pitchFamily="49" charset="0"/>
              </a:rPr>
              <a:t>(</a:t>
            </a:r>
            <a:r>
              <a:rPr lang="en-US" sz="2200" b="0" dirty="0" err="1">
                <a:solidFill>
                  <a:srgbClr val="000000"/>
                </a:solidFill>
                <a:effectLst/>
                <a:latin typeface="Courier New" panose="02070309020205020404" pitchFamily="49" charset="0"/>
              </a:rPr>
              <a:t>model_id</a:t>
            </a:r>
            <a:r>
              <a:rPr lang="en-US" sz="2200" b="0" dirty="0">
                <a:solidFill>
                  <a:srgbClr val="000000"/>
                </a:solidFill>
                <a:effectLst/>
                <a:latin typeface="Courier New" panose="02070309020205020404" pitchFamily="49" charset="0"/>
              </a:rPr>
              <a:t>, </a:t>
            </a:r>
            <a:r>
              <a:rPr lang="en-US" sz="2200" b="0" dirty="0" err="1">
                <a:solidFill>
                  <a:srgbClr val="000000"/>
                </a:solidFill>
                <a:effectLst/>
                <a:latin typeface="Courier New" panose="02070309020205020404" pitchFamily="49" charset="0"/>
              </a:rPr>
              <a:t>device_map</a:t>
            </a:r>
            <a:r>
              <a:rPr lang="en-US" sz="2200" b="0" dirty="0">
                <a:solidFill>
                  <a:srgbClr val="000000"/>
                </a:solidFill>
                <a:effectLst/>
                <a:latin typeface="Courier New" panose="02070309020205020404" pitchFamily="49" charset="0"/>
              </a:rPr>
              <a:t>=device)</a:t>
            </a:r>
          </a:p>
          <a:p>
            <a:pPr>
              <a:lnSpc>
                <a:spcPts val="2475"/>
              </a:lnSpc>
              <a:buNone/>
            </a:pPr>
            <a:r>
              <a:rPr lang="en-US" sz="2200" b="0" dirty="0" err="1">
                <a:solidFill>
                  <a:srgbClr val="000000"/>
                </a:solidFill>
                <a:effectLst/>
                <a:latin typeface="Courier New" panose="02070309020205020404" pitchFamily="49" charset="0"/>
              </a:rPr>
              <a:t>peft_config</a:t>
            </a:r>
            <a:r>
              <a:rPr lang="en-US" sz="2200" b="0" dirty="0">
                <a:solidFill>
                  <a:srgbClr val="000000"/>
                </a:solidFill>
                <a:effectLst/>
                <a:latin typeface="Courier New" panose="02070309020205020404" pitchFamily="49" charset="0"/>
              </a:rPr>
              <a:t> = </a:t>
            </a:r>
            <a:r>
              <a:rPr lang="en-US" sz="2200" b="0" dirty="0" err="1">
                <a:solidFill>
                  <a:srgbClr val="000000"/>
                </a:solidFill>
                <a:effectLst/>
                <a:latin typeface="Courier New" panose="02070309020205020404" pitchFamily="49" charset="0"/>
              </a:rPr>
              <a:t>LoraConfig</a:t>
            </a:r>
            <a:r>
              <a:rPr lang="en-US" sz="2200" b="0" dirty="0">
                <a:solidFill>
                  <a:srgbClr val="000000"/>
                </a:solidFill>
                <a:effectLst/>
                <a:latin typeface="Courier New" panose="02070309020205020404" pitchFamily="49" charset="0"/>
              </a:rPr>
              <a:t>(</a:t>
            </a:r>
          </a:p>
          <a:p>
            <a:pPr>
              <a:lnSpc>
                <a:spcPts val="2475"/>
              </a:lnSpc>
              <a:buNone/>
            </a:pPr>
            <a:r>
              <a:rPr lang="en-US" sz="2200" b="0" dirty="0">
                <a:solidFill>
                  <a:srgbClr val="000000"/>
                </a:solidFill>
                <a:effectLst/>
                <a:latin typeface="Courier New" panose="02070309020205020404" pitchFamily="49" charset="0"/>
              </a:rPr>
              <a:t>    r=</a:t>
            </a:r>
            <a:r>
              <a:rPr lang="en-US" sz="2200" b="0" dirty="0">
                <a:solidFill>
                  <a:srgbClr val="116644"/>
                </a:solidFill>
                <a:effectLst/>
                <a:latin typeface="Courier New" panose="02070309020205020404" pitchFamily="49" charset="0"/>
              </a:rPr>
              <a:t>16</a:t>
            </a:r>
            <a:r>
              <a:rPr lang="en-US" sz="2200" b="0" dirty="0">
                <a:solidFill>
                  <a:srgbClr val="000000"/>
                </a:solidFill>
                <a:effectLst/>
                <a:latin typeface="Courier New" panose="02070309020205020404" pitchFamily="49" charset="0"/>
              </a:rPr>
              <a:t>,</a:t>
            </a:r>
          </a:p>
          <a:p>
            <a:pPr>
              <a:lnSpc>
                <a:spcPts val="2475"/>
              </a:lnSpc>
              <a:buNone/>
            </a:pPr>
            <a:r>
              <a:rPr lang="en-US" sz="2200" b="0" dirty="0">
                <a:solidFill>
                  <a:srgbClr val="000000"/>
                </a:solidFill>
                <a:effectLst/>
                <a:latin typeface="Courier New" panose="02070309020205020404" pitchFamily="49" charset="0"/>
              </a:rPr>
              <a:t>    </a:t>
            </a:r>
            <a:r>
              <a:rPr lang="en-US" sz="2200" b="0" dirty="0" err="1">
                <a:solidFill>
                  <a:srgbClr val="000000"/>
                </a:solidFill>
                <a:effectLst/>
                <a:latin typeface="Courier New" panose="02070309020205020404" pitchFamily="49" charset="0"/>
              </a:rPr>
              <a:t>lora_alpha</a:t>
            </a:r>
            <a:r>
              <a:rPr lang="en-US" sz="2200" b="0" dirty="0">
                <a:solidFill>
                  <a:srgbClr val="000000"/>
                </a:solidFill>
                <a:effectLst/>
                <a:latin typeface="Courier New" panose="02070309020205020404" pitchFamily="49" charset="0"/>
              </a:rPr>
              <a:t>=</a:t>
            </a:r>
            <a:r>
              <a:rPr lang="en-US" sz="2200" b="0" dirty="0">
                <a:solidFill>
                  <a:srgbClr val="116644"/>
                </a:solidFill>
                <a:effectLst/>
                <a:latin typeface="Courier New" panose="02070309020205020404" pitchFamily="49" charset="0"/>
              </a:rPr>
              <a:t>32</a:t>
            </a:r>
            <a:r>
              <a:rPr lang="en-US" sz="2200" b="0" dirty="0">
                <a:solidFill>
                  <a:srgbClr val="000000"/>
                </a:solidFill>
                <a:effectLst/>
                <a:latin typeface="Courier New" panose="02070309020205020404" pitchFamily="49" charset="0"/>
              </a:rPr>
              <a:t>,</a:t>
            </a:r>
          </a:p>
          <a:p>
            <a:pPr>
              <a:lnSpc>
                <a:spcPts val="2475"/>
              </a:lnSpc>
              <a:buNone/>
            </a:pPr>
            <a:r>
              <a:rPr lang="en-US" sz="2200" b="0" dirty="0">
                <a:solidFill>
                  <a:srgbClr val="000000"/>
                </a:solidFill>
                <a:effectLst/>
                <a:latin typeface="Courier New" panose="02070309020205020404" pitchFamily="49" charset="0"/>
              </a:rPr>
              <a:t>    </a:t>
            </a:r>
            <a:r>
              <a:rPr lang="en-US" sz="2200" b="0" dirty="0" err="1">
                <a:solidFill>
                  <a:srgbClr val="000000"/>
                </a:solidFill>
                <a:effectLst/>
                <a:latin typeface="Courier New" panose="02070309020205020404" pitchFamily="49" charset="0"/>
              </a:rPr>
              <a:t>task_type</a:t>
            </a:r>
            <a:r>
              <a:rPr lang="en-US" sz="2200" b="0" dirty="0">
                <a:solidFill>
                  <a:srgbClr val="000000"/>
                </a:solidFill>
                <a:effectLst/>
                <a:latin typeface="Courier New" panose="02070309020205020404" pitchFamily="49" charset="0"/>
              </a:rPr>
              <a:t>=</a:t>
            </a:r>
            <a:r>
              <a:rPr lang="en-US" sz="2200" b="0" dirty="0" err="1">
                <a:solidFill>
                  <a:srgbClr val="000000"/>
                </a:solidFill>
                <a:effectLst/>
                <a:latin typeface="Courier New" panose="02070309020205020404" pitchFamily="49" charset="0"/>
              </a:rPr>
              <a:t>TaskType.CAUSAL_LM</a:t>
            </a:r>
            <a:r>
              <a:rPr lang="en-US" sz="2200" b="0" dirty="0">
                <a:solidFill>
                  <a:srgbClr val="000000"/>
                </a:solidFill>
                <a:effectLst/>
                <a:latin typeface="Courier New" panose="02070309020205020404" pitchFamily="49" charset="0"/>
              </a:rPr>
              <a:t>,</a:t>
            </a:r>
          </a:p>
          <a:p>
            <a:pPr>
              <a:lnSpc>
                <a:spcPts val="2475"/>
              </a:lnSpc>
              <a:buNone/>
            </a:pPr>
            <a:r>
              <a:rPr lang="en-US" sz="2200" b="0" dirty="0">
                <a:solidFill>
                  <a:srgbClr val="000000"/>
                </a:solidFill>
                <a:effectLst/>
                <a:latin typeface="Courier New" panose="02070309020205020404" pitchFamily="49" charset="0"/>
              </a:rPr>
              <a:t>    </a:t>
            </a:r>
            <a:r>
              <a:rPr lang="en-US" sz="2200" b="0" dirty="0">
                <a:solidFill>
                  <a:srgbClr val="008000"/>
                </a:solidFill>
                <a:effectLst/>
                <a:latin typeface="Courier New" panose="02070309020205020404" pitchFamily="49" charset="0"/>
              </a:rPr>
              <a:t># </a:t>
            </a:r>
            <a:r>
              <a:rPr lang="en-US" sz="2200" b="0" dirty="0" err="1">
                <a:solidFill>
                  <a:srgbClr val="008000"/>
                </a:solidFill>
                <a:effectLst/>
                <a:latin typeface="Courier New" panose="02070309020205020404" pitchFamily="49" charset="0"/>
              </a:rPr>
              <a:t>target_modules</a:t>
            </a:r>
            <a:r>
              <a:rPr lang="en-US" sz="2200" b="0" dirty="0">
                <a:solidFill>
                  <a:srgbClr val="008000"/>
                </a:solidFill>
                <a:effectLst/>
                <a:latin typeface="Courier New" panose="02070309020205020404" pitchFamily="49" charset="0"/>
              </a:rPr>
              <a:t>=["</a:t>
            </a:r>
            <a:r>
              <a:rPr lang="en-US" sz="2200" b="0" dirty="0" err="1">
                <a:solidFill>
                  <a:srgbClr val="008000"/>
                </a:solidFill>
                <a:effectLst/>
                <a:latin typeface="Courier New" panose="02070309020205020404" pitchFamily="49" charset="0"/>
              </a:rPr>
              <a:t>q_proj</a:t>
            </a:r>
            <a:r>
              <a:rPr lang="en-US" sz="2200" b="0" dirty="0">
                <a:solidFill>
                  <a:srgbClr val="008000"/>
                </a:solidFill>
                <a:effectLst/>
                <a:latin typeface="Courier New" panose="02070309020205020404" pitchFamily="49" charset="0"/>
              </a:rPr>
              <a:t>", "</a:t>
            </a:r>
            <a:r>
              <a:rPr lang="en-US" sz="2200" b="0" dirty="0" err="1">
                <a:solidFill>
                  <a:srgbClr val="008000"/>
                </a:solidFill>
                <a:effectLst/>
                <a:latin typeface="Courier New" panose="02070309020205020404" pitchFamily="49" charset="0"/>
              </a:rPr>
              <a:t>v_proj</a:t>
            </a:r>
            <a:r>
              <a:rPr lang="en-US" sz="2200" b="0" dirty="0">
                <a:solidFill>
                  <a:srgbClr val="008000"/>
                </a:solidFill>
                <a:effectLst/>
                <a:latin typeface="Courier New" panose="02070309020205020404" pitchFamily="49" charset="0"/>
              </a:rPr>
              <a:t>", ...]  # optionally indicate target modules)</a:t>
            </a:r>
            <a:endParaRPr lang="en-US" sz="2200" b="0" dirty="0">
              <a:solidFill>
                <a:srgbClr val="000000"/>
              </a:solidFill>
              <a:effectLst/>
              <a:latin typeface="Courier New" panose="02070309020205020404" pitchFamily="49" charset="0"/>
            </a:endParaRPr>
          </a:p>
          <a:p>
            <a:pPr>
              <a:lnSpc>
                <a:spcPts val="2475"/>
              </a:lnSpc>
              <a:buNone/>
            </a:pPr>
            <a:r>
              <a:rPr lang="en-US" sz="2200" b="0" dirty="0">
                <a:solidFill>
                  <a:srgbClr val="000000"/>
                </a:solidFill>
                <a:effectLst/>
                <a:latin typeface="Courier New" panose="02070309020205020404" pitchFamily="49" charset="0"/>
              </a:rPr>
              <a:t>model = </a:t>
            </a:r>
            <a:r>
              <a:rPr lang="en-US" sz="2200" b="0" dirty="0" err="1">
                <a:solidFill>
                  <a:srgbClr val="000000"/>
                </a:solidFill>
                <a:effectLst/>
                <a:latin typeface="Courier New" panose="02070309020205020404" pitchFamily="49" charset="0"/>
              </a:rPr>
              <a:t>get_peft_model</a:t>
            </a:r>
            <a:r>
              <a:rPr lang="en-US" sz="2200" b="0" dirty="0">
                <a:solidFill>
                  <a:srgbClr val="000000"/>
                </a:solidFill>
                <a:effectLst/>
                <a:latin typeface="Courier New" panose="02070309020205020404" pitchFamily="49" charset="0"/>
              </a:rPr>
              <a:t>(model, </a:t>
            </a:r>
            <a:r>
              <a:rPr lang="en-US" sz="2200" b="0" dirty="0" err="1">
                <a:solidFill>
                  <a:srgbClr val="000000"/>
                </a:solidFill>
                <a:effectLst/>
                <a:latin typeface="Courier New" panose="02070309020205020404" pitchFamily="49" charset="0"/>
              </a:rPr>
              <a:t>peft_config</a:t>
            </a:r>
            <a:r>
              <a:rPr lang="en-US" sz="2200" b="0" dirty="0">
                <a:solidFill>
                  <a:srgbClr val="000000"/>
                </a:solidFill>
                <a:effectLst/>
                <a:latin typeface="Courier New" panose="02070309020205020404" pitchFamily="49" charset="0"/>
              </a:rPr>
              <a:t>)</a:t>
            </a:r>
          </a:p>
          <a:p>
            <a:pPr>
              <a:lnSpc>
                <a:spcPts val="2475"/>
              </a:lnSpc>
              <a:buNone/>
            </a:pPr>
            <a:r>
              <a:rPr lang="en-US" sz="2200" b="0" dirty="0" err="1">
                <a:solidFill>
                  <a:srgbClr val="000000"/>
                </a:solidFill>
                <a:effectLst/>
                <a:latin typeface="Courier New" panose="02070309020205020404" pitchFamily="49" charset="0"/>
              </a:rPr>
              <a:t>model.print_trainable_parameters</a:t>
            </a:r>
            <a:r>
              <a:rPr lang="en-US" sz="2200" b="0" dirty="0">
                <a:solidFill>
                  <a:srgbClr val="000000"/>
                </a:solidFill>
                <a:effectLst/>
                <a:latin typeface="Courier New" panose="02070309020205020404" pitchFamily="49" charset="0"/>
              </a:rPr>
              <a:t>()</a:t>
            </a:r>
          </a:p>
          <a:p>
            <a:pPr>
              <a:lnSpc>
                <a:spcPts val="2475"/>
              </a:lnSpc>
              <a:buNone/>
            </a:pPr>
            <a:r>
              <a:rPr lang="en-US" sz="2200" b="0" dirty="0">
                <a:solidFill>
                  <a:srgbClr val="008000"/>
                </a:solidFill>
                <a:effectLst/>
                <a:latin typeface="Courier New" panose="02070309020205020404" pitchFamily="49" charset="0"/>
              </a:rPr>
              <a:t># prints: trainable params: 3,686,400 || all params: 3,089,625,088 || trainable%: 0.1193</a:t>
            </a:r>
            <a:endParaRPr lang="en-US" sz="2200" b="0" dirty="0">
              <a:solidFill>
                <a:srgbClr val="000000"/>
              </a:solidFill>
              <a:effectLst/>
              <a:latin typeface="Courier New" panose="02070309020205020404" pitchFamily="49" charset="0"/>
            </a:endParaRPr>
          </a:p>
          <a:p>
            <a:pPr>
              <a:lnSpc>
                <a:spcPts val="2475"/>
              </a:lnSpc>
              <a:buNone/>
            </a:pPr>
            <a:r>
              <a:rPr lang="en-US" sz="2200" b="0" dirty="0">
                <a:solidFill>
                  <a:srgbClr val="008000"/>
                </a:solidFill>
                <a:effectLst/>
                <a:latin typeface="Courier New" panose="02070309020205020404" pitchFamily="49" charset="0"/>
              </a:rPr>
              <a:t># now perform training on your dataset, e.g. using transformers Trainer, then save the model</a:t>
            </a:r>
            <a:endParaRPr lang="en-US" sz="2200" b="0" dirty="0">
              <a:solidFill>
                <a:srgbClr val="000000"/>
              </a:solidFill>
              <a:effectLst/>
              <a:latin typeface="Courier New" panose="02070309020205020404" pitchFamily="49" charset="0"/>
            </a:endParaRPr>
          </a:p>
          <a:p>
            <a:pPr>
              <a:lnSpc>
                <a:spcPts val="2475"/>
              </a:lnSpc>
              <a:buNone/>
            </a:pPr>
            <a:r>
              <a:rPr lang="en-US" sz="2200" b="0" dirty="0" err="1">
                <a:solidFill>
                  <a:srgbClr val="000000"/>
                </a:solidFill>
                <a:effectLst/>
                <a:latin typeface="Courier New" panose="02070309020205020404" pitchFamily="49" charset="0"/>
              </a:rPr>
              <a:t>model.save_pretrained</a:t>
            </a:r>
            <a:r>
              <a:rPr lang="en-US" sz="2200" b="0" dirty="0">
                <a:solidFill>
                  <a:srgbClr val="000000"/>
                </a:solidFill>
                <a:effectLst/>
                <a:latin typeface="Courier New" panose="02070309020205020404" pitchFamily="49" charset="0"/>
              </a:rPr>
              <a:t>(</a:t>
            </a:r>
            <a:r>
              <a:rPr lang="en-US" sz="2200" b="0" dirty="0">
                <a:solidFill>
                  <a:srgbClr val="A31515"/>
                </a:solidFill>
                <a:effectLst/>
                <a:latin typeface="Courier New" panose="02070309020205020404" pitchFamily="49" charset="0"/>
              </a:rPr>
              <a:t>"qwen2.5-3b-lora"</a:t>
            </a:r>
            <a:r>
              <a:rPr lang="en-US" sz="2200" b="0" dirty="0">
                <a:solidFill>
                  <a:srgbClr val="000000"/>
                </a:solidFill>
                <a:effectLst/>
                <a:latin typeface="Courier New" panose="02070309020205020404" pitchFamily="49" charset="0"/>
              </a:rPr>
              <a:t>)</a:t>
            </a:r>
          </a:p>
        </p:txBody>
      </p:sp>
    </p:spTree>
    <p:extLst>
      <p:ext uri="{BB962C8B-B14F-4D97-AF65-F5344CB8AC3E}">
        <p14:creationId xmlns:p14="http://schemas.microsoft.com/office/powerpoint/2010/main" val="23420797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7FC837E-B600-32E8-18B5-F876121EE90C}"/>
              </a:ext>
            </a:extLst>
          </p:cNvPr>
          <p:cNvSpPr txBox="1"/>
          <p:nvPr/>
        </p:nvSpPr>
        <p:spPr>
          <a:xfrm>
            <a:off x="91440" y="655484"/>
            <a:ext cx="11761470" cy="5547031"/>
          </a:xfrm>
          <a:prstGeom prst="rect">
            <a:avLst/>
          </a:prstGeom>
          <a:noFill/>
        </p:spPr>
        <p:txBody>
          <a:bodyPr wrap="square">
            <a:spAutoFit/>
          </a:bodyPr>
          <a:lstStyle/>
          <a:p>
            <a:pPr>
              <a:lnSpc>
                <a:spcPts val="2475"/>
              </a:lnSpc>
              <a:buNone/>
            </a:pPr>
            <a:r>
              <a:rPr lang="en-US" sz="2200" b="0" dirty="0">
                <a:solidFill>
                  <a:srgbClr val="9723B4"/>
                </a:solidFill>
                <a:effectLst/>
                <a:latin typeface="Courier New" panose="02070309020205020404" pitchFamily="49" charset="0"/>
              </a:rPr>
              <a:t>from</a:t>
            </a:r>
            <a:r>
              <a:rPr lang="en-US" sz="2200" b="0" dirty="0">
                <a:solidFill>
                  <a:srgbClr val="000000"/>
                </a:solidFill>
                <a:effectLst/>
                <a:latin typeface="Courier New" panose="02070309020205020404" pitchFamily="49" charset="0"/>
              </a:rPr>
              <a:t> transformers </a:t>
            </a:r>
            <a:r>
              <a:rPr lang="en-US" sz="2200" b="0" dirty="0">
                <a:solidFill>
                  <a:srgbClr val="9723B4"/>
                </a:solidFill>
                <a:effectLst/>
                <a:latin typeface="Courier New" panose="02070309020205020404" pitchFamily="49" charset="0"/>
              </a:rPr>
              <a:t>import</a:t>
            </a:r>
            <a:r>
              <a:rPr lang="en-US" sz="2200" b="0" dirty="0">
                <a:solidFill>
                  <a:srgbClr val="000000"/>
                </a:solidFill>
                <a:effectLst/>
                <a:latin typeface="Courier New" panose="02070309020205020404" pitchFamily="49" charset="0"/>
              </a:rPr>
              <a:t> </a:t>
            </a:r>
            <a:r>
              <a:rPr lang="en-US" sz="2200" b="0" dirty="0" err="1">
                <a:solidFill>
                  <a:srgbClr val="000000"/>
                </a:solidFill>
                <a:effectLst/>
                <a:latin typeface="Courier New" panose="02070309020205020404" pitchFamily="49" charset="0"/>
              </a:rPr>
              <a:t>AutoModelForCausalLM</a:t>
            </a:r>
            <a:r>
              <a:rPr lang="en-US" sz="2200" b="0" dirty="0">
                <a:solidFill>
                  <a:srgbClr val="000000"/>
                </a:solidFill>
                <a:effectLst/>
                <a:latin typeface="Courier New" panose="02070309020205020404" pitchFamily="49" charset="0"/>
              </a:rPr>
              <a:t>, </a:t>
            </a:r>
            <a:r>
              <a:rPr lang="en-US" sz="2200" b="0" dirty="0" err="1">
                <a:solidFill>
                  <a:srgbClr val="000000"/>
                </a:solidFill>
                <a:effectLst/>
                <a:latin typeface="Courier New" panose="02070309020205020404" pitchFamily="49" charset="0"/>
              </a:rPr>
              <a:t>AutoTokenizer</a:t>
            </a:r>
            <a:endParaRPr lang="en-US" sz="2200" b="0" dirty="0">
              <a:solidFill>
                <a:srgbClr val="000000"/>
              </a:solidFill>
              <a:effectLst/>
              <a:latin typeface="Courier New" panose="02070309020205020404" pitchFamily="49" charset="0"/>
            </a:endParaRPr>
          </a:p>
          <a:p>
            <a:pPr>
              <a:lnSpc>
                <a:spcPts val="2475"/>
              </a:lnSpc>
              <a:buNone/>
            </a:pPr>
            <a:r>
              <a:rPr lang="en-US" sz="2200" b="0" dirty="0">
                <a:solidFill>
                  <a:srgbClr val="9723B4"/>
                </a:solidFill>
                <a:effectLst/>
                <a:latin typeface="Courier New" panose="02070309020205020404" pitchFamily="49" charset="0"/>
              </a:rPr>
              <a:t>from</a:t>
            </a:r>
            <a:r>
              <a:rPr lang="en-US" sz="2200" b="0" dirty="0">
                <a:solidFill>
                  <a:srgbClr val="000000"/>
                </a:solidFill>
                <a:effectLst/>
                <a:latin typeface="Courier New" panose="02070309020205020404" pitchFamily="49" charset="0"/>
              </a:rPr>
              <a:t> </a:t>
            </a:r>
            <a:r>
              <a:rPr lang="en-US" sz="2200" b="0" dirty="0" err="1">
                <a:solidFill>
                  <a:srgbClr val="000000"/>
                </a:solidFill>
                <a:effectLst/>
                <a:latin typeface="Courier New" panose="02070309020205020404" pitchFamily="49" charset="0"/>
              </a:rPr>
              <a:t>peft</a:t>
            </a:r>
            <a:r>
              <a:rPr lang="en-US" sz="2200" b="0" dirty="0">
                <a:solidFill>
                  <a:srgbClr val="000000"/>
                </a:solidFill>
                <a:effectLst/>
                <a:latin typeface="Courier New" panose="02070309020205020404" pitchFamily="49" charset="0"/>
              </a:rPr>
              <a:t> </a:t>
            </a:r>
            <a:r>
              <a:rPr lang="en-US" sz="2200" b="0" dirty="0">
                <a:solidFill>
                  <a:srgbClr val="9723B4"/>
                </a:solidFill>
                <a:effectLst/>
                <a:latin typeface="Courier New" panose="02070309020205020404" pitchFamily="49" charset="0"/>
              </a:rPr>
              <a:t>import</a:t>
            </a:r>
            <a:r>
              <a:rPr lang="en-US" sz="2200" b="0" dirty="0">
                <a:solidFill>
                  <a:srgbClr val="000000"/>
                </a:solidFill>
                <a:effectLst/>
                <a:latin typeface="Courier New" panose="02070309020205020404" pitchFamily="49" charset="0"/>
              </a:rPr>
              <a:t> </a:t>
            </a:r>
            <a:r>
              <a:rPr lang="en-US" sz="2200" b="0" dirty="0" err="1">
                <a:solidFill>
                  <a:srgbClr val="000000"/>
                </a:solidFill>
                <a:effectLst/>
                <a:latin typeface="Courier New" panose="02070309020205020404" pitchFamily="49" charset="0"/>
              </a:rPr>
              <a:t>PeftModel</a:t>
            </a:r>
            <a:endParaRPr lang="en-US" sz="2200" b="0" dirty="0">
              <a:solidFill>
                <a:srgbClr val="000000"/>
              </a:solidFill>
              <a:effectLst/>
              <a:latin typeface="Courier New" panose="02070309020205020404" pitchFamily="49" charset="0"/>
            </a:endParaRPr>
          </a:p>
          <a:p>
            <a:pPr>
              <a:lnSpc>
                <a:spcPts val="2475"/>
              </a:lnSpc>
              <a:buNone/>
            </a:pPr>
            <a:r>
              <a:rPr lang="en-US" sz="2200" b="0" dirty="0">
                <a:solidFill>
                  <a:srgbClr val="008000"/>
                </a:solidFill>
                <a:effectLst/>
                <a:latin typeface="Courier New" panose="02070309020205020404" pitchFamily="49" charset="0"/>
              </a:rPr>
              <a:t>#device = </a:t>
            </a:r>
            <a:r>
              <a:rPr lang="en-US" sz="2200" b="0" dirty="0" err="1">
                <a:solidFill>
                  <a:srgbClr val="008000"/>
                </a:solidFill>
                <a:effectLst/>
                <a:latin typeface="Courier New" panose="02070309020205020404" pitchFamily="49" charset="0"/>
              </a:rPr>
              <a:t>torch.accelerator.current_accelerator</a:t>
            </a:r>
            <a:r>
              <a:rPr lang="en-US" sz="2200" b="0" dirty="0">
                <a:solidFill>
                  <a:srgbClr val="008000"/>
                </a:solidFill>
                <a:effectLst/>
                <a:latin typeface="Courier New" panose="02070309020205020404" pitchFamily="49" charset="0"/>
              </a:rPr>
              <a:t>().type if </a:t>
            </a:r>
            <a:r>
              <a:rPr lang="en-US" sz="2200" b="0" dirty="0" err="1">
                <a:solidFill>
                  <a:srgbClr val="008000"/>
                </a:solidFill>
                <a:effectLst/>
                <a:latin typeface="Courier New" panose="02070309020205020404" pitchFamily="49" charset="0"/>
              </a:rPr>
              <a:t>hasattr</a:t>
            </a:r>
            <a:r>
              <a:rPr lang="en-US" sz="2200" b="0" dirty="0">
                <a:solidFill>
                  <a:srgbClr val="008000"/>
                </a:solidFill>
                <a:effectLst/>
                <a:latin typeface="Courier New" panose="02070309020205020404" pitchFamily="49" charset="0"/>
              </a:rPr>
              <a:t>(torch, "accelerator") else "</a:t>
            </a:r>
            <a:r>
              <a:rPr lang="en-US" sz="2200" b="0" dirty="0" err="1">
                <a:solidFill>
                  <a:srgbClr val="008000"/>
                </a:solidFill>
                <a:effectLst/>
                <a:latin typeface="Courier New" panose="02070309020205020404" pitchFamily="49" charset="0"/>
              </a:rPr>
              <a:t>cuda</a:t>
            </a:r>
            <a:r>
              <a:rPr lang="en-US" sz="2200" b="0" dirty="0">
                <a:solidFill>
                  <a:srgbClr val="008000"/>
                </a:solidFill>
                <a:effectLst/>
                <a:latin typeface="Courier New" panose="02070309020205020404" pitchFamily="49" charset="0"/>
              </a:rPr>
              <a:t>"</a:t>
            </a:r>
            <a:endParaRPr lang="en-US" sz="2200" b="0" dirty="0">
              <a:solidFill>
                <a:srgbClr val="000000"/>
              </a:solidFill>
              <a:effectLst/>
              <a:latin typeface="Courier New" panose="02070309020205020404" pitchFamily="49" charset="0"/>
            </a:endParaRPr>
          </a:p>
          <a:p>
            <a:pPr>
              <a:lnSpc>
                <a:spcPts val="2475"/>
              </a:lnSpc>
              <a:buNone/>
            </a:pPr>
            <a:r>
              <a:rPr lang="en-US" sz="2200" b="0" dirty="0" err="1">
                <a:solidFill>
                  <a:srgbClr val="000000"/>
                </a:solidFill>
                <a:effectLst/>
                <a:latin typeface="Courier New" panose="02070309020205020404" pitchFamily="49" charset="0"/>
              </a:rPr>
              <a:t>model_id</a:t>
            </a:r>
            <a:r>
              <a:rPr lang="en-US" sz="2200" b="0" dirty="0">
                <a:solidFill>
                  <a:srgbClr val="000000"/>
                </a:solidFill>
                <a:effectLst/>
                <a:latin typeface="Courier New" panose="02070309020205020404" pitchFamily="49" charset="0"/>
              </a:rPr>
              <a:t> = </a:t>
            </a:r>
            <a:r>
              <a:rPr lang="en-US" sz="2200" b="0" dirty="0">
                <a:solidFill>
                  <a:srgbClr val="A31515"/>
                </a:solidFill>
                <a:effectLst/>
                <a:latin typeface="Courier New" panose="02070309020205020404" pitchFamily="49" charset="0"/>
              </a:rPr>
              <a:t>"Qwen/Qwen2.5-3B-Instruct"</a:t>
            </a:r>
            <a:endParaRPr lang="en-US" sz="2200" b="0" dirty="0">
              <a:solidFill>
                <a:srgbClr val="000000"/>
              </a:solidFill>
              <a:effectLst/>
              <a:latin typeface="Courier New" panose="02070309020205020404" pitchFamily="49" charset="0"/>
            </a:endParaRPr>
          </a:p>
          <a:p>
            <a:pPr>
              <a:lnSpc>
                <a:spcPts val="2475"/>
              </a:lnSpc>
              <a:buNone/>
            </a:pPr>
            <a:r>
              <a:rPr lang="en-US" sz="2200" b="0" dirty="0">
                <a:solidFill>
                  <a:srgbClr val="000000"/>
                </a:solidFill>
                <a:effectLst/>
                <a:latin typeface="Courier New" panose="02070309020205020404" pitchFamily="49" charset="0"/>
              </a:rPr>
              <a:t>tokenizer = </a:t>
            </a:r>
            <a:r>
              <a:rPr lang="en-US" sz="2200" b="0" dirty="0" err="1">
                <a:solidFill>
                  <a:srgbClr val="000000"/>
                </a:solidFill>
                <a:effectLst/>
                <a:latin typeface="Courier New" panose="02070309020205020404" pitchFamily="49" charset="0"/>
              </a:rPr>
              <a:t>AutoTokenizer.from_pretrained</a:t>
            </a:r>
            <a:r>
              <a:rPr lang="en-US" sz="2200" b="0" dirty="0">
                <a:solidFill>
                  <a:srgbClr val="000000"/>
                </a:solidFill>
                <a:effectLst/>
                <a:latin typeface="Courier New" panose="02070309020205020404" pitchFamily="49" charset="0"/>
              </a:rPr>
              <a:t>(</a:t>
            </a:r>
            <a:r>
              <a:rPr lang="en-US" sz="2200" b="0" dirty="0" err="1">
                <a:solidFill>
                  <a:srgbClr val="000000"/>
                </a:solidFill>
                <a:effectLst/>
                <a:latin typeface="Courier New" panose="02070309020205020404" pitchFamily="49" charset="0"/>
              </a:rPr>
              <a:t>model_id</a:t>
            </a:r>
            <a:r>
              <a:rPr lang="en-US" sz="2200" b="0" dirty="0">
                <a:solidFill>
                  <a:srgbClr val="000000"/>
                </a:solidFill>
                <a:effectLst/>
                <a:latin typeface="Courier New" panose="02070309020205020404" pitchFamily="49" charset="0"/>
              </a:rPr>
              <a:t>)</a:t>
            </a:r>
          </a:p>
          <a:p>
            <a:pPr>
              <a:lnSpc>
                <a:spcPts val="2475"/>
              </a:lnSpc>
              <a:buNone/>
            </a:pPr>
            <a:r>
              <a:rPr lang="en-US" sz="2200" b="0" dirty="0">
                <a:solidFill>
                  <a:srgbClr val="000000"/>
                </a:solidFill>
                <a:effectLst/>
                <a:latin typeface="Courier New" panose="02070309020205020404" pitchFamily="49" charset="0"/>
              </a:rPr>
              <a:t>model = </a:t>
            </a:r>
            <a:r>
              <a:rPr lang="en-US" sz="2200" b="0" dirty="0" err="1">
                <a:solidFill>
                  <a:srgbClr val="000000"/>
                </a:solidFill>
                <a:effectLst/>
                <a:latin typeface="Courier New" panose="02070309020205020404" pitchFamily="49" charset="0"/>
              </a:rPr>
              <a:t>AutoModelForCausalLM.from_pretrained</a:t>
            </a:r>
            <a:r>
              <a:rPr lang="en-US" sz="2200" b="0" dirty="0">
                <a:solidFill>
                  <a:srgbClr val="000000"/>
                </a:solidFill>
                <a:effectLst/>
                <a:latin typeface="Courier New" panose="02070309020205020404" pitchFamily="49" charset="0"/>
              </a:rPr>
              <a:t>(</a:t>
            </a:r>
            <a:r>
              <a:rPr lang="en-US" sz="2200" b="0" dirty="0" err="1">
                <a:solidFill>
                  <a:srgbClr val="000000"/>
                </a:solidFill>
                <a:effectLst/>
                <a:latin typeface="Courier New" panose="02070309020205020404" pitchFamily="49" charset="0"/>
              </a:rPr>
              <a:t>model_id</a:t>
            </a:r>
            <a:r>
              <a:rPr lang="en-US" sz="2200" b="0" dirty="0">
                <a:solidFill>
                  <a:srgbClr val="000000"/>
                </a:solidFill>
                <a:effectLst/>
                <a:latin typeface="Courier New" panose="02070309020205020404" pitchFamily="49" charset="0"/>
              </a:rPr>
              <a:t>, </a:t>
            </a:r>
            <a:r>
              <a:rPr lang="en-US" sz="2200" b="0" dirty="0" err="1">
                <a:solidFill>
                  <a:srgbClr val="000000"/>
                </a:solidFill>
                <a:effectLst/>
                <a:latin typeface="Courier New" panose="02070309020205020404" pitchFamily="49" charset="0"/>
              </a:rPr>
              <a:t>device_map</a:t>
            </a:r>
            <a:r>
              <a:rPr lang="en-US" sz="2200" b="0" dirty="0">
                <a:solidFill>
                  <a:srgbClr val="000000"/>
                </a:solidFill>
                <a:effectLst/>
                <a:latin typeface="Courier New" panose="02070309020205020404" pitchFamily="49" charset="0"/>
              </a:rPr>
              <a:t>=device)</a:t>
            </a:r>
          </a:p>
          <a:p>
            <a:pPr>
              <a:lnSpc>
                <a:spcPts val="2475"/>
              </a:lnSpc>
              <a:buNone/>
            </a:pPr>
            <a:r>
              <a:rPr lang="en-US" sz="2200" b="0" dirty="0">
                <a:solidFill>
                  <a:srgbClr val="000000"/>
                </a:solidFill>
                <a:effectLst/>
                <a:latin typeface="Courier New" panose="02070309020205020404" pitchFamily="49" charset="0"/>
              </a:rPr>
              <a:t>model = </a:t>
            </a:r>
            <a:r>
              <a:rPr lang="en-US" sz="2200" b="0" dirty="0" err="1">
                <a:solidFill>
                  <a:srgbClr val="000000"/>
                </a:solidFill>
                <a:effectLst/>
                <a:latin typeface="Courier New" panose="02070309020205020404" pitchFamily="49" charset="0"/>
              </a:rPr>
              <a:t>PeftModel.from_pretrained</a:t>
            </a:r>
            <a:r>
              <a:rPr lang="en-US" sz="2200" b="0" dirty="0">
                <a:solidFill>
                  <a:srgbClr val="000000"/>
                </a:solidFill>
                <a:effectLst/>
                <a:latin typeface="Courier New" panose="02070309020205020404" pitchFamily="49" charset="0"/>
              </a:rPr>
              <a:t>(model, </a:t>
            </a:r>
            <a:r>
              <a:rPr lang="en-US" sz="2200" b="0" dirty="0">
                <a:solidFill>
                  <a:srgbClr val="A31515"/>
                </a:solidFill>
                <a:effectLst/>
                <a:latin typeface="Courier New" panose="02070309020205020404" pitchFamily="49" charset="0"/>
              </a:rPr>
              <a:t>"qwen2.5-3b-lora"</a:t>
            </a:r>
            <a:r>
              <a:rPr lang="en-US" sz="2200" b="0" dirty="0">
                <a:solidFill>
                  <a:srgbClr val="000000"/>
                </a:solidFill>
                <a:effectLst/>
                <a:latin typeface="Courier New" panose="02070309020205020404" pitchFamily="49" charset="0"/>
              </a:rPr>
              <a:t>)</a:t>
            </a:r>
          </a:p>
          <a:p>
            <a:pPr>
              <a:lnSpc>
                <a:spcPts val="2475"/>
              </a:lnSpc>
              <a:buNone/>
            </a:pPr>
            <a:r>
              <a:rPr lang="en-US" sz="2200" b="0" dirty="0">
                <a:solidFill>
                  <a:srgbClr val="000000"/>
                </a:solidFill>
                <a:effectLst/>
                <a:latin typeface="Courier New" panose="02070309020205020404" pitchFamily="49" charset="0"/>
              </a:rPr>
              <a:t>inputs = tokenizer(</a:t>
            </a:r>
            <a:r>
              <a:rPr lang="en-US" sz="2200" b="0" dirty="0">
                <a:solidFill>
                  <a:srgbClr val="A31515"/>
                </a:solidFill>
                <a:effectLst/>
                <a:latin typeface="Courier New" panose="02070309020205020404" pitchFamily="49" charset="0"/>
              </a:rPr>
              <a:t>"Preheat the oven to 350 degrees and place the cookie dough"</a:t>
            </a:r>
            <a:r>
              <a:rPr lang="en-US" sz="2200" b="0" dirty="0">
                <a:solidFill>
                  <a:srgbClr val="000000"/>
                </a:solidFill>
                <a:effectLst/>
                <a:latin typeface="Courier New" panose="02070309020205020404" pitchFamily="49" charset="0"/>
              </a:rPr>
              <a:t>, </a:t>
            </a:r>
            <a:r>
              <a:rPr lang="en-US" sz="2200" b="0" dirty="0" err="1">
                <a:solidFill>
                  <a:srgbClr val="000000"/>
                </a:solidFill>
                <a:effectLst/>
                <a:latin typeface="Courier New" panose="02070309020205020404" pitchFamily="49" charset="0"/>
              </a:rPr>
              <a:t>return_tensors</a:t>
            </a:r>
            <a:r>
              <a:rPr lang="en-US" sz="2200" b="0" dirty="0">
                <a:solidFill>
                  <a:srgbClr val="000000"/>
                </a:solidFill>
                <a:effectLst/>
                <a:latin typeface="Courier New" panose="02070309020205020404" pitchFamily="49" charset="0"/>
              </a:rPr>
              <a:t>=</a:t>
            </a:r>
            <a:r>
              <a:rPr lang="en-US" sz="2200" b="0" dirty="0">
                <a:solidFill>
                  <a:srgbClr val="A31515"/>
                </a:solidFill>
                <a:effectLst/>
                <a:latin typeface="Courier New" panose="02070309020205020404" pitchFamily="49" charset="0"/>
              </a:rPr>
              <a:t>"pt"</a:t>
            </a:r>
            <a:r>
              <a:rPr lang="en-US" sz="2200" b="0" dirty="0">
                <a:solidFill>
                  <a:srgbClr val="000000"/>
                </a:solidFill>
                <a:effectLst/>
                <a:latin typeface="Courier New" panose="02070309020205020404" pitchFamily="49" charset="0"/>
              </a:rPr>
              <a:t>)</a:t>
            </a:r>
          </a:p>
          <a:p>
            <a:pPr>
              <a:lnSpc>
                <a:spcPts val="2475"/>
              </a:lnSpc>
              <a:buNone/>
            </a:pPr>
            <a:r>
              <a:rPr lang="en-US" sz="2200" b="0" dirty="0">
                <a:solidFill>
                  <a:srgbClr val="000000"/>
                </a:solidFill>
                <a:effectLst/>
                <a:latin typeface="Courier New" panose="02070309020205020404" pitchFamily="49" charset="0"/>
              </a:rPr>
              <a:t>outputs = </a:t>
            </a:r>
            <a:r>
              <a:rPr lang="en-US" sz="2200" b="0" dirty="0" err="1">
                <a:solidFill>
                  <a:srgbClr val="000000"/>
                </a:solidFill>
                <a:effectLst/>
                <a:latin typeface="Courier New" panose="02070309020205020404" pitchFamily="49" charset="0"/>
              </a:rPr>
              <a:t>model.generate</a:t>
            </a:r>
            <a:r>
              <a:rPr lang="en-US" sz="2200" b="0" dirty="0">
                <a:solidFill>
                  <a:srgbClr val="000000"/>
                </a:solidFill>
                <a:effectLst/>
                <a:latin typeface="Courier New" panose="02070309020205020404" pitchFamily="49" charset="0"/>
              </a:rPr>
              <a:t>(**inputs.to(device), </a:t>
            </a:r>
            <a:r>
              <a:rPr lang="en-US" sz="2200" b="0" dirty="0" err="1">
                <a:solidFill>
                  <a:srgbClr val="000000"/>
                </a:solidFill>
                <a:effectLst/>
                <a:latin typeface="Courier New" panose="02070309020205020404" pitchFamily="49" charset="0"/>
              </a:rPr>
              <a:t>max_new_tokens</a:t>
            </a:r>
            <a:r>
              <a:rPr lang="en-US" sz="2200" b="0" dirty="0">
                <a:solidFill>
                  <a:srgbClr val="000000"/>
                </a:solidFill>
                <a:effectLst/>
                <a:latin typeface="Courier New" panose="02070309020205020404" pitchFamily="49" charset="0"/>
              </a:rPr>
              <a:t>=</a:t>
            </a:r>
            <a:r>
              <a:rPr lang="en-US" sz="2200" b="0" dirty="0">
                <a:solidFill>
                  <a:srgbClr val="116644"/>
                </a:solidFill>
                <a:effectLst/>
                <a:latin typeface="Courier New" panose="02070309020205020404" pitchFamily="49" charset="0"/>
              </a:rPr>
              <a:t>50</a:t>
            </a:r>
            <a:r>
              <a:rPr lang="en-US" sz="2200" b="0" dirty="0">
                <a:solidFill>
                  <a:srgbClr val="000000"/>
                </a:solidFill>
                <a:effectLst/>
                <a:latin typeface="Courier New" panose="02070309020205020404" pitchFamily="49" charset="0"/>
              </a:rPr>
              <a:t>)</a:t>
            </a:r>
          </a:p>
          <a:p>
            <a:pPr>
              <a:lnSpc>
                <a:spcPts val="2475"/>
              </a:lnSpc>
              <a:buNone/>
            </a:pPr>
            <a:r>
              <a:rPr lang="en-US" sz="2200" b="0" dirty="0">
                <a:solidFill>
                  <a:srgbClr val="6A5221"/>
                </a:solidFill>
                <a:effectLst/>
                <a:latin typeface="Courier New" panose="02070309020205020404" pitchFamily="49" charset="0"/>
              </a:rPr>
              <a:t>print</a:t>
            </a:r>
            <a:r>
              <a:rPr lang="en-US" sz="2200" b="0" dirty="0">
                <a:solidFill>
                  <a:srgbClr val="000000"/>
                </a:solidFill>
                <a:effectLst/>
                <a:latin typeface="Courier New" panose="02070309020205020404" pitchFamily="49" charset="0"/>
              </a:rPr>
              <a:t>(</a:t>
            </a:r>
            <a:r>
              <a:rPr lang="en-US" sz="2200" b="0" dirty="0" err="1">
                <a:solidFill>
                  <a:srgbClr val="000000"/>
                </a:solidFill>
                <a:effectLst/>
                <a:latin typeface="Courier New" panose="02070309020205020404" pitchFamily="49" charset="0"/>
              </a:rPr>
              <a:t>tokenizer.decode</a:t>
            </a:r>
            <a:r>
              <a:rPr lang="en-US" sz="2200" b="0" dirty="0">
                <a:solidFill>
                  <a:srgbClr val="000000"/>
                </a:solidFill>
                <a:effectLst/>
                <a:latin typeface="Courier New" panose="02070309020205020404" pitchFamily="49" charset="0"/>
              </a:rPr>
              <a:t>(outputs[</a:t>
            </a:r>
            <a:r>
              <a:rPr lang="en-US" sz="2200" b="0" dirty="0">
                <a:solidFill>
                  <a:srgbClr val="116644"/>
                </a:solidFill>
                <a:effectLst/>
                <a:latin typeface="Courier New" panose="02070309020205020404" pitchFamily="49" charset="0"/>
              </a:rPr>
              <a:t>0</a:t>
            </a:r>
            <a:r>
              <a:rPr lang="en-US" sz="2200" b="0" dirty="0">
                <a:solidFill>
                  <a:srgbClr val="000000"/>
                </a:solidFill>
                <a:effectLst/>
                <a:latin typeface="Courier New" panose="02070309020205020404" pitchFamily="49" charset="0"/>
              </a:rPr>
              <a:t>], </a:t>
            </a:r>
            <a:r>
              <a:rPr lang="en-US" sz="2200" b="0" dirty="0" err="1">
                <a:solidFill>
                  <a:srgbClr val="000000"/>
                </a:solidFill>
                <a:effectLst/>
                <a:latin typeface="Courier New" panose="02070309020205020404" pitchFamily="49" charset="0"/>
              </a:rPr>
              <a:t>skip_special_tokens</a:t>
            </a:r>
            <a:r>
              <a:rPr lang="en-US" sz="2200" b="0" dirty="0">
                <a:solidFill>
                  <a:srgbClr val="000000"/>
                </a:solidFill>
                <a:effectLst/>
                <a:latin typeface="Courier New" panose="02070309020205020404" pitchFamily="49" charset="0"/>
              </a:rPr>
              <a:t>=</a:t>
            </a:r>
            <a:r>
              <a:rPr lang="en-US" sz="2200" b="0" dirty="0">
                <a:solidFill>
                  <a:srgbClr val="0000FF"/>
                </a:solidFill>
                <a:effectLst/>
                <a:latin typeface="Courier New" panose="02070309020205020404" pitchFamily="49" charset="0"/>
              </a:rPr>
              <a:t>True</a:t>
            </a:r>
            <a:r>
              <a:rPr lang="en-US" sz="2200" b="0" dirty="0">
                <a:solidFill>
                  <a:srgbClr val="000000"/>
                </a:solidFill>
                <a:effectLst/>
                <a:latin typeface="Courier New" panose="02070309020205020404" pitchFamily="49" charset="0"/>
              </a:rPr>
              <a:t>))</a:t>
            </a:r>
          </a:p>
          <a:p>
            <a:pPr>
              <a:lnSpc>
                <a:spcPts val="2475"/>
              </a:lnSpc>
              <a:buNone/>
            </a:pPr>
            <a:br>
              <a:rPr lang="en-US" sz="2200" b="0" dirty="0">
                <a:solidFill>
                  <a:srgbClr val="000000"/>
                </a:solidFill>
                <a:effectLst/>
                <a:latin typeface="Courier New" panose="02070309020205020404" pitchFamily="49" charset="0"/>
              </a:rPr>
            </a:br>
            <a:endParaRPr lang="en-US" sz="2200" b="0" dirty="0">
              <a:solidFill>
                <a:srgbClr val="000000"/>
              </a:solidFill>
              <a:effectLst/>
              <a:latin typeface="Courier New" panose="02070309020205020404" pitchFamily="49" charset="0"/>
            </a:endParaRPr>
          </a:p>
          <a:p>
            <a:pPr>
              <a:lnSpc>
                <a:spcPts val="2475"/>
              </a:lnSpc>
              <a:buNone/>
            </a:pPr>
            <a:r>
              <a:rPr lang="en-US" sz="2200" b="0" dirty="0">
                <a:solidFill>
                  <a:srgbClr val="008000"/>
                </a:solidFill>
                <a:effectLst/>
                <a:latin typeface="Courier New" panose="02070309020205020404" pitchFamily="49" charset="0"/>
              </a:rPr>
              <a:t># prints something like: Preheat the oven to 350 degrees and place the cookie dough in a baking dish [...]</a:t>
            </a:r>
            <a:endParaRPr lang="en-US" sz="2200" b="0" dirty="0">
              <a:solidFill>
                <a:srgbClr val="000000"/>
              </a:solidFill>
              <a:effectLst/>
              <a:latin typeface="Courier New" panose="02070309020205020404" pitchFamily="49" charset="0"/>
            </a:endParaRPr>
          </a:p>
        </p:txBody>
      </p:sp>
    </p:spTree>
    <p:extLst>
      <p:ext uri="{BB962C8B-B14F-4D97-AF65-F5344CB8AC3E}">
        <p14:creationId xmlns:p14="http://schemas.microsoft.com/office/powerpoint/2010/main" val="37085760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8B9AA7C6-5E5A-498E-A6DF-A943376E09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a:extLst>
              <a:ext uri="{FF2B5EF4-FFF2-40B4-BE49-F238E27FC236}">
                <a16:creationId xmlns:a16="http://schemas.microsoft.com/office/drawing/2014/main" id="{83EAB11A-76F7-48F4-9B4F-5BFDF4BF967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4300" y="2385102"/>
            <a:ext cx="574091" cy="2087796"/>
            <a:chOff x="209668" y="2857422"/>
            <a:chExt cx="463662" cy="2087796"/>
          </a:xfrm>
        </p:grpSpPr>
        <p:sp>
          <p:nvSpPr>
            <p:cNvPr id="20" name="Rectangle 19">
              <a:extLst>
                <a:ext uri="{FF2B5EF4-FFF2-40B4-BE49-F238E27FC236}">
                  <a16:creationId xmlns:a16="http://schemas.microsoft.com/office/drawing/2014/main" id="{74D4C416-D5F4-4F6F-A6F1-87A21CD4FC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423947" y="2857422"/>
              <a:ext cx="249383" cy="208779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Connector 20">
              <a:extLst>
                <a:ext uri="{FF2B5EF4-FFF2-40B4-BE49-F238E27FC236}">
                  <a16:creationId xmlns:a16="http://schemas.microsoft.com/office/drawing/2014/main" id="{C6AC1C30-21C6-4BF6-93EE-B211D7A8501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209668" y="2857423"/>
              <a:ext cx="1" cy="208779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23" name="Rectangle 22">
            <a:extLst>
              <a:ext uri="{FF2B5EF4-FFF2-40B4-BE49-F238E27FC236}">
                <a16:creationId xmlns:a16="http://schemas.microsoft.com/office/drawing/2014/main" id="{81E140AE-0ABF-47C8-BF32-7D2F0CF2B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631767"/>
            <a:ext cx="11111729" cy="575240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1DFAFD6-6758-8BA5-EFEA-08494A962C1E}"/>
              </a:ext>
            </a:extLst>
          </p:cNvPr>
          <p:cNvSpPr>
            <a:spLocks noGrp="1"/>
          </p:cNvSpPr>
          <p:nvPr>
            <p:ph type="title"/>
          </p:nvPr>
        </p:nvSpPr>
        <p:spPr>
          <a:xfrm>
            <a:off x="1153618" y="1239927"/>
            <a:ext cx="4008586" cy="4680583"/>
          </a:xfrm>
        </p:spPr>
        <p:txBody>
          <a:bodyPr anchor="ctr">
            <a:normAutofit/>
          </a:bodyPr>
          <a:lstStyle/>
          <a:p>
            <a:r>
              <a:rPr lang="en-US" sz="5200">
                <a:effectLst/>
              </a:rPr>
              <a:t>Applications</a:t>
            </a:r>
            <a:endParaRPr lang="en-US" sz="5200"/>
          </a:p>
        </p:txBody>
      </p:sp>
      <p:sp>
        <p:nvSpPr>
          <p:cNvPr id="3" name="Content Placeholder 2">
            <a:extLst>
              <a:ext uri="{FF2B5EF4-FFF2-40B4-BE49-F238E27FC236}">
                <a16:creationId xmlns:a16="http://schemas.microsoft.com/office/drawing/2014/main" id="{8E533078-1206-C299-4798-939568A7FF1A}"/>
              </a:ext>
            </a:extLst>
          </p:cNvPr>
          <p:cNvSpPr>
            <a:spLocks noGrp="1"/>
          </p:cNvSpPr>
          <p:nvPr>
            <p:ph idx="1"/>
          </p:nvPr>
        </p:nvSpPr>
        <p:spPr>
          <a:xfrm>
            <a:off x="5402118" y="473829"/>
            <a:ext cx="6210353" cy="5446681"/>
          </a:xfrm>
        </p:spPr>
        <p:txBody>
          <a:bodyPr anchor="ctr">
            <a:normAutofit/>
          </a:bodyPr>
          <a:lstStyle/>
          <a:p>
            <a:pPr fontAlgn="base"/>
            <a:r>
              <a:rPr lang="en-US" sz="2000" b="1" dirty="0"/>
              <a:t>Domain Adaptation</a:t>
            </a:r>
            <a:r>
              <a:rPr lang="en-US" sz="2000" dirty="0"/>
              <a:t> – adapting a general pretrained model (e.g., GPT, BERT) to a specific domain like medical, legal, or finance.</a:t>
            </a:r>
          </a:p>
          <a:p>
            <a:pPr fontAlgn="base"/>
            <a:r>
              <a:rPr lang="en-US" sz="2000" b="1" dirty="0"/>
              <a:t>Task Specialization</a:t>
            </a:r>
            <a:r>
              <a:rPr lang="en-US" sz="2000" dirty="0"/>
              <a:t> – improving performance on a narrow task such as sentiment analysis, question answering, or named entity recognition.</a:t>
            </a:r>
          </a:p>
          <a:p>
            <a:pPr fontAlgn="base"/>
            <a:r>
              <a:rPr lang="en-US" sz="2000" b="1" dirty="0"/>
              <a:t>Language/Style Customization</a:t>
            </a:r>
            <a:r>
              <a:rPr lang="en-US" sz="2000" dirty="0"/>
              <a:t> – fine-tuning to handle specific languages, dialects, or writing styles.</a:t>
            </a:r>
          </a:p>
          <a:p>
            <a:pPr fontAlgn="base"/>
            <a:r>
              <a:rPr lang="en-US" sz="2000" b="1" dirty="0"/>
              <a:t>Personalization </a:t>
            </a:r>
            <a:r>
              <a:rPr lang="en-US" sz="2000" dirty="0"/>
              <a:t>– customizing a model to reflect user preferences, vocabulary, or tone.</a:t>
            </a:r>
          </a:p>
          <a:p>
            <a:pPr fontAlgn="base"/>
            <a:r>
              <a:rPr lang="en-US" sz="2000" b="1" dirty="0"/>
              <a:t>Data Efficiency</a:t>
            </a:r>
            <a:r>
              <a:rPr lang="en-US" sz="2000" dirty="0"/>
              <a:t> – leveraging a small dataset to teach a large model new knowledge instead of training from scratch.</a:t>
            </a:r>
          </a:p>
          <a:p>
            <a:pPr fontAlgn="base"/>
            <a:r>
              <a:rPr lang="en-US" sz="2000" b="1" dirty="0"/>
              <a:t>Edge Deployment</a:t>
            </a:r>
            <a:r>
              <a:rPr lang="en-US" sz="2000" dirty="0"/>
              <a:t> – compressing and fine-tuning smaller models for mobile/IoT use cases.</a:t>
            </a:r>
          </a:p>
        </p:txBody>
      </p:sp>
    </p:spTree>
    <p:extLst>
      <p:ext uri="{BB962C8B-B14F-4D97-AF65-F5344CB8AC3E}">
        <p14:creationId xmlns:p14="http://schemas.microsoft.com/office/powerpoint/2010/main" val="41535733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8B9AA7C6-5E5A-498E-A6DF-A943376E09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a:extLst>
              <a:ext uri="{FF2B5EF4-FFF2-40B4-BE49-F238E27FC236}">
                <a16:creationId xmlns:a16="http://schemas.microsoft.com/office/drawing/2014/main" id="{83EAB11A-76F7-48F4-9B4F-5BFDF4BF967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4300" y="2385102"/>
            <a:ext cx="574091" cy="2087796"/>
            <a:chOff x="209668" y="2857422"/>
            <a:chExt cx="463662" cy="2087796"/>
          </a:xfrm>
        </p:grpSpPr>
        <p:sp>
          <p:nvSpPr>
            <p:cNvPr id="20" name="Rectangle 19">
              <a:extLst>
                <a:ext uri="{FF2B5EF4-FFF2-40B4-BE49-F238E27FC236}">
                  <a16:creationId xmlns:a16="http://schemas.microsoft.com/office/drawing/2014/main" id="{74D4C416-D5F4-4F6F-A6F1-87A21CD4FC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423947" y="2857422"/>
              <a:ext cx="249383" cy="208779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Connector 20">
              <a:extLst>
                <a:ext uri="{FF2B5EF4-FFF2-40B4-BE49-F238E27FC236}">
                  <a16:creationId xmlns:a16="http://schemas.microsoft.com/office/drawing/2014/main" id="{C6AC1C30-21C6-4BF6-93EE-B211D7A8501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209668" y="2857423"/>
              <a:ext cx="1" cy="208779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23" name="Rectangle 22">
            <a:extLst>
              <a:ext uri="{FF2B5EF4-FFF2-40B4-BE49-F238E27FC236}">
                <a16:creationId xmlns:a16="http://schemas.microsoft.com/office/drawing/2014/main" id="{81E140AE-0ABF-47C8-BF32-7D2F0CF2B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631767"/>
            <a:ext cx="11111729" cy="575240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EFBB70A-EFFA-EC45-0E52-035336D971F5}"/>
              </a:ext>
            </a:extLst>
          </p:cNvPr>
          <p:cNvSpPr>
            <a:spLocks noGrp="1"/>
          </p:cNvSpPr>
          <p:nvPr>
            <p:ph type="title"/>
          </p:nvPr>
        </p:nvSpPr>
        <p:spPr>
          <a:xfrm>
            <a:off x="1153618" y="1239927"/>
            <a:ext cx="4008586" cy="4680583"/>
          </a:xfrm>
        </p:spPr>
        <p:txBody>
          <a:bodyPr anchor="ctr">
            <a:normAutofit/>
          </a:bodyPr>
          <a:lstStyle/>
          <a:p>
            <a:r>
              <a:rPr lang="en-US" sz="5200">
                <a:effectLst/>
              </a:rPr>
              <a:t>Advantages</a:t>
            </a:r>
            <a:br>
              <a:rPr lang="en-US" sz="5200">
                <a:effectLst/>
              </a:rPr>
            </a:br>
            <a:endParaRPr lang="en-US" sz="5200"/>
          </a:p>
        </p:txBody>
      </p:sp>
      <p:sp>
        <p:nvSpPr>
          <p:cNvPr id="3" name="Content Placeholder 2">
            <a:extLst>
              <a:ext uri="{FF2B5EF4-FFF2-40B4-BE49-F238E27FC236}">
                <a16:creationId xmlns:a16="http://schemas.microsoft.com/office/drawing/2014/main" id="{C14964A5-DB3E-4B5B-980C-F6241F15E122}"/>
              </a:ext>
            </a:extLst>
          </p:cNvPr>
          <p:cNvSpPr>
            <a:spLocks noGrp="1"/>
          </p:cNvSpPr>
          <p:nvPr>
            <p:ph idx="1"/>
          </p:nvPr>
        </p:nvSpPr>
        <p:spPr>
          <a:xfrm>
            <a:off x="4880610" y="473829"/>
            <a:ext cx="6810647" cy="5664081"/>
          </a:xfrm>
        </p:spPr>
        <p:txBody>
          <a:bodyPr anchor="ctr">
            <a:normAutofit fontScale="92500"/>
          </a:bodyPr>
          <a:lstStyle/>
          <a:p>
            <a:pPr marL="0" indent="0" fontAlgn="base">
              <a:buNone/>
            </a:pPr>
            <a:r>
              <a:rPr lang="en-US" sz="2200" dirty="0"/>
              <a:t>Fine-tuning is beneficial when:</a:t>
            </a:r>
          </a:p>
          <a:p>
            <a:pPr fontAlgn="base"/>
            <a:r>
              <a:rPr lang="en-US" sz="2200" b="1" dirty="0"/>
              <a:t>We have a limited dataset</a:t>
            </a:r>
            <a:r>
              <a:rPr lang="en-US" sz="2200" dirty="0"/>
              <a:t>: Fine-tuning a pre-trained model helps achieve high performance even with small amounts of data.</a:t>
            </a:r>
          </a:p>
          <a:p>
            <a:pPr fontAlgn="base"/>
            <a:r>
              <a:rPr lang="en-US" sz="2200" b="1" dirty="0"/>
              <a:t>We need domain-specific expertise</a:t>
            </a:r>
            <a:r>
              <a:rPr lang="en-US" sz="2200" dirty="0"/>
              <a:t>: Adapting a pre-trained model on specialized datasets (like legal or medical text) improves accuracy for specific fields. For example a model trained on general images can be fine-tuned for medical image analysis hence improving accuracy by focusing on relevant features.</a:t>
            </a:r>
          </a:p>
          <a:p>
            <a:pPr fontAlgn="base"/>
            <a:r>
              <a:rPr lang="en-US" sz="2200" b="1" dirty="0"/>
              <a:t>We want to save training time:</a:t>
            </a:r>
            <a:r>
              <a:rPr lang="en-US" sz="2200" dirty="0"/>
              <a:t> Fine-tuning avoids training from scratch, making it a faster solution for time-sensitive projects.</a:t>
            </a:r>
          </a:p>
          <a:p>
            <a:pPr fontAlgn="base"/>
            <a:r>
              <a:rPr lang="en-US" sz="2200" b="1" dirty="0"/>
              <a:t>Better Performance on Smaller Datasets</a:t>
            </a:r>
            <a:r>
              <a:rPr lang="en-US" sz="2200" dirty="0"/>
              <a:t>: Training models on smaller datasets can often result in overfitting as the model has too few examples to learn from. Fine-tuning allows the model to generalize better by using the knowledge from the larger pre-trained dataset.</a:t>
            </a:r>
          </a:p>
        </p:txBody>
      </p:sp>
    </p:spTree>
    <p:extLst>
      <p:ext uri="{BB962C8B-B14F-4D97-AF65-F5344CB8AC3E}">
        <p14:creationId xmlns:p14="http://schemas.microsoft.com/office/powerpoint/2010/main" val="26717047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8B9AA7C6-5E5A-498E-A6DF-A943376E09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a:extLst>
              <a:ext uri="{FF2B5EF4-FFF2-40B4-BE49-F238E27FC236}">
                <a16:creationId xmlns:a16="http://schemas.microsoft.com/office/drawing/2014/main" id="{83EAB11A-76F7-48F4-9B4F-5BFDF4BF967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4300" y="2385102"/>
            <a:ext cx="574091" cy="2087796"/>
            <a:chOff x="209668" y="2857422"/>
            <a:chExt cx="463662" cy="2087796"/>
          </a:xfrm>
        </p:grpSpPr>
        <p:sp>
          <p:nvSpPr>
            <p:cNvPr id="20" name="Rectangle 19">
              <a:extLst>
                <a:ext uri="{FF2B5EF4-FFF2-40B4-BE49-F238E27FC236}">
                  <a16:creationId xmlns:a16="http://schemas.microsoft.com/office/drawing/2014/main" id="{74D4C416-D5F4-4F6F-A6F1-87A21CD4FC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423947" y="2857422"/>
              <a:ext cx="249383" cy="208779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Connector 20">
              <a:extLst>
                <a:ext uri="{FF2B5EF4-FFF2-40B4-BE49-F238E27FC236}">
                  <a16:creationId xmlns:a16="http://schemas.microsoft.com/office/drawing/2014/main" id="{C6AC1C30-21C6-4BF6-93EE-B211D7A8501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209668" y="2857423"/>
              <a:ext cx="1" cy="208779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23" name="Rectangle 22">
            <a:extLst>
              <a:ext uri="{FF2B5EF4-FFF2-40B4-BE49-F238E27FC236}">
                <a16:creationId xmlns:a16="http://schemas.microsoft.com/office/drawing/2014/main" id="{81E140AE-0ABF-47C8-BF32-7D2F0CF2B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631767"/>
            <a:ext cx="11111729" cy="575240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EDA0EA-174A-DF79-ADEA-F48AA76EB12A}"/>
              </a:ext>
            </a:extLst>
          </p:cNvPr>
          <p:cNvSpPr>
            <a:spLocks noGrp="1"/>
          </p:cNvSpPr>
          <p:nvPr>
            <p:ph type="title"/>
          </p:nvPr>
        </p:nvSpPr>
        <p:spPr>
          <a:xfrm>
            <a:off x="1153618" y="1239927"/>
            <a:ext cx="4008586" cy="4680583"/>
          </a:xfrm>
        </p:spPr>
        <p:txBody>
          <a:bodyPr anchor="ctr">
            <a:normAutofit/>
          </a:bodyPr>
          <a:lstStyle/>
          <a:p>
            <a:r>
              <a:rPr lang="en-US" sz="5200">
                <a:effectLst/>
              </a:rPr>
              <a:t>Challenges</a:t>
            </a:r>
            <a:br>
              <a:rPr lang="en-US" sz="5200">
                <a:effectLst/>
              </a:rPr>
            </a:br>
            <a:endParaRPr lang="en-US" sz="5200"/>
          </a:p>
        </p:txBody>
      </p:sp>
      <p:sp>
        <p:nvSpPr>
          <p:cNvPr id="3" name="Content Placeholder 2">
            <a:extLst>
              <a:ext uri="{FF2B5EF4-FFF2-40B4-BE49-F238E27FC236}">
                <a16:creationId xmlns:a16="http://schemas.microsoft.com/office/drawing/2014/main" id="{813CCB93-8688-6813-F363-225B705E7857}"/>
              </a:ext>
            </a:extLst>
          </p:cNvPr>
          <p:cNvSpPr>
            <a:spLocks noGrp="1"/>
          </p:cNvSpPr>
          <p:nvPr>
            <p:ph idx="1"/>
          </p:nvPr>
        </p:nvSpPr>
        <p:spPr>
          <a:xfrm>
            <a:off x="4766310" y="473829"/>
            <a:ext cx="6497437" cy="5446681"/>
          </a:xfrm>
        </p:spPr>
        <p:txBody>
          <a:bodyPr anchor="ctr">
            <a:noAutofit/>
          </a:bodyPr>
          <a:lstStyle/>
          <a:p>
            <a:pPr fontAlgn="base"/>
            <a:r>
              <a:rPr lang="en-US" sz="2400" b="1" dirty="0"/>
              <a:t>Overfitting</a:t>
            </a:r>
            <a:r>
              <a:rPr lang="en-US" sz="2400" dirty="0"/>
              <a:t>: Even though fine-tuning reduces the risk of overfitting compared to training from scratch it can still occur if the new dataset is too small or lacks diversity.</a:t>
            </a:r>
          </a:p>
          <a:p>
            <a:pPr fontAlgn="base"/>
            <a:r>
              <a:rPr lang="en-US" sz="2400" b="1" dirty="0"/>
              <a:t>Computational Constraints</a:t>
            </a:r>
            <a:r>
              <a:rPr lang="en-US" sz="2400" dirty="0"/>
              <a:t>: Fine-tuning may still require considerable computational resources especially when working with large models like GPT or BERT.</a:t>
            </a:r>
          </a:p>
          <a:p>
            <a:pPr fontAlgn="base"/>
            <a:r>
              <a:rPr lang="en-US" sz="2400" b="1" dirty="0"/>
              <a:t>Selecting the Right Layers to Fine-Tune</a:t>
            </a:r>
            <a:r>
              <a:rPr lang="en-US" sz="2400" dirty="0"/>
              <a:t>: Deciding which layers to freeze and which to train can be tricky. Some models may benefit from fine-tuning more layers while others might only require adjustments to the final layers.</a:t>
            </a:r>
          </a:p>
        </p:txBody>
      </p:sp>
    </p:spTree>
    <p:extLst>
      <p:ext uri="{BB962C8B-B14F-4D97-AF65-F5344CB8AC3E}">
        <p14:creationId xmlns:p14="http://schemas.microsoft.com/office/powerpoint/2010/main" val="11310892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CBBED4-D74E-A7E0-B72D-98BC7CD8B410}"/>
              </a:ext>
            </a:extLst>
          </p:cNvPr>
          <p:cNvSpPr>
            <a:spLocks noGrp="1"/>
          </p:cNvSpPr>
          <p:nvPr>
            <p:ph type="title"/>
          </p:nvPr>
        </p:nvSpPr>
        <p:spPr/>
        <p:txBody>
          <a:bodyPr/>
          <a:lstStyle/>
          <a:p>
            <a:r>
              <a:rPr lang="en-US" b="1" dirty="0"/>
              <a:t>How is Fine-Tuning Performed?</a:t>
            </a:r>
            <a:endParaRPr lang="en-US" dirty="0"/>
          </a:p>
        </p:txBody>
      </p:sp>
      <p:sp>
        <p:nvSpPr>
          <p:cNvPr id="3" name="Content Placeholder 2">
            <a:extLst>
              <a:ext uri="{FF2B5EF4-FFF2-40B4-BE49-F238E27FC236}">
                <a16:creationId xmlns:a16="http://schemas.microsoft.com/office/drawing/2014/main" id="{F1861502-5029-8C8C-A036-661268FF5766}"/>
              </a:ext>
            </a:extLst>
          </p:cNvPr>
          <p:cNvSpPr>
            <a:spLocks noGrp="1"/>
          </p:cNvSpPr>
          <p:nvPr>
            <p:ph idx="1"/>
          </p:nvPr>
        </p:nvSpPr>
        <p:spPr>
          <a:xfrm>
            <a:off x="838200" y="1825625"/>
            <a:ext cx="10515600" cy="4667250"/>
          </a:xfrm>
        </p:spPr>
        <p:txBody>
          <a:bodyPr>
            <a:normAutofit lnSpcReduction="10000"/>
          </a:bodyPr>
          <a:lstStyle/>
          <a:p>
            <a:pPr fontAlgn="base"/>
            <a:r>
              <a:rPr lang="en-US" b="1" dirty="0"/>
              <a:t>Select Base Model: </a:t>
            </a:r>
            <a:r>
              <a:rPr lang="en-US" dirty="0"/>
              <a:t>Choose a pre-trained model based on our task and compute budget.</a:t>
            </a:r>
          </a:p>
          <a:p>
            <a:pPr fontAlgn="base"/>
            <a:r>
              <a:rPr lang="en-US" b="1" dirty="0"/>
              <a:t>Choose Fine-Tuning Method:</a:t>
            </a:r>
            <a:r>
              <a:rPr lang="en-US" dirty="0"/>
              <a:t> Select the most appropriate method like </a:t>
            </a:r>
            <a:r>
              <a:rPr lang="en-US" b="1" u="sng" dirty="0">
                <a:hlinkClick r:id="rId2"/>
              </a:rPr>
              <a:t>I</a:t>
            </a:r>
            <a:r>
              <a:rPr lang="en-US" u="sng" dirty="0">
                <a:hlinkClick r:id="rId2"/>
              </a:rPr>
              <a:t>nstruction Fine-Tuning</a:t>
            </a:r>
            <a:r>
              <a:rPr lang="en-US" dirty="0"/>
              <a:t>, </a:t>
            </a:r>
            <a:r>
              <a:rPr lang="en-US" u="sng" dirty="0">
                <a:hlinkClick r:id="rId3"/>
              </a:rPr>
              <a:t>Supervised Fine-Tuning</a:t>
            </a:r>
            <a:r>
              <a:rPr lang="en-US" dirty="0"/>
              <a:t>, </a:t>
            </a:r>
            <a:r>
              <a:rPr lang="en-US" u="sng" dirty="0">
                <a:hlinkClick r:id="rId4"/>
              </a:rPr>
              <a:t>PEFT</a:t>
            </a:r>
            <a:r>
              <a:rPr lang="en-US" dirty="0"/>
              <a:t>, </a:t>
            </a:r>
            <a:r>
              <a:rPr lang="en-US" u="sng" dirty="0" err="1">
                <a:hlinkClick r:id="rId5"/>
              </a:rPr>
              <a:t>LoRA</a:t>
            </a:r>
            <a:r>
              <a:rPr lang="en-US" dirty="0"/>
              <a:t>, </a:t>
            </a:r>
            <a:r>
              <a:rPr lang="en-US" u="sng" dirty="0" err="1">
                <a:hlinkClick r:id="rId6"/>
              </a:rPr>
              <a:t>QLoRA</a:t>
            </a:r>
            <a:r>
              <a:rPr lang="en-US" dirty="0"/>
              <a:t>, </a:t>
            </a:r>
            <a:r>
              <a:rPr lang="en-US" dirty="0" err="1"/>
              <a:t>etc</a:t>
            </a:r>
            <a:r>
              <a:rPr lang="en-US" dirty="0"/>
              <a:t> based on the task and dataset.</a:t>
            </a:r>
          </a:p>
          <a:p>
            <a:pPr fontAlgn="base"/>
            <a:r>
              <a:rPr lang="en-US" b="1" dirty="0"/>
              <a:t>Prepare Dataset:</a:t>
            </a:r>
            <a:r>
              <a:rPr lang="en-US" dirty="0"/>
              <a:t> Structure our data for task-specific training, ensuring the format matches the model's requirements.</a:t>
            </a:r>
          </a:p>
          <a:p>
            <a:pPr fontAlgn="base"/>
            <a:r>
              <a:rPr lang="en-US" b="1" dirty="0"/>
              <a:t>Training: </a:t>
            </a:r>
            <a:r>
              <a:rPr lang="en-US" dirty="0"/>
              <a:t>Use frameworks like TensorFlow, </a:t>
            </a:r>
            <a:r>
              <a:rPr lang="en-US" dirty="0" err="1"/>
              <a:t>PyTorch</a:t>
            </a:r>
            <a:r>
              <a:rPr lang="en-US" dirty="0"/>
              <a:t> or high-level libraries like </a:t>
            </a:r>
            <a:r>
              <a:rPr lang="en-US" u="sng" dirty="0">
                <a:hlinkClick r:id="rId7"/>
              </a:rPr>
              <a:t>Transformers</a:t>
            </a:r>
            <a:r>
              <a:rPr lang="en-US" dirty="0"/>
              <a:t> to fine-tune the model.</a:t>
            </a:r>
          </a:p>
          <a:p>
            <a:pPr fontAlgn="base"/>
            <a:r>
              <a:rPr lang="en-US" b="1" dirty="0"/>
              <a:t>Evaluate and Iterate:</a:t>
            </a:r>
            <a:r>
              <a:rPr lang="en-US" dirty="0"/>
              <a:t> Test the model, refine it as necessary and re-train to improve performance.</a:t>
            </a:r>
          </a:p>
          <a:p>
            <a:endParaRPr lang="en-US" dirty="0"/>
          </a:p>
        </p:txBody>
      </p:sp>
    </p:spTree>
    <p:extLst>
      <p:ext uri="{BB962C8B-B14F-4D97-AF65-F5344CB8AC3E}">
        <p14:creationId xmlns:p14="http://schemas.microsoft.com/office/powerpoint/2010/main" val="2640382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7942995-B07F-4636-9A06-C6A104B26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69D7FD1-DE23-79C4-ED32-D8856950F897}"/>
              </a:ext>
            </a:extLst>
          </p:cNvPr>
          <p:cNvSpPr>
            <a:spLocks noGrp="1"/>
          </p:cNvSpPr>
          <p:nvPr>
            <p:ph type="title"/>
          </p:nvPr>
        </p:nvSpPr>
        <p:spPr>
          <a:xfrm>
            <a:off x="1113810" y="2960716"/>
            <a:ext cx="4036334" cy="2387600"/>
          </a:xfrm>
        </p:spPr>
        <p:txBody>
          <a:bodyPr vert="horz" lIns="91440" tIns="45720" rIns="91440" bIns="45720" rtlCol="0" anchor="t">
            <a:normAutofit/>
          </a:bodyPr>
          <a:lstStyle/>
          <a:p>
            <a:r>
              <a:rPr lang="en-US" sz="5400" kern="1200">
                <a:solidFill>
                  <a:schemeClr val="tx1"/>
                </a:solidFill>
                <a:latin typeface="+mj-lt"/>
                <a:ea typeface="+mj-ea"/>
                <a:cs typeface="+mj-cs"/>
              </a:rPr>
              <a:t>Types of </a:t>
            </a:r>
            <a:r>
              <a:rPr lang="en-US" sz="5400" kern="1200">
                <a:solidFill>
                  <a:schemeClr val="tx1"/>
                </a:solidFill>
                <a:effectLst/>
                <a:latin typeface="+mj-lt"/>
                <a:ea typeface="+mj-ea"/>
                <a:cs typeface="+mj-cs"/>
              </a:rPr>
              <a:t>Fine-tuning</a:t>
            </a:r>
            <a:endParaRPr lang="en-US" sz="5400" kern="1200">
              <a:solidFill>
                <a:schemeClr val="tx1"/>
              </a:solidFill>
              <a:latin typeface="+mj-lt"/>
              <a:ea typeface="+mj-ea"/>
              <a:cs typeface="+mj-cs"/>
            </a:endParaRPr>
          </a:p>
        </p:txBody>
      </p:sp>
      <p:grpSp>
        <p:nvGrpSpPr>
          <p:cNvPr id="12" name="Group 11">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84992"/>
            <a:ext cx="731521" cy="673460"/>
            <a:chOff x="3940602" y="308034"/>
            <a:chExt cx="2116791" cy="3428999"/>
          </a:xfrm>
          <a:solidFill>
            <a:schemeClr val="accent4"/>
          </a:solidFill>
        </p:grpSpPr>
        <p:sp>
          <p:nvSpPr>
            <p:cNvPr id="13" name="Rectangle 12">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1583123F-C9E7-FE84-0E65-81E3EB99858C}"/>
              </a:ext>
            </a:extLst>
          </p:cNvPr>
          <p:cNvPicPr>
            <a:picLocks noChangeAspect="1"/>
          </p:cNvPicPr>
          <p:nvPr/>
        </p:nvPicPr>
        <p:blipFill>
          <a:blip r:embed="rId2"/>
          <a:stretch>
            <a:fillRect/>
          </a:stretch>
        </p:blipFill>
        <p:spPr>
          <a:xfrm>
            <a:off x="5685810" y="708660"/>
            <a:ext cx="6009366" cy="4936965"/>
          </a:xfrm>
          <a:prstGeom prst="rect">
            <a:avLst/>
          </a:prstGeom>
          <a:noFill/>
        </p:spPr>
      </p:pic>
    </p:spTree>
    <p:extLst>
      <p:ext uri="{BB962C8B-B14F-4D97-AF65-F5344CB8AC3E}">
        <p14:creationId xmlns:p14="http://schemas.microsoft.com/office/powerpoint/2010/main" val="22133487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B9AA7C6-5E5A-498E-A6DF-A943376E09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83EAB11A-76F7-48F4-9B4F-5BFDF4BF967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4300" y="2385102"/>
            <a:ext cx="574091" cy="2087796"/>
            <a:chOff x="209668" y="2857422"/>
            <a:chExt cx="463662" cy="2087796"/>
          </a:xfrm>
        </p:grpSpPr>
        <p:sp>
          <p:nvSpPr>
            <p:cNvPr id="11" name="Rectangle 10">
              <a:extLst>
                <a:ext uri="{FF2B5EF4-FFF2-40B4-BE49-F238E27FC236}">
                  <a16:creationId xmlns:a16="http://schemas.microsoft.com/office/drawing/2014/main" id="{74D4C416-D5F4-4F6F-A6F1-87A21CD4FC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423947" y="2857422"/>
              <a:ext cx="249383" cy="208779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C6AC1C30-21C6-4BF6-93EE-B211D7A8501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209668" y="2857423"/>
              <a:ext cx="1" cy="208779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81E140AE-0ABF-47C8-BF32-7D2F0CF2B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631767"/>
            <a:ext cx="11111729" cy="575240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0ED4D5-C564-6A29-E88B-6B5CBAC4332E}"/>
              </a:ext>
            </a:extLst>
          </p:cNvPr>
          <p:cNvSpPr>
            <a:spLocks noGrp="1"/>
          </p:cNvSpPr>
          <p:nvPr>
            <p:ph type="title"/>
          </p:nvPr>
        </p:nvSpPr>
        <p:spPr>
          <a:xfrm>
            <a:off x="1153618" y="1239927"/>
            <a:ext cx="4008586" cy="4680583"/>
          </a:xfrm>
        </p:spPr>
        <p:txBody>
          <a:bodyPr anchor="ctr">
            <a:normAutofit/>
          </a:bodyPr>
          <a:lstStyle/>
          <a:p>
            <a:r>
              <a:rPr lang="en-US" sz="5200"/>
              <a:t>1. Supervised Fine-Tuning</a:t>
            </a:r>
            <a:br>
              <a:rPr lang="en-US" sz="5200"/>
            </a:br>
            <a:endParaRPr lang="en-US" sz="5200"/>
          </a:p>
        </p:txBody>
      </p:sp>
      <p:sp>
        <p:nvSpPr>
          <p:cNvPr id="3" name="Content Placeholder 2">
            <a:extLst>
              <a:ext uri="{FF2B5EF4-FFF2-40B4-BE49-F238E27FC236}">
                <a16:creationId xmlns:a16="http://schemas.microsoft.com/office/drawing/2014/main" id="{D635BAA3-77B9-3D10-CCFB-B90E18110A0E}"/>
              </a:ext>
            </a:extLst>
          </p:cNvPr>
          <p:cNvSpPr>
            <a:spLocks noGrp="1"/>
          </p:cNvSpPr>
          <p:nvPr>
            <p:ph idx="1"/>
          </p:nvPr>
        </p:nvSpPr>
        <p:spPr>
          <a:xfrm>
            <a:off x="5402119" y="1239927"/>
            <a:ext cx="5705097" cy="4680583"/>
          </a:xfrm>
        </p:spPr>
        <p:txBody>
          <a:bodyPr anchor="ctr">
            <a:normAutofit/>
          </a:bodyPr>
          <a:lstStyle/>
          <a:p>
            <a:pPr fontAlgn="base"/>
            <a:r>
              <a:rPr lang="en-US" sz="2400" dirty="0"/>
              <a:t>Further trains a pre-trained model on a task-specific labeled dataset (input-output pairs).</a:t>
            </a:r>
          </a:p>
          <a:p>
            <a:pPr fontAlgn="base"/>
            <a:r>
              <a:rPr lang="en-US" sz="2400" dirty="0"/>
              <a:t>Updates all model weights to adapt it to the new task.</a:t>
            </a:r>
          </a:p>
          <a:p>
            <a:pPr fontAlgn="base"/>
            <a:r>
              <a:rPr lang="en-US" sz="2400" dirty="0"/>
              <a:t>Best for tasks like sentiment analysis and text classification where labeled data is available.</a:t>
            </a:r>
          </a:p>
          <a:p>
            <a:endParaRPr lang="en-US" sz="2400" dirty="0"/>
          </a:p>
        </p:txBody>
      </p:sp>
      <p:sp>
        <p:nvSpPr>
          <p:cNvPr id="5" name="TextBox 4">
            <a:extLst>
              <a:ext uri="{FF2B5EF4-FFF2-40B4-BE49-F238E27FC236}">
                <a16:creationId xmlns:a16="http://schemas.microsoft.com/office/drawing/2014/main" id="{34E8EF32-279C-2D09-C4FE-523E97A6942F}"/>
              </a:ext>
            </a:extLst>
          </p:cNvPr>
          <p:cNvSpPr txBox="1"/>
          <p:nvPr/>
        </p:nvSpPr>
        <p:spPr>
          <a:xfrm>
            <a:off x="2534901" y="5274179"/>
            <a:ext cx="6104238" cy="646331"/>
          </a:xfrm>
          <a:prstGeom prst="rect">
            <a:avLst/>
          </a:prstGeom>
          <a:noFill/>
        </p:spPr>
        <p:txBody>
          <a:bodyPr wrap="square">
            <a:spAutoFit/>
          </a:bodyPr>
          <a:lstStyle/>
          <a:p>
            <a:r>
              <a:rPr lang="en-US" dirty="0"/>
              <a:t>https://medium.com/data-science-collective/supervised-fine-tuning-step-by-step-aefe6fbe5e09</a:t>
            </a:r>
          </a:p>
        </p:txBody>
      </p:sp>
    </p:spTree>
    <p:extLst>
      <p:ext uri="{BB962C8B-B14F-4D97-AF65-F5344CB8AC3E}">
        <p14:creationId xmlns:p14="http://schemas.microsoft.com/office/powerpoint/2010/main" val="20407174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C1598-23B4-BC65-C638-57A454EF4122}"/>
              </a:ext>
            </a:extLst>
          </p:cNvPr>
          <p:cNvSpPr>
            <a:spLocks noGrp="1"/>
          </p:cNvSpPr>
          <p:nvPr>
            <p:ph type="title"/>
          </p:nvPr>
        </p:nvSpPr>
        <p:spPr/>
        <p:txBody>
          <a:bodyPr/>
          <a:lstStyle/>
          <a:p>
            <a:endParaRPr lang="en-US" dirty="0"/>
          </a:p>
        </p:txBody>
      </p:sp>
      <p:pic>
        <p:nvPicPr>
          <p:cNvPr id="5" name="Content Placeholder 4">
            <a:extLst>
              <a:ext uri="{FF2B5EF4-FFF2-40B4-BE49-F238E27FC236}">
                <a16:creationId xmlns:a16="http://schemas.microsoft.com/office/drawing/2014/main" id="{3AB5C55C-DC95-C71E-7ADA-3740FC0BA825}"/>
              </a:ext>
            </a:extLst>
          </p:cNvPr>
          <p:cNvPicPr>
            <a:picLocks noGrp="1" noChangeAspect="1"/>
          </p:cNvPicPr>
          <p:nvPr>
            <p:ph idx="1"/>
          </p:nvPr>
        </p:nvPicPr>
        <p:blipFill>
          <a:blip r:embed="rId2"/>
          <a:stretch>
            <a:fillRect/>
          </a:stretch>
        </p:blipFill>
        <p:spPr>
          <a:xfrm>
            <a:off x="838200" y="1850339"/>
            <a:ext cx="10876005" cy="4351338"/>
          </a:xfrm>
          <a:prstGeom prst="rect">
            <a:avLst/>
          </a:prstGeom>
        </p:spPr>
      </p:pic>
    </p:spTree>
    <p:extLst>
      <p:ext uri="{BB962C8B-B14F-4D97-AF65-F5344CB8AC3E}">
        <p14:creationId xmlns:p14="http://schemas.microsoft.com/office/powerpoint/2010/main" val="31997200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B9AA7C6-5E5A-498E-A6DF-A943376E09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83EAB11A-76F7-48F4-9B4F-5BFDF4BF967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4300" y="2385102"/>
            <a:ext cx="574091" cy="2087796"/>
            <a:chOff x="209668" y="2857422"/>
            <a:chExt cx="463662" cy="2087796"/>
          </a:xfrm>
        </p:grpSpPr>
        <p:sp>
          <p:nvSpPr>
            <p:cNvPr id="11" name="Rectangle 10">
              <a:extLst>
                <a:ext uri="{FF2B5EF4-FFF2-40B4-BE49-F238E27FC236}">
                  <a16:creationId xmlns:a16="http://schemas.microsoft.com/office/drawing/2014/main" id="{74D4C416-D5F4-4F6F-A6F1-87A21CD4FC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423947" y="2857422"/>
              <a:ext cx="249383" cy="208779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C6AC1C30-21C6-4BF6-93EE-B211D7A8501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209668" y="2857423"/>
              <a:ext cx="1" cy="208779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81E140AE-0ABF-47C8-BF32-7D2F0CF2B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631767"/>
            <a:ext cx="11111729" cy="575240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C5A29C3-D31B-4865-BEF5-92B971BA1131}"/>
              </a:ext>
            </a:extLst>
          </p:cNvPr>
          <p:cNvSpPr>
            <a:spLocks noGrp="1"/>
          </p:cNvSpPr>
          <p:nvPr>
            <p:ph type="title"/>
          </p:nvPr>
        </p:nvSpPr>
        <p:spPr>
          <a:xfrm>
            <a:off x="1153618" y="1239927"/>
            <a:ext cx="4008586" cy="4680583"/>
          </a:xfrm>
        </p:spPr>
        <p:txBody>
          <a:bodyPr anchor="ctr">
            <a:normAutofit/>
          </a:bodyPr>
          <a:lstStyle/>
          <a:p>
            <a:r>
              <a:rPr lang="en-US" sz="5200"/>
              <a:t>2. Instruction Fine-Tuning</a:t>
            </a:r>
            <a:br>
              <a:rPr lang="en-US" sz="5200"/>
            </a:br>
            <a:endParaRPr lang="en-US" sz="5200"/>
          </a:p>
        </p:txBody>
      </p:sp>
      <p:sp>
        <p:nvSpPr>
          <p:cNvPr id="3" name="Content Placeholder 2">
            <a:extLst>
              <a:ext uri="{FF2B5EF4-FFF2-40B4-BE49-F238E27FC236}">
                <a16:creationId xmlns:a16="http://schemas.microsoft.com/office/drawing/2014/main" id="{18704BCF-A402-E0FE-1AA6-38C804BDF99A}"/>
              </a:ext>
            </a:extLst>
          </p:cNvPr>
          <p:cNvSpPr>
            <a:spLocks noGrp="1"/>
          </p:cNvSpPr>
          <p:nvPr>
            <p:ph idx="1"/>
          </p:nvPr>
        </p:nvSpPr>
        <p:spPr>
          <a:xfrm>
            <a:off x="5609767" y="1239927"/>
            <a:ext cx="5653980" cy="4680583"/>
          </a:xfrm>
        </p:spPr>
        <p:txBody>
          <a:bodyPr anchor="ctr">
            <a:normAutofit/>
          </a:bodyPr>
          <a:lstStyle/>
          <a:p>
            <a:pPr fontAlgn="base"/>
            <a:r>
              <a:rPr lang="en-US" sz="2400" dirty="0"/>
              <a:t>Trains the model using datasets pairing instructions (prompts) with expected responses.</a:t>
            </a:r>
          </a:p>
          <a:p>
            <a:pPr fontAlgn="base"/>
            <a:r>
              <a:rPr lang="en-US" sz="2400" dirty="0"/>
              <a:t>Helps the model generalize to new tasks and follow natural language instructions.</a:t>
            </a:r>
          </a:p>
          <a:p>
            <a:pPr fontAlgn="base"/>
            <a:r>
              <a:rPr lang="en-US" sz="2400" dirty="0"/>
              <a:t>Commonly used in chatbots, question answering and open-ended tasks.</a:t>
            </a:r>
          </a:p>
          <a:p>
            <a:endParaRPr lang="en-US" sz="2400" dirty="0"/>
          </a:p>
        </p:txBody>
      </p:sp>
    </p:spTree>
    <p:extLst>
      <p:ext uri="{BB962C8B-B14F-4D97-AF65-F5344CB8AC3E}">
        <p14:creationId xmlns:p14="http://schemas.microsoft.com/office/powerpoint/2010/main" val="9197093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B9AA7C6-5E5A-498E-A6DF-A943376E09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83EAB11A-76F7-48F4-9B4F-5BFDF4BF967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4300" y="2385102"/>
            <a:ext cx="574091" cy="2087796"/>
            <a:chOff x="209668" y="2857422"/>
            <a:chExt cx="463662" cy="2087796"/>
          </a:xfrm>
        </p:grpSpPr>
        <p:sp>
          <p:nvSpPr>
            <p:cNvPr id="11" name="Rectangle 10">
              <a:extLst>
                <a:ext uri="{FF2B5EF4-FFF2-40B4-BE49-F238E27FC236}">
                  <a16:creationId xmlns:a16="http://schemas.microsoft.com/office/drawing/2014/main" id="{74D4C416-D5F4-4F6F-A6F1-87A21CD4FC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423947" y="2857422"/>
              <a:ext cx="249383" cy="208779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C6AC1C30-21C6-4BF6-93EE-B211D7A8501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209668" y="2857423"/>
              <a:ext cx="1" cy="208779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81E140AE-0ABF-47C8-BF32-7D2F0CF2B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631767"/>
            <a:ext cx="11111729" cy="575240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61DEAFA-E27D-EB24-3F71-2CCBAEF431E8}"/>
              </a:ext>
            </a:extLst>
          </p:cNvPr>
          <p:cNvSpPr>
            <a:spLocks noGrp="1"/>
          </p:cNvSpPr>
          <p:nvPr>
            <p:ph type="title"/>
          </p:nvPr>
        </p:nvSpPr>
        <p:spPr>
          <a:xfrm>
            <a:off x="1153618" y="1239927"/>
            <a:ext cx="4008586" cy="4680583"/>
          </a:xfrm>
        </p:spPr>
        <p:txBody>
          <a:bodyPr anchor="ctr">
            <a:normAutofit/>
          </a:bodyPr>
          <a:lstStyle/>
          <a:p>
            <a:r>
              <a:rPr lang="en-US" sz="5200"/>
              <a:t>3. Parameter-Efficient Fine-Tuning (PEFT)</a:t>
            </a:r>
          </a:p>
        </p:txBody>
      </p:sp>
      <p:sp>
        <p:nvSpPr>
          <p:cNvPr id="3" name="Content Placeholder 2">
            <a:extLst>
              <a:ext uri="{FF2B5EF4-FFF2-40B4-BE49-F238E27FC236}">
                <a16:creationId xmlns:a16="http://schemas.microsoft.com/office/drawing/2014/main" id="{95AF09F7-D150-95C4-3EF5-B20D82C4B0B1}"/>
              </a:ext>
            </a:extLst>
          </p:cNvPr>
          <p:cNvSpPr>
            <a:spLocks noGrp="1"/>
          </p:cNvSpPr>
          <p:nvPr>
            <p:ph idx="1"/>
          </p:nvPr>
        </p:nvSpPr>
        <p:spPr>
          <a:xfrm>
            <a:off x="5736294" y="1239927"/>
            <a:ext cx="5527453" cy="4680583"/>
          </a:xfrm>
        </p:spPr>
        <p:txBody>
          <a:bodyPr anchor="ctr">
            <a:normAutofit/>
          </a:bodyPr>
          <a:lstStyle/>
          <a:p>
            <a:pPr fontAlgn="base"/>
            <a:r>
              <a:rPr lang="en-US" sz="2400" dirty="0"/>
              <a:t>Adjusts only a small subset of parameters, keeping most of the model unchanged.</a:t>
            </a:r>
          </a:p>
          <a:p>
            <a:pPr fontAlgn="base"/>
            <a:r>
              <a:rPr lang="en-US" sz="2400" dirty="0"/>
              <a:t>Methods include training adapter layers, low-rank reparameterization (</a:t>
            </a:r>
            <a:r>
              <a:rPr lang="en-US" sz="2400" dirty="0" err="1"/>
              <a:t>LoRA</a:t>
            </a:r>
            <a:r>
              <a:rPr lang="en-US" sz="2400" dirty="0"/>
              <a:t>) or just prompt tokens.</a:t>
            </a:r>
          </a:p>
          <a:p>
            <a:pPr fontAlgn="base"/>
            <a:r>
              <a:rPr lang="en-US" sz="2400" dirty="0"/>
              <a:t>Enables efficient adaptation of large models with less memory and computation—for example, PEFT can reduce trainable parameters from tens of thousands to just a few thousand.</a:t>
            </a:r>
          </a:p>
          <a:p>
            <a:endParaRPr lang="en-US" sz="2400" dirty="0"/>
          </a:p>
        </p:txBody>
      </p:sp>
    </p:spTree>
    <p:extLst>
      <p:ext uri="{BB962C8B-B14F-4D97-AF65-F5344CB8AC3E}">
        <p14:creationId xmlns:p14="http://schemas.microsoft.com/office/powerpoint/2010/main" val="16561298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B9AA7C6-5E5A-498E-A6DF-A943376E09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83EAB11A-76F7-48F4-9B4F-5BFDF4BF967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4300" y="2385102"/>
            <a:ext cx="574091" cy="2087796"/>
            <a:chOff x="209668" y="2857422"/>
            <a:chExt cx="463662" cy="2087796"/>
          </a:xfrm>
        </p:grpSpPr>
        <p:sp>
          <p:nvSpPr>
            <p:cNvPr id="11" name="Rectangle 10">
              <a:extLst>
                <a:ext uri="{FF2B5EF4-FFF2-40B4-BE49-F238E27FC236}">
                  <a16:creationId xmlns:a16="http://schemas.microsoft.com/office/drawing/2014/main" id="{74D4C416-D5F4-4F6F-A6F1-87A21CD4FC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423947" y="2857422"/>
              <a:ext cx="249383" cy="208779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C6AC1C30-21C6-4BF6-93EE-B211D7A8501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209668" y="2857423"/>
              <a:ext cx="1" cy="208779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81E140AE-0ABF-47C8-BF32-7D2F0CF2B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631767"/>
            <a:ext cx="11111729" cy="575240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0651E3-D92E-4EFF-DDF6-CDFB63B449C7}"/>
              </a:ext>
            </a:extLst>
          </p:cNvPr>
          <p:cNvSpPr>
            <a:spLocks noGrp="1"/>
          </p:cNvSpPr>
          <p:nvPr>
            <p:ph type="title"/>
          </p:nvPr>
        </p:nvSpPr>
        <p:spPr>
          <a:xfrm>
            <a:off x="1153618" y="1239927"/>
            <a:ext cx="4008586" cy="4680583"/>
          </a:xfrm>
        </p:spPr>
        <p:txBody>
          <a:bodyPr anchor="ctr">
            <a:normAutofit/>
          </a:bodyPr>
          <a:lstStyle/>
          <a:p>
            <a:r>
              <a:rPr lang="en-US" sz="5200" dirty="0"/>
              <a:t>Types of PEFT</a:t>
            </a:r>
          </a:p>
        </p:txBody>
      </p:sp>
      <p:sp>
        <p:nvSpPr>
          <p:cNvPr id="3" name="Content Placeholder 2">
            <a:extLst>
              <a:ext uri="{FF2B5EF4-FFF2-40B4-BE49-F238E27FC236}">
                <a16:creationId xmlns:a16="http://schemas.microsoft.com/office/drawing/2014/main" id="{98413E2D-BBC9-4095-36EF-F72F21F5B9E6}"/>
              </a:ext>
            </a:extLst>
          </p:cNvPr>
          <p:cNvSpPr>
            <a:spLocks noGrp="1"/>
          </p:cNvSpPr>
          <p:nvPr>
            <p:ph idx="1"/>
          </p:nvPr>
        </p:nvSpPr>
        <p:spPr>
          <a:xfrm>
            <a:off x="5609767" y="1239927"/>
            <a:ext cx="5653980" cy="4680583"/>
          </a:xfrm>
        </p:spPr>
        <p:txBody>
          <a:bodyPr anchor="ctr">
            <a:normAutofit/>
          </a:bodyPr>
          <a:lstStyle/>
          <a:p>
            <a:pPr marL="0" indent="0">
              <a:buNone/>
            </a:pPr>
            <a:r>
              <a:rPr lang="en-US" dirty="0"/>
              <a:t>There are two important PEFT methods: </a:t>
            </a:r>
          </a:p>
          <a:p>
            <a:r>
              <a:rPr lang="en-US" b="1" dirty="0" err="1"/>
              <a:t>LoRA</a:t>
            </a:r>
            <a:r>
              <a:rPr lang="en-US" b="1" dirty="0"/>
              <a:t> (Low Rank Adaptation) and</a:t>
            </a:r>
          </a:p>
          <a:p>
            <a:r>
              <a:rPr lang="en-US" b="1" dirty="0" err="1"/>
              <a:t>QLoRA</a:t>
            </a:r>
            <a:r>
              <a:rPr lang="en-US" b="1" dirty="0"/>
              <a:t> (Quantized </a:t>
            </a:r>
            <a:r>
              <a:rPr lang="en-US" b="1" dirty="0" err="1"/>
              <a:t>LoRA</a:t>
            </a:r>
            <a:r>
              <a:rPr lang="en-US" b="1" dirty="0"/>
              <a:t>)</a:t>
            </a:r>
          </a:p>
          <a:p>
            <a:pPr marL="0" indent="0">
              <a:buNone/>
            </a:pPr>
            <a:r>
              <a:rPr lang="en-US" dirty="0"/>
              <a:t>With a consumer-grade GPU, you can fine-tune a </a:t>
            </a:r>
            <a:r>
              <a:rPr lang="en-US" dirty="0">
                <a:hlinkClick r:id="rId2">
                  <a:extLst>
                    <a:ext uri="{A12FA001-AC4F-418D-AE19-62706E023703}">
                      <ahyp:hlinkClr xmlns:ahyp="http://schemas.microsoft.com/office/drawing/2018/hyperlinkcolor" val="tx"/>
                    </a:ext>
                  </a:extLst>
                </a:hlinkClick>
              </a:rPr>
              <a:t>Llama 3.1</a:t>
            </a:r>
            <a:r>
              <a:rPr lang="en-US" dirty="0"/>
              <a:t> 8B model with </a:t>
            </a:r>
            <a:r>
              <a:rPr lang="en-US" dirty="0" err="1"/>
              <a:t>LoRA</a:t>
            </a:r>
            <a:r>
              <a:rPr lang="en-US" dirty="0"/>
              <a:t>, and a </a:t>
            </a:r>
            <a:r>
              <a:rPr lang="en-US" dirty="0">
                <a:hlinkClick r:id="rId3">
                  <a:extLst>
                    <a:ext uri="{A12FA001-AC4F-418D-AE19-62706E023703}">
                      <ahyp:hlinkClr xmlns:ahyp="http://schemas.microsoft.com/office/drawing/2018/hyperlinkcolor" val="tx"/>
                    </a:ext>
                  </a:extLst>
                </a:hlinkClick>
              </a:rPr>
              <a:t>Llama 3.3</a:t>
            </a:r>
            <a:r>
              <a:rPr lang="en-US" dirty="0"/>
              <a:t> 70B model with </a:t>
            </a:r>
            <a:r>
              <a:rPr lang="en-US" dirty="0" err="1"/>
              <a:t>QLoRA</a:t>
            </a:r>
            <a:r>
              <a:rPr lang="en-US" dirty="0"/>
              <a:t>.</a:t>
            </a:r>
          </a:p>
        </p:txBody>
      </p:sp>
    </p:spTree>
    <p:extLst>
      <p:ext uri="{BB962C8B-B14F-4D97-AF65-F5344CB8AC3E}">
        <p14:creationId xmlns:p14="http://schemas.microsoft.com/office/powerpoint/2010/main" val="37894291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B9AA7C6-5E5A-498E-A6DF-A943376E09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83EAB11A-76F7-48F4-9B4F-5BFDF4BF967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4300" y="2385102"/>
            <a:ext cx="574091" cy="2087796"/>
            <a:chOff x="209668" y="2857422"/>
            <a:chExt cx="463662" cy="2087796"/>
          </a:xfrm>
        </p:grpSpPr>
        <p:sp>
          <p:nvSpPr>
            <p:cNvPr id="11" name="Rectangle 10">
              <a:extLst>
                <a:ext uri="{FF2B5EF4-FFF2-40B4-BE49-F238E27FC236}">
                  <a16:creationId xmlns:a16="http://schemas.microsoft.com/office/drawing/2014/main" id="{74D4C416-D5F4-4F6F-A6F1-87A21CD4FC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423947" y="2857422"/>
              <a:ext cx="249383" cy="208779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C6AC1C30-21C6-4BF6-93EE-B211D7A8501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209668" y="2857423"/>
              <a:ext cx="1" cy="208779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81E140AE-0ABF-47C8-BF32-7D2F0CF2B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631767"/>
            <a:ext cx="11111729" cy="575240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7E02084-71E2-30E2-5022-03D8C30556AC}"/>
              </a:ext>
            </a:extLst>
          </p:cNvPr>
          <p:cNvSpPr>
            <a:spLocks noGrp="1"/>
          </p:cNvSpPr>
          <p:nvPr>
            <p:ph type="title"/>
          </p:nvPr>
        </p:nvSpPr>
        <p:spPr>
          <a:xfrm>
            <a:off x="1153618" y="1239927"/>
            <a:ext cx="4008586" cy="4680583"/>
          </a:xfrm>
        </p:spPr>
        <p:txBody>
          <a:bodyPr anchor="ctr">
            <a:normAutofit/>
          </a:bodyPr>
          <a:lstStyle/>
          <a:p>
            <a:r>
              <a:rPr lang="en-US" sz="5200">
                <a:effectLst/>
              </a:rPr>
              <a:t>Low-rank adaptation (LoRA)</a:t>
            </a:r>
            <a:br>
              <a:rPr lang="en-US" sz="5200">
                <a:effectLst/>
              </a:rPr>
            </a:br>
            <a:endParaRPr lang="en-US" sz="5200"/>
          </a:p>
        </p:txBody>
      </p:sp>
      <p:sp>
        <p:nvSpPr>
          <p:cNvPr id="3" name="Content Placeholder 2">
            <a:extLst>
              <a:ext uri="{FF2B5EF4-FFF2-40B4-BE49-F238E27FC236}">
                <a16:creationId xmlns:a16="http://schemas.microsoft.com/office/drawing/2014/main" id="{8D0F089D-DE7F-D80C-1FA7-5F64837646BF}"/>
              </a:ext>
            </a:extLst>
          </p:cNvPr>
          <p:cNvSpPr>
            <a:spLocks noGrp="1"/>
          </p:cNvSpPr>
          <p:nvPr>
            <p:ph idx="1"/>
          </p:nvPr>
        </p:nvSpPr>
        <p:spPr>
          <a:xfrm>
            <a:off x="5162204" y="1239927"/>
            <a:ext cx="6101543" cy="4680583"/>
          </a:xfrm>
        </p:spPr>
        <p:txBody>
          <a:bodyPr anchor="ctr">
            <a:normAutofit/>
          </a:bodyPr>
          <a:lstStyle/>
          <a:p>
            <a:pPr marL="0" indent="0">
              <a:buNone/>
            </a:pPr>
            <a:r>
              <a:rPr lang="en-US" sz="2400" u="sng" dirty="0" err="1">
                <a:hlinkClick r:id="rId2"/>
              </a:rPr>
              <a:t>LoRA</a:t>
            </a:r>
            <a:r>
              <a:rPr lang="en-US" sz="2400" dirty="0"/>
              <a:t> is a PEFT technique that reduces the number of trainable parameters by adding low-rank matrices to the network and only training those. </a:t>
            </a:r>
          </a:p>
          <a:p>
            <a:pPr marL="0" indent="0">
              <a:buNone/>
            </a:pPr>
            <a:r>
              <a:rPr lang="en-US" sz="2400" dirty="0" err="1"/>
              <a:t>LoRA</a:t>
            </a:r>
            <a:r>
              <a:rPr lang="en-US" sz="2400" dirty="0"/>
              <a:t> results in a significant reduction in the number of trainable parameters, making it more efficient in terms of both compute and memory requirements.</a:t>
            </a:r>
          </a:p>
        </p:txBody>
      </p:sp>
    </p:spTree>
    <p:extLst>
      <p:ext uri="{BB962C8B-B14F-4D97-AF65-F5344CB8AC3E}">
        <p14:creationId xmlns:p14="http://schemas.microsoft.com/office/powerpoint/2010/main" val="34456590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B9AA7C6-5E5A-498E-A6DF-A943376E09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83EAB11A-76F7-48F4-9B4F-5BFDF4BF967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4300" y="2385102"/>
            <a:ext cx="574091" cy="2087796"/>
            <a:chOff x="209668" y="2857422"/>
            <a:chExt cx="463662" cy="2087796"/>
          </a:xfrm>
        </p:grpSpPr>
        <p:sp>
          <p:nvSpPr>
            <p:cNvPr id="11" name="Rectangle 10">
              <a:extLst>
                <a:ext uri="{FF2B5EF4-FFF2-40B4-BE49-F238E27FC236}">
                  <a16:creationId xmlns:a16="http://schemas.microsoft.com/office/drawing/2014/main" id="{74D4C416-D5F4-4F6F-A6F1-87A21CD4FC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423947" y="2857422"/>
              <a:ext cx="249383" cy="208779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C6AC1C30-21C6-4BF6-93EE-B211D7A8501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209668" y="2857423"/>
              <a:ext cx="1" cy="208779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81E140AE-0ABF-47C8-BF32-7D2F0CF2B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631767"/>
            <a:ext cx="11111729" cy="575240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4C587F7-FF99-F06D-D5FF-154F54B5F933}"/>
              </a:ext>
            </a:extLst>
          </p:cNvPr>
          <p:cNvSpPr>
            <a:spLocks noGrp="1"/>
          </p:cNvSpPr>
          <p:nvPr>
            <p:ph type="title"/>
          </p:nvPr>
        </p:nvSpPr>
        <p:spPr>
          <a:xfrm>
            <a:off x="1153618" y="1239927"/>
            <a:ext cx="4008586" cy="4680583"/>
          </a:xfrm>
        </p:spPr>
        <p:txBody>
          <a:bodyPr anchor="ctr">
            <a:normAutofit/>
          </a:bodyPr>
          <a:lstStyle/>
          <a:p>
            <a:pPr algn="ctr"/>
            <a:r>
              <a:rPr lang="en-US" sz="5200" dirty="0"/>
              <a:t>A</a:t>
            </a:r>
            <a:r>
              <a:rPr lang="en-US" sz="5200" b="0" dirty="0">
                <a:effectLst/>
              </a:rPr>
              <a:t>dvantages of </a:t>
            </a:r>
            <a:r>
              <a:rPr lang="en-US" sz="5200" b="0" dirty="0" err="1">
                <a:effectLst/>
              </a:rPr>
              <a:t>LoRA</a:t>
            </a:r>
            <a:endParaRPr lang="en-US" sz="5200" dirty="0"/>
          </a:p>
        </p:txBody>
      </p:sp>
      <p:sp>
        <p:nvSpPr>
          <p:cNvPr id="3" name="Content Placeholder 2">
            <a:extLst>
              <a:ext uri="{FF2B5EF4-FFF2-40B4-BE49-F238E27FC236}">
                <a16:creationId xmlns:a16="http://schemas.microsoft.com/office/drawing/2014/main" id="{B6EAD2DA-63E3-E18A-6FF5-747B5CA38D5D}"/>
              </a:ext>
            </a:extLst>
          </p:cNvPr>
          <p:cNvSpPr>
            <a:spLocks noGrp="1"/>
          </p:cNvSpPr>
          <p:nvPr>
            <p:ph idx="1"/>
          </p:nvPr>
        </p:nvSpPr>
        <p:spPr>
          <a:xfrm>
            <a:off x="5609766" y="857251"/>
            <a:ext cx="5911673" cy="5063260"/>
          </a:xfrm>
        </p:spPr>
        <p:txBody>
          <a:bodyPr anchor="ctr">
            <a:normAutofit lnSpcReduction="10000"/>
          </a:bodyPr>
          <a:lstStyle/>
          <a:p>
            <a:pPr algn="just"/>
            <a:r>
              <a:rPr lang="en-US" sz="2400" b="1" dirty="0"/>
              <a:t>Reduced memory requirements</a:t>
            </a:r>
            <a:r>
              <a:rPr lang="en-US" sz="2400" dirty="0"/>
              <a:t>: </a:t>
            </a:r>
            <a:r>
              <a:rPr lang="en-US" sz="2400" dirty="0" err="1"/>
              <a:t>LoRA</a:t>
            </a:r>
            <a:r>
              <a:rPr lang="en-US" sz="2400" dirty="0"/>
              <a:t> requires less memory to store the gradients and optimizer states, as only the low-rank matrices need to be updated.</a:t>
            </a:r>
          </a:p>
          <a:p>
            <a:pPr algn="just"/>
            <a:r>
              <a:rPr lang="en-US" sz="2400" b="1" dirty="0"/>
              <a:t>Faster training</a:t>
            </a:r>
            <a:r>
              <a:rPr lang="en-US" sz="2400" dirty="0"/>
              <a:t>: </a:t>
            </a:r>
            <a:r>
              <a:rPr lang="en-US" sz="2400" dirty="0" err="1"/>
              <a:t>LoRA</a:t>
            </a:r>
            <a:r>
              <a:rPr lang="en-US" sz="2400" dirty="0"/>
              <a:t> reduces the computational cost of fine-tuning, as the number of operations required to update the model's weights is significantly reduced.</a:t>
            </a:r>
          </a:p>
          <a:p>
            <a:pPr algn="just"/>
            <a:r>
              <a:rPr lang="en-US" sz="2400" b="1" dirty="0"/>
              <a:t>Improved performance</a:t>
            </a:r>
            <a:r>
              <a:rPr lang="en-US" sz="2400" dirty="0"/>
              <a:t>: </a:t>
            </a:r>
            <a:r>
              <a:rPr lang="en-US" sz="2400" dirty="0" err="1"/>
              <a:t>LoRA</a:t>
            </a:r>
            <a:r>
              <a:rPr lang="en-US" sz="2400" dirty="0"/>
              <a:t> can achieve comparable or even better performance than full fine-tuning, as the low-rank matrices can effectively capture the task-specific knowledge without losing the original model's knowledge.</a:t>
            </a:r>
          </a:p>
        </p:txBody>
      </p:sp>
    </p:spTree>
    <p:extLst>
      <p:ext uri="{BB962C8B-B14F-4D97-AF65-F5344CB8AC3E}">
        <p14:creationId xmlns:p14="http://schemas.microsoft.com/office/powerpoint/2010/main" val="28311645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B9AA7C6-5E5A-498E-A6DF-A943376E09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83EAB11A-76F7-48F4-9B4F-5BFDF4BF967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4300" y="2385102"/>
            <a:ext cx="574091" cy="2087796"/>
            <a:chOff x="209668" y="2857422"/>
            <a:chExt cx="463662" cy="2087796"/>
          </a:xfrm>
        </p:grpSpPr>
        <p:sp>
          <p:nvSpPr>
            <p:cNvPr id="11" name="Rectangle 10">
              <a:extLst>
                <a:ext uri="{FF2B5EF4-FFF2-40B4-BE49-F238E27FC236}">
                  <a16:creationId xmlns:a16="http://schemas.microsoft.com/office/drawing/2014/main" id="{74D4C416-D5F4-4F6F-A6F1-87A21CD4FC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423947" y="2857422"/>
              <a:ext cx="249383" cy="208779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C6AC1C30-21C6-4BF6-93EE-B211D7A8501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209668" y="2857423"/>
              <a:ext cx="1" cy="208779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81E140AE-0ABF-47C8-BF32-7D2F0CF2B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631767"/>
            <a:ext cx="11111729" cy="575240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0005FA-C49E-D9E9-EE8C-BA22CAD8556B}"/>
              </a:ext>
            </a:extLst>
          </p:cNvPr>
          <p:cNvSpPr>
            <a:spLocks noGrp="1"/>
          </p:cNvSpPr>
          <p:nvPr>
            <p:ph type="title"/>
          </p:nvPr>
        </p:nvSpPr>
        <p:spPr>
          <a:xfrm>
            <a:off x="1153618" y="1239927"/>
            <a:ext cx="4008586" cy="4680583"/>
          </a:xfrm>
        </p:spPr>
        <p:txBody>
          <a:bodyPr anchor="ctr">
            <a:normAutofit/>
          </a:bodyPr>
          <a:lstStyle/>
          <a:p>
            <a:r>
              <a:rPr lang="en-US" sz="5200" dirty="0"/>
              <a:t> Disadvantage </a:t>
            </a:r>
          </a:p>
        </p:txBody>
      </p:sp>
      <p:sp>
        <p:nvSpPr>
          <p:cNvPr id="3" name="Content Placeholder 2">
            <a:extLst>
              <a:ext uri="{FF2B5EF4-FFF2-40B4-BE49-F238E27FC236}">
                <a16:creationId xmlns:a16="http://schemas.microsoft.com/office/drawing/2014/main" id="{EB3D42FE-4B4B-8443-96EA-23FC999225D1}"/>
              </a:ext>
            </a:extLst>
          </p:cNvPr>
          <p:cNvSpPr>
            <a:spLocks noGrp="1"/>
          </p:cNvSpPr>
          <p:nvPr>
            <p:ph idx="1"/>
          </p:nvPr>
        </p:nvSpPr>
        <p:spPr>
          <a:xfrm>
            <a:off x="6291923" y="1239927"/>
            <a:ext cx="4971824" cy="4680583"/>
          </a:xfrm>
        </p:spPr>
        <p:txBody>
          <a:bodyPr anchor="ctr">
            <a:normAutofit/>
          </a:bodyPr>
          <a:lstStyle/>
          <a:p>
            <a:pPr marL="0" indent="0" algn="just">
              <a:buNone/>
            </a:pPr>
            <a:r>
              <a:rPr lang="en-US" sz="2400" dirty="0" err="1"/>
              <a:t>LoRA</a:t>
            </a:r>
            <a:r>
              <a:rPr lang="en-US" sz="2400" dirty="0"/>
              <a:t> may struggle to fully adapt the model to tasks that require large changes in the internal representations, for example for substantially different domains or complex reasoning task</a:t>
            </a:r>
          </a:p>
        </p:txBody>
      </p:sp>
    </p:spTree>
    <p:extLst>
      <p:ext uri="{BB962C8B-B14F-4D97-AF65-F5344CB8AC3E}">
        <p14:creationId xmlns:p14="http://schemas.microsoft.com/office/powerpoint/2010/main" val="10942810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B9AA7C6-5E5A-498E-A6DF-A943376E09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83EAB11A-76F7-48F4-9B4F-5BFDF4BF967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4300" y="2385102"/>
            <a:ext cx="574091" cy="2087796"/>
            <a:chOff x="209668" y="2857422"/>
            <a:chExt cx="463662" cy="2087796"/>
          </a:xfrm>
        </p:grpSpPr>
        <p:sp>
          <p:nvSpPr>
            <p:cNvPr id="11" name="Rectangle 10">
              <a:extLst>
                <a:ext uri="{FF2B5EF4-FFF2-40B4-BE49-F238E27FC236}">
                  <a16:creationId xmlns:a16="http://schemas.microsoft.com/office/drawing/2014/main" id="{74D4C416-D5F4-4F6F-A6F1-87A21CD4FC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423947" y="2857422"/>
              <a:ext cx="249383" cy="208779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C6AC1C30-21C6-4BF6-93EE-B211D7A8501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209668" y="2857423"/>
              <a:ext cx="1" cy="208779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81E140AE-0ABF-47C8-BF32-7D2F0CF2B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631767"/>
            <a:ext cx="11111729" cy="575240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C7CE13-8657-54D8-549D-0EEB5B57A02B}"/>
              </a:ext>
            </a:extLst>
          </p:cNvPr>
          <p:cNvSpPr>
            <a:spLocks noGrp="1"/>
          </p:cNvSpPr>
          <p:nvPr>
            <p:ph type="title"/>
          </p:nvPr>
        </p:nvSpPr>
        <p:spPr>
          <a:xfrm>
            <a:off x="1153618" y="1239927"/>
            <a:ext cx="4115612" cy="4680583"/>
          </a:xfrm>
        </p:spPr>
        <p:txBody>
          <a:bodyPr anchor="ctr">
            <a:normAutofit/>
          </a:bodyPr>
          <a:lstStyle/>
          <a:p>
            <a:r>
              <a:rPr lang="en-US" sz="5200" dirty="0">
                <a:effectLst/>
              </a:rPr>
              <a:t>Quantized low-rank adaptation (</a:t>
            </a:r>
            <a:r>
              <a:rPr lang="en-US" sz="5200" dirty="0" err="1">
                <a:effectLst/>
              </a:rPr>
              <a:t>QLoRA</a:t>
            </a:r>
            <a:r>
              <a:rPr lang="en-US" sz="5200" dirty="0">
                <a:effectLst/>
              </a:rPr>
              <a:t>)</a:t>
            </a:r>
            <a:br>
              <a:rPr lang="en-US" sz="5200" dirty="0">
                <a:effectLst/>
              </a:rPr>
            </a:br>
            <a:endParaRPr lang="en-US" sz="5200" dirty="0"/>
          </a:p>
        </p:txBody>
      </p:sp>
      <p:sp>
        <p:nvSpPr>
          <p:cNvPr id="3" name="Content Placeholder 2">
            <a:extLst>
              <a:ext uri="{FF2B5EF4-FFF2-40B4-BE49-F238E27FC236}">
                <a16:creationId xmlns:a16="http://schemas.microsoft.com/office/drawing/2014/main" id="{1DEF91AC-91A6-1273-A15B-D4095CDC4A57}"/>
              </a:ext>
            </a:extLst>
          </p:cNvPr>
          <p:cNvSpPr>
            <a:spLocks noGrp="1"/>
          </p:cNvSpPr>
          <p:nvPr>
            <p:ph idx="1"/>
          </p:nvPr>
        </p:nvSpPr>
        <p:spPr>
          <a:xfrm>
            <a:off x="5657850" y="1239927"/>
            <a:ext cx="5605897" cy="4680583"/>
          </a:xfrm>
        </p:spPr>
        <p:txBody>
          <a:bodyPr anchor="ctr">
            <a:normAutofit/>
          </a:bodyPr>
          <a:lstStyle/>
          <a:p>
            <a:pPr marL="0" indent="0" algn="just">
              <a:buNone/>
            </a:pPr>
            <a:r>
              <a:rPr lang="en-US" sz="2400" dirty="0" err="1">
                <a:hlinkClick r:id="rId2"/>
              </a:rPr>
              <a:t>QLoRA</a:t>
            </a:r>
            <a:r>
              <a:rPr lang="en-US" sz="2400" dirty="0"/>
              <a:t> is an extension of </a:t>
            </a:r>
            <a:r>
              <a:rPr lang="en-US" sz="2400" dirty="0" err="1"/>
              <a:t>LoRA</a:t>
            </a:r>
            <a:r>
              <a:rPr lang="en-US" sz="2400" dirty="0"/>
              <a:t> that further reduces the memory requirements by quantizing the model's weights and activations. </a:t>
            </a:r>
          </a:p>
          <a:p>
            <a:pPr marL="0" indent="0" algn="just">
              <a:buNone/>
            </a:pPr>
            <a:r>
              <a:rPr lang="en-US" sz="2400" dirty="0" err="1"/>
              <a:t>QLoRA</a:t>
            </a:r>
            <a:r>
              <a:rPr lang="en-US" sz="2400" dirty="0"/>
              <a:t> uses a combination of quantization and low-rank adaptation to achieve even more efficient fine-tuning.</a:t>
            </a:r>
          </a:p>
        </p:txBody>
      </p:sp>
    </p:spTree>
    <p:extLst>
      <p:ext uri="{BB962C8B-B14F-4D97-AF65-F5344CB8AC3E}">
        <p14:creationId xmlns:p14="http://schemas.microsoft.com/office/powerpoint/2010/main" val="35771097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B9AA7C6-5E5A-498E-A6DF-A943376E09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83EAB11A-76F7-48F4-9B4F-5BFDF4BF967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4300" y="2385102"/>
            <a:ext cx="574091" cy="2087796"/>
            <a:chOff x="209668" y="2857422"/>
            <a:chExt cx="463662" cy="2087796"/>
          </a:xfrm>
        </p:grpSpPr>
        <p:sp>
          <p:nvSpPr>
            <p:cNvPr id="11" name="Rectangle 10">
              <a:extLst>
                <a:ext uri="{FF2B5EF4-FFF2-40B4-BE49-F238E27FC236}">
                  <a16:creationId xmlns:a16="http://schemas.microsoft.com/office/drawing/2014/main" id="{74D4C416-D5F4-4F6F-A6F1-87A21CD4FC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423947" y="2857422"/>
              <a:ext cx="249383" cy="208779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C6AC1C30-21C6-4BF6-93EE-B211D7A8501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209668" y="2857423"/>
              <a:ext cx="1" cy="208779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81E140AE-0ABF-47C8-BF32-7D2F0CF2B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631767"/>
            <a:ext cx="11111729" cy="575240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68952A2-F202-A73D-FAE5-71527273C1DB}"/>
              </a:ext>
            </a:extLst>
          </p:cNvPr>
          <p:cNvSpPr>
            <a:spLocks noGrp="1"/>
          </p:cNvSpPr>
          <p:nvPr>
            <p:ph type="title"/>
          </p:nvPr>
        </p:nvSpPr>
        <p:spPr>
          <a:xfrm>
            <a:off x="1153618" y="1239927"/>
            <a:ext cx="4008586" cy="4680583"/>
          </a:xfrm>
        </p:spPr>
        <p:txBody>
          <a:bodyPr anchor="ctr">
            <a:normAutofit/>
          </a:bodyPr>
          <a:lstStyle/>
          <a:p>
            <a:pPr algn="ctr"/>
            <a:br>
              <a:rPr lang="en-US" sz="5200" dirty="0"/>
            </a:br>
            <a:r>
              <a:rPr lang="en-US" sz="5200" dirty="0"/>
              <a:t>A</a:t>
            </a:r>
            <a:r>
              <a:rPr lang="en-US" sz="5200" b="0" dirty="0">
                <a:effectLst/>
              </a:rPr>
              <a:t>dvantages of </a:t>
            </a:r>
            <a:r>
              <a:rPr lang="en-US" sz="5200" b="0" dirty="0" err="1">
                <a:effectLst/>
              </a:rPr>
              <a:t>QLoRA</a:t>
            </a:r>
            <a:endParaRPr lang="en-US" sz="5200" dirty="0"/>
          </a:p>
        </p:txBody>
      </p:sp>
      <p:sp>
        <p:nvSpPr>
          <p:cNvPr id="3" name="Content Placeholder 2">
            <a:extLst>
              <a:ext uri="{FF2B5EF4-FFF2-40B4-BE49-F238E27FC236}">
                <a16:creationId xmlns:a16="http://schemas.microsoft.com/office/drawing/2014/main" id="{3A1B6E22-7953-9819-2B2B-B5FFDF324DF8}"/>
              </a:ext>
            </a:extLst>
          </p:cNvPr>
          <p:cNvSpPr>
            <a:spLocks noGrp="1"/>
          </p:cNvSpPr>
          <p:nvPr>
            <p:ph idx="1"/>
          </p:nvPr>
        </p:nvSpPr>
        <p:spPr>
          <a:xfrm>
            <a:off x="5402118" y="1239927"/>
            <a:ext cx="6062171" cy="4680583"/>
          </a:xfrm>
        </p:spPr>
        <p:txBody>
          <a:bodyPr anchor="ctr">
            <a:noAutofit/>
          </a:bodyPr>
          <a:lstStyle/>
          <a:p>
            <a:r>
              <a:rPr lang="en-US" sz="2400" b="1" dirty="0"/>
              <a:t>Even lower memory requirements</a:t>
            </a:r>
            <a:r>
              <a:rPr lang="en-US" sz="2400" dirty="0"/>
              <a:t>: </a:t>
            </a:r>
            <a:r>
              <a:rPr lang="en-US" sz="2400" dirty="0" err="1"/>
              <a:t>QLoRA</a:t>
            </a:r>
            <a:r>
              <a:rPr lang="en-US" sz="2400" dirty="0"/>
              <a:t> reduces the memory requirements even further by quantizing the model's weights and activations, making it possible to fine-tune larger models on limited hardware.</a:t>
            </a:r>
          </a:p>
          <a:p>
            <a:r>
              <a:rPr lang="en-US" sz="2400" b="1" dirty="0"/>
              <a:t>Increased efficiency</a:t>
            </a:r>
            <a:r>
              <a:rPr lang="en-US" sz="2400" dirty="0"/>
              <a:t>: </a:t>
            </a:r>
            <a:r>
              <a:rPr lang="en-US" sz="2400" dirty="0" err="1"/>
              <a:t>QLoRA</a:t>
            </a:r>
            <a:r>
              <a:rPr lang="en-US" sz="2400" dirty="0"/>
              <a:t> achieves a better trade-off between memory requirements and performance, making it an attractive option for fine-tuning large models on resource-constrained devices.</a:t>
            </a:r>
          </a:p>
          <a:p>
            <a:endParaRPr lang="en-US" sz="2400" dirty="0"/>
          </a:p>
        </p:txBody>
      </p:sp>
    </p:spTree>
    <p:extLst>
      <p:ext uri="{BB962C8B-B14F-4D97-AF65-F5344CB8AC3E}">
        <p14:creationId xmlns:p14="http://schemas.microsoft.com/office/powerpoint/2010/main" val="32267499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0DCC097-1DB8-4B6D-85D0-6FBA0E1CA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E0B58608-23C8-4441-994D-C6823EEE1D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2083506"/>
          </a:xfrm>
          <a:custGeom>
            <a:avLst/>
            <a:gdLst>
              <a:gd name="connsiteX0" fmla="*/ 0 w 12191999"/>
              <a:gd name="connsiteY0" fmla="*/ 0 h 2083506"/>
              <a:gd name="connsiteX1" fmla="*/ 9429748 w 12191999"/>
              <a:gd name="connsiteY1" fmla="*/ 0 h 2083506"/>
              <a:gd name="connsiteX2" fmla="*/ 9429748 w 12191999"/>
              <a:gd name="connsiteY2" fmla="*/ 1 h 2083506"/>
              <a:gd name="connsiteX3" fmla="*/ 12191999 w 12191999"/>
              <a:gd name="connsiteY3" fmla="*/ 1 h 2083506"/>
              <a:gd name="connsiteX4" fmla="*/ 12191999 w 12191999"/>
              <a:gd name="connsiteY4" fmla="*/ 1164372 h 2083506"/>
              <a:gd name="connsiteX5" fmla="*/ 12147852 w 12191999"/>
              <a:gd name="connsiteY5" fmla="*/ 1163783 h 2083506"/>
              <a:gd name="connsiteX6" fmla="*/ 11993604 w 12191999"/>
              <a:gd name="connsiteY6" fmla="*/ 1153496 h 2083506"/>
              <a:gd name="connsiteX7" fmla="*/ 11865319 w 12191999"/>
              <a:gd name="connsiteY7" fmla="*/ 1176624 h 2083506"/>
              <a:gd name="connsiteX8" fmla="*/ 11718353 w 12191999"/>
              <a:gd name="connsiteY8" fmla="*/ 1209136 h 2083506"/>
              <a:gd name="connsiteX9" fmla="*/ 11609067 w 12191999"/>
              <a:gd name="connsiteY9" fmla="*/ 1218512 h 2083506"/>
              <a:gd name="connsiteX10" fmla="*/ 11545958 w 12191999"/>
              <a:gd name="connsiteY10" fmla="*/ 1240430 h 2083506"/>
              <a:gd name="connsiteX11" fmla="*/ 11445770 w 12191999"/>
              <a:gd name="connsiteY11" fmla="*/ 1225780 h 2083506"/>
              <a:gd name="connsiteX12" fmla="*/ 11398842 w 12191999"/>
              <a:gd name="connsiteY12" fmla="*/ 1227250 h 2083506"/>
              <a:gd name="connsiteX13" fmla="*/ 11240093 w 12191999"/>
              <a:gd name="connsiteY13" fmla="*/ 1266797 h 2083506"/>
              <a:gd name="connsiteX14" fmla="*/ 11141364 w 12191999"/>
              <a:gd name="connsiteY14" fmla="*/ 1288059 h 2083506"/>
              <a:gd name="connsiteX15" fmla="*/ 11015396 w 12191999"/>
              <a:gd name="connsiteY15" fmla="*/ 1353104 h 2083506"/>
              <a:gd name="connsiteX16" fmla="*/ 10973905 w 12191999"/>
              <a:gd name="connsiteY16" fmla="*/ 1365109 h 2083506"/>
              <a:gd name="connsiteX17" fmla="*/ 10904858 w 12191999"/>
              <a:gd name="connsiteY17" fmla="*/ 1371966 h 2083506"/>
              <a:gd name="connsiteX18" fmla="*/ 10827883 w 12191999"/>
              <a:gd name="connsiteY18" fmla="*/ 1410270 h 2083506"/>
              <a:gd name="connsiteX19" fmla="*/ 10690996 w 12191999"/>
              <a:gd name="connsiteY19" fmla="*/ 1426394 h 2083506"/>
              <a:gd name="connsiteX20" fmla="*/ 10624461 w 12191999"/>
              <a:gd name="connsiteY20" fmla="*/ 1444283 h 2083506"/>
              <a:gd name="connsiteX21" fmla="*/ 10517208 w 12191999"/>
              <a:gd name="connsiteY21" fmla="*/ 1478947 h 2083506"/>
              <a:gd name="connsiteX22" fmla="*/ 10497937 w 12191999"/>
              <a:gd name="connsiteY22" fmla="*/ 1469831 h 2083506"/>
              <a:gd name="connsiteX23" fmla="*/ 10471201 w 12191999"/>
              <a:gd name="connsiteY23" fmla="*/ 1486037 h 2083506"/>
              <a:gd name="connsiteX24" fmla="*/ 10448263 w 12191999"/>
              <a:gd name="connsiteY24" fmla="*/ 1478223 h 2083506"/>
              <a:gd name="connsiteX25" fmla="*/ 10388089 w 12191999"/>
              <a:gd name="connsiteY25" fmla="*/ 1507175 h 2083506"/>
              <a:gd name="connsiteX26" fmla="*/ 10333720 w 12191999"/>
              <a:gd name="connsiteY26" fmla="*/ 1515848 h 2083506"/>
              <a:gd name="connsiteX27" fmla="*/ 10104338 w 12191999"/>
              <a:gd name="connsiteY27" fmla="*/ 1569424 h 2083506"/>
              <a:gd name="connsiteX28" fmla="*/ 9910445 w 12191999"/>
              <a:gd name="connsiteY28" fmla="*/ 1632275 h 2083506"/>
              <a:gd name="connsiteX29" fmla="*/ 9770872 w 12191999"/>
              <a:gd name="connsiteY29" fmla="*/ 1688088 h 2083506"/>
              <a:gd name="connsiteX30" fmla="*/ 9733849 w 12191999"/>
              <a:gd name="connsiteY30" fmla="*/ 1700034 h 2083506"/>
              <a:gd name="connsiteX31" fmla="*/ 9703714 w 12191999"/>
              <a:gd name="connsiteY31" fmla="*/ 1730093 h 2083506"/>
              <a:gd name="connsiteX32" fmla="*/ 9698351 w 12191999"/>
              <a:gd name="connsiteY32" fmla="*/ 1730377 h 2083506"/>
              <a:gd name="connsiteX33" fmla="*/ 9632895 w 12191999"/>
              <a:gd name="connsiteY33" fmla="*/ 1736363 h 2083506"/>
              <a:gd name="connsiteX34" fmla="*/ 9569107 w 12191999"/>
              <a:gd name="connsiteY34" fmla="*/ 1741010 h 2083506"/>
              <a:gd name="connsiteX35" fmla="*/ 9536451 w 12191999"/>
              <a:gd name="connsiteY35" fmla="*/ 1755120 h 2083506"/>
              <a:gd name="connsiteX36" fmla="*/ 9529385 w 12191999"/>
              <a:gd name="connsiteY36" fmla="*/ 1757515 h 2083506"/>
              <a:gd name="connsiteX37" fmla="*/ 9498527 w 12191999"/>
              <a:gd name="connsiteY37" fmla="*/ 1753117 h 2083506"/>
              <a:gd name="connsiteX38" fmla="*/ 9436642 w 12191999"/>
              <a:gd name="connsiteY38" fmla="*/ 1755478 h 2083506"/>
              <a:gd name="connsiteX39" fmla="*/ 9429748 w 12191999"/>
              <a:gd name="connsiteY39" fmla="*/ 1756317 h 2083506"/>
              <a:gd name="connsiteX40" fmla="*/ 9429748 w 12191999"/>
              <a:gd name="connsiteY40" fmla="*/ 1768745 h 2083506"/>
              <a:gd name="connsiteX41" fmla="*/ 9425802 w 12191999"/>
              <a:gd name="connsiteY41" fmla="*/ 1769273 h 2083506"/>
              <a:gd name="connsiteX42" fmla="*/ 9349763 w 12191999"/>
              <a:gd name="connsiteY42" fmla="*/ 1776107 h 2083506"/>
              <a:gd name="connsiteX43" fmla="*/ 9256503 w 12191999"/>
              <a:gd name="connsiteY43" fmla="*/ 1800699 h 2083506"/>
              <a:gd name="connsiteX44" fmla="*/ 9222873 w 12191999"/>
              <a:gd name="connsiteY44" fmla="*/ 1803003 h 2083506"/>
              <a:gd name="connsiteX45" fmla="*/ 9224095 w 12191999"/>
              <a:gd name="connsiteY45" fmla="*/ 1807355 h 2083506"/>
              <a:gd name="connsiteX46" fmla="*/ 9211603 w 12191999"/>
              <a:gd name="connsiteY46" fmla="*/ 1807675 h 2083506"/>
              <a:gd name="connsiteX47" fmla="*/ 9183719 w 12191999"/>
              <a:gd name="connsiteY47" fmla="*/ 1807781 h 2083506"/>
              <a:gd name="connsiteX48" fmla="*/ 9100221 w 12191999"/>
              <a:gd name="connsiteY48" fmla="*/ 1808989 h 2083506"/>
              <a:gd name="connsiteX49" fmla="*/ 9077439 w 12191999"/>
              <a:gd name="connsiteY49" fmla="*/ 1817333 h 2083506"/>
              <a:gd name="connsiteX50" fmla="*/ 9055889 w 12191999"/>
              <a:gd name="connsiteY50" fmla="*/ 1817464 h 2083506"/>
              <a:gd name="connsiteX51" fmla="*/ 8930912 w 12191999"/>
              <a:gd name="connsiteY51" fmla="*/ 1828648 h 2083506"/>
              <a:gd name="connsiteX52" fmla="*/ 8913729 w 12191999"/>
              <a:gd name="connsiteY52" fmla="*/ 1829483 h 2083506"/>
              <a:gd name="connsiteX53" fmla="*/ 8904423 w 12191999"/>
              <a:gd name="connsiteY53" fmla="*/ 1833234 h 2083506"/>
              <a:gd name="connsiteX54" fmla="*/ 8871099 w 12191999"/>
              <a:gd name="connsiteY54" fmla="*/ 1833979 h 2083506"/>
              <a:gd name="connsiteX55" fmla="*/ 8869557 w 12191999"/>
              <a:gd name="connsiteY55" fmla="*/ 1836113 h 2083506"/>
              <a:gd name="connsiteX56" fmla="*/ 8760021 w 12191999"/>
              <a:gd name="connsiteY56" fmla="*/ 1854442 h 2083506"/>
              <a:gd name="connsiteX57" fmla="*/ 8741254 w 12191999"/>
              <a:gd name="connsiteY57" fmla="*/ 1857469 h 2083506"/>
              <a:gd name="connsiteX58" fmla="*/ 8725039 w 12191999"/>
              <a:gd name="connsiteY58" fmla="*/ 1856552 h 2083506"/>
              <a:gd name="connsiteX59" fmla="*/ 8635265 w 12191999"/>
              <a:gd name="connsiteY59" fmla="*/ 1859168 h 2083506"/>
              <a:gd name="connsiteX60" fmla="*/ 8613911 w 12191999"/>
              <a:gd name="connsiteY60" fmla="*/ 1857561 h 2083506"/>
              <a:gd name="connsiteX61" fmla="*/ 8604931 w 12191999"/>
              <a:gd name="connsiteY61" fmla="*/ 1854170 h 2083506"/>
              <a:gd name="connsiteX62" fmla="*/ 8570171 w 12191999"/>
              <a:gd name="connsiteY62" fmla="*/ 1860579 h 2083506"/>
              <a:gd name="connsiteX63" fmla="*/ 8516537 w 12191999"/>
              <a:gd name="connsiteY63" fmla="*/ 1864971 h 2083506"/>
              <a:gd name="connsiteX64" fmla="*/ 8491046 w 12191999"/>
              <a:gd name="connsiteY64" fmla="*/ 1868141 h 2083506"/>
              <a:gd name="connsiteX65" fmla="*/ 8470478 w 12191999"/>
              <a:gd name="connsiteY65" fmla="*/ 1866216 h 2083506"/>
              <a:gd name="connsiteX66" fmla="*/ 8353433 w 12191999"/>
              <a:gd name="connsiteY66" fmla="*/ 1865729 h 2083506"/>
              <a:gd name="connsiteX67" fmla="*/ 8347675 w 12191999"/>
              <a:gd name="connsiteY67" fmla="*/ 1865075 h 2083506"/>
              <a:gd name="connsiteX68" fmla="*/ 8343939 w 12191999"/>
              <a:gd name="connsiteY68" fmla="*/ 1865677 h 2083506"/>
              <a:gd name="connsiteX69" fmla="*/ 8221566 w 12191999"/>
              <a:gd name="connsiteY69" fmla="*/ 1881148 h 2083506"/>
              <a:gd name="connsiteX70" fmla="*/ 8066095 w 12191999"/>
              <a:gd name="connsiteY70" fmla="*/ 1919902 h 2083506"/>
              <a:gd name="connsiteX71" fmla="*/ 8044849 w 12191999"/>
              <a:gd name="connsiteY71" fmla="*/ 1916308 h 2083506"/>
              <a:gd name="connsiteX72" fmla="*/ 8041142 w 12191999"/>
              <a:gd name="connsiteY72" fmla="*/ 1915506 h 2083506"/>
              <a:gd name="connsiteX73" fmla="*/ 8022159 w 12191999"/>
              <a:gd name="connsiteY73" fmla="*/ 1911521 h 2083506"/>
              <a:gd name="connsiteX74" fmla="*/ 7944932 w 12191999"/>
              <a:gd name="connsiteY74" fmla="*/ 1917265 h 2083506"/>
              <a:gd name="connsiteX75" fmla="*/ 7879011 w 12191999"/>
              <a:gd name="connsiteY75" fmla="*/ 1928570 h 2083506"/>
              <a:gd name="connsiteX76" fmla="*/ 7865529 w 12191999"/>
              <a:gd name="connsiteY76" fmla="*/ 1934399 h 2083506"/>
              <a:gd name="connsiteX77" fmla="*/ 7774801 w 12191999"/>
              <a:gd name="connsiteY77" fmla="*/ 1947969 h 2083506"/>
              <a:gd name="connsiteX78" fmla="*/ 7748398 w 12191999"/>
              <a:gd name="connsiteY78" fmla="*/ 1955982 h 2083506"/>
              <a:gd name="connsiteX79" fmla="*/ 7740684 w 12191999"/>
              <a:gd name="connsiteY79" fmla="*/ 1955717 h 2083506"/>
              <a:gd name="connsiteX80" fmla="*/ 7712976 w 12191999"/>
              <a:gd name="connsiteY80" fmla="*/ 1960442 h 2083506"/>
              <a:gd name="connsiteX81" fmla="*/ 7699956 w 12191999"/>
              <a:gd name="connsiteY81" fmla="*/ 1966104 h 2083506"/>
              <a:gd name="connsiteX82" fmla="*/ 7684158 w 12191999"/>
              <a:gd name="connsiteY82" fmla="*/ 1962927 h 2083506"/>
              <a:gd name="connsiteX83" fmla="*/ 7643109 w 12191999"/>
              <a:gd name="connsiteY83" fmla="*/ 1964400 h 2083506"/>
              <a:gd name="connsiteX84" fmla="*/ 7630180 w 12191999"/>
              <a:gd name="connsiteY84" fmla="*/ 1970266 h 2083506"/>
              <a:gd name="connsiteX85" fmla="*/ 7609131 w 12191999"/>
              <a:gd name="connsiteY85" fmla="*/ 1971774 h 2083506"/>
              <a:gd name="connsiteX86" fmla="*/ 7555555 w 12191999"/>
              <a:gd name="connsiteY86" fmla="*/ 1969491 h 2083506"/>
              <a:gd name="connsiteX87" fmla="*/ 7520919 w 12191999"/>
              <a:gd name="connsiteY87" fmla="*/ 1970177 h 2083506"/>
              <a:gd name="connsiteX88" fmla="*/ 7456258 w 12191999"/>
              <a:gd name="connsiteY88" fmla="*/ 1960468 h 2083506"/>
              <a:gd name="connsiteX89" fmla="*/ 7393047 w 12191999"/>
              <a:gd name="connsiteY89" fmla="*/ 1952408 h 2083506"/>
              <a:gd name="connsiteX90" fmla="*/ 7199912 w 12191999"/>
              <a:gd name="connsiteY90" fmla="*/ 1959913 h 2083506"/>
              <a:gd name="connsiteX91" fmla="*/ 7146774 w 12191999"/>
              <a:gd name="connsiteY91" fmla="*/ 1956641 h 2083506"/>
              <a:gd name="connsiteX92" fmla="*/ 7122244 w 12191999"/>
              <a:gd name="connsiteY92" fmla="*/ 1953891 h 2083506"/>
              <a:gd name="connsiteX93" fmla="*/ 7032241 w 12191999"/>
              <a:gd name="connsiteY93" fmla="*/ 1962723 h 2083506"/>
              <a:gd name="connsiteX94" fmla="*/ 6941492 w 12191999"/>
              <a:gd name="connsiteY94" fmla="*/ 1976868 h 2083506"/>
              <a:gd name="connsiteX95" fmla="*/ 6906514 w 12191999"/>
              <a:gd name="connsiteY95" fmla="*/ 1968589 h 2083506"/>
              <a:gd name="connsiteX96" fmla="*/ 6826395 w 12191999"/>
              <a:gd name="connsiteY96" fmla="*/ 1974141 h 2083506"/>
              <a:gd name="connsiteX97" fmla="*/ 6716431 w 12191999"/>
              <a:gd name="connsiteY97" fmla="*/ 2004297 h 2083506"/>
              <a:gd name="connsiteX98" fmla="*/ 6569607 w 12191999"/>
              <a:gd name="connsiteY98" fmla="*/ 2015496 h 2083506"/>
              <a:gd name="connsiteX99" fmla="*/ 6561430 w 12191999"/>
              <a:gd name="connsiteY99" fmla="*/ 2020996 h 2083506"/>
              <a:gd name="connsiteX100" fmla="*/ 6549371 w 12191999"/>
              <a:gd name="connsiteY100" fmla="*/ 2024747 h 2083506"/>
              <a:gd name="connsiteX101" fmla="*/ 6547040 w 12191999"/>
              <a:gd name="connsiteY101" fmla="*/ 2024474 h 2083506"/>
              <a:gd name="connsiteX102" fmla="*/ 6530482 w 12191999"/>
              <a:gd name="connsiteY102" fmla="*/ 2026659 h 2083506"/>
              <a:gd name="connsiteX103" fmla="*/ 6528565 w 12191999"/>
              <a:gd name="connsiteY103" fmla="*/ 2028600 h 2083506"/>
              <a:gd name="connsiteX104" fmla="*/ 6517741 w 12191999"/>
              <a:gd name="connsiteY104" fmla="*/ 2030558 h 2083506"/>
              <a:gd name="connsiteX105" fmla="*/ 6497855 w 12191999"/>
              <a:gd name="connsiteY105" fmla="*/ 2035650 h 2083506"/>
              <a:gd name="connsiteX106" fmla="*/ 6492785 w 12191999"/>
              <a:gd name="connsiteY106" fmla="*/ 2035444 h 2083506"/>
              <a:gd name="connsiteX107" fmla="*/ 6460692 w 12191999"/>
              <a:gd name="connsiteY107" fmla="*/ 2041321 h 2083506"/>
              <a:gd name="connsiteX108" fmla="*/ 6459609 w 12191999"/>
              <a:gd name="connsiteY108" fmla="*/ 2040851 h 2083506"/>
              <a:gd name="connsiteX109" fmla="*/ 6447765 w 12191999"/>
              <a:gd name="connsiteY109" fmla="*/ 2040102 h 2083506"/>
              <a:gd name="connsiteX110" fmla="*/ 6426590 w 12191999"/>
              <a:gd name="connsiteY110" fmla="*/ 2039928 h 2083506"/>
              <a:gd name="connsiteX111" fmla="*/ 6401693 w 12191999"/>
              <a:gd name="connsiteY111" fmla="*/ 2033537 h 2083506"/>
              <a:gd name="connsiteX112" fmla="*/ 6387141 w 12191999"/>
              <a:gd name="connsiteY112" fmla="*/ 2033161 h 2083506"/>
              <a:gd name="connsiteX113" fmla="*/ 6357846 w 12191999"/>
              <a:gd name="connsiteY113" fmla="*/ 2036782 h 2083506"/>
              <a:gd name="connsiteX114" fmla="*/ 6342914 w 12191999"/>
              <a:gd name="connsiteY114" fmla="*/ 2037585 h 2083506"/>
              <a:gd name="connsiteX115" fmla="*/ 6336300 w 12191999"/>
              <a:gd name="connsiteY115" fmla="*/ 2038781 h 2083506"/>
              <a:gd name="connsiteX116" fmla="*/ 6317178 w 12191999"/>
              <a:gd name="connsiteY116" fmla="*/ 2038968 h 2083506"/>
              <a:gd name="connsiteX117" fmla="*/ 6161427 w 12191999"/>
              <a:gd name="connsiteY117" fmla="*/ 2047338 h 2083506"/>
              <a:gd name="connsiteX118" fmla="*/ 6097339 w 12191999"/>
              <a:gd name="connsiteY118" fmla="*/ 2082438 h 2083506"/>
              <a:gd name="connsiteX119" fmla="*/ 6079059 w 12191999"/>
              <a:gd name="connsiteY119" fmla="*/ 2081299 h 2083506"/>
              <a:gd name="connsiteX120" fmla="*/ 5998439 w 12191999"/>
              <a:gd name="connsiteY120" fmla="*/ 2070958 h 2083506"/>
              <a:gd name="connsiteX121" fmla="*/ 5904290 w 12191999"/>
              <a:gd name="connsiteY121" fmla="*/ 2070255 h 2083506"/>
              <a:gd name="connsiteX122" fmla="*/ 5814867 w 12191999"/>
              <a:gd name="connsiteY122" fmla="*/ 2079032 h 2083506"/>
              <a:gd name="connsiteX123" fmla="*/ 5725743 w 12191999"/>
              <a:gd name="connsiteY123" fmla="*/ 2070558 h 2083506"/>
              <a:gd name="connsiteX124" fmla="*/ 5650546 w 12191999"/>
              <a:gd name="connsiteY124" fmla="*/ 2052412 h 2083506"/>
              <a:gd name="connsiteX125" fmla="*/ 5581284 w 12191999"/>
              <a:gd name="connsiteY125" fmla="*/ 2023175 h 2083506"/>
              <a:gd name="connsiteX126" fmla="*/ 5572593 w 12191999"/>
              <a:gd name="connsiteY126" fmla="*/ 2018391 h 2083506"/>
              <a:gd name="connsiteX127" fmla="*/ 5548580 w 12191999"/>
              <a:gd name="connsiteY127" fmla="*/ 2016951 h 2083506"/>
              <a:gd name="connsiteX128" fmla="*/ 5471173 w 12191999"/>
              <a:gd name="connsiteY128" fmla="*/ 2018786 h 2083506"/>
              <a:gd name="connsiteX129" fmla="*/ 5340320 w 12191999"/>
              <a:gd name="connsiteY129" fmla="*/ 2037611 h 2083506"/>
              <a:gd name="connsiteX130" fmla="*/ 5254376 w 12191999"/>
              <a:gd name="connsiteY130" fmla="*/ 2042928 h 2083506"/>
              <a:gd name="connsiteX131" fmla="*/ 5258035 w 12191999"/>
              <a:gd name="connsiteY131" fmla="*/ 2035649 h 2083506"/>
              <a:gd name="connsiteX132" fmla="*/ 5230622 w 12191999"/>
              <a:gd name="connsiteY132" fmla="*/ 2024576 h 2083506"/>
              <a:gd name="connsiteX133" fmla="*/ 5026203 w 12191999"/>
              <a:gd name="connsiteY133" fmla="*/ 2030162 h 2083506"/>
              <a:gd name="connsiteX134" fmla="*/ 4973988 w 12191999"/>
              <a:gd name="connsiteY134" fmla="*/ 2026668 h 2083506"/>
              <a:gd name="connsiteX135" fmla="*/ 4928030 w 12191999"/>
              <a:gd name="connsiteY135" fmla="*/ 2033642 h 2083506"/>
              <a:gd name="connsiteX136" fmla="*/ 4908970 w 12191999"/>
              <a:gd name="connsiteY136" fmla="*/ 2030033 h 2083506"/>
              <a:gd name="connsiteX137" fmla="*/ 4905679 w 12191999"/>
              <a:gd name="connsiteY137" fmla="*/ 2029300 h 2083506"/>
              <a:gd name="connsiteX138" fmla="*/ 4892525 w 12191999"/>
              <a:gd name="connsiteY138" fmla="*/ 2028768 h 2083506"/>
              <a:gd name="connsiteX139" fmla="*/ 4888818 w 12191999"/>
              <a:gd name="connsiteY139" fmla="*/ 2025619 h 2083506"/>
              <a:gd name="connsiteX140" fmla="*/ 4869018 w 12191999"/>
              <a:gd name="connsiteY140" fmla="*/ 2022668 h 2083506"/>
              <a:gd name="connsiteX141" fmla="*/ 4844804 w 12191999"/>
              <a:gd name="connsiteY141" fmla="*/ 2022527 h 2083506"/>
              <a:gd name="connsiteX142" fmla="*/ 4758778 w 12191999"/>
              <a:gd name="connsiteY142" fmla="*/ 2021694 h 2083506"/>
              <a:gd name="connsiteX143" fmla="*/ 4744748 w 12191999"/>
              <a:gd name="connsiteY143" fmla="*/ 2023396 h 2083506"/>
              <a:gd name="connsiteX144" fmla="*/ 4698956 w 12191999"/>
              <a:gd name="connsiteY144" fmla="*/ 2020558 h 2083506"/>
              <a:gd name="connsiteX145" fmla="*/ 4658147 w 12191999"/>
              <a:gd name="connsiteY145" fmla="*/ 2019920 h 2083506"/>
              <a:gd name="connsiteX146" fmla="*/ 4631706 w 12191999"/>
              <a:gd name="connsiteY146" fmla="*/ 2021274 h 2083506"/>
              <a:gd name="connsiteX147" fmla="*/ 4624776 w 12191999"/>
              <a:gd name="connsiteY147" fmla="*/ 2020152 h 2083506"/>
              <a:gd name="connsiteX148" fmla="*/ 4598150 w 12191999"/>
              <a:gd name="connsiteY148" fmla="*/ 2019429 h 2083506"/>
              <a:gd name="connsiteX149" fmla="*/ 4584588 w 12191999"/>
              <a:gd name="connsiteY149" fmla="*/ 2021092 h 2083506"/>
              <a:gd name="connsiteX150" fmla="*/ 4571203 w 12191999"/>
              <a:gd name="connsiteY150" fmla="*/ 2017263 h 2083506"/>
              <a:gd name="connsiteX151" fmla="*/ 4567930 w 12191999"/>
              <a:gd name="connsiteY151" fmla="*/ 2014458 h 2083506"/>
              <a:gd name="connsiteX152" fmla="*/ 4548984 w 12191999"/>
              <a:gd name="connsiteY152" fmla="*/ 2015717 h 2083506"/>
              <a:gd name="connsiteX153" fmla="*/ 4533451 w 12191999"/>
              <a:gd name="connsiteY153" fmla="*/ 2012976 h 2083506"/>
              <a:gd name="connsiteX154" fmla="*/ 4519910 w 12191999"/>
              <a:gd name="connsiteY154" fmla="*/ 2014768 h 2083506"/>
              <a:gd name="connsiteX155" fmla="*/ 4514290 w 12191999"/>
              <a:gd name="connsiteY155" fmla="*/ 2014364 h 2083506"/>
              <a:gd name="connsiteX156" fmla="*/ 4500320 w 12191999"/>
              <a:gd name="connsiteY156" fmla="*/ 2013007 h 2083506"/>
              <a:gd name="connsiteX157" fmla="*/ 4476219 w 12191999"/>
              <a:gd name="connsiteY157" fmla="*/ 2009993 h 2083506"/>
              <a:gd name="connsiteX158" fmla="*/ 4468701 w 12191999"/>
              <a:gd name="connsiteY158" fmla="*/ 2009574 h 2083506"/>
              <a:gd name="connsiteX159" fmla="*/ 4452333 w 12191999"/>
              <a:gd name="connsiteY159" fmla="*/ 2004964 h 2083506"/>
              <a:gd name="connsiteX160" fmla="*/ 4420644 w 12191999"/>
              <a:gd name="connsiteY160" fmla="*/ 2001021 h 2083506"/>
              <a:gd name="connsiteX161" fmla="*/ 4364856 w 12191999"/>
              <a:gd name="connsiteY161" fmla="*/ 1987267 h 2083506"/>
              <a:gd name="connsiteX162" fmla="*/ 4332062 w 12191999"/>
              <a:gd name="connsiteY162" fmla="*/ 1980703 h 2083506"/>
              <a:gd name="connsiteX163" fmla="*/ 4309876 w 12191999"/>
              <a:gd name="connsiteY163" fmla="*/ 1974653 h 2083506"/>
              <a:gd name="connsiteX164" fmla="*/ 4244391 w 12191999"/>
              <a:gd name="connsiteY164" fmla="*/ 1966109 h 2083506"/>
              <a:gd name="connsiteX165" fmla="*/ 4132071 w 12191999"/>
              <a:gd name="connsiteY165" fmla="*/ 1954813 h 2083506"/>
              <a:gd name="connsiteX166" fmla="*/ 4109069 w 12191999"/>
              <a:gd name="connsiteY166" fmla="*/ 1951778 h 2083506"/>
              <a:gd name="connsiteX167" fmla="*/ 4092908 w 12191999"/>
              <a:gd name="connsiteY167" fmla="*/ 1946662 h 2083506"/>
              <a:gd name="connsiteX168" fmla="*/ 4092306 w 12191999"/>
              <a:gd name="connsiteY168" fmla="*/ 1943291 h 2083506"/>
              <a:gd name="connsiteX169" fmla="*/ 4080234 w 12191999"/>
              <a:gd name="connsiteY169" fmla="*/ 1941219 h 2083506"/>
              <a:gd name="connsiteX170" fmla="*/ 4077778 w 12191999"/>
              <a:gd name="connsiteY170" fmla="*/ 1940145 h 2083506"/>
              <a:gd name="connsiteX171" fmla="*/ 4062936 w 12191999"/>
              <a:gd name="connsiteY171" fmla="*/ 1934506 h 2083506"/>
              <a:gd name="connsiteX172" fmla="*/ 4012506 w 12191999"/>
              <a:gd name="connsiteY172" fmla="*/ 1935475 h 2083506"/>
              <a:gd name="connsiteX173" fmla="*/ 3965880 w 12191999"/>
              <a:gd name="connsiteY173" fmla="*/ 1925968 h 2083506"/>
              <a:gd name="connsiteX174" fmla="*/ 3765338 w 12191999"/>
              <a:gd name="connsiteY174" fmla="*/ 1906649 h 2083506"/>
              <a:gd name="connsiteX175" fmla="*/ 3749493 w 12191999"/>
              <a:gd name="connsiteY175" fmla="*/ 1893071 h 2083506"/>
              <a:gd name="connsiteX176" fmla="*/ 3672704 w 12191999"/>
              <a:gd name="connsiteY176" fmla="*/ 1881383 h 2083506"/>
              <a:gd name="connsiteX177" fmla="*/ 3530082 w 12191999"/>
              <a:gd name="connsiteY177" fmla="*/ 1883187 h 2083506"/>
              <a:gd name="connsiteX178" fmla="*/ 3387664 w 12191999"/>
              <a:gd name="connsiteY178" fmla="*/ 1862579 h 2083506"/>
              <a:gd name="connsiteX179" fmla="*/ 3371681 w 12191999"/>
              <a:gd name="connsiteY179" fmla="*/ 1865293 h 2083506"/>
              <a:gd name="connsiteX180" fmla="*/ 3355305 w 12191999"/>
              <a:gd name="connsiteY180" fmla="*/ 1865842 h 2083506"/>
              <a:gd name="connsiteX181" fmla="*/ 3353790 w 12191999"/>
              <a:gd name="connsiteY181" fmla="*/ 1865158 h 2083506"/>
              <a:gd name="connsiteX182" fmla="*/ 3336210 w 12191999"/>
              <a:gd name="connsiteY182" fmla="*/ 1863564 h 2083506"/>
              <a:gd name="connsiteX183" fmla="*/ 3331381 w 12191999"/>
              <a:gd name="connsiteY183" fmla="*/ 1864716 h 2083506"/>
              <a:gd name="connsiteX184" fmla="*/ 3319012 w 12191999"/>
              <a:gd name="connsiteY184" fmla="*/ 1864093 h 2083506"/>
              <a:gd name="connsiteX185" fmla="*/ 3293818 w 12191999"/>
              <a:gd name="connsiteY185" fmla="*/ 1864135 h 2083506"/>
              <a:gd name="connsiteX186" fmla="*/ 3289881 w 12191999"/>
              <a:gd name="connsiteY186" fmla="*/ 1862954 h 2083506"/>
              <a:gd name="connsiteX187" fmla="*/ 3253090 w 12191999"/>
              <a:gd name="connsiteY187" fmla="*/ 1861164 h 2083506"/>
              <a:gd name="connsiteX188" fmla="*/ 3252949 w 12191999"/>
              <a:gd name="connsiteY188" fmla="*/ 1860574 h 2083506"/>
              <a:gd name="connsiteX189" fmla="*/ 3244187 w 12191999"/>
              <a:gd name="connsiteY189" fmla="*/ 1857604 h 2083506"/>
              <a:gd name="connsiteX190" fmla="*/ 3246570 w 12191999"/>
              <a:gd name="connsiteY190" fmla="*/ 1852946 h 2083506"/>
              <a:gd name="connsiteX191" fmla="*/ 3237810 w 12191999"/>
              <a:gd name="connsiteY191" fmla="*/ 1853064 h 2083506"/>
              <a:gd name="connsiteX192" fmla="*/ 3230822 w 12191999"/>
              <a:gd name="connsiteY192" fmla="*/ 1855474 h 2083506"/>
              <a:gd name="connsiteX193" fmla="*/ 3136549 w 12191999"/>
              <a:gd name="connsiteY193" fmla="*/ 1874037 h 2083506"/>
              <a:gd name="connsiteX194" fmla="*/ 2845754 w 12191999"/>
              <a:gd name="connsiteY194" fmla="*/ 1910932 h 2083506"/>
              <a:gd name="connsiteX195" fmla="*/ 2786878 w 12191999"/>
              <a:gd name="connsiteY195" fmla="*/ 1917162 h 2083506"/>
              <a:gd name="connsiteX196" fmla="*/ 2725298 w 12191999"/>
              <a:gd name="connsiteY196" fmla="*/ 1912340 h 2083506"/>
              <a:gd name="connsiteX197" fmla="*/ 2697754 w 12191999"/>
              <a:gd name="connsiteY197" fmla="*/ 1914863 h 2083506"/>
              <a:gd name="connsiteX198" fmla="*/ 2568063 w 12191999"/>
              <a:gd name="connsiteY198" fmla="*/ 1936283 h 2083506"/>
              <a:gd name="connsiteX199" fmla="*/ 2489784 w 12191999"/>
              <a:gd name="connsiteY199" fmla="*/ 1943720 h 2083506"/>
              <a:gd name="connsiteX200" fmla="*/ 2458978 w 12191999"/>
              <a:gd name="connsiteY200" fmla="*/ 1938095 h 2083506"/>
              <a:gd name="connsiteX201" fmla="*/ 2318712 w 12191999"/>
              <a:gd name="connsiteY201" fmla="*/ 1934474 h 2083506"/>
              <a:gd name="connsiteX202" fmla="*/ 2268709 w 12191999"/>
              <a:gd name="connsiteY202" fmla="*/ 1940521 h 2083506"/>
              <a:gd name="connsiteX203" fmla="*/ 2264080 w 12191999"/>
              <a:gd name="connsiteY203" fmla="*/ 1941232 h 2083506"/>
              <a:gd name="connsiteX204" fmla="*/ 2254684 w 12191999"/>
              <a:gd name="connsiteY204" fmla="*/ 1943524 h 2083506"/>
              <a:gd name="connsiteX205" fmla="*/ 2252523 w 12191999"/>
              <a:gd name="connsiteY205" fmla="*/ 1943004 h 2083506"/>
              <a:gd name="connsiteX206" fmla="*/ 2173350 w 12191999"/>
              <a:gd name="connsiteY206" fmla="*/ 1929202 h 2083506"/>
              <a:gd name="connsiteX207" fmla="*/ 2155266 w 12191999"/>
              <a:gd name="connsiteY207" fmla="*/ 1920267 h 2083506"/>
              <a:gd name="connsiteX208" fmla="*/ 2091013 w 12191999"/>
              <a:gd name="connsiteY208" fmla="*/ 1914631 h 2083506"/>
              <a:gd name="connsiteX209" fmla="*/ 2030712 w 12191999"/>
              <a:gd name="connsiteY209" fmla="*/ 1897690 h 2083506"/>
              <a:gd name="connsiteX210" fmla="*/ 1908838 w 12191999"/>
              <a:gd name="connsiteY210" fmla="*/ 1892222 h 2083506"/>
              <a:gd name="connsiteX211" fmla="*/ 1877796 w 12191999"/>
              <a:gd name="connsiteY211" fmla="*/ 1883887 h 2083506"/>
              <a:gd name="connsiteX212" fmla="*/ 1875824 w 12191999"/>
              <a:gd name="connsiteY212" fmla="*/ 1879265 h 2083506"/>
              <a:gd name="connsiteX213" fmla="*/ 1823048 w 12191999"/>
              <a:gd name="connsiteY213" fmla="*/ 1881064 h 2083506"/>
              <a:gd name="connsiteX214" fmla="*/ 1765736 w 12191999"/>
              <a:gd name="connsiteY214" fmla="*/ 1856578 h 2083506"/>
              <a:gd name="connsiteX215" fmla="*/ 1725669 w 12191999"/>
              <a:gd name="connsiteY215" fmla="*/ 1833744 h 2083506"/>
              <a:gd name="connsiteX216" fmla="*/ 1725216 w 12191999"/>
              <a:gd name="connsiteY216" fmla="*/ 1829447 h 2083506"/>
              <a:gd name="connsiteX217" fmla="*/ 1721485 w 12191999"/>
              <a:gd name="connsiteY217" fmla="*/ 1828960 h 2083506"/>
              <a:gd name="connsiteX218" fmla="*/ 1717786 w 12191999"/>
              <a:gd name="connsiteY218" fmla="*/ 1832224 h 2083506"/>
              <a:gd name="connsiteX219" fmla="*/ 1689907 w 12191999"/>
              <a:gd name="connsiteY219" fmla="*/ 1825425 h 2083506"/>
              <a:gd name="connsiteX220" fmla="*/ 1688093 w 12191999"/>
              <a:gd name="connsiteY220" fmla="*/ 1817391 h 2083506"/>
              <a:gd name="connsiteX221" fmla="*/ 1496789 w 12191999"/>
              <a:gd name="connsiteY221" fmla="*/ 1805297 h 2083506"/>
              <a:gd name="connsiteX222" fmla="*/ 1392839 w 12191999"/>
              <a:gd name="connsiteY222" fmla="*/ 1758649 h 2083506"/>
              <a:gd name="connsiteX223" fmla="*/ 1360872 w 12191999"/>
              <a:gd name="connsiteY223" fmla="*/ 1752441 h 2083506"/>
              <a:gd name="connsiteX224" fmla="*/ 1313885 w 12191999"/>
              <a:gd name="connsiteY224" fmla="*/ 1731785 h 2083506"/>
              <a:gd name="connsiteX225" fmla="*/ 1247665 w 12191999"/>
              <a:gd name="connsiteY225" fmla="*/ 1727765 h 2083506"/>
              <a:gd name="connsiteX226" fmla="*/ 1196850 w 12191999"/>
              <a:gd name="connsiteY226" fmla="*/ 1729622 h 2083506"/>
              <a:gd name="connsiteX227" fmla="*/ 1168728 w 12191999"/>
              <a:gd name="connsiteY227" fmla="*/ 1728550 h 2083506"/>
              <a:gd name="connsiteX228" fmla="*/ 1096918 w 12191999"/>
              <a:gd name="connsiteY228" fmla="*/ 1721485 h 2083506"/>
              <a:gd name="connsiteX229" fmla="*/ 1094082 w 12191999"/>
              <a:gd name="connsiteY229" fmla="*/ 1720113 h 2083506"/>
              <a:gd name="connsiteX230" fmla="*/ 1040782 w 12191999"/>
              <a:gd name="connsiteY230" fmla="*/ 1721762 h 2083506"/>
              <a:gd name="connsiteX231" fmla="*/ 955980 w 12191999"/>
              <a:gd name="connsiteY231" fmla="*/ 1719289 h 2083506"/>
              <a:gd name="connsiteX232" fmla="*/ 926108 w 12191999"/>
              <a:gd name="connsiteY232" fmla="*/ 1715917 h 2083506"/>
              <a:gd name="connsiteX233" fmla="*/ 876049 w 12191999"/>
              <a:gd name="connsiteY233" fmla="*/ 1710422 h 2083506"/>
              <a:gd name="connsiteX234" fmla="*/ 839194 w 12191999"/>
              <a:gd name="connsiteY234" fmla="*/ 1700176 h 2083506"/>
              <a:gd name="connsiteX235" fmla="*/ 797112 w 12191999"/>
              <a:gd name="connsiteY235" fmla="*/ 1698014 h 2083506"/>
              <a:gd name="connsiteX236" fmla="*/ 786610 w 12191999"/>
              <a:gd name="connsiteY236" fmla="*/ 1705455 h 2083506"/>
              <a:gd name="connsiteX237" fmla="*/ 741833 w 12191999"/>
              <a:gd name="connsiteY237" fmla="*/ 1700566 h 2083506"/>
              <a:gd name="connsiteX238" fmla="*/ 673985 w 12191999"/>
              <a:gd name="connsiteY238" fmla="*/ 1692278 h 2083506"/>
              <a:gd name="connsiteX239" fmla="*/ 634665 w 12191999"/>
              <a:gd name="connsiteY239" fmla="*/ 1689550 h 2083506"/>
              <a:gd name="connsiteX240" fmla="*/ 527471 w 12191999"/>
              <a:gd name="connsiteY240" fmla="*/ 1679869 h 2083506"/>
              <a:gd name="connsiteX241" fmla="*/ 420260 w 12191999"/>
              <a:gd name="connsiteY241" fmla="*/ 1668475 h 2083506"/>
              <a:gd name="connsiteX242" fmla="*/ 357630 w 12191999"/>
              <a:gd name="connsiteY242" fmla="*/ 1652142 h 2083506"/>
              <a:gd name="connsiteX243" fmla="*/ 269407 w 12191999"/>
              <a:gd name="connsiteY243" fmla="*/ 1643812 h 2083506"/>
              <a:gd name="connsiteX244" fmla="*/ 254769 w 12191999"/>
              <a:gd name="connsiteY244" fmla="*/ 1641013 h 2083506"/>
              <a:gd name="connsiteX245" fmla="*/ 150763 w 12191999"/>
              <a:gd name="connsiteY245" fmla="*/ 1628143 h 2083506"/>
              <a:gd name="connsiteX246" fmla="*/ 29133 w 12191999"/>
              <a:gd name="connsiteY246" fmla="*/ 1626172 h 2083506"/>
              <a:gd name="connsiteX247" fmla="*/ 0 w 12191999"/>
              <a:gd name="connsiteY247" fmla="*/ 1619589 h 208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Lst>
            <a:rect l="l" t="t" r="r" b="b"/>
            <a:pathLst>
              <a:path w="12191999" h="2083506">
                <a:moveTo>
                  <a:pt x="0" y="0"/>
                </a:moveTo>
                <a:lnTo>
                  <a:pt x="9429748" y="0"/>
                </a:lnTo>
                <a:lnTo>
                  <a:pt x="9429748" y="1"/>
                </a:lnTo>
                <a:lnTo>
                  <a:pt x="12191999" y="1"/>
                </a:lnTo>
                <a:lnTo>
                  <a:pt x="12191999" y="1164372"/>
                </a:lnTo>
                <a:lnTo>
                  <a:pt x="12147852" y="1163783"/>
                </a:lnTo>
                <a:cubicBezTo>
                  <a:pt x="12063101" y="1189107"/>
                  <a:pt x="12045020" y="1156925"/>
                  <a:pt x="11993604" y="1153496"/>
                </a:cubicBezTo>
                <a:cubicBezTo>
                  <a:pt x="11954216" y="1165241"/>
                  <a:pt x="11911195" y="1167350"/>
                  <a:pt x="11865319" y="1176624"/>
                </a:cubicBezTo>
                <a:cubicBezTo>
                  <a:pt x="11822513" y="1184682"/>
                  <a:pt x="11766915" y="1201558"/>
                  <a:pt x="11718353" y="1209136"/>
                </a:cubicBezTo>
                <a:cubicBezTo>
                  <a:pt x="11675379" y="1217463"/>
                  <a:pt x="11638007" y="1216639"/>
                  <a:pt x="11609067" y="1218512"/>
                </a:cubicBezTo>
                <a:cubicBezTo>
                  <a:pt x="11597582" y="1221322"/>
                  <a:pt x="11554280" y="1243577"/>
                  <a:pt x="11545958" y="1240430"/>
                </a:cubicBezTo>
                <a:lnTo>
                  <a:pt x="11445770" y="1225780"/>
                </a:lnTo>
                <a:cubicBezTo>
                  <a:pt x="11425543" y="1230782"/>
                  <a:pt x="11413740" y="1222096"/>
                  <a:pt x="11398842" y="1227250"/>
                </a:cubicBezTo>
                <a:cubicBezTo>
                  <a:pt x="11367060" y="1233093"/>
                  <a:pt x="11269285" y="1263712"/>
                  <a:pt x="11240093" y="1266797"/>
                </a:cubicBezTo>
                <a:cubicBezTo>
                  <a:pt x="11197297" y="1273685"/>
                  <a:pt x="11181311" y="1272682"/>
                  <a:pt x="11141364" y="1288059"/>
                </a:cubicBezTo>
                <a:cubicBezTo>
                  <a:pt x="11099891" y="1305386"/>
                  <a:pt x="11051533" y="1319157"/>
                  <a:pt x="11015396" y="1353104"/>
                </a:cubicBezTo>
                <a:cubicBezTo>
                  <a:pt x="11009424" y="1362217"/>
                  <a:pt x="10992328" y="1361966"/>
                  <a:pt x="10973905" y="1365109"/>
                </a:cubicBezTo>
                <a:cubicBezTo>
                  <a:pt x="10955482" y="1368254"/>
                  <a:pt x="10907369" y="1372817"/>
                  <a:pt x="10904858" y="1371966"/>
                </a:cubicBezTo>
                <a:cubicBezTo>
                  <a:pt x="10880521" y="1379494"/>
                  <a:pt x="10873670" y="1399734"/>
                  <a:pt x="10827883" y="1410270"/>
                </a:cubicBezTo>
                <a:cubicBezTo>
                  <a:pt x="10790248" y="1415655"/>
                  <a:pt x="10724899" y="1420726"/>
                  <a:pt x="10690996" y="1426394"/>
                </a:cubicBezTo>
                <a:cubicBezTo>
                  <a:pt x="10676463" y="1423331"/>
                  <a:pt x="10634514" y="1436908"/>
                  <a:pt x="10624461" y="1444283"/>
                </a:cubicBezTo>
                <a:cubicBezTo>
                  <a:pt x="10601952" y="1468442"/>
                  <a:pt x="10536224" y="1460228"/>
                  <a:pt x="10517208" y="1478947"/>
                </a:cubicBezTo>
                <a:cubicBezTo>
                  <a:pt x="10509508" y="1482271"/>
                  <a:pt x="10505833" y="1468818"/>
                  <a:pt x="10497937" y="1469831"/>
                </a:cubicBezTo>
                <a:lnTo>
                  <a:pt x="10471201" y="1486037"/>
                </a:lnTo>
                <a:lnTo>
                  <a:pt x="10448263" y="1478223"/>
                </a:lnTo>
                <a:lnTo>
                  <a:pt x="10388089" y="1507175"/>
                </a:lnTo>
                <a:cubicBezTo>
                  <a:pt x="10350285" y="1513081"/>
                  <a:pt x="10383281" y="1526586"/>
                  <a:pt x="10333720" y="1515848"/>
                </a:cubicBezTo>
                <a:cubicBezTo>
                  <a:pt x="10286428" y="1526223"/>
                  <a:pt x="10174884" y="1550019"/>
                  <a:pt x="10104338" y="1569424"/>
                </a:cubicBezTo>
                <a:cubicBezTo>
                  <a:pt x="10066963" y="1581564"/>
                  <a:pt x="9967395" y="1605712"/>
                  <a:pt x="9910445" y="1632275"/>
                </a:cubicBezTo>
                <a:cubicBezTo>
                  <a:pt x="9856131" y="1644130"/>
                  <a:pt x="9831118" y="1689967"/>
                  <a:pt x="9770872" y="1688088"/>
                </a:cubicBezTo>
                <a:cubicBezTo>
                  <a:pt x="9769882" y="1691843"/>
                  <a:pt x="9737016" y="1697044"/>
                  <a:pt x="9733849" y="1700034"/>
                </a:cubicBezTo>
                <a:lnTo>
                  <a:pt x="9703714" y="1730093"/>
                </a:lnTo>
                <a:lnTo>
                  <a:pt x="9698351" y="1730377"/>
                </a:lnTo>
                <a:lnTo>
                  <a:pt x="9632895" y="1736363"/>
                </a:lnTo>
                <a:lnTo>
                  <a:pt x="9569107" y="1741010"/>
                </a:lnTo>
                <a:cubicBezTo>
                  <a:pt x="9558961" y="1745882"/>
                  <a:pt x="9548028" y="1750646"/>
                  <a:pt x="9536451" y="1755120"/>
                </a:cubicBezTo>
                <a:lnTo>
                  <a:pt x="9529385" y="1757515"/>
                </a:lnTo>
                <a:lnTo>
                  <a:pt x="9498527" y="1753117"/>
                </a:lnTo>
                <a:lnTo>
                  <a:pt x="9436642" y="1755478"/>
                </a:lnTo>
                <a:lnTo>
                  <a:pt x="9429748" y="1756317"/>
                </a:lnTo>
                <a:lnTo>
                  <a:pt x="9429748" y="1768745"/>
                </a:lnTo>
                <a:lnTo>
                  <a:pt x="9425802" y="1769273"/>
                </a:lnTo>
                <a:cubicBezTo>
                  <a:pt x="9390751" y="1773262"/>
                  <a:pt x="9371406" y="1773457"/>
                  <a:pt x="9349763" y="1776107"/>
                </a:cubicBezTo>
                <a:cubicBezTo>
                  <a:pt x="9314721" y="1782260"/>
                  <a:pt x="9277650" y="1796217"/>
                  <a:pt x="9256503" y="1800699"/>
                </a:cubicBezTo>
                <a:lnTo>
                  <a:pt x="9222873" y="1803003"/>
                </a:lnTo>
                <a:lnTo>
                  <a:pt x="9224095" y="1807355"/>
                </a:lnTo>
                <a:lnTo>
                  <a:pt x="9211603" y="1807675"/>
                </a:lnTo>
                <a:lnTo>
                  <a:pt x="9183719" y="1807781"/>
                </a:lnTo>
                <a:cubicBezTo>
                  <a:pt x="9166319" y="1808439"/>
                  <a:pt x="9117935" y="1807396"/>
                  <a:pt x="9100221" y="1808989"/>
                </a:cubicBezTo>
                <a:cubicBezTo>
                  <a:pt x="9095111" y="1813630"/>
                  <a:pt x="9087224" y="1816160"/>
                  <a:pt x="9077439" y="1817333"/>
                </a:cubicBezTo>
                <a:lnTo>
                  <a:pt x="9055889" y="1817464"/>
                </a:lnTo>
                <a:lnTo>
                  <a:pt x="8930912" y="1828648"/>
                </a:lnTo>
                <a:lnTo>
                  <a:pt x="8913729" y="1829483"/>
                </a:lnTo>
                <a:lnTo>
                  <a:pt x="8904423" y="1833234"/>
                </a:lnTo>
                <a:cubicBezTo>
                  <a:pt x="8897319" y="1833982"/>
                  <a:pt x="8876911" y="1833498"/>
                  <a:pt x="8871099" y="1833979"/>
                </a:cubicBezTo>
                <a:lnTo>
                  <a:pt x="8869557" y="1836113"/>
                </a:lnTo>
                <a:cubicBezTo>
                  <a:pt x="8851043" y="1839524"/>
                  <a:pt x="8781405" y="1850882"/>
                  <a:pt x="8760021" y="1854442"/>
                </a:cubicBezTo>
                <a:cubicBezTo>
                  <a:pt x="8755749" y="1851161"/>
                  <a:pt x="8746183" y="1856343"/>
                  <a:pt x="8741254" y="1857469"/>
                </a:cubicBezTo>
                <a:cubicBezTo>
                  <a:pt x="8740491" y="1855259"/>
                  <a:pt x="8728559" y="1854585"/>
                  <a:pt x="8725039" y="1856552"/>
                </a:cubicBezTo>
                <a:cubicBezTo>
                  <a:pt x="8641157" y="1867333"/>
                  <a:pt x="8683145" y="1845054"/>
                  <a:pt x="8635265" y="1859168"/>
                </a:cubicBezTo>
                <a:cubicBezTo>
                  <a:pt x="8626795" y="1860103"/>
                  <a:pt x="8619931" y="1859212"/>
                  <a:pt x="8613911" y="1857561"/>
                </a:cubicBezTo>
                <a:lnTo>
                  <a:pt x="8604931" y="1854170"/>
                </a:lnTo>
                <a:lnTo>
                  <a:pt x="8570171" y="1860579"/>
                </a:lnTo>
                <a:cubicBezTo>
                  <a:pt x="8553049" y="1862813"/>
                  <a:pt x="8535028" y="1864294"/>
                  <a:pt x="8516537" y="1864971"/>
                </a:cubicBezTo>
                <a:cubicBezTo>
                  <a:pt x="8512388" y="1860455"/>
                  <a:pt x="8497874" y="1866870"/>
                  <a:pt x="8491046" y="1868141"/>
                </a:cubicBezTo>
                <a:cubicBezTo>
                  <a:pt x="8490975" y="1865191"/>
                  <a:pt x="8475847" y="1863778"/>
                  <a:pt x="8470478" y="1866216"/>
                </a:cubicBezTo>
                <a:cubicBezTo>
                  <a:pt x="8357654" y="1876758"/>
                  <a:pt x="8421139" y="1849210"/>
                  <a:pt x="8353433" y="1865729"/>
                </a:cubicBezTo>
                <a:lnTo>
                  <a:pt x="8347675" y="1865075"/>
                </a:lnTo>
                <a:lnTo>
                  <a:pt x="8343939" y="1865677"/>
                </a:lnTo>
                <a:cubicBezTo>
                  <a:pt x="8309852" y="1870841"/>
                  <a:pt x="8272587" y="1875809"/>
                  <a:pt x="8221566" y="1881148"/>
                </a:cubicBezTo>
                <a:cubicBezTo>
                  <a:pt x="8158043" y="1892960"/>
                  <a:pt x="8095547" y="1914042"/>
                  <a:pt x="8066095" y="1919902"/>
                </a:cubicBezTo>
                <a:cubicBezTo>
                  <a:pt x="8058949" y="1919234"/>
                  <a:pt x="8051921" y="1917862"/>
                  <a:pt x="8044849" y="1916308"/>
                </a:cubicBezTo>
                <a:lnTo>
                  <a:pt x="8041142" y="1915506"/>
                </a:lnTo>
                <a:lnTo>
                  <a:pt x="8022159" y="1911521"/>
                </a:lnTo>
                <a:lnTo>
                  <a:pt x="7944932" y="1917265"/>
                </a:lnTo>
                <a:lnTo>
                  <a:pt x="7879011" y="1928570"/>
                </a:lnTo>
                <a:lnTo>
                  <a:pt x="7865529" y="1934399"/>
                </a:lnTo>
                <a:lnTo>
                  <a:pt x="7774801" y="1947969"/>
                </a:lnTo>
                <a:lnTo>
                  <a:pt x="7748398" y="1955982"/>
                </a:lnTo>
                <a:lnTo>
                  <a:pt x="7740684" y="1955717"/>
                </a:lnTo>
                <a:cubicBezTo>
                  <a:pt x="7728362" y="1958584"/>
                  <a:pt x="7714099" y="1968442"/>
                  <a:pt x="7712976" y="1960442"/>
                </a:cubicBezTo>
                <a:lnTo>
                  <a:pt x="7699956" y="1966104"/>
                </a:lnTo>
                <a:lnTo>
                  <a:pt x="7684158" y="1962927"/>
                </a:lnTo>
                <a:cubicBezTo>
                  <a:pt x="7674684" y="1962643"/>
                  <a:pt x="7652105" y="1963177"/>
                  <a:pt x="7643109" y="1964400"/>
                </a:cubicBezTo>
                <a:lnTo>
                  <a:pt x="7630180" y="1970266"/>
                </a:lnTo>
                <a:lnTo>
                  <a:pt x="7609131" y="1971774"/>
                </a:lnTo>
                <a:cubicBezTo>
                  <a:pt x="7596694" y="1971644"/>
                  <a:pt x="7570258" y="1969757"/>
                  <a:pt x="7555555" y="1969491"/>
                </a:cubicBezTo>
                <a:cubicBezTo>
                  <a:pt x="7541460" y="1966540"/>
                  <a:pt x="7530571" y="1964848"/>
                  <a:pt x="7520919" y="1970177"/>
                </a:cubicBezTo>
                <a:cubicBezTo>
                  <a:pt x="7500295" y="1966884"/>
                  <a:pt x="7480780" y="1949401"/>
                  <a:pt x="7456258" y="1960468"/>
                </a:cubicBezTo>
                <a:cubicBezTo>
                  <a:pt x="7434946" y="1957506"/>
                  <a:pt x="7435772" y="1952500"/>
                  <a:pt x="7393047" y="1952408"/>
                </a:cubicBezTo>
                <a:cubicBezTo>
                  <a:pt x="7356520" y="1952860"/>
                  <a:pt x="7236307" y="1958626"/>
                  <a:pt x="7199912" y="1959913"/>
                </a:cubicBezTo>
                <a:cubicBezTo>
                  <a:pt x="7176501" y="1959942"/>
                  <a:pt x="7160098" y="1958343"/>
                  <a:pt x="7146774" y="1956641"/>
                </a:cubicBezTo>
                <a:lnTo>
                  <a:pt x="7122244" y="1953891"/>
                </a:lnTo>
                <a:lnTo>
                  <a:pt x="7032241" y="1962723"/>
                </a:lnTo>
                <a:cubicBezTo>
                  <a:pt x="6997214" y="1965198"/>
                  <a:pt x="6963725" y="1968396"/>
                  <a:pt x="6941492" y="1976868"/>
                </a:cubicBezTo>
                <a:cubicBezTo>
                  <a:pt x="6947015" y="1970398"/>
                  <a:pt x="6923088" y="1965379"/>
                  <a:pt x="6906514" y="1968589"/>
                </a:cubicBezTo>
                <a:cubicBezTo>
                  <a:pt x="6925890" y="1943204"/>
                  <a:pt x="6840983" y="1991464"/>
                  <a:pt x="6826395" y="1974141"/>
                </a:cubicBezTo>
                <a:cubicBezTo>
                  <a:pt x="6825676" y="1990223"/>
                  <a:pt x="6751393" y="2017492"/>
                  <a:pt x="6716431" y="2004297"/>
                </a:cubicBezTo>
                <a:cubicBezTo>
                  <a:pt x="6663167" y="2007518"/>
                  <a:pt x="6625450" y="2020811"/>
                  <a:pt x="6569607" y="2015496"/>
                </a:cubicBezTo>
                <a:cubicBezTo>
                  <a:pt x="6567874" y="2017648"/>
                  <a:pt x="6565034" y="2019449"/>
                  <a:pt x="6561430" y="2020996"/>
                </a:cubicBezTo>
                <a:lnTo>
                  <a:pt x="6549371" y="2024747"/>
                </a:lnTo>
                <a:lnTo>
                  <a:pt x="6547040" y="2024474"/>
                </a:lnTo>
                <a:cubicBezTo>
                  <a:pt x="6537882" y="2024425"/>
                  <a:pt x="6533193" y="2025332"/>
                  <a:pt x="6530482" y="2026659"/>
                </a:cubicBezTo>
                <a:lnTo>
                  <a:pt x="6528565" y="2028600"/>
                </a:lnTo>
                <a:lnTo>
                  <a:pt x="6517741" y="2030558"/>
                </a:lnTo>
                <a:lnTo>
                  <a:pt x="6497855" y="2035650"/>
                </a:lnTo>
                <a:lnTo>
                  <a:pt x="6492785" y="2035444"/>
                </a:lnTo>
                <a:lnTo>
                  <a:pt x="6460692" y="2041321"/>
                </a:lnTo>
                <a:lnTo>
                  <a:pt x="6459609" y="2040851"/>
                </a:lnTo>
                <a:cubicBezTo>
                  <a:pt x="6456451" y="2039933"/>
                  <a:pt x="6452734" y="2039508"/>
                  <a:pt x="6447765" y="2040102"/>
                </a:cubicBezTo>
                <a:cubicBezTo>
                  <a:pt x="6446007" y="2031126"/>
                  <a:pt x="6441093" y="2037380"/>
                  <a:pt x="6426590" y="2039928"/>
                </a:cubicBezTo>
                <a:cubicBezTo>
                  <a:pt x="6423606" y="2033241"/>
                  <a:pt x="6413230" y="2032925"/>
                  <a:pt x="6401693" y="2033537"/>
                </a:cubicBezTo>
                <a:lnTo>
                  <a:pt x="6387141" y="2033161"/>
                </a:lnTo>
                <a:lnTo>
                  <a:pt x="6357846" y="2036782"/>
                </a:lnTo>
                <a:lnTo>
                  <a:pt x="6342914" y="2037585"/>
                </a:lnTo>
                <a:lnTo>
                  <a:pt x="6336300" y="2038781"/>
                </a:lnTo>
                <a:lnTo>
                  <a:pt x="6317178" y="2038968"/>
                </a:lnTo>
                <a:lnTo>
                  <a:pt x="6161427" y="2047338"/>
                </a:lnTo>
                <a:cubicBezTo>
                  <a:pt x="6147824" y="2057658"/>
                  <a:pt x="6118908" y="2077615"/>
                  <a:pt x="6097339" y="2082438"/>
                </a:cubicBezTo>
                <a:cubicBezTo>
                  <a:pt x="6090149" y="2084046"/>
                  <a:pt x="6083776" y="2083972"/>
                  <a:pt x="6079059" y="2081299"/>
                </a:cubicBezTo>
                <a:cubicBezTo>
                  <a:pt x="6063900" y="2082334"/>
                  <a:pt x="6011621" y="2084537"/>
                  <a:pt x="5998439" y="2070958"/>
                </a:cubicBezTo>
                <a:cubicBezTo>
                  <a:pt x="5976443" y="2071759"/>
                  <a:pt x="5925514" y="2069780"/>
                  <a:pt x="5904290" y="2070255"/>
                </a:cubicBezTo>
                <a:cubicBezTo>
                  <a:pt x="5871515" y="2066244"/>
                  <a:pt x="5843986" y="2088249"/>
                  <a:pt x="5814867" y="2079032"/>
                </a:cubicBezTo>
                <a:cubicBezTo>
                  <a:pt x="5792003" y="2070559"/>
                  <a:pt x="5750009" y="2076273"/>
                  <a:pt x="5725743" y="2070558"/>
                </a:cubicBezTo>
                <a:cubicBezTo>
                  <a:pt x="5716432" y="2058355"/>
                  <a:pt x="5667424" y="2047322"/>
                  <a:pt x="5650546" y="2052412"/>
                </a:cubicBezTo>
                <a:cubicBezTo>
                  <a:pt x="5614627" y="2046084"/>
                  <a:pt x="5608108" y="2028306"/>
                  <a:pt x="5581284" y="2023175"/>
                </a:cubicBezTo>
                <a:lnTo>
                  <a:pt x="5572593" y="2018391"/>
                </a:lnTo>
                <a:lnTo>
                  <a:pt x="5548580" y="2016951"/>
                </a:lnTo>
                <a:cubicBezTo>
                  <a:pt x="5523726" y="2017783"/>
                  <a:pt x="5498337" y="2019663"/>
                  <a:pt x="5471173" y="2018786"/>
                </a:cubicBezTo>
                <a:cubicBezTo>
                  <a:pt x="5447687" y="2003020"/>
                  <a:pt x="5353807" y="2022324"/>
                  <a:pt x="5340320" y="2037611"/>
                </a:cubicBezTo>
                <a:cubicBezTo>
                  <a:pt x="5340015" y="2024215"/>
                  <a:pt x="5271937" y="2042455"/>
                  <a:pt x="5254376" y="2042928"/>
                </a:cubicBezTo>
                <a:cubicBezTo>
                  <a:pt x="5248522" y="2043086"/>
                  <a:pt x="5248281" y="2041270"/>
                  <a:pt x="5258035" y="2035649"/>
                </a:cubicBezTo>
                <a:cubicBezTo>
                  <a:pt x="5239374" y="2037214"/>
                  <a:pt x="5220112" y="2030252"/>
                  <a:pt x="5230622" y="2024576"/>
                </a:cubicBezTo>
                <a:cubicBezTo>
                  <a:pt x="5173932" y="2036724"/>
                  <a:pt x="5090262" y="2024645"/>
                  <a:pt x="5026203" y="2030162"/>
                </a:cubicBezTo>
                <a:cubicBezTo>
                  <a:pt x="4991280" y="2016814"/>
                  <a:pt x="5010212" y="2029164"/>
                  <a:pt x="4973988" y="2026668"/>
                </a:cubicBezTo>
                <a:cubicBezTo>
                  <a:pt x="4983896" y="2038955"/>
                  <a:pt x="4930012" y="2019774"/>
                  <a:pt x="4928030" y="2033642"/>
                </a:cubicBezTo>
                <a:cubicBezTo>
                  <a:pt x="4921501" y="2032748"/>
                  <a:pt x="4915238" y="2031445"/>
                  <a:pt x="4908970" y="2030033"/>
                </a:cubicBezTo>
                <a:lnTo>
                  <a:pt x="4905679" y="2029300"/>
                </a:lnTo>
                <a:lnTo>
                  <a:pt x="4892525" y="2028768"/>
                </a:lnTo>
                <a:lnTo>
                  <a:pt x="4888818" y="2025619"/>
                </a:lnTo>
                <a:lnTo>
                  <a:pt x="4869018" y="2022668"/>
                </a:lnTo>
                <a:cubicBezTo>
                  <a:pt x="4861602" y="2022028"/>
                  <a:pt x="4853622" y="2021880"/>
                  <a:pt x="4844804" y="2022527"/>
                </a:cubicBezTo>
                <a:cubicBezTo>
                  <a:pt x="4823110" y="2028022"/>
                  <a:pt x="4789330" y="2021287"/>
                  <a:pt x="4758778" y="2021694"/>
                </a:cubicBezTo>
                <a:lnTo>
                  <a:pt x="4744748" y="2023396"/>
                </a:lnTo>
                <a:lnTo>
                  <a:pt x="4698956" y="2020558"/>
                </a:lnTo>
                <a:cubicBezTo>
                  <a:pt x="4685921" y="2020008"/>
                  <a:pt x="4672392" y="2019718"/>
                  <a:pt x="4658147" y="2019920"/>
                </a:cubicBezTo>
                <a:lnTo>
                  <a:pt x="4631706" y="2021274"/>
                </a:lnTo>
                <a:lnTo>
                  <a:pt x="4624776" y="2020152"/>
                </a:lnTo>
                <a:cubicBezTo>
                  <a:pt x="4612703" y="2020277"/>
                  <a:pt x="4596727" y="2024226"/>
                  <a:pt x="4598150" y="2019429"/>
                </a:cubicBezTo>
                <a:lnTo>
                  <a:pt x="4584588" y="2021092"/>
                </a:lnTo>
                <a:lnTo>
                  <a:pt x="4571203" y="2017263"/>
                </a:lnTo>
                <a:cubicBezTo>
                  <a:pt x="4569736" y="2016374"/>
                  <a:pt x="4568633" y="2015427"/>
                  <a:pt x="4567930" y="2014458"/>
                </a:cubicBezTo>
                <a:lnTo>
                  <a:pt x="4548984" y="2015717"/>
                </a:lnTo>
                <a:lnTo>
                  <a:pt x="4533451" y="2012976"/>
                </a:lnTo>
                <a:lnTo>
                  <a:pt x="4519910" y="2014768"/>
                </a:lnTo>
                <a:lnTo>
                  <a:pt x="4514290" y="2014364"/>
                </a:lnTo>
                <a:lnTo>
                  <a:pt x="4500320" y="2013007"/>
                </a:lnTo>
                <a:cubicBezTo>
                  <a:pt x="4493159" y="2012056"/>
                  <a:pt x="4485144" y="2010910"/>
                  <a:pt x="4476219" y="2009993"/>
                </a:cubicBezTo>
                <a:lnTo>
                  <a:pt x="4468701" y="2009574"/>
                </a:lnTo>
                <a:lnTo>
                  <a:pt x="4452333" y="2004964"/>
                </a:lnTo>
                <a:cubicBezTo>
                  <a:pt x="4440422" y="2001479"/>
                  <a:pt x="4431048" y="1999130"/>
                  <a:pt x="4420644" y="2001021"/>
                </a:cubicBezTo>
                <a:cubicBezTo>
                  <a:pt x="4402911" y="1996519"/>
                  <a:pt x="4390524" y="1983900"/>
                  <a:pt x="4364856" y="1987267"/>
                </a:cubicBezTo>
                <a:cubicBezTo>
                  <a:pt x="4372645" y="1981550"/>
                  <a:pt x="4336350" y="1986575"/>
                  <a:pt x="4332062" y="1980703"/>
                </a:cubicBezTo>
                <a:cubicBezTo>
                  <a:pt x="4330083" y="1975974"/>
                  <a:pt x="4318612" y="1976397"/>
                  <a:pt x="4309876" y="1974653"/>
                </a:cubicBezTo>
                <a:cubicBezTo>
                  <a:pt x="4303650" y="1969824"/>
                  <a:pt x="4259693" y="1965414"/>
                  <a:pt x="4244391" y="1966109"/>
                </a:cubicBezTo>
                <a:cubicBezTo>
                  <a:pt x="4201255" y="1970914"/>
                  <a:pt x="4166558" y="1951471"/>
                  <a:pt x="4132071" y="1954813"/>
                </a:cubicBezTo>
                <a:cubicBezTo>
                  <a:pt x="4123041" y="1954358"/>
                  <a:pt x="4115554" y="1953263"/>
                  <a:pt x="4109069" y="1951778"/>
                </a:cubicBezTo>
                <a:lnTo>
                  <a:pt x="4092908" y="1946662"/>
                </a:lnTo>
                <a:cubicBezTo>
                  <a:pt x="4092707" y="1945539"/>
                  <a:pt x="4092506" y="1944415"/>
                  <a:pt x="4092306" y="1943291"/>
                </a:cubicBezTo>
                <a:lnTo>
                  <a:pt x="4080234" y="1941219"/>
                </a:lnTo>
                <a:lnTo>
                  <a:pt x="4077778" y="1940145"/>
                </a:lnTo>
                <a:cubicBezTo>
                  <a:pt x="4073105" y="1938081"/>
                  <a:pt x="4068339" y="1936119"/>
                  <a:pt x="4062936" y="1934506"/>
                </a:cubicBezTo>
                <a:cubicBezTo>
                  <a:pt x="4048082" y="1947155"/>
                  <a:pt x="4014523" y="1922869"/>
                  <a:pt x="4012506" y="1935475"/>
                </a:cubicBezTo>
                <a:cubicBezTo>
                  <a:pt x="3980228" y="1928812"/>
                  <a:pt x="3986775" y="1942559"/>
                  <a:pt x="3965880" y="1925968"/>
                </a:cubicBezTo>
                <a:cubicBezTo>
                  <a:pt x="3899515" y="1923414"/>
                  <a:pt x="3830855" y="1902158"/>
                  <a:pt x="3765338" y="1906649"/>
                </a:cubicBezTo>
                <a:cubicBezTo>
                  <a:pt x="3780686" y="1902635"/>
                  <a:pt x="3768784" y="1893856"/>
                  <a:pt x="3749493" y="1893071"/>
                </a:cubicBezTo>
                <a:cubicBezTo>
                  <a:pt x="3807776" y="1876857"/>
                  <a:pt x="3656400" y="1898030"/>
                  <a:pt x="3672704" y="1881383"/>
                </a:cubicBezTo>
                <a:cubicBezTo>
                  <a:pt x="3645532" y="1893973"/>
                  <a:pt x="3537791" y="1900656"/>
                  <a:pt x="3530082" y="1883187"/>
                </a:cubicBezTo>
                <a:cubicBezTo>
                  <a:pt x="3479808" y="1875044"/>
                  <a:pt x="3426017" y="1877998"/>
                  <a:pt x="3387664" y="1862579"/>
                </a:cubicBezTo>
                <a:cubicBezTo>
                  <a:pt x="3382649" y="1863935"/>
                  <a:pt x="3377277" y="1864791"/>
                  <a:pt x="3371681" y="1865293"/>
                </a:cubicBezTo>
                <a:lnTo>
                  <a:pt x="3355305" y="1865842"/>
                </a:lnTo>
                <a:lnTo>
                  <a:pt x="3353790" y="1865158"/>
                </a:lnTo>
                <a:cubicBezTo>
                  <a:pt x="3346144" y="1863282"/>
                  <a:pt x="3340687" y="1863057"/>
                  <a:pt x="3336210" y="1863564"/>
                </a:cubicBezTo>
                <a:lnTo>
                  <a:pt x="3331381" y="1864716"/>
                </a:lnTo>
                <a:lnTo>
                  <a:pt x="3319012" y="1864093"/>
                </a:lnTo>
                <a:lnTo>
                  <a:pt x="3293818" y="1864135"/>
                </a:lnTo>
                <a:lnTo>
                  <a:pt x="3289881" y="1862954"/>
                </a:lnTo>
                <a:lnTo>
                  <a:pt x="3253090" y="1861164"/>
                </a:lnTo>
                <a:cubicBezTo>
                  <a:pt x="3253042" y="1860968"/>
                  <a:pt x="3252996" y="1860771"/>
                  <a:pt x="3252949" y="1860574"/>
                </a:cubicBezTo>
                <a:cubicBezTo>
                  <a:pt x="3251799" y="1859213"/>
                  <a:pt x="3249368" y="1858131"/>
                  <a:pt x="3244187" y="1857604"/>
                </a:cubicBezTo>
                <a:cubicBezTo>
                  <a:pt x="3250860" y="1853873"/>
                  <a:pt x="3250577" y="1852999"/>
                  <a:pt x="3246570" y="1852946"/>
                </a:cubicBezTo>
                <a:lnTo>
                  <a:pt x="3237810" y="1853064"/>
                </a:lnTo>
                <a:lnTo>
                  <a:pt x="3230822" y="1855474"/>
                </a:lnTo>
                <a:cubicBezTo>
                  <a:pt x="3206812" y="1862286"/>
                  <a:pt x="3176733" y="1868865"/>
                  <a:pt x="3136549" y="1874037"/>
                </a:cubicBezTo>
                <a:cubicBezTo>
                  <a:pt x="3081163" y="1880168"/>
                  <a:pt x="2902557" y="1900580"/>
                  <a:pt x="2845754" y="1910932"/>
                </a:cubicBezTo>
                <a:cubicBezTo>
                  <a:pt x="2860822" y="1944376"/>
                  <a:pt x="2813389" y="1905358"/>
                  <a:pt x="2786878" y="1917162"/>
                </a:cubicBezTo>
                <a:cubicBezTo>
                  <a:pt x="2766803" y="1917398"/>
                  <a:pt x="2741628" y="1915886"/>
                  <a:pt x="2725298" y="1912340"/>
                </a:cubicBezTo>
                <a:cubicBezTo>
                  <a:pt x="2716680" y="1911427"/>
                  <a:pt x="2707572" y="1911972"/>
                  <a:pt x="2697754" y="1914863"/>
                </a:cubicBezTo>
                <a:cubicBezTo>
                  <a:pt x="2667185" y="1939014"/>
                  <a:pt x="2622149" y="1926211"/>
                  <a:pt x="2568063" y="1936283"/>
                </a:cubicBezTo>
                <a:cubicBezTo>
                  <a:pt x="2552625" y="1932001"/>
                  <a:pt x="2502682" y="1953378"/>
                  <a:pt x="2489784" y="1943720"/>
                </a:cubicBezTo>
                <a:cubicBezTo>
                  <a:pt x="2478524" y="1943155"/>
                  <a:pt x="2467418" y="1949411"/>
                  <a:pt x="2458978" y="1938095"/>
                </a:cubicBezTo>
                <a:cubicBezTo>
                  <a:pt x="2417552" y="1934639"/>
                  <a:pt x="2366376" y="1931293"/>
                  <a:pt x="2318712" y="1934474"/>
                </a:cubicBezTo>
                <a:cubicBezTo>
                  <a:pt x="2296029" y="1936526"/>
                  <a:pt x="2282069" y="1938434"/>
                  <a:pt x="2268709" y="1940521"/>
                </a:cubicBezTo>
                <a:lnTo>
                  <a:pt x="2264080" y="1941232"/>
                </a:lnTo>
                <a:lnTo>
                  <a:pt x="2254684" y="1943524"/>
                </a:lnTo>
                <a:lnTo>
                  <a:pt x="2252523" y="1943004"/>
                </a:lnTo>
                <a:lnTo>
                  <a:pt x="2173350" y="1929202"/>
                </a:lnTo>
                <a:lnTo>
                  <a:pt x="2155266" y="1920267"/>
                </a:lnTo>
                <a:lnTo>
                  <a:pt x="2091013" y="1914631"/>
                </a:lnTo>
                <a:cubicBezTo>
                  <a:pt x="2033357" y="1920614"/>
                  <a:pt x="2070513" y="1905065"/>
                  <a:pt x="2030712" y="1897690"/>
                </a:cubicBezTo>
                <a:cubicBezTo>
                  <a:pt x="1994539" y="1893055"/>
                  <a:pt x="1958569" y="1883188"/>
                  <a:pt x="1908838" y="1892222"/>
                </a:cubicBezTo>
                <a:cubicBezTo>
                  <a:pt x="1897236" y="1896147"/>
                  <a:pt x="1883338" y="1892415"/>
                  <a:pt x="1877796" y="1883887"/>
                </a:cubicBezTo>
                <a:cubicBezTo>
                  <a:pt x="1876842" y="1882419"/>
                  <a:pt x="1876177" y="1880863"/>
                  <a:pt x="1875824" y="1879265"/>
                </a:cubicBezTo>
                <a:cubicBezTo>
                  <a:pt x="1843474" y="1887199"/>
                  <a:pt x="1841511" y="1873818"/>
                  <a:pt x="1823048" y="1881064"/>
                </a:cubicBezTo>
                <a:cubicBezTo>
                  <a:pt x="1792640" y="1872164"/>
                  <a:pt x="1782358" y="1850450"/>
                  <a:pt x="1765736" y="1856578"/>
                </a:cubicBezTo>
                <a:cubicBezTo>
                  <a:pt x="1753024" y="1849107"/>
                  <a:pt x="1745932" y="1828316"/>
                  <a:pt x="1725669" y="1833744"/>
                </a:cubicBezTo>
                <a:cubicBezTo>
                  <a:pt x="1727428" y="1831405"/>
                  <a:pt x="1726953" y="1830157"/>
                  <a:pt x="1725216" y="1829447"/>
                </a:cubicBezTo>
                <a:lnTo>
                  <a:pt x="1721485" y="1828960"/>
                </a:lnTo>
                <a:lnTo>
                  <a:pt x="1717786" y="1832224"/>
                </a:lnTo>
                <a:cubicBezTo>
                  <a:pt x="1703445" y="1843277"/>
                  <a:pt x="1706547" y="1827935"/>
                  <a:pt x="1689907" y="1825425"/>
                </a:cubicBezTo>
                <a:cubicBezTo>
                  <a:pt x="1682338" y="1823445"/>
                  <a:pt x="1685181" y="1820226"/>
                  <a:pt x="1688093" y="1817391"/>
                </a:cubicBezTo>
                <a:lnTo>
                  <a:pt x="1496789" y="1805297"/>
                </a:lnTo>
                <a:cubicBezTo>
                  <a:pt x="1463551" y="1793913"/>
                  <a:pt x="1426345" y="1786892"/>
                  <a:pt x="1392839" y="1758649"/>
                </a:cubicBezTo>
                <a:cubicBezTo>
                  <a:pt x="1386461" y="1750573"/>
                  <a:pt x="1374031" y="1756918"/>
                  <a:pt x="1360872" y="1752441"/>
                </a:cubicBezTo>
                <a:cubicBezTo>
                  <a:pt x="1347711" y="1747963"/>
                  <a:pt x="1332751" y="1735898"/>
                  <a:pt x="1313885" y="1731785"/>
                </a:cubicBezTo>
                <a:cubicBezTo>
                  <a:pt x="1281989" y="1726305"/>
                  <a:pt x="1256405" y="1739744"/>
                  <a:pt x="1247665" y="1727765"/>
                </a:cubicBezTo>
                <a:cubicBezTo>
                  <a:pt x="1231363" y="1728538"/>
                  <a:pt x="1209120" y="1742556"/>
                  <a:pt x="1196850" y="1729622"/>
                </a:cubicBezTo>
                <a:cubicBezTo>
                  <a:pt x="1195195" y="1740224"/>
                  <a:pt x="1178147" y="1721561"/>
                  <a:pt x="1168728" y="1728550"/>
                </a:cubicBezTo>
                <a:cubicBezTo>
                  <a:pt x="1152073" y="1727193"/>
                  <a:pt x="1122804" y="1725926"/>
                  <a:pt x="1096918" y="1721485"/>
                </a:cubicBezTo>
                <a:lnTo>
                  <a:pt x="1094082" y="1720113"/>
                </a:lnTo>
                <a:lnTo>
                  <a:pt x="1040782" y="1721762"/>
                </a:lnTo>
                <a:cubicBezTo>
                  <a:pt x="987172" y="1722352"/>
                  <a:pt x="1023272" y="1708707"/>
                  <a:pt x="955980" y="1719289"/>
                </a:cubicBezTo>
                <a:cubicBezTo>
                  <a:pt x="948995" y="1714208"/>
                  <a:pt x="940521" y="1713816"/>
                  <a:pt x="926108" y="1715917"/>
                </a:cubicBezTo>
                <a:cubicBezTo>
                  <a:pt x="900077" y="1715834"/>
                  <a:pt x="902688" y="1703436"/>
                  <a:pt x="876049" y="1710422"/>
                </a:cubicBezTo>
                <a:cubicBezTo>
                  <a:pt x="881084" y="1703830"/>
                  <a:pt x="826830" y="1706893"/>
                  <a:pt x="839194" y="1700176"/>
                </a:cubicBezTo>
                <a:cubicBezTo>
                  <a:pt x="822548" y="1693764"/>
                  <a:pt x="813674" y="1703628"/>
                  <a:pt x="797112" y="1698014"/>
                </a:cubicBezTo>
                <a:cubicBezTo>
                  <a:pt x="778195" y="1696418"/>
                  <a:pt x="807647" y="1705364"/>
                  <a:pt x="786610" y="1705455"/>
                </a:cubicBezTo>
                <a:cubicBezTo>
                  <a:pt x="761170" y="1704357"/>
                  <a:pt x="760599" y="1716610"/>
                  <a:pt x="741833" y="1700566"/>
                </a:cubicBezTo>
                <a:lnTo>
                  <a:pt x="673985" y="1692278"/>
                </a:lnTo>
                <a:cubicBezTo>
                  <a:pt x="658515" y="1695829"/>
                  <a:pt x="646395" y="1693620"/>
                  <a:pt x="634665" y="1689550"/>
                </a:cubicBezTo>
                <a:cubicBezTo>
                  <a:pt x="599149" y="1689690"/>
                  <a:pt x="567176" y="1683160"/>
                  <a:pt x="527471" y="1679869"/>
                </a:cubicBezTo>
                <a:cubicBezTo>
                  <a:pt x="484099" y="1683240"/>
                  <a:pt x="462693" y="1671949"/>
                  <a:pt x="420260" y="1668475"/>
                </a:cubicBezTo>
                <a:cubicBezTo>
                  <a:pt x="377482" y="1677390"/>
                  <a:pt x="393500" y="1652730"/>
                  <a:pt x="357630" y="1652142"/>
                </a:cubicBezTo>
                <a:cubicBezTo>
                  <a:pt x="298692" y="1659518"/>
                  <a:pt x="359631" y="1643849"/>
                  <a:pt x="269407" y="1643812"/>
                </a:cubicBezTo>
                <a:cubicBezTo>
                  <a:pt x="264204" y="1645215"/>
                  <a:pt x="253436" y="1643159"/>
                  <a:pt x="254769" y="1641013"/>
                </a:cubicBezTo>
                <a:cubicBezTo>
                  <a:pt x="234996" y="1641090"/>
                  <a:pt x="179093" y="1626583"/>
                  <a:pt x="150763" y="1628143"/>
                </a:cubicBezTo>
                <a:cubicBezTo>
                  <a:pt x="96232" y="1619954"/>
                  <a:pt x="68845" y="1629422"/>
                  <a:pt x="29133" y="1626172"/>
                </a:cubicBezTo>
                <a:lnTo>
                  <a:pt x="0" y="1619589"/>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itle 2">
            <a:extLst>
              <a:ext uri="{FF2B5EF4-FFF2-40B4-BE49-F238E27FC236}">
                <a16:creationId xmlns:a16="http://schemas.microsoft.com/office/drawing/2014/main" id="{6241DB56-FBD4-D3E0-E7DD-61CE0DBA1B9D}"/>
              </a:ext>
            </a:extLst>
          </p:cNvPr>
          <p:cNvSpPr>
            <a:spLocks noGrp="1"/>
          </p:cNvSpPr>
          <p:nvPr>
            <p:ph type="title"/>
          </p:nvPr>
        </p:nvSpPr>
        <p:spPr>
          <a:xfrm>
            <a:off x="828675" y="494414"/>
            <a:ext cx="10534650" cy="817403"/>
          </a:xfrm>
        </p:spPr>
        <p:txBody>
          <a:bodyPr vert="horz" lIns="91440" tIns="45720" rIns="91440" bIns="45720" rtlCol="0" anchor="b">
            <a:normAutofit/>
          </a:bodyPr>
          <a:lstStyle/>
          <a:p>
            <a:pPr algn="ctr"/>
            <a:r>
              <a:rPr lang="en-US" sz="3600" i="1" kern="1200">
                <a:solidFill>
                  <a:schemeClr val="tx1"/>
                </a:solidFill>
                <a:latin typeface="+mj-lt"/>
                <a:ea typeface="+mj-ea"/>
                <a:cs typeface="+mj-cs"/>
              </a:rPr>
              <a:t>Simple vs Base vs Fine-Tuned Model</a:t>
            </a:r>
            <a:endParaRPr lang="en-US" sz="3600" kern="1200">
              <a:solidFill>
                <a:schemeClr val="tx1"/>
              </a:solidFill>
              <a:latin typeface="+mj-lt"/>
              <a:ea typeface="+mj-ea"/>
              <a:cs typeface="+mj-cs"/>
            </a:endParaRPr>
          </a:p>
        </p:txBody>
      </p:sp>
      <p:pic>
        <p:nvPicPr>
          <p:cNvPr id="5" name="Picture 4">
            <a:extLst>
              <a:ext uri="{FF2B5EF4-FFF2-40B4-BE49-F238E27FC236}">
                <a16:creationId xmlns:a16="http://schemas.microsoft.com/office/drawing/2014/main" id="{D88E3E69-DE82-6549-8E74-F7EA6AA7D2E5}"/>
              </a:ext>
            </a:extLst>
          </p:cNvPr>
          <p:cNvPicPr>
            <a:picLocks noChangeAspect="1"/>
          </p:cNvPicPr>
          <p:nvPr/>
        </p:nvPicPr>
        <p:blipFill>
          <a:blip r:embed="rId2"/>
          <a:stretch>
            <a:fillRect/>
          </a:stretch>
        </p:blipFill>
        <p:spPr>
          <a:xfrm>
            <a:off x="1824224" y="1806231"/>
            <a:ext cx="9171435" cy="4746217"/>
          </a:xfrm>
          <a:prstGeom prst="rect">
            <a:avLst/>
          </a:prstGeom>
        </p:spPr>
      </p:pic>
    </p:spTree>
    <p:extLst>
      <p:ext uri="{BB962C8B-B14F-4D97-AF65-F5344CB8AC3E}">
        <p14:creationId xmlns:p14="http://schemas.microsoft.com/office/powerpoint/2010/main" val="26126082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F3629-1280-371A-347F-71735DEF54AE}"/>
              </a:ext>
            </a:extLst>
          </p:cNvPr>
          <p:cNvSpPr>
            <a:spLocks noGrp="1"/>
          </p:cNvSpPr>
          <p:nvPr>
            <p:ph type="title"/>
          </p:nvPr>
        </p:nvSpPr>
        <p:spPr/>
        <p:txBody>
          <a:bodyPr/>
          <a:lstStyle/>
          <a:p>
            <a:r>
              <a:rPr lang="en-US" dirty="0"/>
              <a:t>PEFT</a:t>
            </a:r>
          </a:p>
        </p:txBody>
      </p:sp>
      <p:sp>
        <p:nvSpPr>
          <p:cNvPr id="3" name="Content Placeholder 2">
            <a:extLst>
              <a:ext uri="{FF2B5EF4-FFF2-40B4-BE49-F238E27FC236}">
                <a16:creationId xmlns:a16="http://schemas.microsoft.com/office/drawing/2014/main" id="{7785FFB4-68B4-AE47-8F67-5F8E6D4B8CFF}"/>
              </a:ext>
            </a:extLst>
          </p:cNvPr>
          <p:cNvSpPr>
            <a:spLocks noGrp="1"/>
          </p:cNvSpPr>
          <p:nvPr>
            <p:ph idx="1"/>
          </p:nvPr>
        </p:nvSpPr>
        <p:spPr/>
        <p:txBody>
          <a:bodyPr/>
          <a:lstStyle/>
          <a:p>
            <a:r>
              <a:rPr lang="en-US" dirty="0">
                <a:hlinkClick r:id="rId2"/>
              </a:rPr>
              <a:t>https://github.com/huggingface/peft</a:t>
            </a:r>
            <a:endParaRPr lang="en-US" dirty="0"/>
          </a:p>
          <a:p>
            <a:r>
              <a:rPr lang="en-US" dirty="0"/>
              <a:t>PEFT is integrated with Transformers for easy model training and inference, Diffusers for conveniently managing different adapters, and Accelerate for distributed training and inference for really big models.</a:t>
            </a:r>
          </a:p>
          <a:p>
            <a:r>
              <a:rPr lang="en-US" dirty="0"/>
              <a:t>Prepare a model for training with a PEFT method such as </a:t>
            </a:r>
            <a:r>
              <a:rPr lang="en-US" dirty="0" err="1"/>
              <a:t>LoRA</a:t>
            </a:r>
            <a:r>
              <a:rPr lang="en-US" dirty="0"/>
              <a:t> by wrapping the base model and PEFT configuration with </a:t>
            </a:r>
            <a:r>
              <a:rPr lang="en-US" dirty="0" err="1"/>
              <a:t>get_peft_model</a:t>
            </a:r>
            <a:r>
              <a:rPr lang="en-US" dirty="0"/>
              <a:t>. For the </a:t>
            </a:r>
            <a:r>
              <a:rPr lang="en-US" dirty="0" err="1"/>
              <a:t>bigscience</a:t>
            </a:r>
            <a:r>
              <a:rPr lang="en-US" dirty="0"/>
              <a:t>/mt0-large model, you're only training 0.19% of the parameters!</a:t>
            </a:r>
          </a:p>
          <a:p>
            <a:r>
              <a:rPr lang="en-US" dirty="0" err="1"/>
              <a:t>PEFT.ipynb</a:t>
            </a:r>
            <a:endParaRPr lang="en-US" dirty="0"/>
          </a:p>
        </p:txBody>
      </p:sp>
    </p:spTree>
    <p:extLst>
      <p:ext uri="{BB962C8B-B14F-4D97-AF65-F5344CB8AC3E}">
        <p14:creationId xmlns:p14="http://schemas.microsoft.com/office/powerpoint/2010/main" val="4618119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E24FB-4C2E-8EE9-92A6-226773B40C26}"/>
              </a:ext>
            </a:extLst>
          </p:cNvPr>
          <p:cNvSpPr>
            <a:spLocks noGrp="1"/>
          </p:cNvSpPr>
          <p:nvPr>
            <p:ph type="title"/>
          </p:nvPr>
        </p:nvSpPr>
        <p:spPr/>
        <p:txBody>
          <a:bodyPr/>
          <a:lstStyle/>
          <a:p>
            <a:r>
              <a:rPr lang="en-US" dirty="0"/>
              <a:t>LORA-</a:t>
            </a:r>
            <a:r>
              <a:rPr lang="en-US" b="1" dirty="0"/>
              <a:t>Low Rank Adaptation </a:t>
            </a:r>
            <a:endParaRPr lang="en-US" dirty="0"/>
          </a:p>
        </p:txBody>
      </p:sp>
      <p:sp>
        <p:nvSpPr>
          <p:cNvPr id="3" name="Text Placeholder 2">
            <a:extLst>
              <a:ext uri="{FF2B5EF4-FFF2-40B4-BE49-F238E27FC236}">
                <a16:creationId xmlns:a16="http://schemas.microsoft.com/office/drawing/2014/main" id="{D0CD7120-C1E4-2856-4399-87055BF3868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3078489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2E986-3BC1-A878-7991-BEED40A2F2EE}"/>
              </a:ext>
            </a:extLst>
          </p:cNvPr>
          <p:cNvSpPr>
            <a:spLocks noGrp="1"/>
          </p:cNvSpPr>
          <p:nvPr>
            <p:ph type="title"/>
          </p:nvPr>
        </p:nvSpPr>
        <p:spPr/>
        <p:txBody>
          <a:bodyPr/>
          <a:lstStyle/>
          <a:p>
            <a:r>
              <a:rPr lang="en-US" dirty="0"/>
              <a:t>Introduction	</a:t>
            </a:r>
          </a:p>
        </p:txBody>
      </p:sp>
      <p:sp>
        <p:nvSpPr>
          <p:cNvPr id="3" name="Content Placeholder 2">
            <a:extLst>
              <a:ext uri="{FF2B5EF4-FFF2-40B4-BE49-F238E27FC236}">
                <a16:creationId xmlns:a16="http://schemas.microsoft.com/office/drawing/2014/main" id="{14F3D28F-4557-0C33-30F0-8442BCE275F6}"/>
              </a:ext>
            </a:extLst>
          </p:cNvPr>
          <p:cNvSpPr>
            <a:spLocks noGrp="1"/>
          </p:cNvSpPr>
          <p:nvPr>
            <p:ph idx="1"/>
          </p:nvPr>
        </p:nvSpPr>
        <p:spPr/>
        <p:txBody>
          <a:bodyPr/>
          <a:lstStyle/>
          <a:p>
            <a:pPr marL="0" indent="0" algn="just">
              <a:buNone/>
            </a:pPr>
            <a:r>
              <a:rPr lang="en-US" dirty="0"/>
              <a:t>Low-Rank Adaptation (</a:t>
            </a:r>
            <a:r>
              <a:rPr lang="en-US" dirty="0" err="1"/>
              <a:t>LoRA</a:t>
            </a:r>
            <a:r>
              <a:rPr lang="en-US" dirty="0"/>
              <a:t>) is a parameter-efficient fine-tuning technique designed to adapt large pre-trained models for specific tasks without significantly increasing computational and memory costs. As machine learning models become larger and more complex, fine-tuning them often requires substantial computational power and memory. </a:t>
            </a:r>
            <a:r>
              <a:rPr lang="en-US" dirty="0" err="1"/>
              <a:t>LoRA</a:t>
            </a:r>
            <a:r>
              <a:rPr lang="en-US" dirty="0"/>
              <a:t> addresses this issue by reducing the number of trainable parameters which makes the fine-tuning process faster and less demanding.</a:t>
            </a:r>
          </a:p>
        </p:txBody>
      </p:sp>
    </p:spTree>
    <p:extLst>
      <p:ext uri="{BB962C8B-B14F-4D97-AF65-F5344CB8AC3E}">
        <p14:creationId xmlns:p14="http://schemas.microsoft.com/office/powerpoint/2010/main" val="32044218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DAD86CA-8235-409B-982B-5E7A033E23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F234FBA-3501-47B4-AE0C-AA4AFBC8F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51871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B5EF893B-0491-416E-9D33-BADE960079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1"/>
            <a:ext cx="10999072" cy="539995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9F8BD8CF-9807-2664-DE63-93A8EBF6130F}"/>
              </a:ext>
            </a:extLst>
          </p:cNvPr>
          <p:cNvPicPr>
            <a:picLocks noChangeAspect="1"/>
          </p:cNvPicPr>
          <p:nvPr/>
        </p:nvPicPr>
        <p:blipFill>
          <a:blip r:embed="rId2"/>
          <a:srcRect t="4271" b="2121"/>
          <a:stretch>
            <a:fillRect/>
          </a:stretch>
        </p:blipFill>
        <p:spPr>
          <a:xfrm>
            <a:off x="838200" y="754148"/>
            <a:ext cx="10515600" cy="4995575"/>
          </a:xfrm>
          <a:prstGeom prst="rect">
            <a:avLst/>
          </a:prstGeom>
        </p:spPr>
      </p:pic>
      <p:cxnSp>
        <p:nvCxnSpPr>
          <p:cNvPr id="14" name="Straight Connector 13">
            <a:extLst>
              <a:ext uri="{FF2B5EF4-FFF2-40B4-BE49-F238E27FC236}">
                <a16:creationId xmlns:a16="http://schemas.microsoft.com/office/drawing/2014/main" id="{469F4FF8-F8B0-4630-BA1B-0D8B324CD5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29769"/>
            <a:ext cx="11000232"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889119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DAD86CA-8235-409B-982B-5E7A033E23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F234FBA-3501-47B4-AE0C-AA4AFBC8F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51871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B5EF893B-0491-416E-9D33-BADE960079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1"/>
            <a:ext cx="10999072" cy="539995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455576E3-B4D7-D3DA-4037-B082A1AAE85C}"/>
              </a:ext>
            </a:extLst>
          </p:cNvPr>
          <p:cNvPicPr>
            <a:picLocks noChangeAspect="1"/>
          </p:cNvPicPr>
          <p:nvPr/>
        </p:nvPicPr>
        <p:blipFill>
          <a:blip r:embed="rId2"/>
          <a:srcRect r="3696" b="-1"/>
          <a:stretch>
            <a:fillRect/>
          </a:stretch>
        </p:blipFill>
        <p:spPr>
          <a:xfrm>
            <a:off x="838200" y="754148"/>
            <a:ext cx="10515600" cy="4995575"/>
          </a:xfrm>
          <a:prstGeom prst="rect">
            <a:avLst/>
          </a:prstGeom>
        </p:spPr>
      </p:pic>
      <p:cxnSp>
        <p:nvCxnSpPr>
          <p:cNvPr id="14" name="Straight Connector 13">
            <a:extLst>
              <a:ext uri="{FF2B5EF4-FFF2-40B4-BE49-F238E27FC236}">
                <a16:creationId xmlns:a16="http://schemas.microsoft.com/office/drawing/2014/main" id="{469F4FF8-F8B0-4630-BA1B-0D8B324CD5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29769"/>
            <a:ext cx="11000232"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282513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DAD86CA-8235-409B-982B-5E7A033E23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F234FBA-3501-47B4-AE0C-AA4AFBC8F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51871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B5EF893B-0491-416E-9D33-BADE960079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1"/>
            <a:ext cx="10999072" cy="539995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814EE93A-8815-6D73-2CBA-0EF7188809F6}"/>
              </a:ext>
            </a:extLst>
          </p:cNvPr>
          <p:cNvPicPr>
            <a:picLocks noChangeAspect="1"/>
          </p:cNvPicPr>
          <p:nvPr/>
        </p:nvPicPr>
        <p:blipFill>
          <a:blip r:embed="rId2"/>
          <a:srcRect b="3048"/>
          <a:stretch>
            <a:fillRect/>
          </a:stretch>
        </p:blipFill>
        <p:spPr>
          <a:xfrm>
            <a:off x="838200" y="754148"/>
            <a:ext cx="10515600" cy="4995575"/>
          </a:xfrm>
          <a:prstGeom prst="rect">
            <a:avLst/>
          </a:prstGeom>
        </p:spPr>
      </p:pic>
      <p:cxnSp>
        <p:nvCxnSpPr>
          <p:cNvPr id="14" name="Straight Connector 13">
            <a:extLst>
              <a:ext uri="{FF2B5EF4-FFF2-40B4-BE49-F238E27FC236}">
                <a16:creationId xmlns:a16="http://schemas.microsoft.com/office/drawing/2014/main" id="{469F4FF8-F8B0-4630-BA1B-0D8B324CD5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29769"/>
            <a:ext cx="11000232"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38171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DAD86CA-8235-409B-982B-5E7A033E23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F234FBA-3501-47B4-AE0C-AA4AFBC8F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51871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B5EF893B-0491-416E-9D33-BADE960079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1"/>
            <a:ext cx="10999072" cy="539995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89727AF4-73EF-ED74-D59A-EA5A9B56E8EF}"/>
              </a:ext>
            </a:extLst>
          </p:cNvPr>
          <p:cNvPicPr>
            <a:picLocks noChangeAspect="1"/>
          </p:cNvPicPr>
          <p:nvPr/>
        </p:nvPicPr>
        <p:blipFill>
          <a:blip r:embed="rId2"/>
          <a:srcRect t="2275" b="773"/>
          <a:stretch>
            <a:fillRect/>
          </a:stretch>
        </p:blipFill>
        <p:spPr>
          <a:xfrm>
            <a:off x="838200" y="754148"/>
            <a:ext cx="10515600" cy="4995575"/>
          </a:xfrm>
          <a:prstGeom prst="rect">
            <a:avLst/>
          </a:prstGeom>
        </p:spPr>
      </p:pic>
      <p:cxnSp>
        <p:nvCxnSpPr>
          <p:cNvPr id="14" name="Straight Connector 13">
            <a:extLst>
              <a:ext uri="{FF2B5EF4-FFF2-40B4-BE49-F238E27FC236}">
                <a16:creationId xmlns:a16="http://schemas.microsoft.com/office/drawing/2014/main" id="{469F4FF8-F8B0-4630-BA1B-0D8B324CD5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29769"/>
            <a:ext cx="11000232"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98285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DAD86CA-8235-409B-982B-5E7A033E23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F234FBA-3501-47B4-AE0C-AA4AFBC8F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51871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B5EF893B-0491-416E-9D33-BADE960079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1"/>
            <a:ext cx="10999072" cy="539995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87E36BD5-41C8-0FA3-41F2-43BE095CE7F3}"/>
              </a:ext>
            </a:extLst>
          </p:cNvPr>
          <p:cNvPicPr>
            <a:picLocks noChangeAspect="1"/>
          </p:cNvPicPr>
          <p:nvPr/>
        </p:nvPicPr>
        <p:blipFill>
          <a:blip r:embed="rId2"/>
          <a:srcRect t="4028"/>
          <a:stretch>
            <a:fillRect/>
          </a:stretch>
        </p:blipFill>
        <p:spPr>
          <a:xfrm>
            <a:off x="838200" y="777008"/>
            <a:ext cx="10515600" cy="4995575"/>
          </a:xfrm>
          <a:prstGeom prst="rect">
            <a:avLst/>
          </a:prstGeom>
        </p:spPr>
      </p:pic>
      <p:cxnSp>
        <p:nvCxnSpPr>
          <p:cNvPr id="14" name="Straight Connector 13">
            <a:extLst>
              <a:ext uri="{FF2B5EF4-FFF2-40B4-BE49-F238E27FC236}">
                <a16:creationId xmlns:a16="http://schemas.microsoft.com/office/drawing/2014/main" id="{469F4FF8-F8B0-4630-BA1B-0D8B324CD5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29769"/>
            <a:ext cx="11000232"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819148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B5F4B112-D65F-562B-9FC4-01C3C0372424}"/>
              </a:ext>
            </a:extLst>
          </p:cNvPr>
          <p:cNvPicPr>
            <a:picLocks noChangeAspect="1"/>
          </p:cNvPicPr>
          <p:nvPr/>
        </p:nvPicPr>
        <p:blipFill>
          <a:blip r:embed="rId2"/>
          <a:stretch>
            <a:fillRect/>
          </a:stretch>
        </p:blipFill>
        <p:spPr>
          <a:xfrm>
            <a:off x="1405890" y="96357"/>
            <a:ext cx="8812530" cy="4875693"/>
          </a:xfrm>
          <a:prstGeom prst="rect">
            <a:avLst/>
          </a:prstGeom>
          <a:ln>
            <a:noFill/>
          </a:ln>
        </p:spPr>
      </p:pic>
      <p:sp>
        <p:nvSpPr>
          <p:cNvPr id="20" name="Isosceles Triangle 19">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B98DFCB-4615-BC7B-1AD1-BAAF2CD0B371}"/>
              </a:ext>
            </a:extLst>
          </p:cNvPr>
          <p:cNvSpPr txBox="1"/>
          <p:nvPr/>
        </p:nvSpPr>
        <p:spPr>
          <a:xfrm>
            <a:off x="0" y="5068407"/>
            <a:ext cx="12192000" cy="1431161"/>
          </a:xfrm>
          <a:prstGeom prst="rect">
            <a:avLst/>
          </a:prstGeom>
          <a:noFill/>
        </p:spPr>
        <p:txBody>
          <a:bodyPr wrap="square">
            <a:spAutoFit/>
          </a:bodyPr>
          <a:lstStyle/>
          <a:p>
            <a:pPr algn="l" fontAlgn="base">
              <a:spcAft>
                <a:spcPts val="600"/>
              </a:spcAft>
            </a:pPr>
            <a:r>
              <a:rPr lang="en-US" b="1" i="0" dirty="0">
                <a:solidFill>
                  <a:srgbClr val="273239"/>
                </a:solidFill>
                <a:effectLst/>
                <a:latin typeface="Nunito" pitchFamily="2" charset="0"/>
              </a:rPr>
              <a:t>Scenario 1:</a:t>
            </a:r>
            <a:r>
              <a:rPr lang="en-US" b="0" i="0" dirty="0">
                <a:solidFill>
                  <a:srgbClr val="273239"/>
                </a:solidFill>
                <a:effectLst/>
                <a:latin typeface="Nunito" pitchFamily="2" charset="0"/>
              </a:rPr>
              <a:t> </a:t>
            </a:r>
            <a:r>
              <a:rPr lang="en-US" b="0" i="0" u="sng" dirty="0">
                <a:solidFill>
                  <a:srgbClr val="357960"/>
                </a:solidFill>
                <a:effectLst/>
                <a:latin typeface="Nunito" pitchFamily="2" charset="0"/>
                <a:hlinkClick r:id="rId3"/>
              </a:rPr>
              <a:t>Full finetuning</a:t>
            </a:r>
            <a:r>
              <a:rPr lang="en-US" b="0" i="0" dirty="0">
                <a:solidFill>
                  <a:srgbClr val="273239"/>
                </a:solidFill>
                <a:effectLst/>
                <a:latin typeface="Nunito" pitchFamily="2" charset="0"/>
              </a:rPr>
              <a:t> All 345M model parameters are updated.</a:t>
            </a:r>
          </a:p>
          <a:p>
            <a:pPr algn="l" fontAlgn="base">
              <a:spcAft>
                <a:spcPts val="600"/>
              </a:spcAft>
            </a:pPr>
            <a:r>
              <a:rPr lang="en-US" b="1" i="0" dirty="0">
                <a:solidFill>
                  <a:srgbClr val="273239"/>
                </a:solidFill>
                <a:effectLst/>
                <a:latin typeface="Nunito" pitchFamily="2" charset="0"/>
              </a:rPr>
              <a:t>Scenario 2:</a:t>
            </a:r>
            <a:r>
              <a:rPr lang="en-US" b="0" i="0" dirty="0">
                <a:solidFill>
                  <a:srgbClr val="273239"/>
                </a:solidFill>
                <a:effectLst/>
                <a:latin typeface="Nunito" pitchFamily="2" charset="0"/>
              </a:rPr>
              <a:t> Adapter tuning Only 24M adapter parameters are updated (1M per adapter × 24).</a:t>
            </a:r>
          </a:p>
          <a:p>
            <a:pPr algn="l" fontAlgn="base">
              <a:spcAft>
                <a:spcPts val="600"/>
              </a:spcAft>
            </a:pPr>
            <a:r>
              <a:rPr lang="en-US" b="1" i="0" dirty="0">
                <a:solidFill>
                  <a:srgbClr val="273239"/>
                </a:solidFill>
                <a:effectLst/>
                <a:latin typeface="Nunito" pitchFamily="2" charset="0"/>
              </a:rPr>
              <a:t>Scenario 3:</a:t>
            </a:r>
            <a:r>
              <a:rPr lang="en-US" b="0" i="0" dirty="0">
                <a:solidFill>
                  <a:srgbClr val="273239"/>
                </a:solidFill>
                <a:effectLst/>
                <a:latin typeface="Nunito" pitchFamily="2" charset="0"/>
              </a:rPr>
              <a:t> </a:t>
            </a:r>
            <a:r>
              <a:rPr lang="en-US" b="0" i="0" dirty="0" err="1">
                <a:solidFill>
                  <a:srgbClr val="273239"/>
                </a:solidFill>
                <a:effectLst/>
                <a:latin typeface="Nunito" pitchFamily="2" charset="0"/>
              </a:rPr>
              <a:t>LoRA</a:t>
            </a:r>
            <a:r>
              <a:rPr lang="en-US" b="0" i="0" dirty="0">
                <a:solidFill>
                  <a:srgbClr val="273239"/>
                </a:solidFill>
                <a:effectLst/>
                <a:latin typeface="Nunito" pitchFamily="2" charset="0"/>
              </a:rPr>
              <a:t> Just 12M low-rank adapter parameters are updated (0.5M × 12 × 2).</a:t>
            </a:r>
          </a:p>
          <a:p>
            <a:pPr algn="l" fontAlgn="base">
              <a:spcAft>
                <a:spcPts val="600"/>
              </a:spcAft>
            </a:pPr>
            <a:r>
              <a:rPr lang="en-US" b="1" i="0" dirty="0" err="1">
                <a:solidFill>
                  <a:srgbClr val="273239"/>
                </a:solidFill>
                <a:effectLst/>
                <a:latin typeface="Nunito" pitchFamily="2" charset="0"/>
              </a:rPr>
              <a:t>QLoRA</a:t>
            </a:r>
            <a:r>
              <a:rPr lang="en-US" b="1" i="0" dirty="0">
                <a:solidFill>
                  <a:srgbClr val="273239"/>
                </a:solidFill>
                <a:effectLst/>
                <a:latin typeface="Nunito" pitchFamily="2" charset="0"/>
              </a:rPr>
              <a:t>:</a:t>
            </a:r>
            <a:r>
              <a:rPr lang="en-US" b="0" i="0" dirty="0">
                <a:solidFill>
                  <a:srgbClr val="273239"/>
                </a:solidFill>
                <a:effectLst/>
                <a:latin typeface="Nunito" pitchFamily="2" charset="0"/>
              </a:rPr>
              <a:t> Like </a:t>
            </a:r>
            <a:r>
              <a:rPr lang="en-US" b="0" i="0" dirty="0" err="1">
                <a:solidFill>
                  <a:srgbClr val="273239"/>
                </a:solidFill>
                <a:effectLst/>
                <a:latin typeface="Nunito" pitchFamily="2" charset="0"/>
              </a:rPr>
              <a:t>LoRA</a:t>
            </a:r>
            <a:r>
              <a:rPr lang="en-US" b="0" i="0" dirty="0">
                <a:solidFill>
                  <a:srgbClr val="273239"/>
                </a:solidFill>
                <a:effectLst/>
                <a:latin typeface="Nunito" pitchFamily="2" charset="0"/>
              </a:rPr>
              <a:t>, but with quantized (lower precision) weights, further reducing parameter count and memory use.</a:t>
            </a:r>
          </a:p>
        </p:txBody>
      </p:sp>
    </p:spTree>
    <p:extLst>
      <p:ext uri="{BB962C8B-B14F-4D97-AF65-F5344CB8AC3E}">
        <p14:creationId xmlns:p14="http://schemas.microsoft.com/office/powerpoint/2010/main" val="18400761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A9AA72-0DC3-D310-DD77-7F7DC19D6F8B}"/>
              </a:ext>
            </a:extLst>
          </p:cNvPr>
          <p:cNvSpPr>
            <a:spLocks noGrp="1"/>
          </p:cNvSpPr>
          <p:nvPr>
            <p:ph type="title"/>
          </p:nvPr>
        </p:nvSpPr>
        <p:spPr>
          <a:xfrm>
            <a:off x="808638" y="386930"/>
            <a:ext cx="9236700" cy="1188950"/>
          </a:xfrm>
        </p:spPr>
        <p:txBody>
          <a:bodyPr anchor="b">
            <a:normAutofit/>
          </a:bodyPr>
          <a:lstStyle/>
          <a:p>
            <a:r>
              <a:rPr lang="en-US" sz="5400" b="1"/>
              <a:t>Architecture of LoRA</a:t>
            </a:r>
            <a:endParaRPr lang="en-US" sz="5400"/>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2DC3D26-FDD9-3F9E-7535-213763866105}"/>
              </a:ext>
            </a:extLst>
          </p:cNvPr>
          <p:cNvSpPr>
            <a:spLocks noGrp="1"/>
          </p:cNvSpPr>
          <p:nvPr>
            <p:ph idx="1"/>
          </p:nvPr>
        </p:nvSpPr>
        <p:spPr>
          <a:xfrm>
            <a:off x="793660" y="2599509"/>
            <a:ext cx="10143668" cy="3435531"/>
          </a:xfrm>
        </p:spPr>
        <p:txBody>
          <a:bodyPr anchor="ctr">
            <a:normAutofit/>
          </a:bodyPr>
          <a:lstStyle/>
          <a:p>
            <a:pPr marL="0" indent="0">
              <a:buNone/>
            </a:pPr>
            <a:r>
              <a:rPr lang="en-US" sz="2000"/>
              <a:t>LoRA is used with transformer-based models which are common in NLP tasks.</a:t>
            </a:r>
          </a:p>
          <a:p>
            <a:pPr fontAlgn="base"/>
            <a:r>
              <a:rPr lang="en-US" sz="2000" b="1"/>
              <a:t>Pre-Trained Backbone</a:t>
            </a:r>
            <a:r>
              <a:rPr lang="en-US" sz="2000"/>
              <a:t>: We start with a large transformer model like GPT or BERT that has already been trained on a range of data.</a:t>
            </a:r>
          </a:p>
          <a:p>
            <a:pPr fontAlgn="base"/>
            <a:r>
              <a:rPr lang="en-US" sz="2000" b="1"/>
              <a:t>Low-Rank Adaptation Layers</a:t>
            </a:r>
            <a:r>
              <a:rPr lang="en-US" sz="2000"/>
              <a:t>: It adds small low-rank matrices to the model’s attention mechanism. These matrices are the only parts of the model that get updated during fine-tuning.</a:t>
            </a:r>
          </a:p>
          <a:p>
            <a:pPr fontAlgn="base"/>
            <a:r>
              <a:rPr lang="en-US" sz="2000" b="1"/>
              <a:t>Frozen Original Parameters</a:t>
            </a:r>
            <a:r>
              <a:rPr lang="en-US" sz="2000"/>
              <a:t>: The original weights of the model are kept frozen. This means we don’t modify the entire model, just the added low-rank matrices.</a:t>
            </a:r>
          </a:p>
          <a:p>
            <a:pPr fontAlgn="base"/>
            <a:r>
              <a:rPr lang="en-US" sz="2000" b="1"/>
              <a:t>Task-Specific Fine-Tuning</a:t>
            </a:r>
            <a:r>
              <a:rPr lang="en-US" sz="2000"/>
              <a:t>: We fine-tune the low-rank matrices for the specific task such as sentiment analysis or translation while the rest of the model stays the same.</a:t>
            </a:r>
          </a:p>
          <a:p>
            <a:endParaRPr lang="en-US" sz="2000"/>
          </a:p>
        </p:txBody>
      </p:sp>
    </p:spTree>
    <p:extLst>
      <p:ext uri="{BB962C8B-B14F-4D97-AF65-F5344CB8AC3E}">
        <p14:creationId xmlns:p14="http://schemas.microsoft.com/office/powerpoint/2010/main" val="31818223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3C408-1113-29CD-E612-60D7310B6959}"/>
              </a:ext>
            </a:extLst>
          </p:cNvPr>
          <p:cNvSpPr>
            <a:spLocks noGrp="1"/>
          </p:cNvSpPr>
          <p:nvPr>
            <p:ph type="title"/>
          </p:nvPr>
        </p:nvSpPr>
        <p:spPr>
          <a:xfrm>
            <a:off x="693420" y="0"/>
            <a:ext cx="10515600" cy="1325563"/>
          </a:xfrm>
        </p:spPr>
        <p:txBody>
          <a:bodyPr/>
          <a:lstStyle/>
          <a:p>
            <a:r>
              <a:rPr lang="en-US" b="1" dirty="0"/>
              <a:t>How </a:t>
            </a:r>
            <a:r>
              <a:rPr lang="en-US" b="1" dirty="0" err="1"/>
              <a:t>LoRA</a:t>
            </a:r>
            <a:r>
              <a:rPr lang="en-US" b="1" dirty="0"/>
              <a:t> (Low-Rank Adaptation) Works</a:t>
            </a:r>
            <a:endParaRPr lang="en-US" dirty="0"/>
          </a:p>
        </p:txBody>
      </p:sp>
      <p:sp>
        <p:nvSpPr>
          <p:cNvPr id="3" name="Content Placeholder 2">
            <a:extLst>
              <a:ext uri="{FF2B5EF4-FFF2-40B4-BE49-F238E27FC236}">
                <a16:creationId xmlns:a16="http://schemas.microsoft.com/office/drawing/2014/main" id="{B65CACCC-AC0B-DA0F-A24E-5BCF808B23EA}"/>
              </a:ext>
            </a:extLst>
          </p:cNvPr>
          <p:cNvSpPr>
            <a:spLocks noGrp="1"/>
          </p:cNvSpPr>
          <p:nvPr>
            <p:ph idx="1"/>
          </p:nvPr>
        </p:nvSpPr>
        <p:spPr>
          <a:xfrm>
            <a:off x="525780" y="1182430"/>
            <a:ext cx="7132320" cy="5310445"/>
          </a:xfrm>
        </p:spPr>
        <p:txBody>
          <a:bodyPr>
            <a:normAutofit fontScale="92500" lnSpcReduction="10000"/>
          </a:bodyPr>
          <a:lstStyle/>
          <a:p>
            <a:pPr marL="0" indent="0" algn="just">
              <a:buNone/>
            </a:pPr>
            <a:r>
              <a:rPr lang="en-US" dirty="0"/>
              <a:t>This image shows a </a:t>
            </a:r>
            <a:r>
              <a:rPr lang="en-US" u="sng" dirty="0">
                <a:hlinkClick r:id="rId2"/>
              </a:rPr>
              <a:t>transformer </a:t>
            </a:r>
            <a:r>
              <a:rPr lang="en-US" dirty="0"/>
              <a:t>block architecture where </a:t>
            </a:r>
            <a:r>
              <a:rPr lang="en-US" b="1" dirty="0"/>
              <a:t>adapters</a:t>
            </a:r>
            <a:r>
              <a:rPr lang="en-US" dirty="0"/>
              <a:t> are inserted after the feed-forward network and before layer normalization. In </a:t>
            </a:r>
            <a:r>
              <a:rPr lang="en-US" u="sng" dirty="0" err="1">
                <a:hlinkClick r:id="rId3"/>
              </a:rPr>
              <a:t>LoRA</a:t>
            </a:r>
            <a:r>
              <a:rPr lang="en-US" dirty="0"/>
              <a:t>, these adapters are implemented as low-rank matrices. During fine-tuning, only these adapter parameters are updated, while the core model weights (multi-head attention, feed-forward network, etc.) stay fixed.</a:t>
            </a:r>
          </a:p>
          <a:p>
            <a:pPr algn="just" fontAlgn="base"/>
            <a:r>
              <a:rPr lang="en-US" b="1" dirty="0"/>
              <a:t>Adapters in the Stack:</a:t>
            </a:r>
            <a:r>
              <a:rPr lang="en-US" dirty="0"/>
              <a:t> Each transformer block contains a small adapter module.</a:t>
            </a:r>
          </a:p>
          <a:p>
            <a:pPr algn="just" fontAlgn="base"/>
            <a:r>
              <a:rPr lang="en-US" b="1" dirty="0"/>
              <a:t>Parameter Update:</a:t>
            </a:r>
            <a:r>
              <a:rPr lang="en-US" dirty="0"/>
              <a:t> Only the adapters (the low-rank matrices) are updated during training, greatly reducing the number of trainable parameters.</a:t>
            </a:r>
          </a:p>
          <a:p>
            <a:pPr algn="just"/>
            <a:endParaRPr lang="en-US" dirty="0"/>
          </a:p>
        </p:txBody>
      </p:sp>
      <p:pic>
        <p:nvPicPr>
          <p:cNvPr id="5" name="Picture 4">
            <a:extLst>
              <a:ext uri="{FF2B5EF4-FFF2-40B4-BE49-F238E27FC236}">
                <a16:creationId xmlns:a16="http://schemas.microsoft.com/office/drawing/2014/main" id="{6FC4C972-AB9E-35F2-2DF6-56347672F829}"/>
              </a:ext>
            </a:extLst>
          </p:cNvPr>
          <p:cNvPicPr>
            <a:picLocks noChangeAspect="1"/>
          </p:cNvPicPr>
          <p:nvPr/>
        </p:nvPicPr>
        <p:blipFill>
          <a:blip r:embed="rId4"/>
          <a:stretch>
            <a:fillRect/>
          </a:stretch>
        </p:blipFill>
        <p:spPr>
          <a:xfrm>
            <a:off x="8381830" y="1504027"/>
            <a:ext cx="3284390" cy="5310445"/>
          </a:xfrm>
          <a:prstGeom prst="rect">
            <a:avLst/>
          </a:prstGeom>
        </p:spPr>
      </p:pic>
    </p:spTree>
    <p:extLst>
      <p:ext uri="{BB962C8B-B14F-4D97-AF65-F5344CB8AC3E}">
        <p14:creationId xmlns:p14="http://schemas.microsoft.com/office/powerpoint/2010/main" val="2934844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DAD86CA-8235-409B-982B-5E7A033E23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F234FBA-3501-47B4-AE0C-AA4AFBC8F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51871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B5EF893B-0491-416E-9D33-BADE960079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1"/>
            <a:ext cx="10999072" cy="539995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17F42825-B6E5-DF93-D957-F5D550C0A287}"/>
              </a:ext>
            </a:extLst>
          </p:cNvPr>
          <p:cNvPicPr>
            <a:picLocks noChangeAspect="1"/>
          </p:cNvPicPr>
          <p:nvPr/>
        </p:nvPicPr>
        <p:blipFill>
          <a:blip r:embed="rId3"/>
          <a:srcRect t="12165"/>
          <a:stretch>
            <a:fillRect/>
          </a:stretch>
        </p:blipFill>
        <p:spPr>
          <a:xfrm>
            <a:off x="838199" y="757919"/>
            <a:ext cx="10515600" cy="4981184"/>
          </a:xfrm>
          <a:prstGeom prst="rect">
            <a:avLst/>
          </a:prstGeom>
        </p:spPr>
      </p:pic>
      <p:cxnSp>
        <p:nvCxnSpPr>
          <p:cNvPr id="14" name="Straight Connector 13">
            <a:extLst>
              <a:ext uri="{FF2B5EF4-FFF2-40B4-BE49-F238E27FC236}">
                <a16:creationId xmlns:a16="http://schemas.microsoft.com/office/drawing/2014/main" id="{469F4FF8-F8B0-4630-BA1B-0D8B324CD5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29769"/>
            <a:ext cx="11000232"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681751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4400E-9771-C8B7-F297-4D59CD7B5432}"/>
              </a:ext>
            </a:extLst>
          </p:cNvPr>
          <p:cNvSpPr>
            <a:spLocks noGrp="1"/>
          </p:cNvSpPr>
          <p:nvPr>
            <p:ph type="title"/>
          </p:nvPr>
        </p:nvSpPr>
        <p:spPr>
          <a:xfrm>
            <a:off x="838200" y="18255"/>
            <a:ext cx="10515600" cy="1325563"/>
          </a:xfrm>
        </p:spPr>
        <p:txBody>
          <a:bodyPr/>
          <a:lstStyle/>
          <a:p>
            <a:r>
              <a:rPr lang="en-US" b="1" dirty="0"/>
              <a:t>Working of </a:t>
            </a:r>
            <a:r>
              <a:rPr lang="en-US" b="1" dirty="0" err="1"/>
              <a:t>LoRA</a:t>
            </a:r>
            <a:endParaRPr lang="en-US" dirty="0"/>
          </a:p>
        </p:txBody>
      </p:sp>
      <p:sp>
        <p:nvSpPr>
          <p:cNvPr id="3" name="Content Placeholder 2">
            <a:extLst>
              <a:ext uri="{FF2B5EF4-FFF2-40B4-BE49-F238E27FC236}">
                <a16:creationId xmlns:a16="http://schemas.microsoft.com/office/drawing/2014/main" id="{34E3A5C0-E8B4-4307-40DF-65BD09151DF4}"/>
              </a:ext>
            </a:extLst>
          </p:cNvPr>
          <p:cNvSpPr>
            <a:spLocks noGrp="1"/>
          </p:cNvSpPr>
          <p:nvPr>
            <p:ph idx="1"/>
          </p:nvPr>
        </p:nvSpPr>
        <p:spPr>
          <a:xfrm>
            <a:off x="838200" y="1234440"/>
            <a:ext cx="10854690" cy="5463540"/>
          </a:xfrm>
        </p:spPr>
        <p:txBody>
          <a:bodyPr>
            <a:normAutofit lnSpcReduction="10000"/>
          </a:bodyPr>
          <a:lstStyle/>
          <a:p>
            <a:pPr marL="0" indent="0">
              <a:buNone/>
            </a:pPr>
            <a:r>
              <a:rPr lang="en-US" dirty="0" err="1"/>
              <a:t>LoRA</a:t>
            </a:r>
            <a:r>
              <a:rPr lang="en-US" dirty="0"/>
              <a:t> modifies the traditional fine-tuning process by introducing low-rank matrices into specific layers of a neural network allowing the model to adapt to new tasks without changing the entire model. Let's see how </a:t>
            </a:r>
            <a:r>
              <a:rPr lang="en-US" dirty="0" err="1"/>
              <a:t>LoRA</a:t>
            </a:r>
            <a:r>
              <a:rPr lang="en-US" dirty="0"/>
              <a:t> works:</a:t>
            </a:r>
          </a:p>
          <a:p>
            <a:pPr marL="0" indent="0">
              <a:buNone/>
            </a:pPr>
            <a:r>
              <a:rPr lang="en-US" b="1" dirty="0"/>
              <a:t>1. Decomposing the Weight Matrix - </a:t>
            </a:r>
            <a:r>
              <a:rPr lang="en-US" dirty="0"/>
              <a:t>Instead of updating the entire weight matrix during fine-tuning, it approximates it using two smaller low-rank matrices A and B. The adapted weight matrix (W') is calculated as:</a:t>
            </a:r>
          </a:p>
          <a:p>
            <a:endParaRPr lang="en-US" dirty="0"/>
          </a:p>
          <a:p>
            <a:pPr marL="0" indent="0">
              <a:buNone/>
            </a:pPr>
            <a:r>
              <a:rPr lang="en-US" dirty="0"/>
              <a:t>Here W is the original weight matrix and A and B are the low-rank matrices. This decomposition allows the model to make task-specific adjustments without the need to retrain the entire model, drastically reducing the computational load.</a:t>
            </a:r>
          </a:p>
        </p:txBody>
      </p:sp>
      <p:pic>
        <p:nvPicPr>
          <p:cNvPr id="5" name="Picture 4">
            <a:extLst>
              <a:ext uri="{FF2B5EF4-FFF2-40B4-BE49-F238E27FC236}">
                <a16:creationId xmlns:a16="http://schemas.microsoft.com/office/drawing/2014/main" id="{D3D87DF6-D4D0-187A-8B61-EB54B9AD7450}"/>
              </a:ext>
            </a:extLst>
          </p:cNvPr>
          <p:cNvPicPr>
            <a:picLocks noChangeAspect="1"/>
          </p:cNvPicPr>
          <p:nvPr/>
        </p:nvPicPr>
        <p:blipFill>
          <a:blip r:embed="rId2"/>
          <a:stretch>
            <a:fillRect/>
          </a:stretch>
        </p:blipFill>
        <p:spPr>
          <a:xfrm>
            <a:off x="3904944" y="3914775"/>
            <a:ext cx="2191056" cy="438211"/>
          </a:xfrm>
          <a:prstGeom prst="rect">
            <a:avLst/>
          </a:prstGeom>
        </p:spPr>
      </p:pic>
    </p:spTree>
    <p:extLst>
      <p:ext uri="{BB962C8B-B14F-4D97-AF65-F5344CB8AC3E}">
        <p14:creationId xmlns:p14="http://schemas.microsoft.com/office/powerpoint/2010/main" val="14383073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DE2B812-B875-0DD6-43B4-1F93A461F83D}"/>
              </a:ext>
            </a:extLst>
          </p:cNvPr>
          <p:cNvSpPr>
            <a:spLocks noGrp="1"/>
          </p:cNvSpPr>
          <p:nvPr>
            <p:ph type="title"/>
          </p:nvPr>
        </p:nvSpPr>
        <p:spPr>
          <a:xfrm>
            <a:off x="808638" y="386930"/>
            <a:ext cx="9236700" cy="1188950"/>
          </a:xfrm>
        </p:spPr>
        <p:txBody>
          <a:bodyPr anchor="b">
            <a:normAutofit/>
          </a:bodyPr>
          <a:lstStyle/>
          <a:p>
            <a:r>
              <a:rPr lang="en-US" sz="4200" b="1"/>
              <a:t>2. Training Only the LoRA Parameters</a:t>
            </a:r>
            <a:endParaRPr lang="en-US" sz="4200"/>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1E8B373-768F-AB43-E7A7-C5AE46FCE088}"/>
              </a:ext>
            </a:extLst>
          </p:cNvPr>
          <p:cNvSpPr>
            <a:spLocks noGrp="1"/>
          </p:cNvSpPr>
          <p:nvPr>
            <p:ph idx="1"/>
          </p:nvPr>
        </p:nvSpPr>
        <p:spPr>
          <a:xfrm>
            <a:off x="793660" y="2599509"/>
            <a:ext cx="10143668" cy="3435531"/>
          </a:xfrm>
        </p:spPr>
        <p:txBody>
          <a:bodyPr anchor="ctr">
            <a:normAutofit/>
          </a:bodyPr>
          <a:lstStyle/>
          <a:p>
            <a:pPr marL="0" indent="0">
              <a:buNone/>
            </a:pPr>
            <a:r>
              <a:rPr lang="en-US" sz="2400"/>
              <a:t>During the fine-tuning process, only the low-rank matrices A and B are updated while the original model weights W remain frozen. This minimizes the number of parameters that need to be adjusted making fine-tuning faster and more memory-efficient compared to traditional methods where all model weights are updated.</a:t>
            </a:r>
          </a:p>
        </p:txBody>
      </p:sp>
    </p:spTree>
    <p:extLst>
      <p:ext uri="{BB962C8B-B14F-4D97-AF65-F5344CB8AC3E}">
        <p14:creationId xmlns:p14="http://schemas.microsoft.com/office/powerpoint/2010/main" val="5236430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30C1986-46D3-CDC2-7FF7-6A97F035333A}"/>
              </a:ext>
            </a:extLst>
          </p:cNvPr>
          <p:cNvSpPr>
            <a:spLocks noGrp="1"/>
          </p:cNvSpPr>
          <p:nvPr>
            <p:ph type="title"/>
          </p:nvPr>
        </p:nvSpPr>
        <p:spPr>
          <a:xfrm>
            <a:off x="808638" y="386930"/>
            <a:ext cx="9236700" cy="1188950"/>
          </a:xfrm>
        </p:spPr>
        <p:txBody>
          <a:bodyPr anchor="b">
            <a:normAutofit/>
          </a:bodyPr>
          <a:lstStyle/>
          <a:p>
            <a:r>
              <a:rPr lang="en-US" sz="4600" b="1"/>
              <a:t>3. Inference with Adapted Weights</a:t>
            </a:r>
            <a:endParaRPr lang="en-US" sz="4600"/>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05D2DF8-1360-7743-2D95-2BDA3F28F744}"/>
              </a:ext>
            </a:extLst>
          </p:cNvPr>
          <p:cNvSpPr>
            <a:spLocks noGrp="1"/>
          </p:cNvSpPr>
          <p:nvPr>
            <p:ph idx="1"/>
          </p:nvPr>
        </p:nvSpPr>
        <p:spPr>
          <a:xfrm>
            <a:off x="793660" y="2599509"/>
            <a:ext cx="10143668" cy="3435531"/>
          </a:xfrm>
        </p:spPr>
        <p:txBody>
          <a:bodyPr anchor="ctr">
            <a:normAutofit/>
          </a:bodyPr>
          <a:lstStyle/>
          <a:p>
            <a:pPr fontAlgn="base"/>
            <a:r>
              <a:rPr lang="en-US" sz="2400" dirty="0"/>
              <a:t>After fine-tuning, the adapted weight matrix W′ is used for inference. This helps the model to make predictions for specific tasks, fine-tuned with minimal computational resources. Since only the low-rank matrices are updated, it maintains efficiency even during inference.</a:t>
            </a:r>
          </a:p>
          <a:p>
            <a:pPr fontAlgn="base"/>
            <a:r>
              <a:rPr lang="en-US" sz="2400" dirty="0"/>
              <a:t>By using </a:t>
            </a:r>
            <a:r>
              <a:rPr lang="en-US" sz="2400" dirty="0" err="1"/>
              <a:t>LoRA</a:t>
            </a:r>
            <a:r>
              <a:rPr lang="en-US" sz="2400" dirty="0"/>
              <a:t>, we can adapt large pre-trained models to new tasks quickly and efficiently without the computational burden of full model fine-tuning.</a:t>
            </a:r>
          </a:p>
          <a:p>
            <a:endParaRPr lang="en-US" sz="2400" dirty="0"/>
          </a:p>
        </p:txBody>
      </p:sp>
    </p:spTree>
    <p:extLst>
      <p:ext uri="{BB962C8B-B14F-4D97-AF65-F5344CB8AC3E}">
        <p14:creationId xmlns:p14="http://schemas.microsoft.com/office/powerpoint/2010/main" val="285076731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AF9C1E9-DF42-F62D-6816-23D5A903763B}"/>
              </a:ext>
            </a:extLst>
          </p:cNvPr>
          <p:cNvPicPr>
            <a:picLocks noChangeAspect="1"/>
          </p:cNvPicPr>
          <p:nvPr/>
        </p:nvPicPr>
        <p:blipFill>
          <a:blip r:embed="rId2"/>
          <a:stretch>
            <a:fillRect/>
          </a:stretch>
        </p:blipFill>
        <p:spPr>
          <a:xfrm>
            <a:off x="0" y="-91440"/>
            <a:ext cx="12354560" cy="6949440"/>
          </a:xfrm>
          <a:prstGeom prst="rect">
            <a:avLst/>
          </a:prstGeom>
        </p:spPr>
      </p:pic>
    </p:spTree>
    <p:extLst>
      <p:ext uri="{BB962C8B-B14F-4D97-AF65-F5344CB8AC3E}">
        <p14:creationId xmlns:p14="http://schemas.microsoft.com/office/powerpoint/2010/main" val="163711099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81EF61A-9A69-FF7B-3C2B-DD5F7D21BA08}"/>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92474300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E67B084-B407-E32F-6C76-0A8B53E73E3F}"/>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18920164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6BF51CF-CC63-3A50-8E13-2F7E72640F09}"/>
              </a:ext>
            </a:extLst>
          </p:cNvPr>
          <p:cNvPicPr>
            <a:picLocks noChangeAspect="1"/>
          </p:cNvPicPr>
          <p:nvPr/>
        </p:nvPicPr>
        <p:blipFill>
          <a:blip r:embed="rId2"/>
          <a:stretch>
            <a:fillRect/>
          </a:stretch>
        </p:blipFill>
        <p:spPr>
          <a:xfrm>
            <a:off x="0" y="0"/>
            <a:ext cx="12192000" cy="6858000"/>
          </a:xfrm>
          <a:prstGeom prst="rect">
            <a:avLst/>
          </a:prstGeom>
        </p:spPr>
      </p:pic>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010D561D-6753-6BAC-7563-FD20B7743F37}"/>
                  </a:ext>
                </a:extLst>
              </p14:cNvPr>
              <p14:cNvContentPartPr/>
              <p14:nvPr/>
            </p14:nvContentPartPr>
            <p14:xfrm>
              <a:off x="1035000" y="2540160"/>
              <a:ext cx="8661960" cy="1257480"/>
            </p14:xfrm>
          </p:contentPart>
        </mc:Choice>
        <mc:Fallback xmlns="">
          <p:pic>
            <p:nvPicPr>
              <p:cNvPr id="2" name="Ink 1">
                <a:extLst>
                  <a:ext uri="{FF2B5EF4-FFF2-40B4-BE49-F238E27FC236}">
                    <a16:creationId xmlns:a16="http://schemas.microsoft.com/office/drawing/2014/main" id="{010D561D-6753-6BAC-7563-FD20B7743F37}"/>
                  </a:ext>
                </a:extLst>
              </p:cNvPr>
              <p:cNvPicPr/>
              <p:nvPr/>
            </p:nvPicPr>
            <p:blipFill>
              <a:blip r:embed="rId4"/>
              <a:stretch>
                <a:fillRect/>
              </a:stretch>
            </p:blipFill>
            <p:spPr>
              <a:xfrm>
                <a:off x="1025640" y="2530800"/>
                <a:ext cx="8680680" cy="1276200"/>
              </a:xfrm>
              <a:prstGeom prst="rect">
                <a:avLst/>
              </a:prstGeom>
            </p:spPr>
          </p:pic>
        </mc:Fallback>
      </mc:AlternateContent>
    </p:spTree>
    <p:extLst>
      <p:ext uri="{BB962C8B-B14F-4D97-AF65-F5344CB8AC3E}">
        <p14:creationId xmlns:p14="http://schemas.microsoft.com/office/powerpoint/2010/main" val="8129351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B0AE026-9112-E832-8CA5-E168063F6A07}"/>
              </a:ext>
            </a:extLst>
          </p:cNvPr>
          <p:cNvPicPr>
            <a:picLocks noChangeAspect="1"/>
          </p:cNvPicPr>
          <p:nvPr/>
        </p:nvPicPr>
        <p:blipFill>
          <a:blip r:embed="rId2"/>
          <a:srcRect l="4501" t="4000" r="14406"/>
          <a:stretch>
            <a:fillRect/>
          </a:stretch>
        </p:blipFill>
        <p:spPr>
          <a:xfrm>
            <a:off x="0" y="0"/>
            <a:ext cx="12047220" cy="6858000"/>
          </a:xfrm>
          <a:prstGeom prst="rect">
            <a:avLst/>
          </a:prstGeom>
        </p:spPr>
      </p:pic>
      <p:sp>
        <p:nvSpPr>
          <p:cNvPr id="4" name="Oval 3">
            <a:extLst>
              <a:ext uri="{FF2B5EF4-FFF2-40B4-BE49-F238E27FC236}">
                <a16:creationId xmlns:a16="http://schemas.microsoft.com/office/drawing/2014/main" id="{2A1CF011-E541-4A8B-8DEC-A6A2EF5CC2DF}"/>
              </a:ext>
            </a:extLst>
          </p:cNvPr>
          <p:cNvSpPr/>
          <p:nvPr/>
        </p:nvSpPr>
        <p:spPr>
          <a:xfrm>
            <a:off x="9277350" y="3429000"/>
            <a:ext cx="4091940" cy="3760470"/>
          </a:xfrm>
          <a:prstGeom prst="ellipse">
            <a:avLst/>
          </a:prstGeom>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n-US" sz="2800" dirty="0"/>
              <a:t>Matrix Decomposition</a:t>
            </a:r>
          </a:p>
        </p:txBody>
      </p:sp>
    </p:spTree>
    <p:extLst>
      <p:ext uri="{BB962C8B-B14F-4D97-AF65-F5344CB8AC3E}">
        <p14:creationId xmlns:p14="http://schemas.microsoft.com/office/powerpoint/2010/main" val="240722610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33B63D8-BCAF-09ED-E584-5F194F5CBAF3}"/>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52912037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DF9A881-D4BD-9A62-A057-3961E29AAC41}"/>
              </a:ext>
            </a:extLst>
          </p:cNvPr>
          <p:cNvPicPr>
            <a:picLocks noChangeAspect="1"/>
          </p:cNvPicPr>
          <p:nvPr/>
        </p:nvPicPr>
        <p:blipFill>
          <a:blip r:embed="rId2"/>
          <a:stretch>
            <a:fillRect/>
          </a:stretch>
        </p:blipFill>
        <p:spPr>
          <a:xfrm>
            <a:off x="0" y="0"/>
            <a:ext cx="12191999" cy="6858000"/>
          </a:xfrm>
          <a:prstGeom prst="rect">
            <a:avLst/>
          </a:prstGeom>
        </p:spPr>
      </p:pic>
      <p:sp>
        <p:nvSpPr>
          <p:cNvPr id="4" name="Rectangle 3">
            <a:extLst>
              <a:ext uri="{FF2B5EF4-FFF2-40B4-BE49-F238E27FC236}">
                <a16:creationId xmlns:a16="http://schemas.microsoft.com/office/drawing/2014/main" id="{6D45DB72-868E-AD2C-E2DB-D9D91568243D}"/>
              </a:ext>
            </a:extLst>
          </p:cNvPr>
          <p:cNvSpPr/>
          <p:nvPr/>
        </p:nvSpPr>
        <p:spPr>
          <a:xfrm>
            <a:off x="8401050" y="5257800"/>
            <a:ext cx="3703320" cy="1600200"/>
          </a:xfrm>
          <a:prstGeom prst="rect">
            <a:avLst/>
          </a:prstGeom>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2800" b="1" dirty="0"/>
              <a:t>Method and Trainable Parameters</a:t>
            </a:r>
          </a:p>
        </p:txBody>
      </p:sp>
    </p:spTree>
    <p:extLst>
      <p:ext uri="{BB962C8B-B14F-4D97-AF65-F5344CB8AC3E}">
        <p14:creationId xmlns:p14="http://schemas.microsoft.com/office/powerpoint/2010/main" val="318863418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26C0C40-DCCB-1522-015D-5B4FABD77B94}"/>
              </a:ext>
            </a:extLst>
          </p:cNvPr>
          <p:cNvPicPr>
            <a:picLocks noChangeAspect="1"/>
          </p:cNvPicPr>
          <p:nvPr/>
        </p:nvPicPr>
        <p:blipFill>
          <a:blip r:embed="rId2"/>
          <a:srcRect l="3184"/>
          <a:stretch>
            <a:fillRect/>
          </a:stretch>
        </p:blipFill>
        <p:spPr>
          <a:xfrm>
            <a:off x="0" y="0"/>
            <a:ext cx="9334500" cy="5189399"/>
          </a:xfrm>
          <a:prstGeom prst="rect">
            <a:avLst/>
          </a:prstGeom>
        </p:spPr>
      </p:pic>
      <p:pic>
        <p:nvPicPr>
          <p:cNvPr id="5" name="Picture 4">
            <a:extLst>
              <a:ext uri="{FF2B5EF4-FFF2-40B4-BE49-F238E27FC236}">
                <a16:creationId xmlns:a16="http://schemas.microsoft.com/office/drawing/2014/main" id="{D1F07F75-78BD-1B0F-ADDC-CA0B1BBCFAD1}"/>
              </a:ext>
            </a:extLst>
          </p:cNvPr>
          <p:cNvPicPr>
            <a:picLocks noChangeAspect="1"/>
          </p:cNvPicPr>
          <p:nvPr/>
        </p:nvPicPr>
        <p:blipFill>
          <a:blip r:embed="rId3"/>
          <a:stretch>
            <a:fillRect/>
          </a:stretch>
        </p:blipFill>
        <p:spPr>
          <a:xfrm>
            <a:off x="7280910" y="4442326"/>
            <a:ext cx="4812030" cy="2415674"/>
          </a:xfrm>
          <a:prstGeom prst="rect">
            <a:avLst/>
          </a:prstGeom>
        </p:spPr>
      </p:pic>
    </p:spTree>
    <p:extLst>
      <p:ext uri="{BB962C8B-B14F-4D97-AF65-F5344CB8AC3E}">
        <p14:creationId xmlns:p14="http://schemas.microsoft.com/office/powerpoint/2010/main" val="263920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33FCD-53D6-B261-9BD7-178425DA2C3E}"/>
              </a:ext>
            </a:extLst>
          </p:cNvPr>
          <p:cNvSpPr>
            <a:spLocks noGrp="1"/>
          </p:cNvSpPr>
          <p:nvPr>
            <p:ph type="title"/>
          </p:nvPr>
        </p:nvSpPr>
        <p:spPr/>
        <p:txBody>
          <a:bodyPr/>
          <a:lstStyle/>
          <a:p>
            <a:r>
              <a:rPr lang="en-US" b="1" dirty="0"/>
              <a:t>Implementation of </a:t>
            </a:r>
            <a:r>
              <a:rPr lang="en-US" b="1" dirty="0" err="1"/>
              <a:t>LoRA</a:t>
            </a:r>
            <a:r>
              <a:rPr lang="en-US" b="1" dirty="0"/>
              <a:t> with BERT on Emotion Detection</a:t>
            </a:r>
            <a:endParaRPr lang="en-US" dirty="0"/>
          </a:p>
        </p:txBody>
      </p:sp>
      <p:sp>
        <p:nvSpPr>
          <p:cNvPr id="3" name="Text Placeholder 2">
            <a:extLst>
              <a:ext uri="{FF2B5EF4-FFF2-40B4-BE49-F238E27FC236}">
                <a16:creationId xmlns:a16="http://schemas.microsoft.com/office/drawing/2014/main" id="{05729F3F-C68B-03C8-246E-343B06DD0D1E}"/>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27579219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26823-0146-E44D-2767-A3CB7F6F41F2}"/>
              </a:ext>
            </a:extLst>
          </p:cNvPr>
          <p:cNvSpPr>
            <a:spLocks noGrp="1"/>
          </p:cNvSpPr>
          <p:nvPr>
            <p:ph type="title"/>
          </p:nvPr>
        </p:nvSpPr>
        <p:spPr/>
        <p:txBody>
          <a:bodyPr/>
          <a:lstStyle/>
          <a:p>
            <a:r>
              <a:rPr lang="en-US" dirty="0"/>
              <a:t>Steps - </a:t>
            </a:r>
            <a:r>
              <a:rPr lang="it-IT" dirty="0"/>
              <a:t>LORA_Fine_Tuning_Model.ipynb</a:t>
            </a:r>
            <a:r>
              <a:rPr lang="en-US" dirty="0"/>
              <a:t>	</a:t>
            </a:r>
          </a:p>
        </p:txBody>
      </p:sp>
      <p:sp>
        <p:nvSpPr>
          <p:cNvPr id="3" name="Content Placeholder 2">
            <a:extLst>
              <a:ext uri="{FF2B5EF4-FFF2-40B4-BE49-F238E27FC236}">
                <a16:creationId xmlns:a16="http://schemas.microsoft.com/office/drawing/2014/main" id="{1C7A7DAF-5838-546C-64A3-2BD2CB51D2F4}"/>
              </a:ext>
            </a:extLst>
          </p:cNvPr>
          <p:cNvSpPr>
            <a:spLocks noGrp="1"/>
          </p:cNvSpPr>
          <p:nvPr>
            <p:ph idx="1"/>
          </p:nvPr>
        </p:nvSpPr>
        <p:spPr>
          <a:xfrm>
            <a:off x="514350" y="1690688"/>
            <a:ext cx="11205210" cy="4802187"/>
          </a:xfrm>
        </p:spPr>
        <p:txBody>
          <a:bodyPr>
            <a:normAutofit lnSpcReduction="10000"/>
          </a:bodyPr>
          <a:lstStyle/>
          <a:p>
            <a:pPr marL="0" indent="0" fontAlgn="base">
              <a:buNone/>
            </a:pPr>
            <a:r>
              <a:rPr lang="en-US" b="1" dirty="0"/>
              <a:t>1. Installing Required Libraries - </a:t>
            </a:r>
            <a:r>
              <a:rPr lang="en-US" dirty="0"/>
              <a:t>We use H</a:t>
            </a:r>
            <a:r>
              <a:rPr lang="en-US" u="sng" dirty="0">
                <a:hlinkClick r:id="rId2"/>
              </a:rPr>
              <a:t>ugging Face’s transformers</a:t>
            </a:r>
            <a:r>
              <a:rPr lang="en-US" dirty="0"/>
              <a:t>, datasets, </a:t>
            </a:r>
            <a:r>
              <a:rPr lang="en-US" dirty="0" err="1"/>
              <a:t>peft</a:t>
            </a:r>
            <a:r>
              <a:rPr lang="en-US" dirty="0"/>
              <a:t>, accelerate and evaluate libraries for model training, </a:t>
            </a:r>
            <a:r>
              <a:rPr lang="en-US" dirty="0" err="1"/>
              <a:t>LoRA</a:t>
            </a:r>
            <a:r>
              <a:rPr lang="en-US" dirty="0"/>
              <a:t> fine-tuning and evaluation.</a:t>
            </a:r>
          </a:p>
          <a:p>
            <a:pPr marL="0" indent="0">
              <a:buNone/>
            </a:pPr>
            <a:r>
              <a:rPr lang="en-US" i="1" dirty="0"/>
              <a:t>!pip install transformers datasets </a:t>
            </a:r>
            <a:r>
              <a:rPr lang="en-US" i="1" dirty="0" err="1"/>
              <a:t>peft</a:t>
            </a:r>
            <a:r>
              <a:rPr lang="en-US" i="1" dirty="0"/>
              <a:t> accelerate evaluate</a:t>
            </a:r>
          </a:p>
          <a:p>
            <a:pPr marL="0" indent="0">
              <a:buNone/>
            </a:pPr>
            <a:r>
              <a:rPr lang="en-US" b="1" dirty="0"/>
              <a:t>2. Importing Dependencies</a:t>
            </a:r>
          </a:p>
          <a:p>
            <a:pPr marL="0" indent="0">
              <a:buNone/>
            </a:pPr>
            <a:r>
              <a:rPr lang="en-US" b="1" dirty="0"/>
              <a:t>3. Loading the Dataset</a:t>
            </a:r>
          </a:p>
          <a:p>
            <a:pPr marL="0" indent="0">
              <a:buNone/>
            </a:pPr>
            <a:r>
              <a:rPr lang="en-US" b="1" dirty="0"/>
              <a:t>4. Preprocessing Data</a:t>
            </a:r>
          </a:p>
          <a:p>
            <a:pPr marL="0" indent="0">
              <a:buNone/>
            </a:pPr>
            <a:r>
              <a:rPr lang="en-US" b="1" dirty="0"/>
              <a:t>5. Applying </a:t>
            </a:r>
            <a:r>
              <a:rPr lang="en-US" b="1" dirty="0" err="1"/>
              <a:t>LoRA</a:t>
            </a:r>
            <a:r>
              <a:rPr lang="en-US" b="1" dirty="0"/>
              <a:t> Configuration</a:t>
            </a:r>
          </a:p>
          <a:p>
            <a:pPr marL="0" indent="0">
              <a:buNone/>
            </a:pPr>
            <a:r>
              <a:rPr lang="en-US" b="1" dirty="0"/>
              <a:t>6. Training the Model</a:t>
            </a:r>
          </a:p>
          <a:p>
            <a:pPr marL="0" indent="0">
              <a:buNone/>
            </a:pPr>
            <a:r>
              <a:rPr lang="en-US" b="1" dirty="0"/>
              <a:t>7. Testing the Model on Custom Sentences</a:t>
            </a:r>
          </a:p>
          <a:p>
            <a:pPr marL="0" indent="0">
              <a:buNone/>
            </a:pPr>
            <a:endParaRPr lang="en-US" dirty="0"/>
          </a:p>
        </p:txBody>
      </p:sp>
    </p:spTree>
    <p:extLst>
      <p:ext uri="{BB962C8B-B14F-4D97-AF65-F5344CB8AC3E}">
        <p14:creationId xmlns:p14="http://schemas.microsoft.com/office/powerpoint/2010/main" val="134695053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510802-33FA-9599-4C0F-1AEA890A9A01}"/>
              </a:ext>
            </a:extLst>
          </p:cNvPr>
          <p:cNvSpPr>
            <a:spLocks noGrp="1"/>
          </p:cNvSpPr>
          <p:nvPr>
            <p:ph type="title"/>
          </p:nvPr>
        </p:nvSpPr>
        <p:spPr/>
        <p:txBody>
          <a:bodyPr>
            <a:normAutofit/>
          </a:bodyPr>
          <a:lstStyle/>
          <a:p>
            <a:r>
              <a:rPr lang="en-US" b="1" dirty="0">
                <a:hlinkClick r:id="rId2"/>
              </a:rPr>
              <a:t>Fine-tuning-an-LLM-using-</a:t>
            </a:r>
            <a:r>
              <a:rPr lang="en-US" b="1" dirty="0" err="1">
                <a:hlinkClick r:id="rId2"/>
              </a:rPr>
              <a:t>LoRA</a:t>
            </a:r>
            <a:br>
              <a:rPr lang="en-US" dirty="0">
                <a:effectLst/>
              </a:rPr>
            </a:br>
            <a:endParaRPr lang="en-US" dirty="0"/>
          </a:p>
        </p:txBody>
      </p:sp>
      <p:sp>
        <p:nvSpPr>
          <p:cNvPr id="3" name="Content Placeholder 2">
            <a:extLst>
              <a:ext uri="{FF2B5EF4-FFF2-40B4-BE49-F238E27FC236}">
                <a16:creationId xmlns:a16="http://schemas.microsoft.com/office/drawing/2014/main" id="{2E53D6B7-3C04-0E57-86E8-F2C9921B6CFF}"/>
              </a:ext>
            </a:extLst>
          </p:cNvPr>
          <p:cNvSpPr>
            <a:spLocks noGrp="1"/>
          </p:cNvSpPr>
          <p:nvPr>
            <p:ph idx="1"/>
          </p:nvPr>
        </p:nvSpPr>
        <p:spPr/>
        <p:txBody>
          <a:bodyPr/>
          <a:lstStyle/>
          <a:p>
            <a:r>
              <a:rPr lang="en-US" dirty="0">
                <a:hlinkClick r:id="rId3"/>
              </a:rPr>
              <a:t>https://github.com/fshnkarimi/Fine-tuning-an-LLM-using-LoRA/blob/main/FineTuning_LoRA.ipynb</a:t>
            </a:r>
            <a:r>
              <a:rPr lang="en-US" dirty="0"/>
              <a:t> - This repository is inspired by the article </a:t>
            </a:r>
            <a:r>
              <a:rPr lang="en-US" u="sng" dirty="0">
                <a:hlinkClick r:id="rId4"/>
              </a:rPr>
              <a:t>"Fine-tuning Large Language Models (LLMs)"</a:t>
            </a:r>
            <a:r>
              <a:rPr lang="en-US" dirty="0"/>
              <a:t> and contains code for training a text classification model using the Stanford Sentiment Treebank (SST-2) dataset and </a:t>
            </a:r>
            <a:r>
              <a:rPr lang="en-US" dirty="0" err="1"/>
              <a:t>LoRA</a:t>
            </a:r>
            <a:r>
              <a:rPr lang="en-US" dirty="0"/>
              <a:t> (Low-Rank Adaptation of Large Language Models) fine-tuning.</a:t>
            </a:r>
          </a:p>
          <a:p>
            <a:endParaRPr lang="en-US" dirty="0"/>
          </a:p>
          <a:p>
            <a:r>
              <a:rPr lang="en-US" dirty="0" err="1"/>
              <a:t>FineTuning_LoRA.ipynb</a:t>
            </a:r>
            <a:endParaRPr lang="en-US" dirty="0"/>
          </a:p>
          <a:p>
            <a:endParaRPr lang="en-US" dirty="0"/>
          </a:p>
        </p:txBody>
      </p:sp>
    </p:spTree>
    <p:extLst>
      <p:ext uri="{BB962C8B-B14F-4D97-AF65-F5344CB8AC3E}">
        <p14:creationId xmlns:p14="http://schemas.microsoft.com/office/powerpoint/2010/main" val="361669173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478980-C08D-1647-4165-8D263F739F70}"/>
              </a:ext>
            </a:extLst>
          </p:cNvPr>
          <p:cNvSpPr>
            <a:spLocks noGrp="1"/>
          </p:cNvSpPr>
          <p:nvPr>
            <p:ph type="title"/>
          </p:nvPr>
        </p:nvSpPr>
        <p:spPr/>
        <p:txBody>
          <a:bodyPr/>
          <a:lstStyle/>
          <a:p>
            <a:pPr fontAlgn="base"/>
            <a:r>
              <a:rPr lang="en-US" b="1" dirty="0" err="1"/>
              <a:t>QLoRA</a:t>
            </a:r>
            <a:r>
              <a:rPr lang="en-US" b="1" dirty="0"/>
              <a:t> (Quantized </a:t>
            </a:r>
            <a:r>
              <a:rPr lang="en-US" b="1" dirty="0" err="1"/>
              <a:t>LoRA</a:t>
            </a:r>
            <a:r>
              <a:rPr lang="en-US" b="1" dirty="0"/>
              <a:t>)</a:t>
            </a:r>
            <a:endParaRPr lang="en-US" dirty="0"/>
          </a:p>
        </p:txBody>
      </p:sp>
      <p:sp>
        <p:nvSpPr>
          <p:cNvPr id="3" name="Text Placeholder 2">
            <a:extLst>
              <a:ext uri="{FF2B5EF4-FFF2-40B4-BE49-F238E27FC236}">
                <a16:creationId xmlns:a16="http://schemas.microsoft.com/office/drawing/2014/main" id="{BDA859A8-7AF0-ED8D-6CD0-4300483132A0}"/>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627320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4A6E6C8-BD31-74A9-FB13-1C4738E30EC1}"/>
              </a:ext>
            </a:extLst>
          </p:cNvPr>
          <p:cNvSpPr>
            <a:spLocks noGrp="1"/>
          </p:cNvSpPr>
          <p:nvPr>
            <p:ph type="title"/>
          </p:nvPr>
        </p:nvSpPr>
        <p:spPr>
          <a:xfrm>
            <a:off x="828160" y="110889"/>
            <a:ext cx="11081899" cy="1325563"/>
          </a:xfrm>
        </p:spPr>
        <p:txBody>
          <a:bodyPr>
            <a:normAutofit/>
          </a:bodyPr>
          <a:lstStyle/>
          <a:p>
            <a:r>
              <a:rPr lang="en-US" dirty="0" err="1"/>
              <a:t>QLoRA</a:t>
            </a:r>
            <a:r>
              <a:rPr lang="en-US" dirty="0"/>
              <a:t> - </a:t>
            </a:r>
            <a:r>
              <a:rPr lang="en-US" dirty="0" err="1"/>
              <a:t>QLORA_FINE_TUNING_MODEL.ipynb</a:t>
            </a:r>
            <a:endParaRPr lang="en-US" dirty="0"/>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B19D639E-29C8-3B41-0A04-CF97B937CD99}"/>
              </a:ext>
            </a:extLst>
          </p:cNvPr>
          <p:cNvSpPr>
            <a:spLocks noGrp="1"/>
          </p:cNvSpPr>
          <p:nvPr>
            <p:ph idx="1"/>
          </p:nvPr>
        </p:nvSpPr>
        <p:spPr>
          <a:xfrm>
            <a:off x="838200" y="1547340"/>
            <a:ext cx="11071860" cy="4922040"/>
          </a:xfrm>
        </p:spPr>
        <p:txBody>
          <a:bodyPr>
            <a:normAutofit/>
          </a:bodyPr>
          <a:lstStyle/>
          <a:p>
            <a:pPr marL="0" indent="0" fontAlgn="base">
              <a:buNone/>
            </a:pPr>
            <a:r>
              <a:rPr lang="en-US" sz="2200" u="sng" dirty="0"/>
              <a:t>It </a:t>
            </a:r>
            <a:r>
              <a:rPr lang="en-US" sz="2200" dirty="0"/>
              <a:t>works by loading the base language model in a highly compressed 4-bit quantized format, drastically reducing memory usage, while training small </a:t>
            </a:r>
            <a:r>
              <a:rPr lang="en-US" sz="2200" dirty="0" err="1"/>
              <a:t>LoRA</a:t>
            </a:r>
            <a:r>
              <a:rPr lang="en-US" sz="2200" dirty="0"/>
              <a:t> adapters in higher precision. During fine-tuning, only these adapters are updated, compensating for any quantization errors and preserving model performance. This approach allows you to efficiently fine-tune massive models on standard GPUs, combining aggressive memory savings with the parameter efficiency of </a:t>
            </a:r>
            <a:r>
              <a:rPr lang="en-US" sz="2200" dirty="0" err="1"/>
              <a:t>LoRA</a:t>
            </a:r>
            <a:r>
              <a:rPr lang="en-US" sz="2200" dirty="0"/>
              <a:t> and maintaining competitive results.</a:t>
            </a:r>
          </a:p>
          <a:p>
            <a:pPr marL="0" indent="0" fontAlgn="base">
              <a:buNone/>
            </a:pPr>
            <a:r>
              <a:rPr lang="en-US" sz="2200" b="1" dirty="0"/>
              <a:t>Training Process</a:t>
            </a:r>
            <a:r>
              <a:rPr lang="en-US" sz="2200" dirty="0"/>
              <a:t>:</a:t>
            </a:r>
          </a:p>
          <a:p>
            <a:pPr fontAlgn="base"/>
            <a:r>
              <a:rPr lang="en-US" sz="2200" dirty="0"/>
              <a:t>The pretrained model is loaded with quantized 4-bit weights.</a:t>
            </a:r>
          </a:p>
          <a:p>
            <a:pPr fontAlgn="base"/>
            <a:r>
              <a:rPr lang="en-US" sz="2200" dirty="0"/>
              <a:t>Only the </a:t>
            </a:r>
            <a:r>
              <a:rPr lang="en-US" sz="2200" dirty="0" err="1"/>
              <a:t>LoRA</a:t>
            </a:r>
            <a:r>
              <a:rPr lang="en-US" sz="2200" dirty="0"/>
              <a:t> adapters are updated during training.</a:t>
            </a:r>
          </a:p>
          <a:p>
            <a:pPr fontAlgn="base"/>
            <a:r>
              <a:rPr lang="en-US" sz="2200" dirty="0"/>
              <a:t>Libraries like </a:t>
            </a:r>
            <a:r>
              <a:rPr lang="en-US" sz="2200" dirty="0" err="1"/>
              <a:t>BitsAndBytes</a:t>
            </a:r>
            <a:r>
              <a:rPr lang="en-US" sz="2200" dirty="0"/>
              <a:t> (for quantization) and PEFT (for </a:t>
            </a:r>
            <a:r>
              <a:rPr lang="en-US" sz="2200" dirty="0" err="1"/>
              <a:t>LoRA</a:t>
            </a:r>
            <a:r>
              <a:rPr lang="en-US" sz="2200" dirty="0"/>
              <a:t>) are used together for implementation.</a:t>
            </a:r>
          </a:p>
          <a:p>
            <a:pPr fontAlgn="base"/>
            <a:r>
              <a:rPr lang="en-US" sz="2200" dirty="0"/>
              <a:t>Example code involves setting up quantization configs, enabling gradient checkpointing, and applying </a:t>
            </a:r>
            <a:r>
              <a:rPr lang="en-US" sz="2200" dirty="0" err="1"/>
              <a:t>LoRA</a:t>
            </a:r>
            <a:r>
              <a:rPr lang="en-US" sz="2200" dirty="0"/>
              <a:t> adapters to target modules (e.g., query, key, value layers).</a:t>
            </a:r>
          </a:p>
        </p:txBody>
      </p:sp>
      <p:sp>
        <p:nvSpPr>
          <p:cNvPr id="5" name="TextBox 4">
            <a:extLst>
              <a:ext uri="{FF2B5EF4-FFF2-40B4-BE49-F238E27FC236}">
                <a16:creationId xmlns:a16="http://schemas.microsoft.com/office/drawing/2014/main" id="{549AF3FD-6657-BD3E-0FB1-CD06549D3F71}"/>
              </a:ext>
            </a:extLst>
          </p:cNvPr>
          <p:cNvSpPr txBox="1"/>
          <p:nvPr/>
        </p:nvSpPr>
        <p:spPr>
          <a:xfrm>
            <a:off x="3046971" y="6386076"/>
            <a:ext cx="6098058" cy="369332"/>
          </a:xfrm>
          <a:prstGeom prst="rect">
            <a:avLst/>
          </a:prstGeom>
          <a:noFill/>
        </p:spPr>
        <p:txBody>
          <a:bodyPr wrap="square">
            <a:spAutoFit/>
          </a:bodyPr>
          <a:lstStyle/>
          <a:p>
            <a:r>
              <a:rPr lang="en-US" dirty="0" err="1"/>
              <a:t>QLORA_FINE_TUNING_MODEL.ipynb</a:t>
            </a:r>
            <a:endParaRPr lang="en-US" dirty="0"/>
          </a:p>
        </p:txBody>
      </p:sp>
    </p:spTree>
    <p:extLst>
      <p:ext uri="{BB962C8B-B14F-4D97-AF65-F5344CB8AC3E}">
        <p14:creationId xmlns:p14="http://schemas.microsoft.com/office/powerpoint/2010/main" val="379861385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4CA8AB-B20B-0F58-E343-6DAF4D4DCE47}"/>
              </a:ext>
            </a:extLst>
          </p:cNvPr>
          <p:cNvSpPr>
            <a:spLocks noGrp="1"/>
          </p:cNvSpPr>
          <p:nvPr>
            <p:ph type="title"/>
          </p:nvPr>
        </p:nvSpPr>
        <p:spPr/>
        <p:txBody>
          <a:bodyPr>
            <a:normAutofit/>
          </a:bodyPr>
          <a:lstStyle/>
          <a:p>
            <a:r>
              <a:rPr lang="en-US" dirty="0"/>
              <a:t>4. Reinforcement Learning with Human Feedback (RLHF)</a:t>
            </a:r>
          </a:p>
        </p:txBody>
      </p:sp>
      <p:sp>
        <p:nvSpPr>
          <p:cNvPr id="3" name="Content Placeholder 2">
            <a:extLst>
              <a:ext uri="{FF2B5EF4-FFF2-40B4-BE49-F238E27FC236}">
                <a16:creationId xmlns:a16="http://schemas.microsoft.com/office/drawing/2014/main" id="{713BF798-3B00-7130-1946-3A32DEF5E9B1}"/>
              </a:ext>
            </a:extLst>
          </p:cNvPr>
          <p:cNvSpPr>
            <a:spLocks noGrp="1"/>
          </p:cNvSpPr>
          <p:nvPr>
            <p:ph idx="1"/>
          </p:nvPr>
        </p:nvSpPr>
        <p:spPr/>
        <p:txBody>
          <a:bodyPr/>
          <a:lstStyle/>
          <a:p>
            <a:pPr fontAlgn="base"/>
            <a:r>
              <a:rPr lang="en-US" dirty="0"/>
              <a:t>Uses human ratings to teach a model to align outputs with human preferences.</a:t>
            </a:r>
          </a:p>
          <a:p>
            <a:pPr fontAlgn="base"/>
            <a:r>
              <a:rPr lang="en-US" dirty="0"/>
              <a:t>Involves three steps: generate outputs, train a reward model from human feedback and optimize model behavior using reinforcement learning (like PPO).</a:t>
            </a:r>
          </a:p>
          <a:p>
            <a:pPr fontAlgn="base"/>
            <a:r>
              <a:rPr lang="en-US" dirty="0"/>
              <a:t>Ideal for tasks requiring alignment with human values and nuanced preferences such as generating helpful, safe or ethical content.</a:t>
            </a:r>
          </a:p>
          <a:p>
            <a:endParaRPr lang="en-US" dirty="0"/>
          </a:p>
        </p:txBody>
      </p:sp>
    </p:spTree>
    <p:extLst>
      <p:ext uri="{BB962C8B-B14F-4D97-AF65-F5344CB8AC3E}">
        <p14:creationId xmlns:p14="http://schemas.microsoft.com/office/powerpoint/2010/main" val="268261173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D232E-753C-0564-932D-88E9B7E74201}"/>
              </a:ext>
            </a:extLst>
          </p:cNvPr>
          <p:cNvSpPr>
            <a:spLocks noGrp="1"/>
          </p:cNvSpPr>
          <p:nvPr>
            <p:ph type="title"/>
          </p:nvPr>
        </p:nvSpPr>
        <p:spPr/>
        <p:txBody>
          <a:bodyPr/>
          <a:lstStyle/>
          <a:p>
            <a:r>
              <a:rPr lang="en-US" b="0" dirty="0">
                <a:effectLst/>
              </a:rPr>
              <a:t>RLHF process typically involves the following steps</a:t>
            </a:r>
            <a:endParaRPr lang="en-US" dirty="0"/>
          </a:p>
        </p:txBody>
      </p:sp>
      <p:sp>
        <p:nvSpPr>
          <p:cNvPr id="3" name="Content Placeholder 2">
            <a:extLst>
              <a:ext uri="{FF2B5EF4-FFF2-40B4-BE49-F238E27FC236}">
                <a16:creationId xmlns:a16="http://schemas.microsoft.com/office/drawing/2014/main" id="{8A0C2DB2-6375-E93D-96EF-F9747AC255C2}"/>
              </a:ext>
            </a:extLst>
          </p:cNvPr>
          <p:cNvSpPr>
            <a:spLocks noGrp="1"/>
          </p:cNvSpPr>
          <p:nvPr>
            <p:ph idx="1"/>
          </p:nvPr>
        </p:nvSpPr>
        <p:spPr/>
        <p:txBody>
          <a:bodyPr>
            <a:normAutofit fontScale="92500"/>
          </a:bodyPr>
          <a:lstStyle/>
          <a:p>
            <a:r>
              <a:rPr lang="en-US" dirty="0"/>
              <a:t>Collecting human feedback: Human evaluators are asked to rate or compare the outputs of the language model based on certain criteria, such as coherence, relevance, or overall quality.</a:t>
            </a:r>
          </a:p>
          <a:p>
            <a:r>
              <a:rPr lang="en-US" dirty="0"/>
              <a:t>Training a reward model: The human feedback is used to train a reward model that predicts the human ratings or preferences. This reward model is typically a smaller model that is trained to capture the patterns and preferences expressed by the human evaluators.</a:t>
            </a:r>
          </a:p>
          <a:p>
            <a:r>
              <a:rPr lang="en-US" dirty="0"/>
              <a:t>Fine-tuning the language model: The language model is fine-tuned using reinforcement learning, with the reward model providing the reward signal. The goal is to maximize the expected cumulative reward, which corresponds to generating outputs that are preferred by humans.</a:t>
            </a:r>
          </a:p>
          <a:p>
            <a:endParaRPr lang="en-US" dirty="0"/>
          </a:p>
        </p:txBody>
      </p:sp>
    </p:spTree>
    <p:extLst>
      <p:ext uri="{BB962C8B-B14F-4D97-AF65-F5344CB8AC3E}">
        <p14:creationId xmlns:p14="http://schemas.microsoft.com/office/powerpoint/2010/main" val="405310637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F9DC3-0BDF-E7E1-80C5-684A27F7E9B1}"/>
              </a:ext>
            </a:extLst>
          </p:cNvPr>
          <p:cNvSpPr>
            <a:spLocks noGrp="1"/>
          </p:cNvSpPr>
          <p:nvPr>
            <p:ph type="title"/>
          </p:nvPr>
        </p:nvSpPr>
        <p:spPr/>
        <p:txBody>
          <a:bodyPr/>
          <a:lstStyle/>
          <a:p>
            <a:r>
              <a:rPr lang="en-US" dirty="0">
                <a:effectLst/>
              </a:rPr>
              <a:t>approach fine-tuning</a:t>
            </a:r>
            <a:br>
              <a:rPr lang="en-US" dirty="0">
                <a:effectLst/>
              </a:rPr>
            </a:br>
            <a:endParaRPr lang="en-US" dirty="0"/>
          </a:p>
        </p:txBody>
      </p:sp>
      <p:graphicFrame>
        <p:nvGraphicFramePr>
          <p:cNvPr id="4" name="Table 3">
            <a:extLst>
              <a:ext uri="{FF2B5EF4-FFF2-40B4-BE49-F238E27FC236}">
                <a16:creationId xmlns:a16="http://schemas.microsoft.com/office/drawing/2014/main" id="{41ACCCD9-72CD-1FBC-F668-5372D18F349C}"/>
              </a:ext>
            </a:extLst>
          </p:cNvPr>
          <p:cNvGraphicFramePr>
            <a:graphicFrameLocks noGrp="1"/>
          </p:cNvGraphicFramePr>
          <p:nvPr/>
        </p:nvGraphicFramePr>
        <p:xfrm>
          <a:off x="457200" y="1569720"/>
          <a:ext cx="11372850" cy="4450080"/>
        </p:xfrm>
        <a:graphic>
          <a:graphicData uri="http://schemas.openxmlformats.org/drawingml/2006/table">
            <a:tbl>
              <a:tblPr/>
              <a:tblGrid>
                <a:gridCol w="2729484">
                  <a:extLst>
                    <a:ext uri="{9D8B030D-6E8A-4147-A177-3AD203B41FA5}">
                      <a16:colId xmlns:a16="http://schemas.microsoft.com/office/drawing/2014/main" val="2750256597"/>
                    </a:ext>
                  </a:extLst>
                </a:gridCol>
                <a:gridCol w="8643366">
                  <a:extLst>
                    <a:ext uri="{9D8B030D-6E8A-4147-A177-3AD203B41FA5}">
                      <a16:colId xmlns:a16="http://schemas.microsoft.com/office/drawing/2014/main" val="3155418432"/>
                    </a:ext>
                  </a:extLst>
                </a:gridCol>
              </a:tblGrid>
              <a:tr h="0">
                <a:tc>
                  <a:txBody>
                    <a:bodyPr/>
                    <a:lstStyle/>
                    <a:p>
                      <a:pPr>
                        <a:buNone/>
                      </a:pPr>
                      <a:r>
                        <a:rPr lang="en-US" sz="2800" b="1">
                          <a:solidFill>
                            <a:srgbClr val="0A1317"/>
                          </a:solidFill>
                          <a:effectLst/>
                          <a:latin typeface="Optimistic"/>
                        </a:rPr>
                        <a:t>Method</a:t>
                      </a:r>
                    </a:p>
                  </a:txBody>
                  <a:tcPr marT="50800" marB="50800" anchor="ctr">
                    <a:lnL>
                      <a:noFill/>
                    </a:lnL>
                    <a:lnR>
                      <a:noFill/>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1F4F7"/>
                    </a:solidFill>
                  </a:tcPr>
                </a:tc>
                <a:tc>
                  <a:txBody>
                    <a:bodyPr/>
                    <a:lstStyle/>
                    <a:p>
                      <a:pPr>
                        <a:buNone/>
                      </a:pPr>
                      <a:r>
                        <a:rPr lang="en-US" sz="2800" b="1" dirty="0">
                          <a:solidFill>
                            <a:srgbClr val="0A1317"/>
                          </a:solidFill>
                          <a:effectLst/>
                          <a:latin typeface="Optimistic"/>
                        </a:rPr>
                        <a:t>Best When</a:t>
                      </a:r>
                    </a:p>
                  </a:txBody>
                  <a:tcPr marT="50800" marB="50800" anchor="ctr">
                    <a:lnL>
                      <a:noFill/>
                    </a:lnL>
                    <a:lnR>
                      <a:noFill/>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1F4F7"/>
                    </a:solidFill>
                  </a:tcPr>
                </a:tc>
                <a:extLst>
                  <a:ext uri="{0D108BD9-81ED-4DB2-BD59-A6C34878D82A}">
                    <a16:rowId xmlns:a16="http://schemas.microsoft.com/office/drawing/2014/main" val="1522746302"/>
                  </a:ext>
                </a:extLst>
              </a:tr>
              <a:tr h="0">
                <a:tc>
                  <a:txBody>
                    <a:bodyPr/>
                    <a:lstStyle/>
                    <a:p>
                      <a:pPr algn="l">
                        <a:buNone/>
                      </a:pPr>
                      <a:r>
                        <a:rPr lang="en-US" sz="2800" b="0" dirty="0">
                          <a:solidFill>
                            <a:srgbClr val="0A1317"/>
                          </a:solidFill>
                          <a:effectLst/>
                          <a:latin typeface="Optimistic"/>
                        </a:rPr>
                        <a:t>Full</a:t>
                      </a:r>
                    </a:p>
                  </a:txBody>
                  <a:tcPr marT="50800" marB="50800" anchor="ctr">
                    <a:lnL>
                      <a:noFill/>
                    </a:lnL>
                    <a:lnR>
                      <a:noFill/>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1F4F7"/>
                    </a:solidFill>
                  </a:tcPr>
                </a:tc>
                <a:tc>
                  <a:txBody>
                    <a:bodyPr/>
                    <a:lstStyle/>
                    <a:p>
                      <a:pPr algn="l">
                        <a:buNone/>
                      </a:pPr>
                      <a:r>
                        <a:rPr lang="en-US" sz="2800" b="0">
                          <a:solidFill>
                            <a:srgbClr val="0A1317"/>
                          </a:solidFill>
                          <a:effectLst/>
                          <a:latin typeface="Optimistic"/>
                        </a:rPr>
                        <a:t>You have compute and need total control or major language/domain shift</a:t>
                      </a:r>
                    </a:p>
                  </a:txBody>
                  <a:tcPr marT="50800" marB="50800" anchor="ctr">
                    <a:lnL>
                      <a:noFill/>
                    </a:lnL>
                    <a:lnR>
                      <a:noFill/>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1F4F7"/>
                    </a:solidFill>
                  </a:tcPr>
                </a:tc>
                <a:extLst>
                  <a:ext uri="{0D108BD9-81ED-4DB2-BD59-A6C34878D82A}">
                    <a16:rowId xmlns:a16="http://schemas.microsoft.com/office/drawing/2014/main" val="3990216637"/>
                  </a:ext>
                </a:extLst>
              </a:tr>
              <a:tr h="0">
                <a:tc>
                  <a:txBody>
                    <a:bodyPr/>
                    <a:lstStyle/>
                    <a:p>
                      <a:pPr algn="l">
                        <a:buNone/>
                      </a:pPr>
                      <a:r>
                        <a:rPr lang="en-US" sz="2800" b="0">
                          <a:solidFill>
                            <a:srgbClr val="0A1317"/>
                          </a:solidFill>
                          <a:effectLst/>
                          <a:latin typeface="Optimistic"/>
                        </a:rPr>
                        <a:t>LoRA</a:t>
                      </a:r>
                    </a:p>
                  </a:txBody>
                  <a:tcPr marT="50800" marB="50800" anchor="ctr">
                    <a:lnL>
                      <a:noFill/>
                    </a:lnL>
                    <a:lnR>
                      <a:noFill/>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1F4F7"/>
                    </a:solidFill>
                  </a:tcPr>
                </a:tc>
                <a:tc>
                  <a:txBody>
                    <a:bodyPr/>
                    <a:lstStyle/>
                    <a:p>
                      <a:pPr algn="l">
                        <a:buNone/>
                      </a:pPr>
                      <a:r>
                        <a:rPr lang="en-US" sz="2800" b="0">
                          <a:solidFill>
                            <a:srgbClr val="0A1317"/>
                          </a:solidFill>
                          <a:effectLst/>
                          <a:latin typeface="Optimistic"/>
                        </a:rPr>
                        <a:t>You have moderate resources and want efficient tuning</a:t>
                      </a:r>
                    </a:p>
                  </a:txBody>
                  <a:tcPr marT="50800" marB="50800" anchor="ctr">
                    <a:lnL>
                      <a:noFill/>
                    </a:lnL>
                    <a:lnR>
                      <a:noFill/>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1F4F7"/>
                    </a:solidFill>
                  </a:tcPr>
                </a:tc>
                <a:extLst>
                  <a:ext uri="{0D108BD9-81ED-4DB2-BD59-A6C34878D82A}">
                    <a16:rowId xmlns:a16="http://schemas.microsoft.com/office/drawing/2014/main" val="2834810752"/>
                  </a:ext>
                </a:extLst>
              </a:tr>
              <a:tr h="0">
                <a:tc>
                  <a:txBody>
                    <a:bodyPr/>
                    <a:lstStyle/>
                    <a:p>
                      <a:pPr algn="l">
                        <a:buNone/>
                      </a:pPr>
                      <a:r>
                        <a:rPr lang="en-US" sz="2800" b="0" dirty="0" err="1">
                          <a:solidFill>
                            <a:srgbClr val="0A1317"/>
                          </a:solidFill>
                          <a:effectLst/>
                          <a:latin typeface="Optimistic"/>
                        </a:rPr>
                        <a:t>QLoRA</a:t>
                      </a:r>
                      <a:endParaRPr lang="en-US" sz="2800" b="0" dirty="0">
                        <a:solidFill>
                          <a:srgbClr val="0A1317"/>
                        </a:solidFill>
                        <a:effectLst/>
                        <a:latin typeface="Optimistic"/>
                      </a:endParaRPr>
                    </a:p>
                  </a:txBody>
                  <a:tcPr marT="50800" marB="50800" anchor="ctr">
                    <a:lnL>
                      <a:noFill/>
                    </a:lnL>
                    <a:lnR>
                      <a:noFill/>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1F4F7"/>
                    </a:solidFill>
                  </a:tcPr>
                </a:tc>
                <a:tc>
                  <a:txBody>
                    <a:bodyPr/>
                    <a:lstStyle/>
                    <a:p>
                      <a:pPr algn="l">
                        <a:buNone/>
                      </a:pPr>
                      <a:r>
                        <a:rPr lang="en-US" sz="2800" b="0">
                          <a:solidFill>
                            <a:srgbClr val="0A1317"/>
                          </a:solidFill>
                          <a:effectLst/>
                          <a:latin typeface="Optimistic"/>
                        </a:rPr>
                        <a:t>You have limited resources (low VRAM) and want to fine-tune large models</a:t>
                      </a:r>
                    </a:p>
                  </a:txBody>
                  <a:tcPr marT="50800" marB="50800" anchor="ctr">
                    <a:lnL>
                      <a:noFill/>
                    </a:lnL>
                    <a:lnR>
                      <a:noFill/>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1F4F7"/>
                    </a:solidFill>
                  </a:tcPr>
                </a:tc>
                <a:extLst>
                  <a:ext uri="{0D108BD9-81ED-4DB2-BD59-A6C34878D82A}">
                    <a16:rowId xmlns:a16="http://schemas.microsoft.com/office/drawing/2014/main" val="3740253347"/>
                  </a:ext>
                </a:extLst>
              </a:tr>
              <a:tr h="0">
                <a:tc>
                  <a:txBody>
                    <a:bodyPr/>
                    <a:lstStyle/>
                    <a:p>
                      <a:pPr algn="l">
                        <a:buNone/>
                      </a:pPr>
                      <a:r>
                        <a:rPr lang="en-US" sz="2800" b="0" dirty="0">
                          <a:solidFill>
                            <a:srgbClr val="0A1317"/>
                          </a:solidFill>
                          <a:effectLst/>
                          <a:latin typeface="Optimistic"/>
                        </a:rPr>
                        <a:t>RLHF</a:t>
                      </a:r>
                    </a:p>
                  </a:txBody>
                  <a:tcPr marT="50800" marB="50800" anchor="ctr">
                    <a:lnL>
                      <a:noFill/>
                    </a:lnL>
                    <a:lnR>
                      <a:noFill/>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1F4F7"/>
                    </a:solidFill>
                  </a:tcPr>
                </a:tc>
                <a:tc>
                  <a:txBody>
                    <a:bodyPr/>
                    <a:lstStyle/>
                    <a:p>
                      <a:pPr algn="l">
                        <a:buNone/>
                      </a:pPr>
                      <a:r>
                        <a:rPr lang="en-US" sz="2800" b="0">
                          <a:solidFill>
                            <a:srgbClr val="0A1317"/>
                          </a:solidFill>
                          <a:effectLst/>
                          <a:latin typeface="Optimistic"/>
                        </a:rPr>
                        <a:t>You want to match output to human preferences</a:t>
                      </a:r>
                    </a:p>
                  </a:txBody>
                  <a:tcPr marT="50800" marB="50800" anchor="ctr">
                    <a:lnL>
                      <a:noFill/>
                    </a:lnL>
                    <a:lnR>
                      <a:noFill/>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1F4F7"/>
                    </a:solidFill>
                  </a:tcPr>
                </a:tc>
                <a:extLst>
                  <a:ext uri="{0D108BD9-81ED-4DB2-BD59-A6C34878D82A}">
                    <a16:rowId xmlns:a16="http://schemas.microsoft.com/office/drawing/2014/main" val="427316423"/>
                  </a:ext>
                </a:extLst>
              </a:tr>
              <a:tr h="0">
                <a:tc>
                  <a:txBody>
                    <a:bodyPr/>
                    <a:lstStyle/>
                    <a:p>
                      <a:pPr algn="l">
                        <a:buNone/>
                      </a:pPr>
                      <a:r>
                        <a:rPr lang="en-US" sz="2800" b="0" dirty="0">
                          <a:solidFill>
                            <a:srgbClr val="0A1317"/>
                          </a:solidFill>
                          <a:effectLst/>
                          <a:latin typeface="Optimistic"/>
                        </a:rPr>
                        <a:t>RLVR</a:t>
                      </a:r>
                    </a:p>
                  </a:txBody>
                  <a:tcPr marT="50800" marB="50800" anchor="ctr">
                    <a:lnL>
                      <a:noFill/>
                    </a:lnL>
                    <a:lnR>
                      <a:noFill/>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1F4F7"/>
                    </a:solidFill>
                  </a:tcPr>
                </a:tc>
                <a:tc>
                  <a:txBody>
                    <a:bodyPr/>
                    <a:lstStyle/>
                    <a:p>
                      <a:pPr algn="l">
                        <a:buNone/>
                      </a:pPr>
                      <a:r>
                        <a:rPr lang="en-US" sz="2800" b="0" dirty="0">
                          <a:solidFill>
                            <a:srgbClr val="0A1317"/>
                          </a:solidFill>
                          <a:effectLst/>
                          <a:latin typeface="Optimistic"/>
                        </a:rPr>
                        <a:t>You want to optimize based on verifier or bespoke reward models</a:t>
                      </a:r>
                    </a:p>
                  </a:txBody>
                  <a:tcPr marT="50800" marB="50800" anchor="ctr">
                    <a:lnL>
                      <a:noFill/>
                    </a:lnL>
                    <a:lnR>
                      <a:noFill/>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1F4F7"/>
                    </a:solidFill>
                  </a:tcPr>
                </a:tc>
                <a:extLst>
                  <a:ext uri="{0D108BD9-81ED-4DB2-BD59-A6C34878D82A}">
                    <a16:rowId xmlns:a16="http://schemas.microsoft.com/office/drawing/2014/main" val="2199588380"/>
                  </a:ext>
                </a:extLst>
              </a:tr>
            </a:tbl>
          </a:graphicData>
        </a:graphic>
      </p:graphicFrame>
    </p:spTree>
    <p:extLst>
      <p:ext uri="{BB962C8B-B14F-4D97-AF65-F5344CB8AC3E}">
        <p14:creationId xmlns:p14="http://schemas.microsoft.com/office/powerpoint/2010/main" val="34279671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A946AD-F2FE-3E18-3131-14FAB203E9CA}"/>
              </a:ext>
            </a:extLst>
          </p:cNvPr>
          <p:cNvSpPr>
            <a:spLocks noGrp="1"/>
          </p:cNvSpPr>
          <p:nvPr>
            <p:ph type="title"/>
          </p:nvPr>
        </p:nvSpPr>
        <p:spPr/>
        <p:txBody>
          <a:bodyPr>
            <a:normAutofit fontScale="90000"/>
          </a:bodyPr>
          <a:lstStyle/>
          <a:p>
            <a:r>
              <a:rPr lang="en-US" dirty="0">
                <a:effectLst/>
              </a:rPr>
              <a:t>Fine-tuning libraries</a:t>
            </a:r>
            <a:br>
              <a:rPr lang="en-US" dirty="0">
                <a:effectLst/>
              </a:rPr>
            </a:br>
            <a:br>
              <a:rPr lang="en-US" dirty="0"/>
            </a:br>
            <a:endParaRPr lang="en-US" dirty="0"/>
          </a:p>
        </p:txBody>
      </p:sp>
      <p:graphicFrame>
        <p:nvGraphicFramePr>
          <p:cNvPr id="4" name="Content Placeholder 3">
            <a:extLst>
              <a:ext uri="{FF2B5EF4-FFF2-40B4-BE49-F238E27FC236}">
                <a16:creationId xmlns:a16="http://schemas.microsoft.com/office/drawing/2014/main" id="{8CD91A83-45E5-3102-E93D-988FF39A6BFF}"/>
              </a:ext>
            </a:extLst>
          </p:cNvPr>
          <p:cNvGraphicFramePr>
            <a:graphicFrameLocks noGrp="1"/>
          </p:cNvGraphicFramePr>
          <p:nvPr>
            <p:ph idx="1"/>
          </p:nvPr>
        </p:nvGraphicFramePr>
        <p:xfrm>
          <a:off x="457200" y="1565766"/>
          <a:ext cx="11510010" cy="4572000"/>
        </p:xfrm>
        <a:graphic>
          <a:graphicData uri="http://schemas.openxmlformats.org/drawingml/2006/table">
            <a:tbl>
              <a:tblPr firstRow="1" bandRow="1">
                <a:tableStyleId>{5C22544A-7EE6-4342-B048-85BDC9FD1C3A}</a:tableStyleId>
              </a:tblPr>
              <a:tblGrid>
                <a:gridCol w="3374822">
                  <a:extLst>
                    <a:ext uri="{9D8B030D-6E8A-4147-A177-3AD203B41FA5}">
                      <a16:colId xmlns:a16="http://schemas.microsoft.com/office/drawing/2014/main" val="1197071377"/>
                    </a:ext>
                  </a:extLst>
                </a:gridCol>
                <a:gridCol w="8135188">
                  <a:extLst>
                    <a:ext uri="{9D8B030D-6E8A-4147-A177-3AD203B41FA5}">
                      <a16:colId xmlns:a16="http://schemas.microsoft.com/office/drawing/2014/main" val="448339988"/>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i="0" kern="1200" dirty="0">
                          <a:solidFill>
                            <a:schemeClr val="lt1"/>
                          </a:solidFill>
                          <a:effectLst/>
                          <a:latin typeface="+mn-lt"/>
                          <a:ea typeface="+mn-ea"/>
                          <a:cs typeface="+mn-cs"/>
                        </a:rPr>
                        <a:t>Managed fine-tuning</a:t>
                      </a:r>
                    </a:p>
                    <a:p>
                      <a:endParaRPr lang="en-US" sz="2400" dirty="0"/>
                    </a:p>
                  </a:txBody>
                  <a:tcPr/>
                </a:tc>
                <a:tc>
                  <a:txBody>
                    <a:bodyPr/>
                    <a:lstStyle/>
                    <a:p>
                      <a:r>
                        <a:rPr lang="en-US" sz="2400" b="0" i="0" kern="1200" dirty="0">
                          <a:solidFill>
                            <a:schemeClr val="lt1"/>
                          </a:solidFill>
                          <a:effectLst/>
                          <a:latin typeface="+mn-lt"/>
                          <a:ea typeface="+mn-ea"/>
                          <a:cs typeface="+mn-cs"/>
                        </a:rPr>
                        <a:t>Meta offers a managed fine-tuning service for Llama, which is available as part of </a:t>
                      </a:r>
                      <a:r>
                        <a:rPr lang="en-US" sz="2400" b="0" i="0" u="none" strike="noStrike" kern="1200" dirty="0">
                          <a:solidFill>
                            <a:schemeClr val="lt1"/>
                          </a:solidFill>
                          <a:effectLst/>
                          <a:latin typeface="+mn-lt"/>
                          <a:ea typeface="+mn-ea"/>
                          <a:cs typeface="+mn-cs"/>
                          <a:hlinkClick r:id="rId2"/>
                        </a:rPr>
                        <a:t>Llama API</a:t>
                      </a:r>
                      <a:r>
                        <a:rPr lang="en-US" sz="2400" b="0" i="0" kern="1200" dirty="0">
                          <a:solidFill>
                            <a:schemeClr val="lt1"/>
                          </a:solidFill>
                          <a:effectLst/>
                          <a:latin typeface="+mn-lt"/>
                          <a:ea typeface="+mn-ea"/>
                          <a:cs typeface="+mn-cs"/>
                        </a:rPr>
                        <a:t>. This service abstracts most of the fine-tuning process, requiring you only to provide a dataset for training and evaluation. After your model has been fine-tuned, you can download the fine-tuned model and run it on your own hardware or infrastructure</a:t>
                      </a:r>
                      <a:endParaRPr lang="en-US" sz="2400" dirty="0"/>
                    </a:p>
                  </a:txBody>
                  <a:tcPr/>
                </a:tc>
                <a:extLst>
                  <a:ext uri="{0D108BD9-81ED-4DB2-BD59-A6C34878D82A}">
                    <a16:rowId xmlns:a16="http://schemas.microsoft.com/office/drawing/2014/main" val="56375859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i="0" kern="1200" dirty="0" err="1">
                          <a:solidFill>
                            <a:schemeClr val="dk1"/>
                          </a:solidFill>
                          <a:effectLst/>
                          <a:latin typeface="+mn-lt"/>
                          <a:ea typeface="+mn-ea"/>
                          <a:cs typeface="+mn-cs"/>
                        </a:rPr>
                        <a:t>PyTorch</a:t>
                      </a:r>
                      <a:r>
                        <a:rPr lang="en-US" sz="2400" b="1" i="0" kern="1200" dirty="0">
                          <a:solidFill>
                            <a:schemeClr val="dk1"/>
                          </a:solidFill>
                          <a:effectLst/>
                          <a:latin typeface="+mn-lt"/>
                          <a:ea typeface="+mn-ea"/>
                          <a:cs typeface="+mn-cs"/>
                        </a:rPr>
                        <a:t> </a:t>
                      </a:r>
                      <a:r>
                        <a:rPr lang="en-US" sz="2400" b="1" i="0" kern="1200" dirty="0" err="1">
                          <a:solidFill>
                            <a:schemeClr val="dk1"/>
                          </a:solidFill>
                          <a:effectLst/>
                          <a:latin typeface="+mn-lt"/>
                          <a:ea typeface="+mn-ea"/>
                          <a:cs typeface="+mn-cs"/>
                        </a:rPr>
                        <a:t>torchtune</a:t>
                      </a:r>
                      <a:endParaRPr lang="en-US" sz="2400" b="1" i="0" kern="1200" dirty="0">
                        <a:solidFill>
                          <a:schemeClr val="dk1"/>
                        </a:solidFill>
                        <a:effectLst/>
                        <a:latin typeface="+mn-lt"/>
                        <a:ea typeface="+mn-ea"/>
                        <a:cs typeface="+mn-cs"/>
                      </a:endParaRPr>
                    </a:p>
                    <a:p>
                      <a:endParaRPr lang="en-US" sz="2400" dirty="0"/>
                    </a:p>
                  </a:txBody>
                  <a:tcPr/>
                </a:tc>
                <a:tc>
                  <a:txBody>
                    <a:bodyPr/>
                    <a:lstStyle/>
                    <a:p>
                      <a:r>
                        <a:rPr lang="en-US" sz="2400" b="0" i="0" kern="1200" dirty="0" err="1">
                          <a:solidFill>
                            <a:schemeClr val="dk1"/>
                          </a:solidFill>
                          <a:effectLst/>
                          <a:latin typeface="+mn-lt"/>
                          <a:ea typeface="+mn-ea"/>
                          <a:cs typeface="+mn-cs"/>
                        </a:rPr>
                        <a:t>PyTorch's</a:t>
                      </a:r>
                      <a:r>
                        <a:rPr lang="en-US" sz="2400" b="0" i="0" kern="1200" dirty="0">
                          <a:solidFill>
                            <a:schemeClr val="dk1"/>
                          </a:solidFill>
                          <a:effectLst/>
                          <a:latin typeface="+mn-lt"/>
                          <a:ea typeface="+mn-ea"/>
                          <a:cs typeface="+mn-cs"/>
                        </a:rPr>
                        <a:t> </a:t>
                      </a:r>
                      <a:r>
                        <a:rPr lang="en-US" sz="2400" b="0" i="0" u="none" strike="noStrike" kern="1200" dirty="0" err="1">
                          <a:solidFill>
                            <a:schemeClr val="dk1"/>
                          </a:solidFill>
                          <a:effectLst/>
                          <a:latin typeface="+mn-lt"/>
                          <a:ea typeface="+mn-ea"/>
                          <a:cs typeface="+mn-cs"/>
                          <a:hlinkClick r:id="rId3"/>
                        </a:rPr>
                        <a:t>torchtune</a:t>
                      </a:r>
                      <a:r>
                        <a:rPr lang="en-US" sz="2400" b="0" i="0" u="none" strike="noStrike" kern="1200" dirty="0">
                          <a:solidFill>
                            <a:schemeClr val="dk1"/>
                          </a:solidFill>
                          <a:effectLst/>
                          <a:latin typeface="+mn-lt"/>
                          <a:ea typeface="+mn-ea"/>
                          <a:cs typeface="+mn-cs"/>
                          <a:hlinkClick r:id="rId3"/>
                        </a:rPr>
                        <a:t> library</a:t>
                      </a:r>
                      <a:r>
                        <a:rPr lang="en-US" sz="2400" b="0" i="0" kern="1200" dirty="0">
                          <a:solidFill>
                            <a:schemeClr val="dk1"/>
                          </a:solidFill>
                          <a:effectLst/>
                          <a:latin typeface="+mn-lt"/>
                          <a:ea typeface="+mn-ea"/>
                          <a:cs typeface="+mn-cs"/>
                        </a:rPr>
                        <a:t> provides first-party support for a wide variety of fine-tuning methods, including full fine-tuning, PEFT methods like </a:t>
                      </a:r>
                      <a:r>
                        <a:rPr lang="en-US" sz="2400" b="0" i="0" kern="1200" dirty="0" err="1">
                          <a:solidFill>
                            <a:schemeClr val="dk1"/>
                          </a:solidFill>
                          <a:effectLst/>
                          <a:latin typeface="+mn-lt"/>
                          <a:ea typeface="+mn-ea"/>
                          <a:cs typeface="+mn-cs"/>
                        </a:rPr>
                        <a:t>LoRA</a:t>
                      </a:r>
                      <a:r>
                        <a:rPr lang="en-US" sz="2400" b="0" i="0" kern="1200" dirty="0">
                          <a:solidFill>
                            <a:schemeClr val="dk1"/>
                          </a:solidFill>
                          <a:effectLst/>
                          <a:latin typeface="+mn-lt"/>
                          <a:ea typeface="+mn-ea"/>
                          <a:cs typeface="+mn-cs"/>
                        </a:rPr>
                        <a:t> and </a:t>
                      </a:r>
                      <a:r>
                        <a:rPr lang="en-US" sz="2400" b="0" i="0" kern="1200" dirty="0" err="1">
                          <a:solidFill>
                            <a:schemeClr val="dk1"/>
                          </a:solidFill>
                          <a:effectLst/>
                          <a:latin typeface="+mn-lt"/>
                          <a:ea typeface="+mn-ea"/>
                          <a:cs typeface="+mn-cs"/>
                        </a:rPr>
                        <a:t>QLoRA</a:t>
                      </a:r>
                      <a:r>
                        <a:rPr lang="en-US" sz="2400" b="0" i="0" kern="1200" dirty="0">
                          <a:solidFill>
                            <a:schemeClr val="dk1"/>
                          </a:solidFill>
                          <a:effectLst/>
                          <a:latin typeface="+mn-lt"/>
                          <a:ea typeface="+mn-ea"/>
                          <a:cs typeface="+mn-cs"/>
                        </a:rPr>
                        <a:t>, and reinforcement learning methods like RLHF and RLVR. It also includes out-of-the-box support for the most popular open source models, including Llama.</a:t>
                      </a:r>
                      <a:endParaRPr lang="en-US" sz="2400" dirty="0"/>
                    </a:p>
                  </a:txBody>
                  <a:tcPr/>
                </a:tc>
                <a:extLst>
                  <a:ext uri="{0D108BD9-81ED-4DB2-BD59-A6C34878D82A}">
                    <a16:rowId xmlns:a16="http://schemas.microsoft.com/office/drawing/2014/main" val="1332776767"/>
                  </a:ext>
                </a:extLst>
              </a:tr>
            </a:tbl>
          </a:graphicData>
        </a:graphic>
      </p:graphicFrame>
    </p:spTree>
    <p:extLst>
      <p:ext uri="{BB962C8B-B14F-4D97-AF65-F5344CB8AC3E}">
        <p14:creationId xmlns:p14="http://schemas.microsoft.com/office/powerpoint/2010/main" val="285849817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AAACF-E7EA-B87A-B1C0-7371CA6CAB02}"/>
              </a:ext>
            </a:extLst>
          </p:cNvPr>
          <p:cNvSpPr>
            <a:spLocks noGrp="1"/>
          </p:cNvSpPr>
          <p:nvPr>
            <p:ph type="title"/>
          </p:nvPr>
        </p:nvSpPr>
        <p:spPr>
          <a:xfrm>
            <a:off x="457200" y="434053"/>
            <a:ext cx="10096500" cy="1150907"/>
          </a:xfrm>
        </p:spPr>
        <p:txBody>
          <a:bodyPr/>
          <a:lstStyle/>
          <a:p>
            <a:r>
              <a:rPr lang="en-US" dirty="0">
                <a:hlinkClick r:id="rId2"/>
              </a:rPr>
              <a:t>E</a:t>
            </a:r>
            <a:r>
              <a:rPr lang="en-US" b="0" dirty="0">
                <a:effectLst/>
                <a:hlinkClick r:id="rId2"/>
              </a:rPr>
              <a:t>nd-to-End fine-tuning lifecycle</a:t>
            </a:r>
            <a:endParaRPr lang="en-US" dirty="0"/>
          </a:p>
        </p:txBody>
      </p:sp>
      <p:sp>
        <p:nvSpPr>
          <p:cNvPr id="3" name="Content Placeholder 2">
            <a:extLst>
              <a:ext uri="{FF2B5EF4-FFF2-40B4-BE49-F238E27FC236}">
                <a16:creationId xmlns:a16="http://schemas.microsoft.com/office/drawing/2014/main" id="{3E1D7022-A0DC-D5DF-1692-0084AA01B7D3}"/>
              </a:ext>
            </a:extLst>
          </p:cNvPr>
          <p:cNvSpPr>
            <a:spLocks noGrp="1"/>
          </p:cNvSpPr>
          <p:nvPr>
            <p:ph idx="1"/>
          </p:nvPr>
        </p:nvSpPr>
        <p:spPr>
          <a:xfrm>
            <a:off x="457200" y="1405890"/>
            <a:ext cx="11510010" cy="5120640"/>
          </a:xfrm>
        </p:spPr>
        <p:txBody>
          <a:bodyPr>
            <a:noAutofit/>
          </a:bodyPr>
          <a:lstStyle/>
          <a:p>
            <a:r>
              <a:rPr lang="en-US" sz="2800" dirty="0"/>
              <a:t>Downloading model checkpoints and datasets</a:t>
            </a:r>
          </a:p>
          <a:p>
            <a:r>
              <a:rPr lang="en-US" sz="2800" dirty="0"/>
              <a:t>Training recipes for </a:t>
            </a:r>
            <a:r>
              <a:rPr lang="en-US" sz="2800" dirty="0">
                <a:hlinkClick r:id="rId3"/>
              </a:rPr>
              <a:t>fine-tuning Llama3</a:t>
            </a:r>
            <a:r>
              <a:rPr lang="en-US" sz="2800" dirty="0"/>
              <a:t> using full fine-tuning, </a:t>
            </a:r>
            <a:r>
              <a:rPr lang="en-US" sz="2800" dirty="0" err="1"/>
              <a:t>LoRA</a:t>
            </a:r>
            <a:r>
              <a:rPr lang="en-US" sz="2800" dirty="0"/>
              <a:t>, and </a:t>
            </a:r>
            <a:r>
              <a:rPr lang="en-US" sz="2800" dirty="0" err="1"/>
              <a:t>QLoRA</a:t>
            </a:r>
            <a:endParaRPr lang="en-US" sz="2800" dirty="0"/>
          </a:p>
          <a:p>
            <a:r>
              <a:rPr lang="en-US" sz="2800" dirty="0"/>
              <a:t>Support for single-GPU fine-tuning capable of running on consumer-grade GPUs with24GB of VRAM</a:t>
            </a:r>
          </a:p>
          <a:p>
            <a:r>
              <a:rPr lang="en-US" sz="2800" dirty="0"/>
              <a:t>Scaling fine-tuning to multiple GPUs using </a:t>
            </a:r>
            <a:r>
              <a:rPr lang="en-US" sz="2800" dirty="0" err="1"/>
              <a:t>PyTorch</a:t>
            </a:r>
            <a:r>
              <a:rPr lang="en-US" sz="2800" dirty="0"/>
              <a:t> FSDP</a:t>
            </a:r>
          </a:p>
          <a:p>
            <a:r>
              <a:rPr lang="en-US" sz="2800" dirty="0"/>
              <a:t>Log metrics and model checkpoints during training using Weights &amp; Biases</a:t>
            </a:r>
          </a:p>
          <a:p>
            <a:r>
              <a:rPr lang="en-US" sz="2800" dirty="0"/>
              <a:t>Evaluation of fine-tuned models using </a:t>
            </a:r>
            <a:r>
              <a:rPr lang="en-US" sz="2800" dirty="0" err="1"/>
              <a:t>EleutherAI’s</a:t>
            </a:r>
            <a:r>
              <a:rPr lang="en-US" sz="2800" dirty="0"/>
              <a:t> LM Evaluation Harness</a:t>
            </a:r>
          </a:p>
          <a:p>
            <a:r>
              <a:rPr lang="en-US" sz="2800" dirty="0"/>
              <a:t>Post-training quantization of fine-tuned models via </a:t>
            </a:r>
            <a:r>
              <a:rPr lang="en-US" sz="2800" dirty="0" err="1"/>
              <a:t>TorchAO</a:t>
            </a:r>
            <a:endParaRPr lang="en-US" sz="2800" dirty="0"/>
          </a:p>
          <a:p>
            <a:r>
              <a:rPr lang="en-US" sz="2800" dirty="0"/>
              <a:t>Interoperability with inference engines including </a:t>
            </a:r>
            <a:r>
              <a:rPr lang="en-US" sz="2800" dirty="0" err="1"/>
              <a:t>ExecuTorch</a:t>
            </a:r>
            <a:endParaRPr lang="en-US" sz="2800" dirty="0"/>
          </a:p>
          <a:p>
            <a:endParaRPr lang="en-US" sz="2800" dirty="0"/>
          </a:p>
        </p:txBody>
      </p:sp>
    </p:spTree>
    <p:extLst>
      <p:ext uri="{BB962C8B-B14F-4D97-AF65-F5344CB8AC3E}">
        <p14:creationId xmlns:p14="http://schemas.microsoft.com/office/powerpoint/2010/main" val="382989835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DF1BE-5F8E-B928-B5CB-B1D8F6EE347F}"/>
              </a:ext>
            </a:extLst>
          </p:cNvPr>
          <p:cNvSpPr>
            <a:spLocks noGrp="1"/>
          </p:cNvSpPr>
          <p:nvPr>
            <p:ph type="title"/>
          </p:nvPr>
        </p:nvSpPr>
        <p:spPr/>
        <p:txBody>
          <a:bodyPr/>
          <a:lstStyle/>
          <a:p>
            <a:r>
              <a:rPr lang="en-US" dirty="0"/>
              <a:t>Fine tuning a model</a:t>
            </a:r>
          </a:p>
        </p:txBody>
      </p:sp>
      <p:sp>
        <p:nvSpPr>
          <p:cNvPr id="3" name="Content Placeholder 2">
            <a:extLst>
              <a:ext uri="{FF2B5EF4-FFF2-40B4-BE49-F238E27FC236}">
                <a16:creationId xmlns:a16="http://schemas.microsoft.com/office/drawing/2014/main" id="{8F8CB6DC-4C4D-F5E5-4239-8F9E32862F9A}"/>
              </a:ext>
            </a:extLst>
          </p:cNvPr>
          <p:cNvSpPr>
            <a:spLocks noGrp="1"/>
          </p:cNvSpPr>
          <p:nvPr>
            <p:ph idx="1"/>
          </p:nvPr>
        </p:nvSpPr>
        <p:spPr/>
        <p:txBody>
          <a:bodyPr>
            <a:normAutofit fontScale="92500" lnSpcReduction="10000"/>
          </a:bodyPr>
          <a:lstStyle/>
          <a:p>
            <a:pPr fontAlgn="base"/>
            <a:r>
              <a:rPr lang="en-US" b="1" dirty="0"/>
              <a:t>Select Base Model: </a:t>
            </a:r>
            <a:r>
              <a:rPr lang="en-US" dirty="0"/>
              <a:t>Choose a pre-trained model based on our task and compute budget.</a:t>
            </a:r>
          </a:p>
          <a:p>
            <a:pPr fontAlgn="base"/>
            <a:r>
              <a:rPr lang="en-US" b="1" dirty="0"/>
              <a:t>Choose Fine-Tuning Method:</a:t>
            </a:r>
            <a:r>
              <a:rPr lang="en-US" dirty="0"/>
              <a:t> Select the most appropriate method like </a:t>
            </a:r>
            <a:r>
              <a:rPr lang="en-US" b="1" u="sng" dirty="0">
                <a:hlinkClick r:id="rId2"/>
              </a:rPr>
              <a:t>I</a:t>
            </a:r>
            <a:r>
              <a:rPr lang="en-US" u="sng" dirty="0">
                <a:hlinkClick r:id="rId2"/>
              </a:rPr>
              <a:t>nstruction Fine-Tuning</a:t>
            </a:r>
            <a:r>
              <a:rPr lang="en-US" dirty="0"/>
              <a:t>, </a:t>
            </a:r>
            <a:r>
              <a:rPr lang="en-US" u="sng" dirty="0">
                <a:hlinkClick r:id="rId3"/>
              </a:rPr>
              <a:t>Supervised Fine-Tuning</a:t>
            </a:r>
            <a:r>
              <a:rPr lang="en-US" dirty="0"/>
              <a:t>, </a:t>
            </a:r>
            <a:r>
              <a:rPr lang="en-US" u="sng" dirty="0">
                <a:hlinkClick r:id="rId4"/>
              </a:rPr>
              <a:t>PEFT</a:t>
            </a:r>
            <a:r>
              <a:rPr lang="en-US" dirty="0"/>
              <a:t>, </a:t>
            </a:r>
            <a:r>
              <a:rPr lang="en-US" u="sng" dirty="0">
                <a:hlinkClick r:id="rId5"/>
              </a:rPr>
              <a:t>lora</a:t>
            </a:r>
            <a:r>
              <a:rPr lang="en-US" dirty="0"/>
              <a:t>, </a:t>
            </a:r>
            <a:r>
              <a:rPr lang="en-US" u="sng" dirty="0" err="1">
                <a:hlinkClick r:id="rId6"/>
              </a:rPr>
              <a:t>qlora</a:t>
            </a:r>
            <a:r>
              <a:rPr lang="en-US" dirty="0"/>
              <a:t>, </a:t>
            </a:r>
            <a:r>
              <a:rPr lang="en-US" dirty="0" err="1"/>
              <a:t>etc</a:t>
            </a:r>
            <a:r>
              <a:rPr lang="en-US" dirty="0"/>
              <a:t> based on the task and dataset.</a:t>
            </a:r>
          </a:p>
          <a:p>
            <a:pPr fontAlgn="base"/>
            <a:r>
              <a:rPr lang="en-US" b="1" dirty="0"/>
              <a:t>Prepare Dataset:</a:t>
            </a:r>
            <a:r>
              <a:rPr lang="en-US" dirty="0"/>
              <a:t> Structure our data for task-specific training, ensuring the format matches the model's requirements.</a:t>
            </a:r>
          </a:p>
          <a:p>
            <a:pPr fontAlgn="base"/>
            <a:r>
              <a:rPr lang="en-US" b="1" dirty="0"/>
              <a:t>Training: </a:t>
            </a:r>
            <a:r>
              <a:rPr lang="en-US" dirty="0"/>
              <a:t>Use frameworks like TensorFlow, </a:t>
            </a:r>
            <a:r>
              <a:rPr lang="en-US" dirty="0" err="1"/>
              <a:t>PyTorch</a:t>
            </a:r>
            <a:r>
              <a:rPr lang="en-US" dirty="0"/>
              <a:t> or high-level libraries like </a:t>
            </a:r>
            <a:r>
              <a:rPr lang="en-US" u="sng" dirty="0">
                <a:hlinkClick r:id="rId7"/>
              </a:rPr>
              <a:t>Transformers</a:t>
            </a:r>
            <a:r>
              <a:rPr lang="en-US" dirty="0"/>
              <a:t> to fine-tune the model.</a:t>
            </a:r>
          </a:p>
          <a:p>
            <a:pPr fontAlgn="base"/>
            <a:r>
              <a:rPr lang="en-US" b="1" dirty="0"/>
              <a:t>Evaluate and Iterate:</a:t>
            </a:r>
            <a:r>
              <a:rPr lang="en-US" dirty="0"/>
              <a:t> Test the model, refine it as necessary and re-train to improve performance.</a:t>
            </a:r>
          </a:p>
          <a:p>
            <a:endParaRPr lang="en-US" dirty="0"/>
          </a:p>
        </p:txBody>
      </p:sp>
    </p:spTree>
    <p:extLst>
      <p:ext uri="{BB962C8B-B14F-4D97-AF65-F5344CB8AC3E}">
        <p14:creationId xmlns:p14="http://schemas.microsoft.com/office/powerpoint/2010/main" val="54055322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4EE1D-DD9A-C0D7-C735-07F5550FC142}"/>
              </a:ext>
            </a:extLst>
          </p:cNvPr>
          <p:cNvSpPr>
            <a:spLocks noGrp="1"/>
          </p:cNvSpPr>
          <p:nvPr>
            <p:ph type="title"/>
          </p:nvPr>
        </p:nvSpPr>
        <p:spPr>
          <a:xfrm>
            <a:off x="457200" y="285463"/>
            <a:ext cx="10096500" cy="1150907"/>
          </a:xfrm>
        </p:spPr>
        <p:txBody>
          <a:bodyPr/>
          <a:lstStyle/>
          <a:p>
            <a:r>
              <a:rPr lang="en-US" dirty="0">
                <a:effectLst/>
              </a:rPr>
              <a:t>Working of Fine-Tuning</a:t>
            </a:r>
            <a:endParaRPr lang="en-US" dirty="0"/>
          </a:p>
        </p:txBody>
      </p:sp>
      <p:sp>
        <p:nvSpPr>
          <p:cNvPr id="3" name="Content Placeholder 2">
            <a:extLst>
              <a:ext uri="{FF2B5EF4-FFF2-40B4-BE49-F238E27FC236}">
                <a16:creationId xmlns:a16="http://schemas.microsoft.com/office/drawing/2014/main" id="{F5A55E9D-704A-C1E7-3235-12E1557226E6}"/>
              </a:ext>
            </a:extLst>
          </p:cNvPr>
          <p:cNvSpPr>
            <a:spLocks noGrp="1"/>
          </p:cNvSpPr>
          <p:nvPr>
            <p:ph idx="1"/>
          </p:nvPr>
        </p:nvSpPr>
        <p:spPr>
          <a:xfrm>
            <a:off x="457200" y="1257300"/>
            <a:ext cx="11441430" cy="5029200"/>
          </a:xfrm>
        </p:spPr>
        <p:txBody>
          <a:bodyPr>
            <a:normAutofit fontScale="77500" lnSpcReduction="20000"/>
          </a:bodyPr>
          <a:lstStyle/>
          <a:p>
            <a:pPr fontAlgn="base"/>
            <a:r>
              <a:rPr lang="en-US" b="1" dirty="0"/>
              <a:t>Select a Pre-Trained Model: </a:t>
            </a:r>
            <a:r>
              <a:rPr lang="en-US" dirty="0"/>
              <a:t>which has been trained on a large, diverse dataset. Popular pre-trained models includes </a:t>
            </a:r>
            <a:r>
              <a:rPr lang="en-US" u="sng" dirty="0">
                <a:hlinkClick r:id="rId2">
                  <a:extLst>
                    <a:ext uri="{A12FA001-AC4F-418D-AE19-62706E023703}">
                      <ahyp:hlinkClr xmlns:ahyp="http://schemas.microsoft.com/office/drawing/2018/hyperlinkcolor" val="tx"/>
                    </a:ext>
                  </a:extLst>
                </a:hlinkClick>
              </a:rPr>
              <a:t>BERT</a:t>
            </a:r>
            <a:r>
              <a:rPr lang="en-US" dirty="0"/>
              <a:t> for NLP tasks, </a:t>
            </a:r>
            <a:r>
              <a:rPr lang="en-US" u="sng" dirty="0">
                <a:hlinkClick r:id="rId3">
                  <a:extLst>
                    <a:ext uri="{A12FA001-AC4F-418D-AE19-62706E023703}">
                      <ahyp:hlinkClr xmlns:ahyp="http://schemas.microsoft.com/office/drawing/2018/hyperlinkcolor" val="tx"/>
                    </a:ext>
                  </a:extLst>
                </a:hlinkClick>
              </a:rPr>
              <a:t>VGG</a:t>
            </a:r>
            <a:r>
              <a:rPr lang="en-US" dirty="0"/>
              <a:t> and </a:t>
            </a:r>
            <a:r>
              <a:rPr lang="en-US" u="sng" dirty="0" err="1">
                <a:hlinkClick r:id="rId4">
                  <a:extLst>
                    <a:ext uri="{A12FA001-AC4F-418D-AE19-62706E023703}">
                      <ahyp:hlinkClr xmlns:ahyp="http://schemas.microsoft.com/office/drawing/2018/hyperlinkcolor" val="tx"/>
                    </a:ext>
                  </a:extLst>
                </a:hlinkClick>
              </a:rPr>
              <a:t>ResNet</a:t>
            </a:r>
            <a:r>
              <a:rPr lang="en-US" dirty="0"/>
              <a:t> for image classification tasks and </a:t>
            </a:r>
            <a:r>
              <a:rPr lang="en-US" u="sng" dirty="0">
                <a:hlinkClick r:id="rId5">
                  <a:extLst>
                    <a:ext uri="{A12FA001-AC4F-418D-AE19-62706E023703}">
                      <ahyp:hlinkClr xmlns:ahyp="http://schemas.microsoft.com/office/drawing/2018/hyperlinkcolor" val="tx"/>
                    </a:ext>
                  </a:extLst>
                </a:hlinkClick>
              </a:rPr>
              <a:t>GPT</a:t>
            </a:r>
            <a:r>
              <a:rPr lang="en-US" dirty="0"/>
              <a:t> models for text generation.</a:t>
            </a:r>
          </a:p>
          <a:p>
            <a:pPr fontAlgn="base"/>
            <a:r>
              <a:rPr lang="en-US" b="1" dirty="0"/>
              <a:t>Freeze Initial Layers: </a:t>
            </a:r>
            <a:r>
              <a:rPr lang="en-US" dirty="0"/>
              <a:t>freeze the weights of the earlier layers in the model. These layers capture basic features like edges or textures in images or simple words in text. Freezing these layers reduces the computational load as only the later layers will be trained.</a:t>
            </a:r>
          </a:p>
          <a:p>
            <a:pPr fontAlgn="base"/>
            <a:r>
              <a:rPr lang="en-US" b="1" dirty="0"/>
              <a:t>Update Later Layers: </a:t>
            </a:r>
            <a:r>
              <a:rPr lang="en-US" dirty="0"/>
              <a:t>that specialize in more specific features. These layers are typically fine-tuned to adjust the weights based on the new task. For example if we're fine-tuning a language model for sentiment analysis then the final layers will adjust to classify the sentiment of the input text.</a:t>
            </a:r>
          </a:p>
          <a:p>
            <a:pPr fontAlgn="base"/>
            <a:r>
              <a:rPr lang="en-US" b="1" dirty="0"/>
              <a:t>Use a Smaller Learning Rate: </a:t>
            </a:r>
            <a:r>
              <a:rPr lang="en-US" dirty="0"/>
              <a:t>A key principle in fine-tuning is using a smaller learning rate compared to training from scratch. This ensures that the pre-trained weights are not drastically changed but are adjusted just enough to perform well on the new task.</a:t>
            </a:r>
          </a:p>
          <a:p>
            <a:pPr fontAlgn="base"/>
            <a:r>
              <a:rPr lang="en-US" b="1" dirty="0"/>
              <a:t>Evaluate and Refine: </a:t>
            </a:r>
            <a:r>
              <a:rPr lang="en-US" dirty="0"/>
              <a:t>After training it's important to evaluate the performance of the fine-tuned model on the specific task. Based on the evaluation we may continue to adjust the learning rate, fine-tune more layers or apply other modifications until the model performs optimally.</a:t>
            </a:r>
          </a:p>
          <a:p>
            <a:endParaRPr lang="en-US" dirty="0"/>
          </a:p>
        </p:txBody>
      </p:sp>
    </p:spTree>
    <p:extLst>
      <p:ext uri="{BB962C8B-B14F-4D97-AF65-F5344CB8AC3E}">
        <p14:creationId xmlns:p14="http://schemas.microsoft.com/office/powerpoint/2010/main" val="229508416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0E89E-BF61-C592-6AE7-AE44E91EEC62}"/>
              </a:ext>
            </a:extLst>
          </p:cNvPr>
          <p:cNvSpPr>
            <a:spLocks noGrp="1"/>
          </p:cNvSpPr>
          <p:nvPr>
            <p:ph type="title"/>
          </p:nvPr>
        </p:nvSpPr>
        <p:spPr/>
        <p:txBody>
          <a:bodyPr>
            <a:normAutofit/>
          </a:bodyPr>
          <a:lstStyle/>
          <a:p>
            <a:r>
              <a:rPr lang="en-US" dirty="0">
                <a:effectLst/>
              </a:rPr>
              <a:t>Implementing Fine Tuning Large Language Model using </a:t>
            </a:r>
            <a:r>
              <a:rPr lang="en-US" dirty="0" err="1">
                <a:effectLst/>
              </a:rPr>
              <a:t>DialogSum</a:t>
            </a:r>
            <a:r>
              <a:rPr lang="en-US" dirty="0">
                <a:effectLst/>
              </a:rPr>
              <a:t> Database</a:t>
            </a:r>
            <a:endParaRPr lang="en-US" dirty="0"/>
          </a:p>
        </p:txBody>
      </p:sp>
      <p:sp>
        <p:nvSpPr>
          <p:cNvPr id="3" name="Content Placeholder 2">
            <a:extLst>
              <a:ext uri="{FF2B5EF4-FFF2-40B4-BE49-F238E27FC236}">
                <a16:creationId xmlns:a16="http://schemas.microsoft.com/office/drawing/2014/main" id="{6A5F90C4-63F0-7411-660B-B1D92ECF2EBE}"/>
              </a:ext>
            </a:extLst>
          </p:cNvPr>
          <p:cNvSpPr>
            <a:spLocks noGrp="1"/>
          </p:cNvSpPr>
          <p:nvPr>
            <p:ph idx="1"/>
          </p:nvPr>
        </p:nvSpPr>
        <p:spPr>
          <a:xfrm>
            <a:off x="457200" y="1825625"/>
            <a:ext cx="11087100" cy="3778006"/>
          </a:xfrm>
        </p:spPr>
        <p:txBody>
          <a:bodyPr/>
          <a:lstStyle/>
          <a:p>
            <a:pPr fontAlgn="base"/>
            <a:r>
              <a:rPr lang="en-US" sz="2800" dirty="0"/>
              <a:t>Let us fine tune a model using PEFT </a:t>
            </a:r>
            <a:r>
              <a:rPr lang="en-US" sz="2800" u="sng" dirty="0">
                <a:hlinkClick r:id="rId2"/>
              </a:rPr>
              <a:t>LoRa Method</a:t>
            </a:r>
            <a:r>
              <a:rPr lang="en-US" sz="2800" dirty="0"/>
              <a:t>. We will use flan-t5-base model and </a:t>
            </a:r>
            <a:r>
              <a:rPr lang="en-US" sz="2800" dirty="0" err="1"/>
              <a:t>DialogSum</a:t>
            </a:r>
            <a:r>
              <a:rPr lang="en-US" sz="2800" dirty="0"/>
              <a:t> database.</a:t>
            </a:r>
          </a:p>
          <a:p>
            <a:pPr fontAlgn="base"/>
            <a:r>
              <a:rPr lang="en-US" sz="2800" dirty="0"/>
              <a:t>Flan-T5 is the instruction fine-tuned version of T5 release by Google.</a:t>
            </a:r>
          </a:p>
          <a:p>
            <a:pPr fontAlgn="base"/>
            <a:r>
              <a:rPr lang="en-US" sz="2800" dirty="0" err="1"/>
              <a:t>DialogSum</a:t>
            </a:r>
            <a:r>
              <a:rPr lang="en-US" sz="2800" dirty="0"/>
              <a:t> is a large-scale dialogue summarization dataset, consisting of 13,460 (Plus 100 holdout data for topic generation) dialogues with corresponding manually labeled summaries and topics.</a:t>
            </a:r>
          </a:p>
          <a:p>
            <a:endParaRPr lang="en-US" dirty="0"/>
          </a:p>
        </p:txBody>
      </p:sp>
      <p:sp>
        <p:nvSpPr>
          <p:cNvPr id="5" name="TextBox 4">
            <a:extLst>
              <a:ext uri="{FF2B5EF4-FFF2-40B4-BE49-F238E27FC236}">
                <a16:creationId xmlns:a16="http://schemas.microsoft.com/office/drawing/2014/main" id="{6A570E36-AAD7-E7D8-3677-93694D4482BA}"/>
              </a:ext>
            </a:extLst>
          </p:cNvPr>
          <p:cNvSpPr txBox="1"/>
          <p:nvPr/>
        </p:nvSpPr>
        <p:spPr>
          <a:xfrm>
            <a:off x="545782" y="5415402"/>
            <a:ext cx="10808017" cy="369332"/>
          </a:xfrm>
          <a:prstGeom prst="rect">
            <a:avLst/>
          </a:prstGeom>
          <a:noFill/>
        </p:spPr>
        <p:txBody>
          <a:bodyPr wrap="square">
            <a:spAutoFit/>
          </a:bodyPr>
          <a:lstStyle/>
          <a:p>
            <a:r>
              <a:rPr lang="en-US" dirty="0"/>
              <a:t>Fine Tuning Large Language Model using </a:t>
            </a:r>
            <a:r>
              <a:rPr lang="en-US" dirty="0" err="1"/>
              <a:t>DialogSum</a:t>
            </a:r>
            <a:r>
              <a:rPr lang="en-US" dirty="0"/>
              <a:t> </a:t>
            </a:r>
            <a:r>
              <a:rPr lang="en-US" dirty="0" err="1"/>
              <a:t>Database.ipynb</a:t>
            </a:r>
            <a:endParaRPr lang="en-US" dirty="0"/>
          </a:p>
        </p:txBody>
      </p:sp>
    </p:spTree>
    <p:extLst>
      <p:ext uri="{BB962C8B-B14F-4D97-AF65-F5344CB8AC3E}">
        <p14:creationId xmlns:p14="http://schemas.microsoft.com/office/powerpoint/2010/main" val="166656093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0F906-4320-E7A0-0C08-8916B8CB4C2A}"/>
              </a:ext>
            </a:extLst>
          </p:cNvPr>
          <p:cNvSpPr>
            <a:spLocks noGrp="1"/>
          </p:cNvSpPr>
          <p:nvPr>
            <p:ph type="title"/>
          </p:nvPr>
        </p:nvSpPr>
        <p:spPr/>
        <p:txBody>
          <a:bodyPr/>
          <a:lstStyle/>
          <a:p>
            <a:r>
              <a:rPr lang="en-US" dirty="0">
                <a:effectLst/>
              </a:rPr>
              <a:t>Step 1: Install Necessary Libraries</a:t>
            </a:r>
            <a:br>
              <a:rPr lang="en-US" dirty="0">
                <a:effectLst/>
              </a:rPr>
            </a:br>
            <a:endParaRPr lang="en-US" dirty="0"/>
          </a:p>
        </p:txBody>
      </p:sp>
      <p:sp>
        <p:nvSpPr>
          <p:cNvPr id="3" name="Content Placeholder 2">
            <a:extLst>
              <a:ext uri="{FF2B5EF4-FFF2-40B4-BE49-F238E27FC236}">
                <a16:creationId xmlns:a16="http://schemas.microsoft.com/office/drawing/2014/main" id="{A4DABB87-482C-9A87-6B02-CBC8B6254AEF}"/>
              </a:ext>
            </a:extLst>
          </p:cNvPr>
          <p:cNvSpPr>
            <a:spLocks noGrp="1"/>
          </p:cNvSpPr>
          <p:nvPr>
            <p:ph idx="1"/>
          </p:nvPr>
        </p:nvSpPr>
        <p:spPr/>
        <p:txBody>
          <a:bodyPr>
            <a:normAutofit fontScale="92500" lnSpcReduction="20000"/>
          </a:bodyPr>
          <a:lstStyle/>
          <a:p>
            <a:r>
              <a:rPr lang="en-US" dirty="0"/>
              <a:t>The following commands install the required libraries for the task, including Hugging Face Transformers, Datasets and PEFT (Parameter-Efficient Fine-Tuning). These libraries enable model loading, training and fine-tuning.</a:t>
            </a:r>
          </a:p>
          <a:p>
            <a:endParaRPr lang="en-US" dirty="0"/>
          </a:p>
          <a:p>
            <a:pPr marL="0" indent="0">
              <a:buNone/>
            </a:pPr>
            <a:r>
              <a:rPr lang="en-US" dirty="0"/>
              <a:t>!pip install datasets</a:t>
            </a:r>
          </a:p>
          <a:p>
            <a:pPr marL="0" indent="0">
              <a:buNone/>
            </a:pPr>
            <a:r>
              <a:rPr lang="en-US" dirty="0"/>
              <a:t>!pip install transformers</a:t>
            </a:r>
          </a:p>
          <a:p>
            <a:pPr marL="0" indent="0">
              <a:buNone/>
            </a:pPr>
            <a:r>
              <a:rPr lang="en-US" dirty="0"/>
              <a:t>!pip install evaluate</a:t>
            </a:r>
          </a:p>
          <a:p>
            <a:pPr marL="0" indent="0">
              <a:buNone/>
            </a:pPr>
            <a:r>
              <a:rPr lang="en-US" dirty="0"/>
              <a:t>!pip install accelerate - U</a:t>
            </a:r>
          </a:p>
          <a:p>
            <a:pPr marL="0" indent="0">
              <a:buNone/>
            </a:pPr>
            <a:r>
              <a:rPr lang="en-US" dirty="0"/>
              <a:t>!pip install transformers[torch]</a:t>
            </a:r>
          </a:p>
          <a:p>
            <a:pPr marL="0" indent="0">
              <a:buNone/>
            </a:pPr>
            <a:r>
              <a:rPr lang="en-US" dirty="0"/>
              <a:t>!pip install </a:t>
            </a:r>
            <a:r>
              <a:rPr lang="en-US" dirty="0" err="1"/>
              <a:t>peft</a:t>
            </a:r>
            <a:endParaRPr lang="en-US" dirty="0"/>
          </a:p>
        </p:txBody>
      </p:sp>
    </p:spTree>
    <p:extLst>
      <p:ext uri="{BB962C8B-B14F-4D97-AF65-F5344CB8AC3E}">
        <p14:creationId xmlns:p14="http://schemas.microsoft.com/office/powerpoint/2010/main" val="195732707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920A0-CEB9-8E25-4FDF-706085743179}"/>
              </a:ext>
            </a:extLst>
          </p:cNvPr>
          <p:cNvSpPr>
            <a:spLocks noGrp="1"/>
          </p:cNvSpPr>
          <p:nvPr>
            <p:ph type="title"/>
          </p:nvPr>
        </p:nvSpPr>
        <p:spPr/>
        <p:txBody>
          <a:bodyPr/>
          <a:lstStyle/>
          <a:p>
            <a:r>
              <a:rPr lang="en-US" dirty="0">
                <a:effectLst/>
              </a:rPr>
              <a:t>Step 2: Set Up Environment</a:t>
            </a:r>
            <a:br>
              <a:rPr lang="en-US" dirty="0">
                <a:effectLst/>
              </a:rPr>
            </a:br>
            <a:endParaRPr lang="en-US" dirty="0"/>
          </a:p>
        </p:txBody>
      </p:sp>
      <p:sp>
        <p:nvSpPr>
          <p:cNvPr id="3" name="Content Placeholder 2">
            <a:extLst>
              <a:ext uri="{FF2B5EF4-FFF2-40B4-BE49-F238E27FC236}">
                <a16:creationId xmlns:a16="http://schemas.microsoft.com/office/drawing/2014/main" id="{657C9784-8713-CE45-44E1-50F9444945B5}"/>
              </a:ext>
            </a:extLst>
          </p:cNvPr>
          <p:cNvSpPr>
            <a:spLocks noGrp="1"/>
          </p:cNvSpPr>
          <p:nvPr>
            <p:ph idx="1"/>
          </p:nvPr>
        </p:nvSpPr>
        <p:spPr>
          <a:xfrm>
            <a:off x="457200" y="1668780"/>
            <a:ext cx="10096500" cy="4377689"/>
          </a:xfrm>
        </p:spPr>
        <p:txBody>
          <a:bodyPr>
            <a:normAutofit fontScale="85000" lnSpcReduction="20000"/>
          </a:bodyPr>
          <a:lstStyle/>
          <a:p>
            <a:r>
              <a:rPr lang="en-US" dirty="0"/>
              <a:t>Configure the device for computation, using GPU if available. Import all necessary libraries for dataset handling, model loading, tokenization and evaluation.</a:t>
            </a:r>
          </a:p>
          <a:p>
            <a:pPr marL="0" indent="0">
              <a:buNone/>
            </a:pPr>
            <a:r>
              <a:rPr lang="en-US" dirty="0"/>
              <a:t>import torch</a:t>
            </a:r>
          </a:p>
          <a:p>
            <a:pPr marL="0" indent="0">
              <a:buNone/>
            </a:pPr>
            <a:r>
              <a:rPr lang="en-US" dirty="0"/>
              <a:t>device = '</a:t>
            </a:r>
            <a:r>
              <a:rPr lang="en-US" dirty="0" err="1"/>
              <a:t>cuda</a:t>
            </a:r>
            <a:r>
              <a:rPr lang="en-US" dirty="0"/>
              <a:t>' if </a:t>
            </a:r>
            <a:r>
              <a:rPr lang="en-US" dirty="0" err="1"/>
              <a:t>torch.cuda.is_available</a:t>
            </a:r>
            <a:r>
              <a:rPr lang="en-US" dirty="0"/>
              <a:t>() else '</a:t>
            </a:r>
            <a:r>
              <a:rPr lang="en-US" dirty="0" err="1"/>
              <a:t>cpu</a:t>
            </a:r>
            <a:r>
              <a:rPr lang="en-US" dirty="0"/>
              <a:t>'</a:t>
            </a:r>
          </a:p>
          <a:p>
            <a:pPr marL="0" indent="0">
              <a:buNone/>
            </a:pPr>
            <a:endParaRPr lang="en-US" dirty="0"/>
          </a:p>
          <a:p>
            <a:pPr marL="0" indent="0">
              <a:buNone/>
            </a:pPr>
            <a:r>
              <a:rPr lang="en-US" dirty="0"/>
              <a:t>from datasets import </a:t>
            </a:r>
            <a:r>
              <a:rPr lang="en-US" dirty="0" err="1"/>
              <a:t>load_dataset</a:t>
            </a:r>
            <a:endParaRPr lang="en-US" dirty="0"/>
          </a:p>
          <a:p>
            <a:pPr marL="0" indent="0">
              <a:buNone/>
            </a:pPr>
            <a:r>
              <a:rPr lang="en-US" dirty="0"/>
              <a:t>from transformers import AutoModelForSeq2SeqLM, </a:t>
            </a:r>
            <a:r>
              <a:rPr lang="en-US" dirty="0" err="1"/>
              <a:t>AutoTokenizer</a:t>
            </a:r>
            <a:r>
              <a:rPr lang="en-US" dirty="0"/>
              <a:t>, </a:t>
            </a:r>
            <a:r>
              <a:rPr lang="en-US" dirty="0" err="1"/>
              <a:t>TrainingArguments</a:t>
            </a:r>
            <a:r>
              <a:rPr lang="en-US" dirty="0"/>
              <a:t>, Trainer, </a:t>
            </a:r>
            <a:r>
              <a:rPr lang="en-US" dirty="0" err="1"/>
              <a:t>GenerationConfig</a:t>
            </a:r>
            <a:endParaRPr lang="en-US" dirty="0"/>
          </a:p>
          <a:p>
            <a:pPr marL="0" indent="0">
              <a:buNone/>
            </a:pPr>
            <a:r>
              <a:rPr lang="en-US" dirty="0"/>
              <a:t>import evaluate</a:t>
            </a:r>
          </a:p>
          <a:p>
            <a:pPr marL="0" indent="0">
              <a:buNone/>
            </a:pPr>
            <a:r>
              <a:rPr lang="en-US" dirty="0"/>
              <a:t>import pandas as pd</a:t>
            </a:r>
          </a:p>
          <a:p>
            <a:pPr marL="0" indent="0">
              <a:buNone/>
            </a:pPr>
            <a:r>
              <a:rPr lang="en-US" dirty="0"/>
              <a:t>import </a:t>
            </a:r>
            <a:r>
              <a:rPr lang="en-US" dirty="0" err="1"/>
              <a:t>numpy</a:t>
            </a:r>
            <a:r>
              <a:rPr lang="en-US" dirty="0"/>
              <a:t> as np</a:t>
            </a:r>
          </a:p>
        </p:txBody>
      </p:sp>
    </p:spTree>
    <p:extLst>
      <p:ext uri="{BB962C8B-B14F-4D97-AF65-F5344CB8AC3E}">
        <p14:creationId xmlns:p14="http://schemas.microsoft.com/office/powerpoint/2010/main" val="173769527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C7157-80C1-4F2B-63ED-91CB23D49321}"/>
              </a:ext>
            </a:extLst>
          </p:cNvPr>
          <p:cNvSpPr>
            <a:spLocks noGrp="1"/>
          </p:cNvSpPr>
          <p:nvPr>
            <p:ph type="title"/>
          </p:nvPr>
        </p:nvSpPr>
        <p:spPr/>
        <p:txBody>
          <a:bodyPr/>
          <a:lstStyle/>
          <a:p>
            <a:r>
              <a:rPr lang="en-US" dirty="0">
                <a:effectLst/>
              </a:rPr>
              <a:t>Step 3: Load Dataset</a:t>
            </a:r>
            <a:br>
              <a:rPr lang="en-US" dirty="0">
                <a:effectLst/>
              </a:rPr>
            </a:br>
            <a:endParaRPr lang="en-US" dirty="0"/>
          </a:p>
        </p:txBody>
      </p:sp>
      <p:sp>
        <p:nvSpPr>
          <p:cNvPr id="3" name="Content Placeholder 2">
            <a:extLst>
              <a:ext uri="{FF2B5EF4-FFF2-40B4-BE49-F238E27FC236}">
                <a16:creationId xmlns:a16="http://schemas.microsoft.com/office/drawing/2014/main" id="{D9853DD8-D67D-EDCC-20E1-0E7F1469979A}"/>
              </a:ext>
            </a:extLst>
          </p:cNvPr>
          <p:cNvSpPr>
            <a:spLocks noGrp="1"/>
          </p:cNvSpPr>
          <p:nvPr>
            <p:ph idx="1"/>
          </p:nvPr>
        </p:nvSpPr>
        <p:spPr/>
        <p:txBody>
          <a:bodyPr/>
          <a:lstStyle/>
          <a:p>
            <a:r>
              <a:rPr lang="en-US" dirty="0"/>
              <a:t>Load the Hugging Face dataset for dialogue summarization. In this example, we use the "</a:t>
            </a:r>
            <a:r>
              <a:rPr lang="en-US" dirty="0" err="1"/>
              <a:t>knkarthick</a:t>
            </a:r>
            <a:r>
              <a:rPr lang="en-US" dirty="0"/>
              <a:t>/</a:t>
            </a:r>
            <a:r>
              <a:rPr lang="en-US" dirty="0" err="1"/>
              <a:t>dialogsum</a:t>
            </a:r>
            <a:r>
              <a:rPr lang="en-US" dirty="0"/>
              <a:t>" dataset.</a:t>
            </a:r>
          </a:p>
          <a:p>
            <a:pPr marL="0" indent="0">
              <a:buNone/>
            </a:pPr>
            <a:endParaRPr lang="en-US" dirty="0"/>
          </a:p>
          <a:p>
            <a:pPr marL="0" indent="0">
              <a:buNone/>
            </a:pPr>
            <a:r>
              <a:rPr lang="en-US" dirty="0" err="1"/>
              <a:t>huggingface_dataset_name</a:t>
            </a:r>
            <a:r>
              <a:rPr lang="en-US" dirty="0"/>
              <a:t> = "</a:t>
            </a:r>
            <a:r>
              <a:rPr lang="en-US" dirty="0" err="1"/>
              <a:t>knkarthick</a:t>
            </a:r>
            <a:r>
              <a:rPr lang="en-US" dirty="0"/>
              <a:t>/</a:t>
            </a:r>
            <a:r>
              <a:rPr lang="en-US" dirty="0" err="1"/>
              <a:t>dialogsum</a:t>
            </a:r>
            <a:r>
              <a:rPr lang="en-US" dirty="0"/>
              <a:t>"</a:t>
            </a:r>
          </a:p>
          <a:p>
            <a:pPr marL="0" indent="0">
              <a:buNone/>
            </a:pPr>
            <a:r>
              <a:rPr lang="en-US" dirty="0"/>
              <a:t>dataset = </a:t>
            </a:r>
            <a:r>
              <a:rPr lang="en-US" dirty="0" err="1"/>
              <a:t>load_dataset</a:t>
            </a:r>
            <a:r>
              <a:rPr lang="en-US" dirty="0"/>
              <a:t>(</a:t>
            </a:r>
            <a:r>
              <a:rPr lang="en-US" dirty="0" err="1"/>
              <a:t>huggingface_dataset_name</a:t>
            </a:r>
            <a:r>
              <a:rPr lang="en-US" dirty="0"/>
              <a:t>)</a:t>
            </a:r>
          </a:p>
        </p:txBody>
      </p:sp>
    </p:spTree>
    <p:extLst>
      <p:ext uri="{BB962C8B-B14F-4D97-AF65-F5344CB8AC3E}">
        <p14:creationId xmlns:p14="http://schemas.microsoft.com/office/powerpoint/2010/main" val="321062955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44F52-E8BB-6CB2-E8CE-5620BA7206C9}"/>
              </a:ext>
            </a:extLst>
          </p:cNvPr>
          <p:cNvSpPr>
            <a:spLocks noGrp="1"/>
          </p:cNvSpPr>
          <p:nvPr>
            <p:ph type="title"/>
          </p:nvPr>
        </p:nvSpPr>
        <p:spPr/>
        <p:txBody>
          <a:bodyPr/>
          <a:lstStyle/>
          <a:p>
            <a:r>
              <a:rPr lang="en-US" dirty="0">
                <a:effectLst/>
              </a:rPr>
              <a:t>Step 4: Load Pre-trained Model and Tokenizer</a:t>
            </a:r>
            <a:br>
              <a:rPr lang="en-US" dirty="0">
                <a:effectLst/>
              </a:rPr>
            </a:br>
            <a:endParaRPr lang="en-US" dirty="0"/>
          </a:p>
        </p:txBody>
      </p:sp>
      <p:sp>
        <p:nvSpPr>
          <p:cNvPr id="3" name="Content Placeholder 2">
            <a:extLst>
              <a:ext uri="{FF2B5EF4-FFF2-40B4-BE49-F238E27FC236}">
                <a16:creationId xmlns:a16="http://schemas.microsoft.com/office/drawing/2014/main" id="{A261F07F-CCD4-6FB5-B56C-484DA23B5CC0}"/>
              </a:ext>
            </a:extLst>
          </p:cNvPr>
          <p:cNvSpPr>
            <a:spLocks noGrp="1"/>
          </p:cNvSpPr>
          <p:nvPr>
            <p:ph idx="1"/>
          </p:nvPr>
        </p:nvSpPr>
        <p:spPr/>
        <p:txBody>
          <a:bodyPr/>
          <a:lstStyle/>
          <a:p>
            <a:r>
              <a:rPr lang="en-US" dirty="0"/>
              <a:t>Use a pre-trained T5 model (google/flan-t5-base) for sequence-to-sequence learning and initialize its tokenizer.</a:t>
            </a:r>
          </a:p>
          <a:p>
            <a:endParaRPr lang="en-US" dirty="0"/>
          </a:p>
          <a:p>
            <a:pPr marL="0" indent="0">
              <a:buNone/>
            </a:pPr>
            <a:r>
              <a:rPr lang="en-US" dirty="0" err="1"/>
              <a:t>model_name</a:t>
            </a:r>
            <a:r>
              <a:rPr lang="en-US" dirty="0"/>
              <a:t> = "google/flan-t5-base"</a:t>
            </a:r>
          </a:p>
          <a:p>
            <a:pPr marL="0" indent="0">
              <a:buNone/>
            </a:pPr>
            <a:r>
              <a:rPr lang="en-US" dirty="0" err="1"/>
              <a:t>base_model</a:t>
            </a:r>
            <a:r>
              <a:rPr lang="en-US" dirty="0"/>
              <a:t> = AutoModelForSeq2SeqLM.from_pretrained(</a:t>
            </a:r>
            <a:r>
              <a:rPr lang="en-US" dirty="0" err="1"/>
              <a:t>model_name</a:t>
            </a:r>
            <a:r>
              <a:rPr lang="en-US" dirty="0"/>
              <a:t>)</a:t>
            </a:r>
          </a:p>
          <a:p>
            <a:pPr marL="0" indent="0">
              <a:buNone/>
            </a:pPr>
            <a:r>
              <a:rPr lang="en-US" dirty="0"/>
              <a:t>tokenizer = </a:t>
            </a:r>
            <a:r>
              <a:rPr lang="en-US" dirty="0" err="1"/>
              <a:t>AutoTokenizer.from_pretrained</a:t>
            </a:r>
            <a:r>
              <a:rPr lang="en-US" dirty="0"/>
              <a:t>(</a:t>
            </a:r>
            <a:r>
              <a:rPr lang="en-US" dirty="0" err="1"/>
              <a:t>model_name</a:t>
            </a:r>
            <a:r>
              <a:rPr lang="en-US" dirty="0"/>
              <a:t>)</a:t>
            </a:r>
          </a:p>
        </p:txBody>
      </p:sp>
    </p:spTree>
    <p:extLst>
      <p:ext uri="{BB962C8B-B14F-4D97-AF65-F5344CB8AC3E}">
        <p14:creationId xmlns:p14="http://schemas.microsoft.com/office/powerpoint/2010/main" val="355849189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A6B3F-F83F-DEC2-F020-E5FE9B558C12}"/>
              </a:ext>
            </a:extLst>
          </p:cNvPr>
          <p:cNvSpPr>
            <a:spLocks noGrp="1"/>
          </p:cNvSpPr>
          <p:nvPr>
            <p:ph type="title"/>
          </p:nvPr>
        </p:nvSpPr>
        <p:spPr/>
        <p:txBody>
          <a:bodyPr/>
          <a:lstStyle/>
          <a:p>
            <a:r>
              <a:rPr lang="en-US" dirty="0">
                <a:effectLst/>
              </a:rPr>
              <a:t>Step 5: Check Trainable Parameters</a:t>
            </a:r>
            <a:br>
              <a:rPr lang="en-US" dirty="0">
                <a:effectLst/>
              </a:rPr>
            </a:br>
            <a:endParaRPr lang="en-US" dirty="0"/>
          </a:p>
        </p:txBody>
      </p:sp>
      <p:sp>
        <p:nvSpPr>
          <p:cNvPr id="3" name="Content Placeholder 2">
            <a:extLst>
              <a:ext uri="{FF2B5EF4-FFF2-40B4-BE49-F238E27FC236}">
                <a16:creationId xmlns:a16="http://schemas.microsoft.com/office/drawing/2014/main" id="{1BF83375-E011-EF79-780C-E26B2F04DAAD}"/>
              </a:ext>
            </a:extLst>
          </p:cNvPr>
          <p:cNvSpPr>
            <a:spLocks noGrp="1"/>
          </p:cNvSpPr>
          <p:nvPr>
            <p:ph idx="1"/>
          </p:nvPr>
        </p:nvSpPr>
        <p:spPr>
          <a:xfrm>
            <a:off x="457200" y="1680210"/>
            <a:ext cx="10458450" cy="4674869"/>
          </a:xfrm>
        </p:spPr>
        <p:txBody>
          <a:bodyPr>
            <a:normAutofit fontScale="77500" lnSpcReduction="20000"/>
          </a:bodyPr>
          <a:lstStyle/>
          <a:p>
            <a:r>
              <a:rPr lang="en-US" dirty="0"/>
              <a:t>Define a function to calculate and print the percentage of trainable parameters in the model.</a:t>
            </a:r>
          </a:p>
          <a:p>
            <a:pPr marL="0" indent="0">
              <a:buNone/>
            </a:pPr>
            <a:r>
              <a:rPr lang="en-US" dirty="0"/>
              <a:t>def </a:t>
            </a:r>
            <a:r>
              <a:rPr lang="en-US" dirty="0" err="1"/>
              <a:t>print_number_of_trainable_model_parameters</a:t>
            </a:r>
            <a:r>
              <a:rPr lang="en-US" dirty="0"/>
              <a:t>(model):</a:t>
            </a:r>
          </a:p>
          <a:p>
            <a:pPr marL="0" indent="0">
              <a:buNone/>
            </a:pPr>
            <a:r>
              <a:rPr lang="en-US" dirty="0"/>
              <a:t>    </a:t>
            </a:r>
            <a:r>
              <a:rPr lang="en-US" dirty="0" err="1"/>
              <a:t>trainable_model_params</a:t>
            </a:r>
            <a:r>
              <a:rPr lang="en-US" dirty="0"/>
              <a:t> = 0</a:t>
            </a:r>
          </a:p>
          <a:p>
            <a:pPr marL="0" indent="0">
              <a:buNone/>
            </a:pPr>
            <a:r>
              <a:rPr lang="en-US" dirty="0"/>
              <a:t>    </a:t>
            </a:r>
            <a:r>
              <a:rPr lang="en-US" dirty="0" err="1"/>
              <a:t>all_model_params</a:t>
            </a:r>
            <a:r>
              <a:rPr lang="en-US" dirty="0"/>
              <a:t> = 0</a:t>
            </a:r>
          </a:p>
          <a:p>
            <a:pPr marL="0" indent="0">
              <a:buNone/>
            </a:pPr>
            <a:r>
              <a:rPr lang="en-US" dirty="0"/>
              <a:t>    for _, param in </a:t>
            </a:r>
            <a:r>
              <a:rPr lang="en-US" dirty="0" err="1"/>
              <a:t>model.named_parameters</a:t>
            </a:r>
            <a:r>
              <a:rPr lang="en-US" dirty="0"/>
              <a:t>():</a:t>
            </a:r>
          </a:p>
          <a:p>
            <a:pPr marL="0" indent="0">
              <a:buNone/>
            </a:pPr>
            <a:r>
              <a:rPr lang="en-US" dirty="0"/>
              <a:t>        </a:t>
            </a:r>
            <a:r>
              <a:rPr lang="en-US" dirty="0" err="1"/>
              <a:t>all_model_params</a:t>
            </a:r>
            <a:r>
              <a:rPr lang="en-US" dirty="0"/>
              <a:t> += </a:t>
            </a:r>
            <a:r>
              <a:rPr lang="en-US" dirty="0" err="1"/>
              <a:t>param.numel</a:t>
            </a:r>
            <a:r>
              <a:rPr lang="en-US" dirty="0"/>
              <a:t>()</a:t>
            </a:r>
          </a:p>
          <a:p>
            <a:pPr marL="0" indent="0">
              <a:buNone/>
            </a:pPr>
            <a:r>
              <a:rPr lang="en-US" dirty="0"/>
              <a:t>        if </a:t>
            </a:r>
            <a:r>
              <a:rPr lang="en-US" dirty="0" err="1"/>
              <a:t>param.requires_grad</a:t>
            </a:r>
            <a:r>
              <a:rPr lang="en-US" dirty="0"/>
              <a:t>:</a:t>
            </a:r>
          </a:p>
          <a:p>
            <a:pPr marL="0" indent="0">
              <a:buNone/>
            </a:pPr>
            <a:r>
              <a:rPr lang="en-US" dirty="0"/>
              <a:t>            </a:t>
            </a:r>
            <a:r>
              <a:rPr lang="en-US" dirty="0" err="1"/>
              <a:t>trainable_model_params</a:t>
            </a:r>
            <a:r>
              <a:rPr lang="en-US" dirty="0"/>
              <a:t> += </a:t>
            </a:r>
            <a:r>
              <a:rPr lang="en-US" dirty="0" err="1"/>
              <a:t>param.numel</a:t>
            </a:r>
            <a:r>
              <a:rPr lang="en-US" dirty="0"/>
              <a:t>()</a:t>
            </a:r>
          </a:p>
          <a:p>
            <a:pPr marL="0" indent="0">
              <a:buNone/>
            </a:pPr>
            <a:r>
              <a:rPr lang="en-US" dirty="0"/>
              <a:t>    return </a:t>
            </a:r>
            <a:r>
              <a:rPr lang="en-US" dirty="0" err="1"/>
              <a:t>f"trainable</a:t>
            </a:r>
            <a:r>
              <a:rPr lang="en-US" dirty="0"/>
              <a:t> model parameters: {</a:t>
            </a:r>
            <a:r>
              <a:rPr lang="en-US" dirty="0" err="1"/>
              <a:t>trainable_model_params</a:t>
            </a:r>
            <a:r>
              <a:rPr lang="en-US" dirty="0"/>
              <a:t>}\</a:t>
            </a:r>
            <a:r>
              <a:rPr lang="en-US" dirty="0" err="1"/>
              <a:t>nall</a:t>
            </a:r>
            <a:r>
              <a:rPr lang="en-US" dirty="0"/>
              <a:t> model parameters: {</a:t>
            </a:r>
            <a:r>
              <a:rPr lang="en-US" dirty="0" err="1"/>
              <a:t>all_model_params</a:t>
            </a:r>
            <a:r>
              <a:rPr lang="en-US" dirty="0"/>
              <a:t>}\</a:t>
            </a:r>
            <a:r>
              <a:rPr lang="en-US" dirty="0" err="1"/>
              <a:t>npercentage</a:t>
            </a:r>
            <a:r>
              <a:rPr lang="en-US" dirty="0"/>
              <a:t> of trainable model parameters: {100 * </a:t>
            </a:r>
            <a:r>
              <a:rPr lang="en-US" dirty="0" err="1"/>
              <a:t>trainable_model_params</a:t>
            </a:r>
            <a:r>
              <a:rPr lang="en-US" dirty="0"/>
              <a:t> / all_model_params:.2f}%"</a:t>
            </a:r>
          </a:p>
          <a:p>
            <a:pPr marL="0" indent="0">
              <a:buNone/>
            </a:pPr>
            <a:endParaRPr lang="en-US" dirty="0"/>
          </a:p>
          <a:p>
            <a:pPr marL="0" indent="0">
              <a:buNone/>
            </a:pPr>
            <a:r>
              <a:rPr lang="en-US" dirty="0"/>
              <a:t>print(</a:t>
            </a:r>
            <a:r>
              <a:rPr lang="en-US" dirty="0" err="1"/>
              <a:t>print_number_of_trainable_model_parameters</a:t>
            </a:r>
            <a:r>
              <a:rPr lang="en-US" dirty="0"/>
              <a:t>(</a:t>
            </a:r>
            <a:r>
              <a:rPr lang="en-US" dirty="0" err="1"/>
              <a:t>base_model</a:t>
            </a:r>
            <a:r>
              <a:rPr lang="en-US" dirty="0"/>
              <a:t>))</a:t>
            </a:r>
          </a:p>
        </p:txBody>
      </p:sp>
    </p:spTree>
    <p:extLst>
      <p:ext uri="{BB962C8B-B14F-4D97-AF65-F5344CB8AC3E}">
        <p14:creationId xmlns:p14="http://schemas.microsoft.com/office/powerpoint/2010/main" val="317979856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9BA65-2304-A6FA-7DDA-6044B4429939}"/>
              </a:ext>
            </a:extLst>
          </p:cNvPr>
          <p:cNvSpPr>
            <a:spLocks noGrp="1"/>
          </p:cNvSpPr>
          <p:nvPr>
            <p:ph type="title"/>
          </p:nvPr>
        </p:nvSpPr>
        <p:spPr/>
        <p:txBody>
          <a:bodyPr/>
          <a:lstStyle/>
          <a:p>
            <a:r>
              <a:rPr lang="en-US" dirty="0">
                <a:effectLst/>
              </a:rPr>
              <a:t>Step 6: Perform Baseline Inference</a:t>
            </a:r>
            <a:br>
              <a:rPr lang="en-US" dirty="0">
                <a:effectLst/>
              </a:rPr>
            </a:br>
            <a:endParaRPr lang="en-US" dirty="0"/>
          </a:p>
        </p:txBody>
      </p:sp>
      <p:sp>
        <p:nvSpPr>
          <p:cNvPr id="3" name="Content Placeholder 2">
            <a:extLst>
              <a:ext uri="{FF2B5EF4-FFF2-40B4-BE49-F238E27FC236}">
                <a16:creationId xmlns:a16="http://schemas.microsoft.com/office/drawing/2014/main" id="{809720D1-44AE-D877-0C4E-6603AE85E24A}"/>
              </a:ext>
            </a:extLst>
          </p:cNvPr>
          <p:cNvSpPr>
            <a:spLocks noGrp="1"/>
          </p:cNvSpPr>
          <p:nvPr>
            <p:ph idx="1"/>
          </p:nvPr>
        </p:nvSpPr>
        <p:spPr>
          <a:xfrm>
            <a:off x="457200" y="1257300"/>
            <a:ext cx="11372850" cy="5429249"/>
          </a:xfrm>
        </p:spPr>
        <p:txBody>
          <a:bodyPr>
            <a:normAutofit fontScale="92500" lnSpcReduction="20000"/>
          </a:bodyPr>
          <a:lstStyle/>
          <a:p>
            <a:pPr marL="0" indent="0">
              <a:buNone/>
            </a:pPr>
            <a:r>
              <a:rPr lang="en-US" sz="2200" dirty="0"/>
              <a:t>Test the pre-trained model on a sample from the test set to evaluate its performance before fine-tuning.</a:t>
            </a:r>
          </a:p>
          <a:p>
            <a:pPr marL="0" indent="0">
              <a:buNone/>
            </a:pPr>
            <a:r>
              <a:rPr lang="en-US" sz="2200" dirty="0" err="1"/>
              <a:t>i</a:t>
            </a:r>
            <a:r>
              <a:rPr lang="en-US" sz="2200" dirty="0"/>
              <a:t> = 20</a:t>
            </a:r>
          </a:p>
          <a:p>
            <a:pPr marL="0" indent="0">
              <a:buNone/>
            </a:pPr>
            <a:r>
              <a:rPr lang="en-US" sz="2200" dirty="0"/>
              <a:t>dialogue = dataset['test'][</a:t>
            </a:r>
            <a:r>
              <a:rPr lang="en-US" sz="2200" dirty="0" err="1"/>
              <a:t>i</a:t>
            </a:r>
            <a:r>
              <a:rPr lang="en-US" sz="2200" dirty="0"/>
              <a:t>]['dialogue']</a:t>
            </a:r>
          </a:p>
          <a:p>
            <a:pPr marL="0" indent="0">
              <a:buNone/>
            </a:pPr>
            <a:r>
              <a:rPr lang="en-US" sz="2200" dirty="0"/>
              <a:t>summary = dataset['test'][</a:t>
            </a:r>
            <a:r>
              <a:rPr lang="en-US" sz="2200" dirty="0" err="1"/>
              <a:t>i</a:t>
            </a:r>
            <a:r>
              <a:rPr lang="en-US" sz="2200" dirty="0"/>
              <a:t>]['summary']</a:t>
            </a:r>
          </a:p>
          <a:p>
            <a:pPr marL="0" indent="0">
              <a:buNone/>
            </a:pPr>
            <a:r>
              <a:rPr lang="en-US" sz="2200" dirty="0"/>
              <a:t>prompt = </a:t>
            </a:r>
            <a:r>
              <a:rPr lang="en-US" sz="2200" dirty="0" err="1"/>
              <a:t>f"Summarize</a:t>
            </a:r>
            <a:r>
              <a:rPr lang="en-US" sz="2200" dirty="0"/>
              <a:t> the following dialogue  {dialogue}  Summary:"</a:t>
            </a:r>
          </a:p>
          <a:p>
            <a:pPr marL="0" indent="0">
              <a:buNone/>
            </a:pPr>
            <a:r>
              <a:rPr lang="en-US" sz="2200" dirty="0" err="1"/>
              <a:t>input_ids</a:t>
            </a:r>
            <a:r>
              <a:rPr lang="en-US" sz="2200" dirty="0"/>
              <a:t> = tokenizer(prompt, </a:t>
            </a:r>
            <a:r>
              <a:rPr lang="en-US" sz="2200" dirty="0" err="1"/>
              <a:t>return_tensors</a:t>
            </a:r>
            <a:r>
              <a:rPr lang="en-US" sz="2200" dirty="0"/>
              <a:t>="pt").</a:t>
            </a:r>
            <a:r>
              <a:rPr lang="en-US" sz="2200" dirty="0" err="1"/>
              <a:t>input_ids</a:t>
            </a:r>
            <a:endParaRPr lang="en-US" sz="2200" dirty="0"/>
          </a:p>
          <a:p>
            <a:pPr marL="0" indent="0">
              <a:buNone/>
            </a:pPr>
            <a:r>
              <a:rPr lang="en-US" sz="2200" dirty="0"/>
              <a:t>output = </a:t>
            </a:r>
            <a:r>
              <a:rPr lang="en-US" sz="2200" dirty="0" err="1"/>
              <a:t>tokenizer.decode</a:t>
            </a:r>
            <a:r>
              <a:rPr lang="en-US" sz="2200" dirty="0"/>
              <a:t>(</a:t>
            </a:r>
            <a:r>
              <a:rPr lang="en-US" sz="2200" dirty="0" err="1"/>
              <a:t>base_model.generate</a:t>
            </a:r>
            <a:r>
              <a:rPr lang="en-US" sz="2200" dirty="0"/>
              <a:t>(</a:t>
            </a:r>
            <a:r>
              <a:rPr lang="en-US" sz="2200" dirty="0" err="1"/>
              <a:t>input_ids</a:t>
            </a:r>
            <a:r>
              <a:rPr lang="en-US" sz="2200" dirty="0"/>
              <a:t>, </a:t>
            </a:r>
            <a:r>
              <a:rPr lang="en-US" sz="2200" dirty="0" err="1"/>
              <a:t>max_new_tokens</a:t>
            </a:r>
            <a:r>
              <a:rPr lang="en-US" sz="2200" dirty="0"/>
              <a:t>=200)[0], </a:t>
            </a:r>
            <a:r>
              <a:rPr lang="en-US" sz="2200" dirty="0" err="1"/>
              <a:t>skip_special_tokens</a:t>
            </a:r>
            <a:r>
              <a:rPr lang="en-US" sz="2200" dirty="0"/>
              <a:t>=True)</a:t>
            </a:r>
          </a:p>
          <a:p>
            <a:pPr marL="0" indent="0">
              <a:buNone/>
            </a:pPr>
            <a:r>
              <a:rPr lang="en-US" sz="2200" dirty="0"/>
              <a:t>print(</a:t>
            </a:r>
            <a:r>
              <a:rPr lang="en-US" sz="2200" dirty="0" err="1"/>
              <a:t>f"Input</a:t>
            </a:r>
            <a:r>
              <a:rPr lang="en-US" sz="2200" dirty="0"/>
              <a:t> Prompt : {prompt}")</a:t>
            </a:r>
          </a:p>
          <a:p>
            <a:pPr marL="0" indent="0">
              <a:buNone/>
            </a:pPr>
            <a:r>
              <a:rPr lang="en-US" sz="2200" dirty="0"/>
              <a:t>print("--------------------------------------------------------------------")</a:t>
            </a:r>
          </a:p>
          <a:p>
            <a:pPr marL="0" indent="0">
              <a:buNone/>
            </a:pPr>
            <a:r>
              <a:rPr lang="en-US" sz="2200" dirty="0"/>
              <a:t>print("Human evaluated summary ----&gt;")</a:t>
            </a:r>
          </a:p>
          <a:p>
            <a:pPr marL="0" indent="0">
              <a:buNone/>
            </a:pPr>
            <a:r>
              <a:rPr lang="en-US" sz="2200" dirty="0"/>
              <a:t>print(summary)</a:t>
            </a:r>
          </a:p>
          <a:p>
            <a:pPr marL="0" indent="0">
              <a:buNone/>
            </a:pPr>
            <a:r>
              <a:rPr lang="en-US" sz="2200" dirty="0"/>
              <a:t>print("---------------------------------------------------------------------")</a:t>
            </a:r>
          </a:p>
          <a:p>
            <a:pPr marL="0" indent="0">
              <a:buNone/>
            </a:pPr>
            <a:r>
              <a:rPr lang="en-US" sz="2200" dirty="0"/>
              <a:t>print("Baseline model generated summary : ----&gt;")</a:t>
            </a:r>
          </a:p>
          <a:p>
            <a:pPr marL="0" indent="0">
              <a:buNone/>
            </a:pPr>
            <a:r>
              <a:rPr lang="en-US" sz="2200" dirty="0"/>
              <a:t>print(output)</a:t>
            </a:r>
          </a:p>
        </p:txBody>
      </p:sp>
    </p:spTree>
    <p:extLst>
      <p:ext uri="{BB962C8B-B14F-4D97-AF65-F5344CB8AC3E}">
        <p14:creationId xmlns:p14="http://schemas.microsoft.com/office/powerpoint/2010/main" val="214177748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04137-682C-6AFC-0F1F-A5565465C4E5}"/>
              </a:ext>
            </a:extLst>
          </p:cNvPr>
          <p:cNvSpPr>
            <a:spLocks noGrp="1"/>
          </p:cNvSpPr>
          <p:nvPr>
            <p:ph type="title"/>
          </p:nvPr>
        </p:nvSpPr>
        <p:spPr/>
        <p:txBody>
          <a:bodyPr/>
          <a:lstStyle/>
          <a:p>
            <a:r>
              <a:rPr lang="en-US" dirty="0">
                <a:effectLst/>
              </a:rPr>
              <a:t>Step 7: Tokenize Dataset</a:t>
            </a:r>
            <a:br>
              <a:rPr lang="en-US" dirty="0">
                <a:effectLst/>
              </a:rPr>
            </a:br>
            <a:endParaRPr lang="en-US" dirty="0"/>
          </a:p>
        </p:txBody>
      </p:sp>
      <p:sp>
        <p:nvSpPr>
          <p:cNvPr id="3" name="Content Placeholder 2">
            <a:extLst>
              <a:ext uri="{FF2B5EF4-FFF2-40B4-BE49-F238E27FC236}">
                <a16:creationId xmlns:a16="http://schemas.microsoft.com/office/drawing/2014/main" id="{D2F3401C-CE3D-5F94-2A46-3F82D285ACE7}"/>
              </a:ext>
            </a:extLst>
          </p:cNvPr>
          <p:cNvSpPr>
            <a:spLocks noGrp="1"/>
          </p:cNvSpPr>
          <p:nvPr>
            <p:ph idx="1"/>
          </p:nvPr>
        </p:nvSpPr>
        <p:spPr>
          <a:xfrm>
            <a:off x="457200" y="1314450"/>
            <a:ext cx="10801350" cy="5074920"/>
          </a:xfrm>
        </p:spPr>
        <p:txBody>
          <a:bodyPr>
            <a:normAutofit lnSpcReduction="10000"/>
          </a:bodyPr>
          <a:lstStyle/>
          <a:p>
            <a:pPr marL="0" indent="0">
              <a:buNone/>
            </a:pPr>
            <a:r>
              <a:rPr lang="en-US" sz="2000" dirty="0"/>
              <a:t>Tokenize the dataset to prepare it for training. The function generates input and label IDs, truncating or padding them to a fixed length.</a:t>
            </a:r>
          </a:p>
          <a:p>
            <a:pPr marL="0" indent="0">
              <a:buNone/>
            </a:pPr>
            <a:r>
              <a:rPr lang="en-US" sz="2000" dirty="0"/>
              <a:t>def </a:t>
            </a:r>
            <a:r>
              <a:rPr lang="en-US" sz="2000" dirty="0" err="1"/>
              <a:t>tokenize_function</a:t>
            </a:r>
            <a:r>
              <a:rPr lang="en-US" sz="2000" dirty="0"/>
              <a:t>(example):</a:t>
            </a:r>
          </a:p>
          <a:p>
            <a:pPr marL="0" indent="0">
              <a:buNone/>
            </a:pPr>
            <a:r>
              <a:rPr lang="en-US" sz="2000" dirty="0"/>
              <a:t>    </a:t>
            </a:r>
            <a:r>
              <a:rPr lang="en-US" sz="2000" dirty="0" err="1"/>
              <a:t>start_prompt</a:t>
            </a:r>
            <a:r>
              <a:rPr lang="en-US" sz="2000" dirty="0"/>
              <a:t> = 'Summarize the following conversation.\n\n'</a:t>
            </a:r>
          </a:p>
          <a:p>
            <a:pPr marL="0" indent="0">
              <a:buNone/>
            </a:pPr>
            <a:r>
              <a:rPr lang="en-US" sz="2000" dirty="0"/>
              <a:t>    </a:t>
            </a:r>
            <a:r>
              <a:rPr lang="en-US" sz="2000" dirty="0" err="1"/>
              <a:t>end_prompt</a:t>
            </a:r>
            <a:r>
              <a:rPr lang="en-US" sz="2000" dirty="0"/>
              <a:t> = '\n\</a:t>
            </a:r>
            <a:r>
              <a:rPr lang="en-US" sz="2000" dirty="0" err="1"/>
              <a:t>nSummary</a:t>
            </a:r>
            <a:r>
              <a:rPr lang="en-US" sz="2000" dirty="0"/>
              <a:t>: '</a:t>
            </a:r>
          </a:p>
          <a:p>
            <a:pPr marL="0" indent="0">
              <a:buNone/>
            </a:pPr>
            <a:r>
              <a:rPr lang="en-US" sz="2000" dirty="0"/>
              <a:t>    prompt = [</a:t>
            </a:r>
            <a:r>
              <a:rPr lang="en-US" sz="2000" dirty="0" err="1"/>
              <a:t>start_prompt</a:t>
            </a:r>
            <a:r>
              <a:rPr lang="en-US" sz="2000" dirty="0"/>
              <a:t> + dialogue + </a:t>
            </a:r>
            <a:r>
              <a:rPr lang="en-US" sz="2000" dirty="0" err="1"/>
              <a:t>end_prompt</a:t>
            </a:r>
            <a:r>
              <a:rPr lang="en-US" sz="2000" dirty="0"/>
              <a:t> for dialogue in example["dialogue"]]</a:t>
            </a:r>
          </a:p>
          <a:p>
            <a:pPr marL="0" indent="0">
              <a:buNone/>
            </a:pPr>
            <a:r>
              <a:rPr lang="en-US" sz="2000" dirty="0"/>
              <a:t>    example['</a:t>
            </a:r>
            <a:r>
              <a:rPr lang="en-US" sz="2000" dirty="0" err="1"/>
              <a:t>input_ids</a:t>
            </a:r>
            <a:r>
              <a:rPr lang="en-US" sz="2000" dirty="0"/>
              <a:t>'] = tokenizer(prompt, padding="</a:t>
            </a:r>
            <a:r>
              <a:rPr lang="en-US" sz="2000" dirty="0" err="1"/>
              <a:t>max_length</a:t>
            </a:r>
            <a:r>
              <a:rPr lang="en-US" sz="2000" dirty="0"/>
              <a:t>", truncation=True, </a:t>
            </a:r>
            <a:r>
              <a:rPr lang="en-US" sz="2000" dirty="0" err="1"/>
              <a:t>return_tensors</a:t>
            </a:r>
            <a:r>
              <a:rPr lang="en-US" sz="2000" dirty="0"/>
              <a:t>="pt").</a:t>
            </a:r>
            <a:r>
              <a:rPr lang="en-US" sz="2000" dirty="0" err="1"/>
              <a:t>input_ids</a:t>
            </a:r>
            <a:endParaRPr lang="en-US" sz="2000" dirty="0"/>
          </a:p>
          <a:p>
            <a:pPr marL="0" indent="0">
              <a:buNone/>
            </a:pPr>
            <a:r>
              <a:rPr lang="en-US" sz="2000" dirty="0"/>
              <a:t>    example['labels'] = tokenizer(example["summary"], padding="</a:t>
            </a:r>
            <a:r>
              <a:rPr lang="en-US" sz="2000" dirty="0" err="1"/>
              <a:t>max_length</a:t>
            </a:r>
            <a:r>
              <a:rPr lang="en-US" sz="2000" dirty="0"/>
              <a:t>", truncation=True, </a:t>
            </a:r>
            <a:r>
              <a:rPr lang="en-US" sz="2000" dirty="0" err="1"/>
              <a:t>return_tensors</a:t>
            </a:r>
            <a:r>
              <a:rPr lang="en-US" sz="2000" dirty="0"/>
              <a:t>="pt").</a:t>
            </a:r>
            <a:r>
              <a:rPr lang="en-US" sz="2000" dirty="0" err="1"/>
              <a:t>input_ids</a:t>
            </a:r>
            <a:endParaRPr lang="en-US" sz="2000" dirty="0"/>
          </a:p>
          <a:p>
            <a:pPr marL="0" indent="0">
              <a:buNone/>
            </a:pPr>
            <a:r>
              <a:rPr lang="en-US" sz="2000" dirty="0"/>
              <a:t>    return example</a:t>
            </a:r>
          </a:p>
          <a:p>
            <a:pPr marL="0" indent="0">
              <a:buNone/>
            </a:pPr>
            <a:r>
              <a:rPr lang="en-US" sz="2000" dirty="0" err="1"/>
              <a:t>tokenized_datasets</a:t>
            </a:r>
            <a:r>
              <a:rPr lang="en-US" sz="2000" dirty="0"/>
              <a:t> = </a:t>
            </a:r>
            <a:r>
              <a:rPr lang="en-US" sz="2000" dirty="0" err="1"/>
              <a:t>dataset.map</a:t>
            </a:r>
            <a:r>
              <a:rPr lang="en-US" sz="2000" dirty="0"/>
              <a:t>(</a:t>
            </a:r>
            <a:r>
              <a:rPr lang="en-US" sz="2000" dirty="0" err="1"/>
              <a:t>tokenize_function</a:t>
            </a:r>
            <a:r>
              <a:rPr lang="en-US" sz="2000" dirty="0"/>
              <a:t>, batched=True)</a:t>
            </a:r>
          </a:p>
          <a:p>
            <a:pPr marL="0" indent="0">
              <a:buNone/>
            </a:pPr>
            <a:r>
              <a:rPr lang="en-US" sz="2000" dirty="0" err="1"/>
              <a:t>tokenized_datasets</a:t>
            </a:r>
            <a:r>
              <a:rPr lang="en-US" sz="2000" dirty="0"/>
              <a:t> = </a:t>
            </a:r>
            <a:r>
              <a:rPr lang="en-US" sz="2000" dirty="0" err="1"/>
              <a:t>tokenized_datasets.remove_columns</a:t>
            </a:r>
            <a:r>
              <a:rPr lang="en-US" sz="2000" dirty="0"/>
              <a:t>(['id', 'topic', 'dialogue', 'summary'])</a:t>
            </a:r>
          </a:p>
          <a:p>
            <a:pPr marL="0" indent="0">
              <a:buNone/>
            </a:pPr>
            <a:r>
              <a:rPr lang="en-US" sz="2000" dirty="0" err="1"/>
              <a:t>tokenized_datasets</a:t>
            </a:r>
            <a:r>
              <a:rPr lang="en-US" sz="2000" dirty="0"/>
              <a:t> = </a:t>
            </a:r>
            <a:r>
              <a:rPr lang="en-US" sz="2000" dirty="0" err="1"/>
              <a:t>tokenized_datasets.filter</a:t>
            </a:r>
            <a:r>
              <a:rPr lang="en-US" sz="2000" dirty="0"/>
              <a:t>(lambda example, index: index % 100 == 0, </a:t>
            </a:r>
            <a:r>
              <a:rPr lang="en-US" sz="2000" dirty="0" err="1"/>
              <a:t>with_indices</a:t>
            </a:r>
            <a:r>
              <a:rPr lang="en-US" sz="2000" dirty="0"/>
              <a:t>=True)</a:t>
            </a:r>
          </a:p>
        </p:txBody>
      </p:sp>
    </p:spTree>
    <p:extLst>
      <p:ext uri="{BB962C8B-B14F-4D97-AF65-F5344CB8AC3E}">
        <p14:creationId xmlns:p14="http://schemas.microsoft.com/office/powerpoint/2010/main" val="277272151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DAC35-57BB-4603-3FAF-A3141210FEC4}"/>
              </a:ext>
            </a:extLst>
          </p:cNvPr>
          <p:cNvSpPr>
            <a:spLocks noGrp="1"/>
          </p:cNvSpPr>
          <p:nvPr>
            <p:ph type="title"/>
          </p:nvPr>
        </p:nvSpPr>
        <p:spPr/>
        <p:txBody>
          <a:bodyPr/>
          <a:lstStyle/>
          <a:p>
            <a:r>
              <a:rPr lang="en-US" dirty="0">
                <a:effectLst/>
              </a:rPr>
              <a:t>Step 8: Apply PEFT with </a:t>
            </a:r>
            <a:r>
              <a:rPr lang="en-US" dirty="0" err="1">
                <a:effectLst/>
              </a:rPr>
              <a:t>LoRA</a:t>
            </a:r>
            <a:r>
              <a:rPr lang="en-US" dirty="0">
                <a:effectLst/>
              </a:rPr>
              <a:t> Configuration</a:t>
            </a:r>
            <a:br>
              <a:rPr lang="en-US" dirty="0">
                <a:effectLst/>
              </a:rPr>
            </a:br>
            <a:endParaRPr lang="en-US" dirty="0"/>
          </a:p>
        </p:txBody>
      </p:sp>
      <p:sp>
        <p:nvSpPr>
          <p:cNvPr id="3" name="Content Placeholder 2">
            <a:extLst>
              <a:ext uri="{FF2B5EF4-FFF2-40B4-BE49-F238E27FC236}">
                <a16:creationId xmlns:a16="http://schemas.microsoft.com/office/drawing/2014/main" id="{039FEE05-45D4-22D7-7321-D39B9FFAC35B}"/>
              </a:ext>
            </a:extLst>
          </p:cNvPr>
          <p:cNvSpPr>
            <a:spLocks noGrp="1"/>
          </p:cNvSpPr>
          <p:nvPr>
            <p:ph idx="1"/>
          </p:nvPr>
        </p:nvSpPr>
        <p:spPr>
          <a:xfrm>
            <a:off x="457200" y="1223010"/>
            <a:ext cx="10904220" cy="4380621"/>
          </a:xfrm>
        </p:spPr>
        <p:txBody>
          <a:bodyPr>
            <a:noAutofit/>
          </a:bodyPr>
          <a:lstStyle/>
          <a:p>
            <a:r>
              <a:rPr lang="en-US" dirty="0"/>
              <a:t>Use PEFT (Parameter-Efficient Fine-Tuning) to minimize training time and resource usage by tuning only specific layers.</a:t>
            </a:r>
          </a:p>
          <a:p>
            <a:r>
              <a:rPr lang="en-US" dirty="0"/>
              <a:t>from </a:t>
            </a:r>
            <a:r>
              <a:rPr lang="en-US" dirty="0" err="1"/>
              <a:t>peft</a:t>
            </a:r>
            <a:r>
              <a:rPr lang="en-US" dirty="0"/>
              <a:t> import </a:t>
            </a:r>
            <a:r>
              <a:rPr lang="en-US" dirty="0" err="1"/>
              <a:t>LoraConfig</a:t>
            </a:r>
            <a:r>
              <a:rPr lang="en-US" dirty="0"/>
              <a:t>, </a:t>
            </a:r>
            <a:r>
              <a:rPr lang="en-US" dirty="0" err="1"/>
              <a:t>get_peft_model</a:t>
            </a:r>
            <a:r>
              <a:rPr lang="en-US" dirty="0"/>
              <a:t>, </a:t>
            </a:r>
            <a:r>
              <a:rPr lang="en-US" dirty="0" err="1"/>
              <a:t>TaskType</a:t>
            </a:r>
            <a:endParaRPr lang="en-US" dirty="0"/>
          </a:p>
          <a:p>
            <a:r>
              <a:rPr lang="en-US" dirty="0" err="1"/>
              <a:t>lora_config</a:t>
            </a:r>
            <a:r>
              <a:rPr lang="en-US" dirty="0"/>
              <a:t> = </a:t>
            </a:r>
            <a:r>
              <a:rPr lang="en-US" dirty="0" err="1"/>
              <a:t>LoraConfig</a:t>
            </a:r>
            <a:r>
              <a:rPr lang="en-US" dirty="0"/>
              <a:t>(</a:t>
            </a:r>
          </a:p>
          <a:p>
            <a:r>
              <a:rPr lang="en-US" dirty="0"/>
              <a:t>    </a:t>
            </a:r>
            <a:r>
              <a:rPr lang="en-US" dirty="0" err="1"/>
              <a:t>task_type</a:t>
            </a:r>
            <a:r>
              <a:rPr lang="en-US" dirty="0"/>
              <a:t>=TaskType.SEQ_2_SEQ_LM,</a:t>
            </a:r>
          </a:p>
          <a:p>
            <a:r>
              <a:rPr lang="en-US" dirty="0"/>
              <a:t>    r=8,</a:t>
            </a:r>
          </a:p>
          <a:p>
            <a:r>
              <a:rPr lang="en-US" dirty="0"/>
              <a:t>    </a:t>
            </a:r>
            <a:r>
              <a:rPr lang="en-US" dirty="0" err="1"/>
              <a:t>lora_alpha</a:t>
            </a:r>
            <a:r>
              <a:rPr lang="en-US" dirty="0"/>
              <a:t>=32,</a:t>
            </a:r>
          </a:p>
          <a:p>
            <a:r>
              <a:rPr lang="en-US" dirty="0"/>
              <a:t>    </a:t>
            </a:r>
            <a:r>
              <a:rPr lang="en-US" dirty="0" err="1"/>
              <a:t>lora_dropout</a:t>
            </a:r>
            <a:r>
              <a:rPr lang="en-US" dirty="0"/>
              <a:t>=0.1,</a:t>
            </a:r>
          </a:p>
          <a:p>
            <a:r>
              <a:rPr lang="en-US" dirty="0"/>
              <a:t>)</a:t>
            </a:r>
          </a:p>
          <a:p>
            <a:r>
              <a:rPr lang="en-US" dirty="0" err="1"/>
              <a:t>peft_model_train</a:t>
            </a:r>
            <a:r>
              <a:rPr lang="en-US" dirty="0"/>
              <a:t> = </a:t>
            </a:r>
            <a:r>
              <a:rPr lang="en-US" dirty="0" err="1"/>
              <a:t>get_peft_model</a:t>
            </a:r>
            <a:r>
              <a:rPr lang="en-US" dirty="0"/>
              <a:t>(</a:t>
            </a:r>
            <a:r>
              <a:rPr lang="en-US" dirty="0" err="1"/>
              <a:t>base_model</a:t>
            </a:r>
            <a:r>
              <a:rPr lang="en-US" dirty="0"/>
              <a:t>, </a:t>
            </a:r>
            <a:r>
              <a:rPr lang="en-US" dirty="0" err="1"/>
              <a:t>lora_config</a:t>
            </a:r>
            <a:r>
              <a:rPr lang="en-US" dirty="0"/>
              <a:t>)</a:t>
            </a:r>
          </a:p>
          <a:p>
            <a:r>
              <a:rPr lang="en-US" dirty="0"/>
              <a:t>print(</a:t>
            </a:r>
            <a:r>
              <a:rPr lang="en-US" dirty="0" err="1"/>
              <a:t>print_number_of_trainable_model_parameters</a:t>
            </a:r>
            <a:r>
              <a:rPr lang="en-US" dirty="0"/>
              <a:t>(</a:t>
            </a:r>
            <a:r>
              <a:rPr lang="en-US" dirty="0" err="1"/>
              <a:t>peft_model_train</a:t>
            </a:r>
            <a:r>
              <a:rPr lang="en-US" dirty="0"/>
              <a:t>))</a:t>
            </a:r>
          </a:p>
        </p:txBody>
      </p:sp>
    </p:spTree>
    <p:extLst>
      <p:ext uri="{BB962C8B-B14F-4D97-AF65-F5344CB8AC3E}">
        <p14:creationId xmlns:p14="http://schemas.microsoft.com/office/powerpoint/2010/main" val="104672135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F1D94-5549-9ECC-2BC7-8013FE122BB4}"/>
              </a:ext>
            </a:extLst>
          </p:cNvPr>
          <p:cNvSpPr>
            <a:spLocks noGrp="1"/>
          </p:cNvSpPr>
          <p:nvPr>
            <p:ph type="title"/>
          </p:nvPr>
        </p:nvSpPr>
        <p:spPr/>
        <p:txBody>
          <a:bodyPr/>
          <a:lstStyle/>
          <a:p>
            <a:r>
              <a:rPr lang="en-US" dirty="0">
                <a:effectLst/>
              </a:rPr>
              <a:t>Step 9: Define Training Arguments</a:t>
            </a:r>
            <a:br>
              <a:rPr lang="en-US" dirty="0">
                <a:effectLst/>
              </a:rPr>
            </a:br>
            <a:endParaRPr lang="en-US" dirty="0"/>
          </a:p>
        </p:txBody>
      </p:sp>
      <p:sp>
        <p:nvSpPr>
          <p:cNvPr id="3" name="Content Placeholder 2">
            <a:extLst>
              <a:ext uri="{FF2B5EF4-FFF2-40B4-BE49-F238E27FC236}">
                <a16:creationId xmlns:a16="http://schemas.microsoft.com/office/drawing/2014/main" id="{3A7D8C45-3DEE-E6F2-CE3B-1F789E2D599C}"/>
              </a:ext>
            </a:extLst>
          </p:cNvPr>
          <p:cNvSpPr>
            <a:spLocks noGrp="1"/>
          </p:cNvSpPr>
          <p:nvPr>
            <p:ph idx="1"/>
          </p:nvPr>
        </p:nvSpPr>
        <p:spPr/>
        <p:txBody>
          <a:bodyPr>
            <a:normAutofit fontScale="92500" lnSpcReduction="10000"/>
          </a:bodyPr>
          <a:lstStyle/>
          <a:p>
            <a:r>
              <a:rPr lang="en-US" dirty="0"/>
              <a:t>Set up training configurations, including batch size, learning rate and the number of epochs.</a:t>
            </a:r>
          </a:p>
          <a:p>
            <a:r>
              <a:rPr lang="en-US" dirty="0" err="1"/>
              <a:t>output_dir</a:t>
            </a:r>
            <a:r>
              <a:rPr lang="en-US" dirty="0"/>
              <a:t> = "./</a:t>
            </a:r>
            <a:r>
              <a:rPr lang="en-US" dirty="0" err="1"/>
              <a:t>peft</a:t>
            </a:r>
            <a:r>
              <a:rPr lang="en-US" dirty="0"/>
              <a:t>-dialogue-summary-training"</a:t>
            </a:r>
          </a:p>
          <a:p>
            <a:endParaRPr lang="en-US" dirty="0"/>
          </a:p>
          <a:p>
            <a:r>
              <a:rPr lang="en-US" dirty="0" err="1"/>
              <a:t>peft_training_args</a:t>
            </a:r>
            <a:r>
              <a:rPr lang="en-US" dirty="0"/>
              <a:t> = </a:t>
            </a:r>
            <a:r>
              <a:rPr lang="en-US" dirty="0" err="1"/>
              <a:t>TrainingArguments</a:t>
            </a:r>
            <a:r>
              <a:rPr lang="en-US" dirty="0"/>
              <a:t>(</a:t>
            </a:r>
          </a:p>
          <a:p>
            <a:r>
              <a:rPr lang="en-US" dirty="0"/>
              <a:t>    </a:t>
            </a:r>
            <a:r>
              <a:rPr lang="en-US" dirty="0" err="1"/>
              <a:t>output_dir</a:t>
            </a:r>
            <a:r>
              <a:rPr lang="en-US" dirty="0"/>
              <a:t>=</a:t>
            </a:r>
            <a:r>
              <a:rPr lang="en-US" dirty="0" err="1"/>
              <a:t>output_dir</a:t>
            </a:r>
            <a:r>
              <a:rPr lang="en-US" dirty="0"/>
              <a:t>,</a:t>
            </a:r>
          </a:p>
          <a:p>
            <a:r>
              <a:rPr lang="en-US" dirty="0"/>
              <a:t>    </a:t>
            </a:r>
            <a:r>
              <a:rPr lang="en-US" dirty="0" err="1"/>
              <a:t>auto_find_batch_size</a:t>
            </a:r>
            <a:r>
              <a:rPr lang="en-US" dirty="0"/>
              <a:t>=True,</a:t>
            </a:r>
          </a:p>
          <a:p>
            <a:r>
              <a:rPr lang="en-US" dirty="0"/>
              <a:t>    </a:t>
            </a:r>
            <a:r>
              <a:rPr lang="en-US" dirty="0" err="1"/>
              <a:t>learning_rate</a:t>
            </a:r>
            <a:r>
              <a:rPr lang="en-US" dirty="0"/>
              <a:t>=1e-3,</a:t>
            </a:r>
          </a:p>
          <a:p>
            <a:r>
              <a:rPr lang="en-US" dirty="0"/>
              <a:t>    </a:t>
            </a:r>
            <a:r>
              <a:rPr lang="en-US" dirty="0" err="1"/>
              <a:t>num_train_epochs</a:t>
            </a:r>
            <a:r>
              <a:rPr lang="en-US" dirty="0"/>
              <a:t>=5,</a:t>
            </a:r>
          </a:p>
          <a:p>
            <a:r>
              <a:rPr lang="en-US" dirty="0"/>
              <a:t>)</a:t>
            </a:r>
          </a:p>
        </p:txBody>
      </p:sp>
    </p:spTree>
    <p:extLst>
      <p:ext uri="{BB962C8B-B14F-4D97-AF65-F5344CB8AC3E}">
        <p14:creationId xmlns:p14="http://schemas.microsoft.com/office/powerpoint/2010/main" val="325708508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443AB-A0E0-2A3B-09F7-8672796BEA37}"/>
              </a:ext>
            </a:extLst>
          </p:cNvPr>
          <p:cNvSpPr>
            <a:spLocks noGrp="1"/>
          </p:cNvSpPr>
          <p:nvPr>
            <p:ph type="title"/>
          </p:nvPr>
        </p:nvSpPr>
        <p:spPr/>
        <p:txBody>
          <a:bodyPr/>
          <a:lstStyle/>
          <a:p>
            <a:r>
              <a:rPr lang="en-US" dirty="0">
                <a:effectLst/>
              </a:rPr>
              <a:t>Step 10: Train the Model</a:t>
            </a:r>
            <a:br>
              <a:rPr lang="en-US" dirty="0">
                <a:effectLst/>
              </a:rPr>
            </a:br>
            <a:endParaRPr lang="en-US" dirty="0"/>
          </a:p>
        </p:txBody>
      </p:sp>
      <p:sp>
        <p:nvSpPr>
          <p:cNvPr id="3" name="Content Placeholder 2">
            <a:extLst>
              <a:ext uri="{FF2B5EF4-FFF2-40B4-BE49-F238E27FC236}">
                <a16:creationId xmlns:a16="http://schemas.microsoft.com/office/drawing/2014/main" id="{4D014272-88CE-33E5-D457-929C0E2B6A19}"/>
              </a:ext>
            </a:extLst>
          </p:cNvPr>
          <p:cNvSpPr>
            <a:spLocks noGrp="1"/>
          </p:cNvSpPr>
          <p:nvPr>
            <p:ph idx="1"/>
          </p:nvPr>
        </p:nvSpPr>
        <p:spPr/>
        <p:txBody>
          <a:bodyPr/>
          <a:lstStyle/>
          <a:p>
            <a:r>
              <a:rPr lang="en-US" dirty="0"/>
              <a:t>Use Hugging Face Trainer API to train the PEFT-enabled model.</a:t>
            </a:r>
          </a:p>
          <a:p>
            <a:r>
              <a:rPr lang="en-US" dirty="0" err="1"/>
              <a:t>peft_trainer</a:t>
            </a:r>
            <a:r>
              <a:rPr lang="en-US" dirty="0"/>
              <a:t> = Trainer(</a:t>
            </a:r>
          </a:p>
          <a:p>
            <a:r>
              <a:rPr lang="en-US" dirty="0"/>
              <a:t>    model=</a:t>
            </a:r>
            <a:r>
              <a:rPr lang="en-US" dirty="0" err="1"/>
              <a:t>peft_model_train</a:t>
            </a:r>
            <a:r>
              <a:rPr lang="en-US" dirty="0"/>
              <a:t>,</a:t>
            </a:r>
          </a:p>
          <a:p>
            <a:r>
              <a:rPr lang="en-US" dirty="0"/>
              <a:t>    </a:t>
            </a:r>
            <a:r>
              <a:rPr lang="en-US" dirty="0" err="1"/>
              <a:t>args</a:t>
            </a:r>
            <a:r>
              <a:rPr lang="en-US" dirty="0"/>
              <a:t>=</a:t>
            </a:r>
            <a:r>
              <a:rPr lang="en-US" dirty="0" err="1"/>
              <a:t>peft_training_args</a:t>
            </a:r>
            <a:r>
              <a:rPr lang="en-US" dirty="0"/>
              <a:t>,</a:t>
            </a:r>
          </a:p>
          <a:p>
            <a:r>
              <a:rPr lang="en-US" dirty="0"/>
              <a:t>    </a:t>
            </a:r>
            <a:r>
              <a:rPr lang="en-US" dirty="0" err="1"/>
              <a:t>train_dataset</a:t>
            </a:r>
            <a:r>
              <a:rPr lang="en-US" dirty="0"/>
              <a:t>=</a:t>
            </a:r>
            <a:r>
              <a:rPr lang="en-US" dirty="0" err="1"/>
              <a:t>tokenized_datasets</a:t>
            </a:r>
            <a:r>
              <a:rPr lang="en-US" dirty="0"/>
              <a:t>["train"],</a:t>
            </a:r>
          </a:p>
          <a:p>
            <a:r>
              <a:rPr lang="en-US" dirty="0"/>
              <a:t>)</a:t>
            </a:r>
          </a:p>
          <a:p>
            <a:endParaRPr lang="en-US" dirty="0"/>
          </a:p>
          <a:p>
            <a:r>
              <a:rPr lang="en-US" dirty="0" err="1"/>
              <a:t>peft_trainer.train</a:t>
            </a:r>
            <a:r>
              <a:rPr lang="en-US" dirty="0"/>
              <a:t>()</a:t>
            </a:r>
          </a:p>
        </p:txBody>
      </p:sp>
    </p:spTree>
    <p:extLst>
      <p:ext uri="{BB962C8B-B14F-4D97-AF65-F5344CB8AC3E}">
        <p14:creationId xmlns:p14="http://schemas.microsoft.com/office/powerpoint/2010/main" val="295409340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76D16-A60B-32FD-DA56-74F26359CA6E}"/>
              </a:ext>
            </a:extLst>
          </p:cNvPr>
          <p:cNvSpPr>
            <a:spLocks noGrp="1"/>
          </p:cNvSpPr>
          <p:nvPr>
            <p:ph type="title"/>
          </p:nvPr>
        </p:nvSpPr>
        <p:spPr/>
        <p:txBody>
          <a:bodyPr/>
          <a:lstStyle/>
          <a:p>
            <a:r>
              <a:rPr lang="en-US" dirty="0">
                <a:effectLst/>
              </a:rPr>
              <a:t>Step 11: Save the Fine-Tuned Model</a:t>
            </a:r>
            <a:br>
              <a:rPr lang="en-US" dirty="0">
                <a:effectLst/>
              </a:rPr>
            </a:br>
            <a:endParaRPr lang="en-US" dirty="0"/>
          </a:p>
        </p:txBody>
      </p:sp>
      <p:sp>
        <p:nvSpPr>
          <p:cNvPr id="3" name="Content Placeholder 2">
            <a:extLst>
              <a:ext uri="{FF2B5EF4-FFF2-40B4-BE49-F238E27FC236}">
                <a16:creationId xmlns:a16="http://schemas.microsoft.com/office/drawing/2014/main" id="{509F6EB3-4DC4-F4F8-3F5A-A3EDA8AD331A}"/>
              </a:ext>
            </a:extLst>
          </p:cNvPr>
          <p:cNvSpPr>
            <a:spLocks noGrp="1"/>
          </p:cNvSpPr>
          <p:nvPr>
            <p:ph idx="1"/>
          </p:nvPr>
        </p:nvSpPr>
        <p:spPr/>
        <p:txBody>
          <a:bodyPr/>
          <a:lstStyle/>
          <a:p>
            <a:r>
              <a:rPr lang="en-US" dirty="0"/>
              <a:t>Save the trained PEFT model and tokenizer for future use.</a:t>
            </a:r>
          </a:p>
          <a:p>
            <a:endParaRPr lang="en-US" dirty="0"/>
          </a:p>
          <a:p>
            <a:r>
              <a:rPr lang="en-US" dirty="0" err="1"/>
              <a:t>peft_model_path</a:t>
            </a:r>
            <a:r>
              <a:rPr lang="en-US" dirty="0"/>
              <a:t> = "./</a:t>
            </a:r>
            <a:r>
              <a:rPr lang="en-US" dirty="0" err="1"/>
              <a:t>peft</a:t>
            </a:r>
            <a:r>
              <a:rPr lang="en-US" dirty="0"/>
              <a:t>-dialogue-summary-checkpoint-local"</a:t>
            </a:r>
          </a:p>
          <a:p>
            <a:r>
              <a:rPr lang="en-US" dirty="0" err="1"/>
              <a:t>peft_trainer.model.save_pretrained</a:t>
            </a:r>
            <a:r>
              <a:rPr lang="en-US" dirty="0"/>
              <a:t>(</a:t>
            </a:r>
            <a:r>
              <a:rPr lang="en-US" dirty="0" err="1"/>
              <a:t>peft_model_path</a:t>
            </a:r>
            <a:r>
              <a:rPr lang="en-US" dirty="0"/>
              <a:t>)</a:t>
            </a:r>
          </a:p>
          <a:p>
            <a:r>
              <a:rPr lang="en-US" dirty="0" err="1"/>
              <a:t>tokenizer.save_pretrained</a:t>
            </a:r>
            <a:r>
              <a:rPr lang="en-US" dirty="0"/>
              <a:t>(</a:t>
            </a:r>
            <a:r>
              <a:rPr lang="en-US" dirty="0" err="1"/>
              <a:t>peft_model_path</a:t>
            </a:r>
            <a:r>
              <a:rPr lang="en-US" dirty="0"/>
              <a:t>)</a:t>
            </a:r>
          </a:p>
        </p:txBody>
      </p:sp>
    </p:spTree>
    <p:extLst>
      <p:ext uri="{BB962C8B-B14F-4D97-AF65-F5344CB8AC3E}">
        <p14:creationId xmlns:p14="http://schemas.microsoft.com/office/powerpoint/2010/main" val="272263221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EE81A-66CD-98DC-0133-D0380EB13143}"/>
              </a:ext>
            </a:extLst>
          </p:cNvPr>
          <p:cNvSpPr>
            <a:spLocks noGrp="1"/>
          </p:cNvSpPr>
          <p:nvPr>
            <p:ph type="title"/>
          </p:nvPr>
        </p:nvSpPr>
        <p:spPr/>
        <p:txBody>
          <a:bodyPr/>
          <a:lstStyle/>
          <a:p>
            <a:r>
              <a:rPr lang="en-US" dirty="0">
                <a:effectLst/>
              </a:rPr>
              <a:t>Step 12: Load and Test Fine-Tuned Model</a:t>
            </a:r>
            <a:br>
              <a:rPr lang="en-US" dirty="0">
                <a:effectLst/>
              </a:rPr>
            </a:br>
            <a:endParaRPr lang="en-US" dirty="0"/>
          </a:p>
        </p:txBody>
      </p:sp>
      <p:sp>
        <p:nvSpPr>
          <p:cNvPr id="3" name="Content Placeholder 2">
            <a:extLst>
              <a:ext uri="{FF2B5EF4-FFF2-40B4-BE49-F238E27FC236}">
                <a16:creationId xmlns:a16="http://schemas.microsoft.com/office/drawing/2014/main" id="{695F0966-461B-1E1F-8701-2925AC1EE244}"/>
              </a:ext>
            </a:extLst>
          </p:cNvPr>
          <p:cNvSpPr>
            <a:spLocks noGrp="1"/>
          </p:cNvSpPr>
          <p:nvPr>
            <p:ph idx="1"/>
          </p:nvPr>
        </p:nvSpPr>
        <p:spPr>
          <a:xfrm>
            <a:off x="457200" y="1325880"/>
            <a:ext cx="11407140" cy="5360670"/>
          </a:xfrm>
        </p:spPr>
        <p:txBody>
          <a:bodyPr>
            <a:normAutofit fontScale="92500" lnSpcReduction="20000"/>
          </a:bodyPr>
          <a:lstStyle/>
          <a:p>
            <a:pPr marL="0" indent="0">
              <a:buNone/>
            </a:pPr>
            <a:r>
              <a:rPr lang="en-US" sz="1800" dirty="0"/>
              <a:t>Load the fine-tuned model and test its performance on the same input prompt.</a:t>
            </a:r>
          </a:p>
          <a:p>
            <a:pPr marL="0" indent="0">
              <a:buNone/>
            </a:pPr>
            <a:r>
              <a:rPr lang="en-US" sz="1800" dirty="0"/>
              <a:t>from </a:t>
            </a:r>
            <a:r>
              <a:rPr lang="en-US" sz="1800" dirty="0" err="1"/>
              <a:t>peft</a:t>
            </a:r>
            <a:r>
              <a:rPr lang="en-US" sz="1800" dirty="0"/>
              <a:t> import </a:t>
            </a:r>
            <a:r>
              <a:rPr lang="en-US" sz="1800" dirty="0" err="1"/>
              <a:t>PeftModel</a:t>
            </a:r>
            <a:endParaRPr lang="en-US" sz="1800" dirty="0"/>
          </a:p>
          <a:p>
            <a:pPr marL="0" indent="0">
              <a:buNone/>
            </a:pPr>
            <a:r>
              <a:rPr lang="en-US" sz="1800" dirty="0" err="1"/>
              <a:t>peft_model_base</a:t>
            </a:r>
            <a:r>
              <a:rPr lang="en-US" sz="1800" dirty="0"/>
              <a:t> = AutoModelForSeq2SeqLM.from_pretrained("google/flan-t5-base")</a:t>
            </a:r>
          </a:p>
          <a:p>
            <a:pPr marL="0" indent="0">
              <a:buNone/>
            </a:pPr>
            <a:r>
              <a:rPr lang="en-US" sz="1800" dirty="0" err="1"/>
              <a:t>peft_model</a:t>
            </a:r>
            <a:r>
              <a:rPr lang="en-US" sz="1800" dirty="0"/>
              <a:t> = </a:t>
            </a:r>
            <a:r>
              <a:rPr lang="en-US" sz="1800" dirty="0" err="1"/>
              <a:t>PeftModel.from_pretrained</a:t>
            </a:r>
            <a:r>
              <a:rPr lang="en-US" sz="1800" dirty="0"/>
              <a:t>(</a:t>
            </a:r>
            <a:r>
              <a:rPr lang="en-US" sz="1800" dirty="0" err="1"/>
              <a:t>peft_model_base</a:t>
            </a:r>
            <a:r>
              <a:rPr lang="en-US" sz="1800" dirty="0"/>
              <a:t>, </a:t>
            </a:r>
            <a:r>
              <a:rPr lang="en-US" sz="1800" dirty="0" err="1"/>
              <a:t>peft_model_path</a:t>
            </a:r>
            <a:r>
              <a:rPr lang="en-US" sz="1800" dirty="0"/>
              <a:t>, </a:t>
            </a:r>
            <a:r>
              <a:rPr lang="en-US" sz="1800" dirty="0" err="1"/>
              <a:t>is_trainable</a:t>
            </a:r>
            <a:r>
              <a:rPr lang="en-US" sz="1800" dirty="0"/>
              <a:t>=False)</a:t>
            </a:r>
          </a:p>
          <a:p>
            <a:pPr marL="0" indent="0">
              <a:buNone/>
            </a:pPr>
            <a:r>
              <a:rPr lang="en-US" sz="1800" dirty="0" err="1"/>
              <a:t>peft_model_outputs</a:t>
            </a:r>
            <a:r>
              <a:rPr lang="en-US" sz="1800" dirty="0"/>
              <a:t> = </a:t>
            </a:r>
            <a:r>
              <a:rPr lang="en-US" sz="1800" dirty="0" err="1"/>
              <a:t>peft_model.generate</a:t>
            </a:r>
            <a:r>
              <a:rPr lang="en-US" sz="1800" dirty="0"/>
              <a:t>(</a:t>
            </a:r>
            <a:r>
              <a:rPr lang="en-US" sz="1800" dirty="0" err="1"/>
              <a:t>input_ids</a:t>
            </a:r>
            <a:r>
              <a:rPr lang="en-US" sz="1800" dirty="0"/>
              <a:t>=</a:t>
            </a:r>
            <a:r>
              <a:rPr lang="en-US" sz="1800" dirty="0" err="1"/>
              <a:t>input_ids</a:t>
            </a:r>
            <a:r>
              <a:rPr lang="en-US" sz="1800" dirty="0"/>
              <a:t>, </a:t>
            </a:r>
            <a:r>
              <a:rPr lang="en-US" sz="1800" dirty="0" err="1"/>
              <a:t>generation_config</a:t>
            </a:r>
            <a:r>
              <a:rPr lang="en-US" sz="1800" dirty="0"/>
              <a:t>=</a:t>
            </a:r>
            <a:r>
              <a:rPr lang="en-US" sz="1800" dirty="0" err="1"/>
              <a:t>GenerationConfig</a:t>
            </a:r>
            <a:r>
              <a:rPr lang="en-US" sz="1800" dirty="0"/>
              <a:t>(</a:t>
            </a:r>
            <a:r>
              <a:rPr lang="en-US" sz="1800" dirty="0" err="1"/>
              <a:t>max_new_tokens</a:t>
            </a:r>
            <a:r>
              <a:rPr lang="en-US" sz="1800" dirty="0"/>
              <a:t>=200, </a:t>
            </a:r>
            <a:r>
              <a:rPr lang="en-US" sz="1800" dirty="0" err="1"/>
              <a:t>num_beams</a:t>
            </a:r>
            <a:r>
              <a:rPr lang="en-US" sz="1800" dirty="0"/>
              <a:t>=1))</a:t>
            </a:r>
          </a:p>
          <a:p>
            <a:pPr marL="0" indent="0">
              <a:buNone/>
            </a:pPr>
            <a:r>
              <a:rPr lang="en-US" sz="1800" dirty="0" err="1"/>
              <a:t>peft_model_text_output</a:t>
            </a:r>
            <a:r>
              <a:rPr lang="en-US" sz="1800" dirty="0"/>
              <a:t> = </a:t>
            </a:r>
            <a:r>
              <a:rPr lang="en-US" sz="1800" dirty="0" err="1"/>
              <a:t>tokenizer.decode</a:t>
            </a:r>
            <a:r>
              <a:rPr lang="en-US" sz="1800" dirty="0"/>
              <a:t>(</a:t>
            </a:r>
            <a:r>
              <a:rPr lang="en-US" sz="1800" dirty="0" err="1"/>
              <a:t>peft_model_outputs</a:t>
            </a:r>
            <a:r>
              <a:rPr lang="en-US" sz="1800" dirty="0"/>
              <a:t>[0], </a:t>
            </a:r>
            <a:r>
              <a:rPr lang="en-US" sz="1800" dirty="0" err="1"/>
              <a:t>skip_special_tokens</a:t>
            </a:r>
            <a:r>
              <a:rPr lang="en-US" sz="1800" dirty="0"/>
              <a:t>=True)</a:t>
            </a:r>
          </a:p>
          <a:p>
            <a:pPr marL="0" indent="0">
              <a:buNone/>
            </a:pPr>
            <a:r>
              <a:rPr lang="en-US" sz="1800" dirty="0"/>
              <a:t>print(</a:t>
            </a:r>
            <a:r>
              <a:rPr lang="en-US" sz="1800" dirty="0" err="1"/>
              <a:t>f"Input</a:t>
            </a:r>
            <a:r>
              <a:rPr lang="en-US" sz="1800" dirty="0"/>
              <a:t> Prompt : {prompt}")</a:t>
            </a:r>
          </a:p>
          <a:p>
            <a:pPr marL="0" indent="0">
              <a:buNone/>
            </a:pPr>
            <a:r>
              <a:rPr lang="en-US" sz="1800" dirty="0"/>
              <a:t>print("--------------------------------------------------------------------")</a:t>
            </a:r>
          </a:p>
          <a:p>
            <a:pPr marL="0" indent="0">
              <a:buNone/>
            </a:pPr>
            <a:r>
              <a:rPr lang="en-US" sz="1800" dirty="0"/>
              <a:t>print("Human evaluated summary ----&gt;")</a:t>
            </a:r>
          </a:p>
          <a:p>
            <a:pPr marL="0" indent="0">
              <a:buNone/>
            </a:pPr>
            <a:r>
              <a:rPr lang="en-US" sz="1800" dirty="0"/>
              <a:t>print(summary)</a:t>
            </a:r>
          </a:p>
          <a:p>
            <a:pPr marL="0" indent="0">
              <a:buNone/>
            </a:pPr>
            <a:r>
              <a:rPr lang="en-US" sz="1800" dirty="0"/>
              <a:t>print("---------------------------------------------------------------------")</a:t>
            </a:r>
          </a:p>
          <a:p>
            <a:pPr marL="0" indent="0">
              <a:buNone/>
            </a:pPr>
            <a:r>
              <a:rPr lang="en-US" sz="1800" dirty="0"/>
              <a:t>print("Baseline model generated summary : ----&gt;")</a:t>
            </a:r>
          </a:p>
          <a:p>
            <a:pPr marL="0" indent="0">
              <a:buNone/>
            </a:pPr>
            <a:r>
              <a:rPr lang="en-US" sz="1800" dirty="0"/>
              <a:t>print(output)</a:t>
            </a:r>
          </a:p>
          <a:p>
            <a:pPr marL="0" indent="0">
              <a:buNone/>
            </a:pPr>
            <a:r>
              <a:rPr lang="en-US" sz="1800" dirty="0"/>
              <a:t>print("---------------------------------------------------------------------")</a:t>
            </a:r>
          </a:p>
          <a:p>
            <a:pPr marL="0" indent="0">
              <a:buNone/>
            </a:pPr>
            <a:r>
              <a:rPr lang="en-US" sz="1800" dirty="0"/>
              <a:t>print("</a:t>
            </a:r>
            <a:r>
              <a:rPr lang="en-US" sz="1800" dirty="0" err="1"/>
              <a:t>Peft</a:t>
            </a:r>
            <a:r>
              <a:rPr lang="en-US" sz="1800" dirty="0"/>
              <a:t> model generated summary : ----&gt;")</a:t>
            </a:r>
          </a:p>
          <a:p>
            <a:pPr marL="0" indent="0">
              <a:buNone/>
            </a:pPr>
            <a:r>
              <a:rPr lang="en-US" sz="1800" dirty="0"/>
              <a:t>print(</a:t>
            </a:r>
            <a:r>
              <a:rPr lang="en-US" sz="1800" dirty="0" err="1"/>
              <a:t>peft_model_text_output</a:t>
            </a:r>
            <a:r>
              <a:rPr lang="en-US" sz="1800" dirty="0"/>
              <a:t>)</a:t>
            </a:r>
          </a:p>
        </p:txBody>
      </p:sp>
    </p:spTree>
    <p:extLst>
      <p:ext uri="{BB962C8B-B14F-4D97-AF65-F5344CB8AC3E}">
        <p14:creationId xmlns:p14="http://schemas.microsoft.com/office/powerpoint/2010/main" val="114216020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360C3-900A-EE2B-9ABE-70DEE222D6E4}"/>
              </a:ext>
            </a:extLst>
          </p:cNvPr>
          <p:cNvSpPr>
            <a:spLocks noGrp="1"/>
          </p:cNvSpPr>
          <p:nvPr>
            <p:ph type="title"/>
          </p:nvPr>
        </p:nvSpPr>
        <p:spPr/>
        <p:txBody>
          <a:bodyPr/>
          <a:lstStyle/>
          <a:p>
            <a:r>
              <a:rPr lang="en-US" dirty="0"/>
              <a:t>Sentiment analysis using fine tuning </a:t>
            </a:r>
          </a:p>
        </p:txBody>
      </p:sp>
      <p:sp>
        <p:nvSpPr>
          <p:cNvPr id="3" name="Content Placeholder 2">
            <a:extLst>
              <a:ext uri="{FF2B5EF4-FFF2-40B4-BE49-F238E27FC236}">
                <a16:creationId xmlns:a16="http://schemas.microsoft.com/office/drawing/2014/main" id="{1F8BC7D2-15F8-B8B9-E8D9-4666C86E5954}"/>
              </a:ext>
            </a:extLst>
          </p:cNvPr>
          <p:cNvSpPr>
            <a:spLocks noGrp="1"/>
          </p:cNvSpPr>
          <p:nvPr>
            <p:ph idx="1"/>
          </p:nvPr>
        </p:nvSpPr>
        <p:spPr/>
        <p:txBody>
          <a:bodyPr>
            <a:normAutofit/>
          </a:bodyPr>
          <a:lstStyle/>
          <a:p>
            <a:r>
              <a:rPr lang="en-US" sz="2400" dirty="0">
                <a:hlinkClick r:id="rId2"/>
              </a:rPr>
              <a:t>https://www.datacamp.com/tutorial/fine-tuning-large-language-models</a:t>
            </a:r>
            <a:endParaRPr lang="en-US" sz="2400" dirty="0"/>
          </a:p>
          <a:p>
            <a:r>
              <a:rPr lang="en-US" sz="2400" dirty="0"/>
              <a:t>https://www.youtube.com/watch?v=3gj8wyZOkV8&amp;list=PLQxDHpeGU14BX9L83JMSoKHsdIjv98BGn&amp;index=9</a:t>
            </a:r>
          </a:p>
          <a:p>
            <a:r>
              <a:rPr lang="en-US" sz="2400" dirty="0" err="1"/>
              <a:t>quickstart_peft_finetuning.ipynb</a:t>
            </a:r>
            <a:endParaRPr lang="en-US" sz="2400" dirty="0"/>
          </a:p>
          <a:p>
            <a:endParaRPr lang="en-US" sz="2400" dirty="0"/>
          </a:p>
          <a:p>
            <a:r>
              <a:rPr lang="en-US" sz="2400" dirty="0" err="1"/>
              <a:t>FineTuning_LoRA.ipynb</a:t>
            </a:r>
            <a:endParaRPr lang="en-US" sz="2400" dirty="0"/>
          </a:p>
        </p:txBody>
      </p:sp>
      <p:sp>
        <p:nvSpPr>
          <p:cNvPr id="5" name="TextBox 4">
            <a:extLst>
              <a:ext uri="{FF2B5EF4-FFF2-40B4-BE49-F238E27FC236}">
                <a16:creationId xmlns:a16="http://schemas.microsoft.com/office/drawing/2014/main" id="{379E025B-CE75-F2E3-1AAD-6FA757FCD5ED}"/>
              </a:ext>
            </a:extLst>
          </p:cNvPr>
          <p:cNvSpPr txBox="1"/>
          <p:nvPr/>
        </p:nvSpPr>
        <p:spPr>
          <a:xfrm>
            <a:off x="1084305" y="4415652"/>
            <a:ext cx="10269495" cy="369332"/>
          </a:xfrm>
          <a:prstGeom prst="rect">
            <a:avLst/>
          </a:prstGeom>
          <a:noFill/>
        </p:spPr>
        <p:txBody>
          <a:bodyPr wrap="square">
            <a:spAutoFit/>
          </a:bodyPr>
          <a:lstStyle/>
          <a:p>
            <a:r>
              <a:rPr lang="en-US" dirty="0"/>
              <a:t>https://github.com/sunnysavita10/Complete-LLM-Finetuning/tree/main</a:t>
            </a:r>
          </a:p>
        </p:txBody>
      </p:sp>
    </p:spTree>
    <p:extLst>
      <p:ext uri="{BB962C8B-B14F-4D97-AF65-F5344CB8AC3E}">
        <p14:creationId xmlns:p14="http://schemas.microsoft.com/office/powerpoint/2010/main" val="313260096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522B21E-B2B9-4C72-9A71-C87EFD137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44125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2"/>
            <a:ext cx="10999072" cy="461854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65CF1F-EDC2-36BC-E5F0-54C74659EFBD}"/>
              </a:ext>
            </a:extLst>
          </p:cNvPr>
          <p:cNvSpPr>
            <a:spLocks noGrp="1"/>
          </p:cNvSpPr>
          <p:nvPr>
            <p:ph type="title"/>
          </p:nvPr>
        </p:nvSpPr>
        <p:spPr>
          <a:xfrm>
            <a:off x="1524000" y="1293338"/>
            <a:ext cx="9144000" cy="3274592"/>
          </a:xfrm>
        </p:spPr>
        <p:txBody>
          <a:bodyPr vert="horz" lIns="91440" tIns="45720" rIns="91440" bIns="45720" rtlCol="0" anchor="ctr">
            <a:normAutofit/>
          </a:bodyPr>
          <a:lstStyle/>
          <a:p>
            <a:pPr algn="ctr"/>
            <a:r>
              <a:rPr lang="en-US" sz="7200" kern="1200">
                <a:solidFill>
                  <a:schemeClr val="tx1"/>
                </a:solidFill>
                <a:latin typeface="+mj-lt"/>
                <a:ea typeface="+mj-ea"/>
                <a:cs typeface="+mj-cs"/>
              </a:rPr>
              <a:t>Thank you</a:t>
            </a:r>
          </a:p>
        </p:txBody>
      </p:sp>
      <p:sp>
        <p:nvSpPr>
          <p:cNvPr id="3" name="Text Placeholder 2">
            <a:extLst>
              <a:ext uri="{FF2B5EF4-FFF2-40B4-BE49-F238E27FC236}">
                <a16:creationId xmlns:a16="http://schemas.microsoft.com/office/drawing/2014/main" id="{157CD0A3-1ACF-7824-37F9-F576070B2667}"/>
              </a:ext>
            </a:extLst>
          </p:cNvPr>
          <p:cNvSpPr>
            <a:spLocks noGrp="1"/>
          </p:cNvSpPr>
          <p:nvPr>
            <p:ph type="body" idx="1"/>
          </p:nvPr>
        </p:nvSpPr>
        <p:spPr>
          <a:xfrm>
            <a:off x="1524000" y="5514052"/>
            <a:ext cx="9144000" cy="651910"/>
          </a:xfrm>
        </p:spPr>
        <p:txBody>
          <a:bodyPr vert="horz" lIns="91440" tIns="45720" rIns="91440" bIns="45720" rtlCol="0" anchor="ctr">
            <a:normAutofit/>
          </a:bodyPr>
          <a:lstStyle/>
          <a:p>
            <a:pPr algn="ctr"/>
            <a:endParaRPr lang="en-US" sz="2400" kern="1200">
              <a:solidFill>
                <a:schemeClr val="tx1"/>
              </a:solidFill>
              <a:latin typeface="+mn-lt"/>
              <a:ea typeface="+mn-ea"/>
              <a:cs typeface="+mn-cs"/>
            </a:endParaRPr>
          </a:p>
        </p:txBody>
      </p:sp>
      <p:cxnSp>
        <p:nvCxnSpPr>
          <p:cNvPr id="14" name="Straight Connector 13">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54708"/>
            <a:ext cx="11000232"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49839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6846</TotalTime>
  <Words>4828</Words>
  <Application>Microsoft Office PowerPoint</Application>
  <PresentationFormat>Widescreen</PresentationFormat>
  <Paragraphs>349</Paragraphs>
  <Slides>74</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74</vt:i4>
      </vt:variant>
    </vt:vector>
  </HeadingPairs>
  <TitlesOfParts>
    <vt:vector size="82" baseType="lpstr">
      <vt:lpstr>Aptos</vt:lpstr>
      <vt:lpstr>Aptos Display</vt:lpstr>
      <vt:lpstr>Arial</vt:lpstr>
      <vt:lpstr>Calibri</vt:lpstr>
      <vt:lpstr>Courier New</vt:lpstr>
      <vt:lpstr>Nunito</vt:lpstr>
      <vt:lpstr>Optimistic</vt:lpstr>
      <vt:lpstr>Office Theme</vt:lpstr>
      <vt:lpstr>Fine Tuning of LLMS</vt:lpstr>
      <vt:lpstr>Agenda</vt:lpstr>
      <vt:lpstr>What is fine tuning?</vt:lpstr>
      <vt:lpstr>PowerPoint Presentation</vt:lpstr>
      <vt:lpstr>PowerPoint Presentation</vt:lpstr>
      <vt:lpstr>PowerPoint Presentation</vt:lpstr>
      <vt:lpstr>PowerPoint Presentation</vt:lpstr>
      <vt:lpstr>PowerPoint Presentation</vt:lpstr>
      <vt:lpstr>Applications</vt:lpstr>
      <vt:lpstr>Advantages </vt:lpstr>
      <vt:lpstr>Challenges </vt:lpstr>
      <vt:lpstr>How is Fine-Tuning Performed?</vt:lpstr>
      <vt:lpstr>Types of Fine-tuning</vt:lpstr>
      <vt:lpstr>1. Supervised Fine-Tuning </vt:lpstr>
      <vt:lpstr>PowerPoint Presentation</vt:lpstr>
      <vt:lpstr>2. Instruction Fine-Tuning </vt:lpstr>
      <vt:lpstr>3. Parameter-Efficient Fine-Tuning (PEFT)</vt:lpstr>
      <vt:lpstr>Types of PEFT</vt:lpstr>
      <vt:lpstr>Low-rank adaptation (LoRA) </vt:lpstr>
      <vt:lpstr>Advantages of LoRA</vt:lpstr>
      <vt:lpstr> Disadvantage </vt:lpstr>
      <vt:lpstr>Quantized low-rank adaptation (QLoRA) </vt:lpstr>
      <vt:lpstr> Advantages of QLoRA</vt:lpstr>
      <vt:lpstr>Simple vs Base vs Fine-Tuned Model</vt:lpstr>
      <vt:lpstr>PEFT</vt:lpstr>
      <vt:lpstr>LORA-Low Rank Adaptation </vt:lpstr>
      <vt:lpstr>Introduction </vt:lpstr>
      <vt:lpstr>PowerPoint Presentation</vt:lpstr>
      <vt:lpstr>PowerPoint Presentation</vt:lpstr>
      <vt:lpstr>PowerPoint Presentation</vt:lpstr>
      <vt:lpstr>PowerPoint Presentation</vt:lpstr>
      <vt:lpstr>PowerPoint Presentation</vt:lpstr>
      <vt:lpstr>PowerPoint Presentation</vt:lpstr>
      <vt:lpstr>Architecture of LoRA</vt:lpstr>
      <vt:lpstr>How LoRA (Low-Rank Adaptation) Works</vt:lpstr>
      <vt:lpstr>PowerPoint Presentation</vt:lpstr>
      <vt:lpstr>Working of LoRA</vt:lpstr>
      <vt:lpstr>2. Training Only the LoRA Parameters</vt:lpstr>
      <vt:lpstr>3. Inference with Adapted Weights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Implementation of LoRA with BERT on Emotion Detection</vt:lpstr>
      <vt:lpstr>Steps - LORA_Fine_Tuning_Model.ipynb </vt:lpstr>
      <vt:lpstr>Fine-tuning-an-LLM-using-LoRA </vt:lpstr>
      <vt:lpstr>QLoRA (Quantized LoRA)</vt:lpstr>
      <vt:lpstr>QLoRA - QLORA_FINE_TUNING_MODEL.ipynb</vt:lpstr>
      <vt:lpstr>4. Reinforcement Learning with Human Feedback (RLHF)</vt:lpstr>
      <vt:lpstr>RLHF process typically involves the following steps</vt:lpstr>
      <vt:lpstr>approach fine-tuning </vt:lpstr>
      <vt:lpstr>Fine-tuning libraries  </vt:lpstr>
      <vt:lpstr>End-to-End fine-tuning lifecycle</vt:lpstr>
      <vt:lpstr>Fine tuning a model</vt:lpstr>
      <vt:lpstr>Working of Fine-Tuning</vt:lpstr>
      <vt:lpstr>Implementing Fine Tuning Large Language Model using DialogSum Database</vt:lpstr>
      <vt:lpstr>Step 1: Install Necessary Libraries </vt:lpstr>
      <vt:lpstr>Step 2: Set Up Environment </vt:lpstr>
      <vt:lpstr>Step 3: Load Dataset </vt:lpstr>
      <vt:lpstr>Step 4: Load Pre-trained Model and Tokenizer </vt:lpstr>
      <vt:lpstr>Step 5: Check Trainable Parameters </vt:lpstr>
      <vt:lpstr>Step 6: Perform Baseline Inference </vt:lpstr>
      <vt:lpstr>Step 7: Tokenize Dataset </vt:lpstr>
      <vt:lpstr>Step 8: Apply PEFT with LoRA Configuration </vt:lpstr>
      <vt:lpstr>Step 9: Define Training Arguments </vt:lpstr>
      <vt:lpstr>Step 10: Train the Model </vt:lpstr>
      <vt:lpstr>Step 11: Save the Fine-Tuned Model </vt:lpstr>
      <vt:lpstr>Step 12: Load and Test Fine-Tuned Model </vt:lpstr>
      <vt:lpstr>Sentiment analysis using fine tuning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rakhee chhibber</dc:creator>
  <cp:lastModifiedBy>rakhee chhibber</cp:lastModifiedBy>
  <cp:revision>8</cp:revision>
  <dcterms:created xsi:type="dcterms:W3CDTF">2026-04-14T16:25:03Z</dcterms:created>
  <dcterms:modified xsi:type="dcterms:W3CDTF">2026-07-31T04:22:58Z</dcterms:modified>
</cp:coreProperties>
</file>